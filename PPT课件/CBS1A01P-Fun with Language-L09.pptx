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296" r:id="rId1"/>
  </p:sldMasterIdLst>
  <p:notesMasterIdLst>
    <p:notesMasterId r:id="rId45"/>
  </p:notesMasterIdLst>
  <p:sldIdLst>
    <p:sldId id="256" r:id="rId2"/>
    <p:sldId id="636" r:id="rId3"/>
    <p:sldId id="572" r:id="rId4"/>
    <p:sldId id="632" r:id="rId5"/>
    <p:sldId id="637" r:id="rId6"/>
    <p:sldId id="513" r:id="rId7"/>
    <p:sldId id="560" r:id="rId8"/>
    <p:sldId id="573" r:id="rId9"/>
    <p:sldId id="515" r:id="rId10"/>
    <p:sldId id="574" r:id="rId11"/>
    <p:sldId id="525" r:id="rId12"/>
    <p:sldId id="527" r:id="rId13"/>
    <p:sldId id="528" r:id="rId14"/>
    <p:sldId id="529" r:id="rId15"/>
    <p:sldId id="575" r:id="rId16"/>
    <p:sldId id="531" r:id="rId17"/>
    <p:sldId id="516" r:id="rId18"/>
    <p:sldId id="576" r:id="rId19"/>
    <p:sldId id="533" r:id="rId20"/>
    <p:sldId id="517" r:id="rId21"/>
    <p:sldId id="577" r:id="rId22"/>
    <p:sldId id="587" r:id="rId23"/>
    <p:sldId id="518" r:id="rId24"/>
    <p:sldId id="536" r:id="rId25"/>
    <p:sldId id="579" r:id="rId26"/>
    <p:sldId id="580" r:id="rId27"/>
    <p:sldId id="589" r:id="rId28"/>
    <p:sldId id="590" r:id="rId29"/>
    <p:sldId id="591" r:id="rId30"/>
    <p:sldId id="540" r:id="rId31"/>
    <p:sldId id="538" r:id="rId32"/>
    <p:sldId id="542" r:id="rId33"/>
    <p:sldId id="592" r:id="rId34"/>
    <p:sldId id="541" r:id="rId35"/>
    <p:sldId id="545" r:id="rId36"/>
    <p:sldId id="549" r:id="rId37"/>
    <p:sldId id="547" r:id="rId38"/>
    <p:sldId id="550" r:id="rId39"/>
    <p:sldId id="551" r:id="rId40"/>
    <p:sldId id="565" r:id="rId41"/>
    <p:sldId id="638" r:id="rId42"/>
    <p:sldId id="639" r:id="rId43"/>
    <p:sldId id="640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89837" autoAdjust="0"/>
  </p:normalViewPr>
  <p:slideViewPr>
    <p:cSldViewPr>
      <p:cViewPr varScale="1">
        <p:scale>
          <a:sx n="80" d="100"/>
          <a:sy n="80" d="100"/>
        </p:scale>
        <p:origin x="180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0" y="232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C586-2683-46C2-BCAC-305DA05B874A}" type="datetimeFigureOut">
              <a:rPr lang="zh-HK" altLang="en-US" smtClean="0"/>
              <a:pPr/>
              <a:t>28/9/2023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4351-3776-481E-98A1-CBCB02763DC8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720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EA42-25D2-4DB9-8887-2E7EFF2F62DF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B279-E0E0-4B9C-879D-9A1AC2635A71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21661-20E4-4506-9764-447618D8CA5C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7BDC6-12CB-47C1-A63D-E1B10E2E1E5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C1EE-8741-47CB-BDAB-4594D7E250B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0654-A74A-4CE1-8F2F-DE8D65A9A78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E6E7-4172-4F21-9551-C067E02CA08D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87D3-9DD6-441B-9FD0-2F908B6E248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2A97F-8A2D-4AC5-ACAC-9AFA09DD0C93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2259-0B98-4931-9BF9-6E2DE136EC0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88FB0-BED4-4D4E-8040-AEEB62DA097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0C61242C-E179-4099-AE81-158C1B3A48A4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nTEwFctzLFU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1752600"/>
            <a:ext cx="5334000" cy="1343028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CBS1A01P</a:t>
            </a:r>
            <a:br>
              <a:rPr lang="en-US" altLang="zh-HK" dirty="0"/>
            </a:br>
            <a:r>
              <a:rPr lang="en-US" altLang="zh-HK" sz="4000" dirty="0"/>
              <a:t>Fun with Language</a:t>
            </a:r>
            <a:endParaRPr lang="zh-HK" alt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0" y="3721472"/>
            <a:ext cx="6096000" cy="2450727"/>
          </a:xfrm>
        </p:spPr>
        <p:txBody>
          <a:bodyPr>
            <a:normAutofit/>
          </a:bodyPr>
          <a:lstStyle/>
          <a:p>
            <a:r>
              <a:rPr lang="en-HK" altLang="zh-TW" sz="3200" dirty="0"/>
              <a:t>Lecture 9</a:t>
            </a:r>
          </a:p>
          <a:p>
            <a:r>
              <a:rPr lang="zh-TW" altLang="en-US" sz="3200" dirty="0"/>
              <a:t>語用學</a:t>
            </a:r>
            <a:r>
              <a:rPr lang="en-US" altLang="zh-TW" sz="3200"/>
              <a:t> pragmatics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155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KaiTi" panose="02010609060101010101" pitchFamily="49" charset="-122"/>
                <a:ea typeface="KaiTi" panose="02010609060101010101" pitchFamily="49" charset="-122"/>
              </a:rPr>
              <a:t>回顧：語言學分析</a:t>
            </a:r>
            <a:endParaRPr lang="en-GB" sz="40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724400"/>
          </a:xfrm>
        </p:spPr>
        <p:txBody>
          <a:bodyPr>
            <a:noAutofit/>
          </a:bodyPr>
          <a:lstStyle/>
          <a:p>
            <a:r>
              <a:rPr lang="zh-TW" altLang="en-US" sz="3600" dirty="0"/>
              <a:t>大家已學了一些有關語言結構的基本知識，能夠對一些語句做語言學分析；例：</a:t>
            </a:r>
            <a:endParaRPr lang="en-US" altLang="zh-TW" sz="3600" dirty="0"/>
          </a:p>
          <a:p>
            <a:r>
              <a:rPr lang="en-US" sz="3200" dirty="0"/>
              <a:t>The new</a:t>
            </a:r>
            <a:r>
              <a:rPr lang="en-US" sz="3200" b="1" dirty="0">
                <a:solidFill>
                  <a:srgbClr val="00B050"/>
                </a:solidFill>
              </a:rPr>
              <a:t>est</a:t>
            </a:r>
            <a:r>
              <a:rPr lang="en-US" sz="3200" dirty="0"/>
              <a:t> member</a:t>
            </a:r>
            <a:r>
              <a:rPr lang="en-US" sz="3200" b="1" dirty="0">
                <a:solidFill>
                  <a:srgbClr val="00B050"/>
                </a:solidFill>
              </a:rPr>
              <a:t>s</a:t>
            </a:r>
            <a:r>
              <a:rPr lang="en-US" sz="3200" dirty="0"/>
              <a:t> greet the teach</a:t>
            </a:r>
            <a:r>
              <a:rPr lang="en-US" sz="3200" b="1" dirty="0">
                <a:solidFill>
                  <a:srgbClr val="FF0000"/>
                </a:solidFill>
              </a:rPr>
              <a:t>er</a:t>
            </a:r>
            <a:r>
              <a:rPr lang="en-US" sz="3200" b="1" dirty="0">
                <a:solidFill>
                  <a:srgbClr val="00B050"/>
                </a:solidFill>
              </a:rPr>
              <a:t>s</a:t>
            </a:r>
            <a:r>
              <a:rPr lang="en-US" sz="3200" dirty="0"/>
              <a:t>.</a:t>
            </a:r>
          </a:p>
          <a:p>
            <a:r>
              <a:rPr lang="zh-TW" altLang="en-US" sz="3600" dirty="0"/>
              <a:t>語音、構詞、句法</a:t>
            </a:r>
            <a:endParaRPr lang="en-US" altLang="zh-TW" sz="3600" dirty="0"/>
          </a:p>
          <a:p>
            <a:r>
              <a:rPr lang="zh-TW" altLang="en-US" sz="3600" dirty="0"/>
              <a:t>語義</a:t>
            </a:r>
            <a:endParaRPr lang="en-GB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66800" y="3048000"/>
            <a:ext cx="3581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599386" y="3079531"/>
            <a:ext cx="2020614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24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KaiTi" panose="02010609060101010101" pitchFamily="49" charset="-122"/>
                <a:ea typeface="KaiTi" panose="02010609060101010101" pitchFamily="49" charset="-122"/>
              </a:rPr>
              <a:t>引言：語言能力</a:t>
            </a:r>
            <a:endParaRPr lang="zh-HK" altLang="en-US" sz="40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848600" cy="4724400"/>
          </a:xfrm>
        </p:spPr>
        <p:txBody>
          <a:bodyPr>
            <a:normAutofit/>
          </a:bodyPr>
          <a:lstStyle/>
          <a:p>
            <a:pPr marL="273050" lvl="1" indent="-273050"/>
            <a:r>
              <a:rPr lang="zh-TW" altLang="en-US" sz="3600" dirty="0">
                <a:solidFill>
                  <a:srgbClr val="C00000"/>
                </a:solidFill>
              </a:rPr>
              <a:t>語言能力</a:t>
            </a:r>
            <a:r>
              <a:rPr lang="zh-TW" altLang="en-US" sz="3600" dirty="0">
                <a:solidFill>
                  <a:schemeClr val="tx1"/>
                </a:solidFill>
              </a:rPr>
              <a:t>（</a:t>
            </a:r>
            <a:r>
              <a:rPr lang="en-US" altLang="zh-TW" sz="3600" dirty="0">
                <a:solidFill>
                  <a:schemeClr val="tx1"/>
                </a:solidFill>
              </a:rPr>
              <a:t>linguistic competence</a:t>
            </a:r>
            <a:r>
              <a:rPr lang="zh-TW" altLang="en-US" sz="3600" dirty="0">
                <a:solidFill>
                  <a:schemeClr val="tx1"/>
                </a:solidFill>
              </a:rPr>
              <a:t>）</a:t>
            </a:r>
            <a:r>
              <a:rPr lang="zh-TW" altLang="en-US" sz="3600" dirty="0"/>
              <a:t>：</a:t>
            </a:r>
            <a:endParaRPr lang="en-US" altLang="zh-TW" sz="3600" dirty="0"/>
          </a:p>
          <a:p>
            <a:pPr marL="547370" lvl="2" indent="-273050"/>
            <a:r>
              <a:rPr lang="zh-TW" altLang="en-US" sz="3600" dirty="0"/>
              <a:t>對某個語言所擁有的</a:t>
            </a:r>
            <a:r>
              <a:rPr lang="zh-TW" altLang="en-US" sz="3600" b="1" dirty="0">
                <a:solidFill>
                  <a:srgbClr val="0070C0"/>
                </a:solidFill>
              </a:rPr>
              <a:t>語法的理解及掌握</a:t>
            </a:r>
            <a:endParaRPr lang="en-US" altLang="zh-TW" sz="3600" b="1" dirty="0"/>
          </a:p>
          <a:p>
            <a:pPr marL="821690" lvl="3" indent="-273050"/>
            <a:r>
              <a:rPr lang="zh-TW" altLang="en-US" sz="3600" dirty="0"/>
              <a:t>能和</a:t>
            </a:r>
            <a:r>
              <a:rPr lang="zh-TW" altLang="en-US" sz="3600" b="1" dirty="0">
                <a:solidFill>
                  <a:srgbClr val="7030A0"/>
                </a:solidFill>
              </a:rPr>
              <a:t>說同一語</a:t>
            </a:r>
            <a:r>
              <a:rPr lang="zh-TW" altLang="en-US" sz="3600" b="1">
                <a:solidFill>
                  <a:srgbClr val="7030A0"/>
                </a:solidFill>
              </a:rPr>
              <a:t>言</a:t>
            </a:r>
            <a:r>
              <a:rPr lang="zh-TW" altLang="en-US" sz="3600"/>
              <a:t>的人溝</a:t>
            </a:r>
            <a:r>
              <a:rPr lang="zh-TW" altLang="en-US" sz="3600" dirty="0"/>
              <a:t>通是因擁有共同的語言能力</a:t>
            </a:r>
            <a:endParaRPr lang="en-US" altLang="zh-TW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9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Calibri" panose="020F0502020204030204" pitchFamily="34" charset="0"/>
                <a:ea typeface="KaiTi" panose="02010609060101010101" pitchFamily="49" charset="-122"/>
              </a:rPr>
              <a:t>個人方言 </a:t>
            </a:r>
            <a:r>
              <a:rPr lang="en-US" altLang="zh-TW" sz="4000" b="1" dirty="0">
                <a:latin typeface="Calibri" panose="020F0502020204030204" pitchFamily="34" charset="0"/>
                <a:ea typeface="KaiTi" panose="02010609060101010101" pitchFamily="49" charset="-122"/>
              </a:rPr>
              <a:t>idiolect</a:t>
            </a:r>
            <a:endParaRPr lang="en-GB" sz="4000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3050" lvl="1" indent="-273050"/>
            <a:r>
              <a:rPr lang="zh-TW" altLang="en-US" sz="3600" dirty="0">
                <a:solidFill>
                  <a:srgbClr val="C00000"/>
                </a:solidFill>
              </a:rPr>
              <a:t>每個人的語言</a:t>
            </a:r>
            <a:r>
              <a:rPr lang="zh-TW" altLang="en-US" sz="3600" dirty="0"/>
              <a:t>：</a:t>
            </a:r>
            <a:endParaRPr lang="en-US" altLang="zh-TW" sz="3600" dirty="0"/>
          </a:p>
          <a:p>
            <a:pPr marL="547370" lvl="2" indent="-273050"/>
            <a:r>
              <a:rPr lang="zh-TW" altLang="en-US" sz="3600" dirty="0"/>
              <a:t>各人的語言表現不同，和個人的資質、教育、環境等有關係</a:t>
            </a:r>
            <a:endParaRPr lang="en-US" altLang="zh-TW" sz="3600" dirty="0"/>
          </a:p>
          <a:p>
            <a:pPr marL="821690" lvl="3" indent="-273050"/>
            <a:r>
              <a:rPr lang="zh-TW" altLang="en-US" sz="3600" dirty="0"/>
              <a:t>個人方言 </a:t>
            </a:r>
            <a:r>
              <a:rPr lang="en-US" altLang="zh-TW" sz="3600" dirty="0"/>
              <a:t>/ </a:t>
            </a:r>
            <a:r>
              <a:rPr lang="zh-TW" altLang="en-US" sz="3600" dirty="0"/>
              <a:t>個人語型 </a:t>
            </a:r>
            <a:r>
              <a:rPr lang="en-US" altLang="zh-TW" sz="3600" dirty="0"/>
              <a:t>/ </a:t>
            </a:r>
            <a:r>
              <a:rPr lang="zh-TW" altLang="en-US" sz="3600" dirty="0"/>
              <a:t>個人習語</a:t>
            </a:r>
            <a:br>
              <a:rPr lang="en-US" altLang="zh-TW" sz="3600" dirty="0"/>
            </a:br>
            <a:r>
              <a:rPr lang="en-US" altLang="zh-TW" sz="3600" dirty="0"/>
              <a:t>idiolect</a:t>
            </a:r>
            <a:endParaRPr lang="en-GB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語用學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pragmatics</a:t>
            </a:r>
            <a:endParaRPr 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848600" cy="4876800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語言的使用不只和語言的</a:t>
            </a:r>
            <a:r>
              <a:rPr lang="zh-TW" altLang="en-US" sz="3600" b="1" dirty="0">
                <a:solidFill>
                  <a:srgbClr val="C00000"/>
                </a:solidFill>
              </a:rPr>
              <a:t>內在語義</a:t>
            </a:r>
            <a:r>
              <a:rPr lang="zh-TW" altLang="en-US" sz="3600" dirty="0"/>
              <a:t>有關，也和</a:t>
            </a:r>
            <a:r>
              <a:rPr lang="zh-TW" altLang="en-US" sz="3600" b="1" dirty="0">
                <a:solidFill>
                  <a:srgbClr val="C00000"/>
                </a:solidFill>
              </a:rPr>
              <a:t>講話者</a:t>
            </a:r>
            <a:r>
              <a:rPr lang="zh-TW" altLang="en-US" sz="3600" dirty="0"/>
              <a:t>的身分、地位、角色，以及</a:t>
            </a:r>
            <a:r>
              <a:rPr lang="zh-TW" altLang="en-US" sz="3600" b="1" dirty="0">
                <a:solidFill>
                  <a:srgbClr val="C00000"/>
                </a:solidFill>
              </a:rPr>
              <a:t>講話當時的情境</a:t>
            </a:r>
            <a:r>
              <a:rPr lang="zh-TW" altLang="en-US" sz="3600" dirty="0"/>
              <a:t>等有密切關係</a:t>
            </a:r>
            <a:endParaRPr lang="en-HK" altLang="zh-TW" sz="3600" dirty="0"/>
          </a:p>
          <a:p>
            <a:endParaRPr lang="en-HK" altLang="zh-TW" sz="3600" dirty="0"/>
          </a:p>
          <a:p>
            <a:r>
              <a:rPr lang="en-HK" altLang="zh-TW" sz="2800" dirty="0"/>
              <a:t>linguistic meaning</a:t>
            </a:r>
            <a:r>
              <a:rPr lang="zh-TW" altLang="en-US" sz="2800" dirty="0"/>
              <a:t>；語義學研究詞句的字面意義</a:t>
            </a:r>
            <a:endParaRPr lang="en-HK" altLang="zh-TW" sz="2800" dirty="0"/>
          </a:p>
          <a:p>
            <a:r>
              <a:rPr lang="en-US" altLang="zh-TW" sz="2800" dirty="0"/>
              <a:t>meaning in context</a:t>
            </a:r>
            <a:r>
              <a:rPr lang="zh-TW" altLang="en-US" sz="2800" dirty="0"/>
              <a:t>；語用學研究特定語言與使用情境</a:t>
            </a:r>
            <a:endParaRPr lang="en-US" altLang="zh-TW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5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Calibri" panose="020F0502020204030204" pitchFamily="34" charset="0"/>
                <a:ea typeface="KaiTi" panose="02010609060101010101" pitchFamily="49" charset="-122"/>
              </a:rPr>
              <a:t>語用學</a:t>
            </a:r>
            <a:r>
              <a:rPr lang="en-US" altLang="zh-TW" sz="4000" b="1" dirty="0">
                <a:latin typeface="Calibri" panose="020F0502020204030204" pitchFamily="34" charset="0"/>
                <a:ea typeface="KaiTi" panose="02010609060101010101" pitchFamily="49" charset="-122"/>
              </a:rPr>
              <a:t> pragmatics</a:t>
            </a:r>
            <a:endParaRPr lang="en-US" sz="4000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305800" cy="4800600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語用學</a:t>
            </a:r>
            <a:r>
              <a:rPr lang="en-US" altLang="zh-TW" sz="3600" dirty="0"/>
              <a:t> pragmatics </a:t>
            </a:r>
            <a:r>
              <a:rPr lang="zh-TW" altLang="en-US" sz="3600" dirty="0"/>
              <a:t>是研究</a:t>
            </a:r>
            <a:r>
              <a:rPr lang="zh-TW" altLang="en-US" sz="3600" dirty="0">
                <a:solidFill>
                  <a:srgbClr val="C00000"/>
                </a:solidFill>
              </a:rPr>
              <a:t>語言使用</a:t>
            </a:r>
            <a:r>
              <a:rPr lang="zh-TW" altLang="en-US" sz="3600" dirty="0"/>
              <a:t>的領域</a:t>
            </a:r>
            <a:endParaRPr lang="en-US" altLang="zh-TW" sz="3600" dirty="0"/>
          </a:p>
          <a:p>
            <a:pPr lvl="1"/>
            <a:r>
              <a:rPr lang="zh-TW" altLang="en-US" sz="3600" dirty="0"/>
              <a:t>在</a:t>
            </a:r>
            <a:r>
              <a:rPr lang="zh-TW" altLang="en-US" sz="3600" dirty="0">
                <a:solidFill>
                  <a:srgbClr val="C00000"/>
                </a:solidFill>
              </a:rPr>
              <a:t>奧斯汀</a:t>
            </a:r>
            <a:r>
              <a:rPr lang="en-US" altLang="zh-TW" sz="3600" dirty="0"/>
              <a:t> (John L. Austin) </a:t>
            </a:r>
            <a:r>
              <a:rPr lang="zh-TW" altLang="en-US" sz="3600" dirty="0"/>
              <a:t>的言語行為理論 </a:t>
            </a:r>
            <a:r>
              <a:rPr lang="en-US" altLang="zh-TW" sz="3600" dirty="0"/>
              <a:t>(</a:t>
            </a:r>
            <a:r>
              <a:rPr lang="en-US" altLang="zh-TW" sz="3600" dirty="0">
                <a:solidFill>
                  <a:srgbClr val="0070C0"/>
                </a:solidFill>
              </a:rPr>
              <a:t>speech act theory</a:t>
            </a:r>
            <a:r>
              <a:rPr lang="en-US" altLang="zh-TW" sz="3600" dirty="0"/>
              <a:t>) </a:t>
            </a:r>
            <a:r>
              <a:rPr lang="zh-TW" altLang="en-US" sz="3600" dirty="0"/>
              <a:t>以及</a:t>
            </a:r>
            <a:br>
              <a:rPr lang="en-US" altLang="zh-TW" sz="3600" dirty="0"/>
            </a:br>
            <a:r>
              <a:rPr lang="zh-TW" altLang="en-US" sz="3600" dirty="0">
                <a:solidFill>
                  <a:srgbClr val="C00000"/>
                </a:solidFill>
              </a:rPr>
              <a:t>格萊斯</a:t>
            </a:r>
            <a:r>
              <a:rPr lang="en-US" altLang="zh-TW" sz="3600" dirty="0"/>
              <a:t> (Hebert P. Grice) </a:t>
            </a:r>
            <a:r>
              <a:rPr lang="zh-TW" altLang="en-US" sz="3600" dirty="0"/>
              <a:t>的會話合作原則 </a:t>
            </a:r>
            <a:r>
              <a:rPr lang="en-US" altLang="zh-TW" sz="3600" dirty="0"/>
              <a:t>(</a:t>
            </a:r>
            <a:r>
              <a:rPr lang="en-US" altLang="zh-TW" sz="3600" dirty="0">
                <a:solidFill>
                  <a:srgbClr val="0070C0"/>
                </a:solidFill>
              </a:rPr>
              <a:t>cooperative principle</a:t>
            </a:r>
            <a:r>
              <a:rPr lang="en-US" altLang="zh-TW" sz="3600" dirty="0"/>
              <a:t>) </a:t>
            </a:r>
            <a:r>
              <a:rPr lang="zh-TW" altLang="en-US" sz="3600" dirty="0"/>
              <a:t>引起語言學家的注意後，逐漸成為語言學的一支</a:t>
            </a:r>
            <a:endParaRPr lang="en-US" altLang="zh-TW" sz="3600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語用學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pragmatics</a:t>
            </a:r>
            <a:endParaRPr 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600" dirty="0"/>
              <a:t>語言的使用不只和語言的</a:t>
            </a:r>
            <a:r>
              <a:rPr lang="zh-TW" altLang="en-US" sz="3600" b="1" dirty="0">
                <a:solidFill>
                  <a:srgbClr val="C00000"/>
                </a:solidFill>
              </a:rPr>
              <a:t>內在語義</a:t>
            </a:r>
            <a:r>
              <a:rPr lang="zh-TW" altLang="en-US" sz="3600" dirty="0"/>
              <a:t>有關，也和</a:t>
            </a:r>
            <a:r>
              <a:rPr lang="zh-TW" altLang="en-US" sz="3600" b="1" dirty="0">
                <a:solidFill>
                  <a:srgbClr val="C00000"/>
                </a:solidFill>
              </a:rPr>
              <a:t>講話者</a:t>
            </a:r>
            <a:r>
              <a:rPr lang="zh-TW" altLang="en-US" sz="3600" dirty="0"/>
              <a:t>的身分、地位、角色，以及</a:t>
            </a:r>
            <a:r>
              <a:rPr lang="zh-TW" altLang="en-US" sz="3600" b="1" dirty="0">
                <a:solidFill>
                  <a:srgbClr val="C00000"/>
                </a:solidFill>
              </a:rPr>
              <a:t>講話當時的情境</a:t>
            </a:r>
            <a:r>
              <a:rPr lang="zh-TW" altLang="en-US" sz="3600" dirty="0"/>
              <a:t>等有密切關係</a:t>
            </a:r>
            <a:endParaRPr lang="en-US" altLang="zh-TW" sz="3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8077200" cy="3810000"/>
          </a:xfrm>
        </p:spPr>
        <p:txBody>
          <a:bodyPr>
            <a:normAutofit fontScale="92500"/>
          </a:bodyPr>
          <a:lstStyle/>
          <a:p>
            <a:r>
              <a:rPr lang="zh-TW" altLang="en-US" sz="3600" dirty="0"/>
              <a:t>今天談的題目：</a:t>
            </a:r>
            <a:endParaRPr lang="en-US" altLang="zh-TW" sz="3600" dirty="0"/>
          </a:p>
          <a:p>
            <a:pPr lvl="1"/>
            <a:r>
              <a:rPr lang="zh-TW" altLang="en-US" sz="3600" dirty="0"/>
              <a:t>預設</a:t>
            </a:r>
            <a:r>
              <a:rPr lang="en-US" altLang="zh-TW" sz="3600" dirty="0"/>
              <a:t> presupposition</a:t>
            </a:r>
          </a:p>
          <a:p>
            <a:pPr lvl="1"/>
            <a:r>
              <a:rPr lang="zh-TW" altLang="en-US" sz="3600" dirty="0"/>
              <a:t>衍推 </a:t>
            </a:r>
            <a:r>
              <a:rPr lang="en-US" altLang="zh-TW" sz="3600" dirty="0"/>
              <a:t>entailment</a:t>
            </a:r>
          </a:p>
          <a:p>
            <a:pPr lvl="1"/>
            <a:r>
              <a:rPr lang="zh-TW" altLang="en-US" sz="3600" dirty="0"/>
              <a:t>指代詞 </a:t>
            </a:r>
            <a:r>
              <a:rPr lang="en-US" altLang="zh-TW" sz="3600" dirty="0" err="1"/>
              <a:t>deixis</a:t>
            </a:r>
            <a:endParaRPr lang="en-US" altLang="zh-TW" sz="3600" dirty="0"/>
          </a:p>
          <a:p>
            <a:pPr lvl="1"/>
            <a:r>
              <a:rPr lang="zh-TW" altLang="en-US" sz="3600" dirty="0"/>
              <a:t>言語行為 </a:t>
            </a:r>
            <a:r>
              <a:rPr lang="en-US" altLang="zh-TW" sz="3600" dirty="0"/>
              <a:t>speech acts</a:t>
            </a:r>
          </a:p>
          <a:p>
            <a:pPr lvl="1"/>
            <a:r>
              <a:rPr lang="zh-TW" altLang="en-US" sz="3600" dirty="0"/>
              <a:t>談話中的合作原則 </a:t>
            </a:r>
            <a:r>
              <a:rPr lang="en-US" altLang="zh-TW" sz="3600" dirty="0"/>
              <a:t>cooperative principle</a:t>
            </a:r>
            <a:endParaRPr lang="en-US" altLang="zh-HK" sz="3600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48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257800"/>
            <a:ext cx="6781800" cy="914400"/>
          </a:xfrm>
        </p:spPr>
        <p:txBody>
          <a:bodyPr>
            <a:normAutofit/>
          </a:bodyPr>
          <a:lstStyle/>
          <a:p>
            <a:r>
              <a:rPr lang="zh-TW" altLang="en-US" sz="4000" b="1" dirty="0"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en-US" sz="4000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772400" cy="4953000"/>
          </a:xfrm>
        </p:spPr>
        <p:txBody>
          <a:bodyPr>
            <a:normAutofit/>
          </a:bodyPr>
          <a:lstStyle/>
          <a:p>
            <a:r>
              <a:rPr lang="zh-TW" altLang="en-US" sz="3600" dirty="0">
                <a:solidFill>
                  <a:srgbClr val="C00000"/>
                </a:solidFill>
              </a:rPr>
              <a:t>預設 </a:t>
            </a:r>
            <a:r>
              <a:rPr lang="en-US" altLang="zh-TW" sz="3600" dirty="0">
                <a:solidFill>
                  <a:srgbClr val="C00000"/>
                </a:solidFill>
              </a:rPr>
              <a:t>presupposition</a:t>
            </a:r>
            <a:r>
              <a:rPr lang="zh-TW" altLang="en-US" sz="3600" dirty="0"/>
              <a:t>：講話者在對話之前已擁有的立場、觀念、想法、看法等</a:t>
            </a:r>
            <a:endParaRPr lang="en-US" sz="3600" dirty="0"/>
          </a:p>
          <a:p>
            <a:endParaRPr lang="en-US" altLang="zh-TW" sz="3600" dirty="0"/>
          </a:p>
          <a:p>
            <a:r>
              <a:rPr lang="zh-TW" altLang="en-US" sz="3600" dirty="0"/>
              <a:t>例子</a:t>
            </a:r>
            <a:r>
              <a:rPr lang="en-US" altLang="zh-TW" sz="3600" dirty="0"/>
              <a:t>1</a:t>
            </a:r>
            <a:r>
              <a:rPr lang="zh-TW" altLang="en-US" sz="3600" dirty="0"/>
              <a:t>：「</a:t>
            </a:r>
            <a:r>
              <a:rPr lang="zh-TW" altLang="en-US" sz="3600" dirty="0">
                <a:solidFill>
                  <a:srgbClr val="0070C0"/>
                </a:solidFill>
              </a:rPr>
              <a:t>要不要再來一杯咖啡？</a:t>
            </a:r>
            <a:r>
              <a:rPr lang="zh-TW" altLang="en-US" sz="3600" dirty="0"/>
              <a:t>」這句有甚麼預設？</a:t>
            </a:r>
            <a:endParaRPr lang="en-US" altLang="zh-TW" sz="3600" dirty="0"/>
          </a:p>
          <a:p>
            <a:pPr lvl="1"/>
            <a:r>
              <a:rPr lang="zh-TW" altLang="en-US" sz="3600" dirty="0"/>
              <a:t>預設：對話者至少已經喝過咖啡了</a:t>
            </a:r>
            <a:endParaRPr lang="en-US" altLang="zh-TW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6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7543800" cy="4648200"/>
          </a:xfrm>
        </p:spPr>
        <p:txBody>
          <a:bodyPr>
            <a:normAutofit lnSpcReduction="10000"/>
          </a:bodyPr>
          <a:lstStyle/>
          <a:p>
            <a:r>
              <a:rPr lang="zh-TW" altLang="en-US" sz="3600" dirty="0"/>
              <a:t>例子</a:t>
            </a:r>
            <a:r>
              <a:rPr lang="en-US" altLang="zh-TW" sz="3600" dirty="0"/>
              <a:t>2</a:t>
            </a:r>
            <a:r>
              <a:rPr lang="zh-TW" altLang="en-US" sz="3600" dirty="0"/>
              <a:t>：「</a:t>
            </a:r>
            <a:r>
              <a:rPr lang="zh-TW" altLang="en-US" sz="3600" dirty="0">
                <a:solidFill>
                  <a:srgbClr val="0070C0"/>
                </a:solidFill>
              </a:rPr>
              <a:t>他妹妹再生了一個孩子。</a:t>
            </a:r>
            <a:r>
              <a:rPr lang="zh-TW" altLang="en-US" sz="3600" dirty="0"/>
              <a:t>」這句有甚麼預設？</a:t>
            </a:r>
            <a:endParaRPr lang="en-US" altLang="zh-TW" sz="3600" dirty="0"/>
          </a:p>
          <a:p>
            <a:pPr lvl="1"/>
            <a:r>
              <a:rPr lang="zh-TW" altLang="en-US" sz="3600" dirty="0"/>
              <a:t>預設：他最少有一個妹妹，她的妹妹至少已有了一個孩子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zh-TW" altLang="en-US" sz="3600" dirty="0"/>
              <a:t>以上的例子由</a:t>
            </a:r>
            <a:r>
              <a:rPr lang="zh-TW" altLang="en-US" sz="3600" b="1" dirty="0">
                <a:solidFill>
                  <a:srgbClr val="C00000"/>
                </a:solidFill>
              </a:rPr>
              <a:t>詞語本身</a:t>
            </a:r>
            <a:r>
              <a:rPr lang="zh-TW" altLang="en-US" sz="3600" dirty="0"/>
              <a:t>透露預設的涵義，這種預設稱為</a:t>
            </a:r>
            <a:r>
              <a:rPr lang="zh-TW" altLang="en-US" sz="3600" b="1" dirty="0">
                <a:solidFill>
                  <a:srgbClr val="0070C0"/>
                </a:solidFill>
              </a:rPr>
              <a:t>「語義預設」</a:t>
            </a:r>
            <a:r>
              <a:rPr lang="en-US" altLang="zh-TW" sz="3600" b="1" dirty="0">
                <a:solidFill>
                  <a:srgbClr val="0070C0"/>
                </a:solidFill>
              </a:rPr>
              <a:t>semantic presupposition</a:t>
            </a:r>
            <a:endParaRPr lang="en-US" altLang="zh-HK" sz="3600" b="1" dirty="0">
              <a:solidFill>
                <a:srgbClr val="0070C0"/>
              </a:solidFill>
            </a:endParaRPr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4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800600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語義預設常見的一些詞語：</a:t>
            </a:r>
            <a:endParaRPr lang="en-US" altLang="zh-TW" sz="3600" dirty="0"/>
          </a:p>
          <a:p>
            <a:pPr lvl="1"/>
            <a:r>
              <a:rPr lang="en-US" altLang="zh-HK" sz="3600" dirty="0"/>
              <a:t>another </a:t>
            </a:r>
            <a:r>
              <a:rPr lang="zh-TW" altLang="en-US" sz="3600" dirty="0"/>
              <a:t>再、另</a:t>
            </a:r>
            <a:r>
              <a:rPr lang="en-US" altLang="zh-TW" sz="3600" dirty="0"/>
              <a:t>	       </a:t>
            </a:r>
            <a:r>
              <a:rPr lang="en-US" altLang="zh-HK" sz="3600" dirty="0"/>
              <a:t>again</a:t>
            </a:r>
            <a:r>
              <a:rPr lang="zh-TW" altLang="en-US" sz="3600" dirty="0"/>
              <a:t> 再、又</a:t>
            </a:r>
            <a:endParaRPr lang="en-US" altLang="zh-TW" sz="3600" dirty="0"/>
          </a:p>
          <a:p>
            <a:pPr lvl="1"/>
            <a:r>
              <a:rPr lang="en-US" altLang="zh-HK" sz="3600" dirty="0"/>
              <a:t>also </a:t>
            </a:r>
            <a:r>
              <a:rPr lang="zh-TW" altLang="en-US" sz="3600" dirty="0"/>
              <a:t>也</a:t>
            </a:r>
            <a:r>
              <a:rPr lang="en-US" altLang="zh-TW" sz="3600" dirty="0"/>
              <a:t>	</a:t>
            </a:r>
            <a:r>
              <a:rPr lang="en-US" altLang="zh-HK" sz="3600" dirty="0"/>
              <a:t>too </a:t>
            </a:r>
            <a:r>
              <a:rPr lang="zh-TW" altLang="en-US" sz="3600" dirty="0"/>
              <a:t>也</a:t>
            </a:r>
            <a:r>
              <a:rPr lang="en-US" altLang="zh-TW" sz="3600" dirty="0"/>
              <a:t>	</a:t>
            </a:r>
            <a:r>
              <a:rPr lang="en-US" altLang="zh-HK" sz="3600" dirty="0"/>
              <a:t>once </a:t>
            </a:r>
            <a:r>
              <a:rPr lang="zh-TW" altLang="en-US" sz="3600" dirty="0"/>
              <a:t>曾經</a:t>
            </a:r>
            <a:endParaRPr lang="en-US" altLang="zh-TW" sz="3600" dirty="0"/>
          </a:p>
          <a:p>
            <a:pPr lvl="1"/>
            <a:r>
              <a:rPr lang="en-US" altLang="zh-HK" sz="3600" dirty="0"/>
              <a:t>more </a:t>
            </a:r>
            <a:r>
              <a:rPr lang="zh-TW" altLang="en-US" sz="3600" dirty="0"/>
              <a:t>多些</a:t>
            </a:r>
            <a:endParaRPr lang="en-US" altLang="zh-TW" sz="3600" dirty="0"/>
          </a:p>
          <a:p>
            <a:pPr lvl="1"/>
            <a:endParaRPr lang="en-US" altLang="zh-HK" sz="3600" dirty="0"/>
          </a:p>
          <a:p>
            <a:r>
              <a:rPr lang="zh-TW" altLang="en-US" sz="3600" dirty="0"/>
              <a:t>例子</a:t>
            </a:r>
            <a:r>
              <a:rPr lang="en-US" altLang="zh-TW" sz="3600" dirty="0"/>
              <a:t>3</a:t>
            </a:r>
            <a:r>
              <a:rPr lang="zh-TW" altLang="en-US" sz="3600" dirty="0"/>
              <a:t>：</a:t>
            </a:r>
            <a:r>
              <a:rPr lang="zh-TW" altLang="en-US" sz="3600" dirty="0">
                <a:solidFill>
                  <a:srgbClr val="0070C0"/>
                </a:solidFill>
              </a:rPr>
              <a:t>可以</a:t>
            </a:r>
            <a:r>
              <a:rPr lang="zh-TW" altLang="en-US" sz="3600" u="sng" dirty="0">
                <a:solidFill>
                  <a:srgbClr val="7030A0"/>
                </a:solidFill>
              </a:rPr>
              <a:t>多</a:t>
            </a:r>
            <a:r>
              <a:rPr lang="zh-TW" altLang="en-US" sz="3600" dirty="0">
                <a:solidFill>
                  <a:srgbClr val="0070C0"/>
                </a:solidFill>
              </a:rPr>
              <a:t>加些糖嗎？</a:t>
            </a:r>
            <a:endParaRPr lang="en-US" altLang="zh-TW" sz="3600" dirty="0">
              <a:solidFill>
                <a:srgbClr val="0070C0"/>
              </a:solidFill>
            </a:endParaRPr>
          </a:p>
          <a:p>
            <a:r>
              <a:rPr lang="zh-TW" altLang="en-US" sz="3600" dirty="0"/>
              <a:t>例子</a:t>
            </a:r>
            <a:r>
              <a:rPr lang="en-US" altLang="zh-TW" sz="3600" dirty="0"/>
              <a:t>4</a:t>
            </a:r>
            <a:r>
              <a:rPr lang="zh-TW" altLang="en-US" sz="3600" dirty="0"/>
              <a:t>：</a:t>
            </a:r>
            <a:r>
              <a:rPr lang="zh-TW" altLang="en-US" sz="3600" dirty="0">
                <a:solidFill>
                  <a:srgbClr val="0070C0"/>
                </a:solidFill>
              </a:rPr>
              <a:t>小明</a:t>
            </a:r>
            <a:r>
              <a:rPr lang="zh-TW" altLang="en-US" sz="3600" u="sng" dirty="0">
                <a:solidFill>
                  <a:srgbClr val="7030A0"/>
                </a:solidFill>
              </a:rPr>
              <a:t>又</a:t>
            </a:r>
            <a:r>
              <a:rPr lang="zh-TW" altLang="en-US" sz="3600" dirty="0">
                <a:solidFill>
                  <a:srgbClr val="0070C0"/>
                </a:solidFill>
              </a:rPr>
              <a:t>去看電影。</a:t>
            </a:r>
            <a:endParaRPr lang="zh-HK" altLang="en-US" sz="36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98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8229600" cy="4800600"/>
          </a:xfrm>
        </p:spPr>
        <p:txBody>
          <a:bodyPr>
            <a:noAutofit/>
          </a:bodyPr>
          <a:lstStyle/>
          <a:p>
            <a:r>
              <a:rPr lang="zh-TW" altLang="en-US" sz="3400" dirty="0"/>
              <a:t>另一些預設詞語：</a:t>
            </a:r>
            <a:endParaRPr lang="en-US" altLang="zh-TW" sz="3400" dirty="0"/>
          </a:p>
          <a:p>
            <a:pPr lvl="1"/>
            <a:r>
              <a:rPr lang="en-US" altLang="zh-HK" sz="3400" dirty="0">
                <a:solidFill>
                  <a:srgbClr val="C00000"/>
                </a:solidFill>
              </a:rPr>
              <a:t>regret </a:t>
            </a:r>
            <a:r>
              <a:rPr lang="zh-TW" altLang="en-US" sz="3400" dirty="0">
                <a:solidFill>
                  <a:srgbClr val="C00000"/>
                </a:solidFill>
              </a:rPr>
              <a:t>後悔</a:t>
            </a:r>
            <a:r>
              <a:rPr lang="en-US" altLang="zh-TW" sz="3400" dirty="0"/>
              <a:t>	  </a:t>
            </a:r>
            <a:r>
              <a:rPr lang="zh-TW" altLang="en-US" sz="3000" dirty="0">
                <a:solidFill>
                  <a:srgbClr val="7030A0"/>
                </a:solidFill>
              </a:rPr>
              <a:t>例：</a:t>
            </a:r>
            <a:r>
              <a:rPr lang="zh-TW" altLang="en-US" sz="3000" dirty="0">
                <a:solidFill>
                  <a:srgbClr val="0070C0"/>
                </a:solidFill>
              </a:rPr>
              <a:t>我</a:t>
            </a:r>
            <a:r>
              <a:rPr lang="zh-TW" altLang="en-US" sz="3000" b="1" u="sng" dirty="0">
                <a:solidFill>
                  <a:srgbClr val="0070C0"/>
                </a:solidFill>
              </a:rPr>
              <a:t>後悔</a:t>
            </a:r>
            <a:r>
              <a:rPr lang="zh-TW" altLang="en-US" sz="3000" dirty="0">
                <a:solidFill>
                  <a:srgbClr val="0070C0"/>
                </a:solidFill>
              </a:rPr>
              <a:t>把錢給了他。</a:t>
            </a:r>
            <a:endParaRPr lang="en-US" altLang="zh-TW" sz="3000" dirty="0">
              <a:solidFill>
                <a:srgbClr val="0070C0"/>
              </a:solidFill>
            </a:endParaRPr>
          </a:p>
          <a:p>
            <a:pPr lvl="2"/>
            <a:r>
              <a:rPr lang="zh-TW" altLang="en-US" sz="3400" dirty="0"/>
              <a:t>預設：我已經把錢給了他。</a:t>
            </a:r>
            <a:endParaRPr lang="en-US" altLang="zh-TW" sz="3400" dirty="0"/>
          </a:p>
          <a:p>
            <a:pPr lvl="1"/>
            <a:r>
              <a:rPr lang="en-US" altLang="zh-HK" sz="3400" dirty="0">
                <a:solidFill>
                  <a:srgbClr val="C00000"/>
                </a:solidFill>
              </a:rPr>
              <a:t>forget</a:t>
            </a:r>
            <a:r>
              <a:rPr lang="zh-TW" altLang="en-US" sz="3400" dirty="0">
                <a:solidFill>
                  <a:srgbClr val="C00000"/>
                </a:solidFill>
              </a:rPr>
              <a:t> 忘記</a:t>
            </a:r>
            <a:r>
              <a:rPr lang="en-US" altLang="zh-TW" sz="3400" dirty="0"/>
              <a:t>	  </a:t>
            </a:r>
            <a:r>
              <a:rPr lang="zh-TW" altLang="en-US" sz="3000" dirty="0">
                <a:solidFill>
                  <a:srgbClr val="7030A0"/>
                </a:solidFill>
              </a:rPr>
              <a:t>例：</a:t>
            </a:r>
            <a:r>
              <a:rPr lang="zh-TW" altLang="en-US" sz="3000" dirty="0">
                <a:solidFill>
                  <a:srgbClr val="0070C0"/>
                </a:solidFill>
              </a:rPr>
              <a:t>他</a:t>
            </a:r>
            <a:r>
              <a:rPr lang="zh-TW" altLang="en-US" sz="3000" b="1" u="sng" dirty="0">
                <a:solidFill>
                  <a:srgbClr val="0070C0"/>
                </a:solidFill>
              </a:rPr>
              <a:t>忘記</a:t>
            </a:r>
            <a:r>
              <a:rPr lang="zh-TW" altLang="en-US" sz="3000" dirty="0">
                <a:solidFill>
                  <a:srgbClr val="0070C0"/>
                </a:solidFill>
              </a:rPr>
              <a:t>已把電郵發出了。</a:t>
            </a:r>
            <a:endParaRPr lang="en-US" altLang="zh-TW" sz="3000" dirty="0">
              <a:solidFill>
                <a:srgbClr val="0070C0"/>
              </a:solidFill>
            </a:endParaRPr>
          </a:p>
          <a:p>
            <a:pPr lvl="2"/>
            <a:r>
              <a:rPr lang="zh-TW" altLang="en-US" sz="3400" dirty="0"/>
              <a:t>預設：他已經把電郵發出去。</a:t>
            </a:r>
            <a:endParaRPr lang="en-US" altLang="zh-TW" sz="3400" dirty="0"/>
          </a:p>
          <a:p>
            <a:pPr lvl="1"/>
            <a:r>
              <a:rPr lang="en-US" altLang="zh-HK" sz="3400" dirty="0">
                <a:solidFill>
                  <a:srgbClr val="C00000"/>
                </a:solidFill>
              </a:rPr>
              <a:t>ignore</a:t>
            </a:r>
            <a:r>
              <a:rPr lang="zh-TW" altLang="en-US" sz="3400" dirty="0">
                <a:solidFill>
                  <a:srgbClr val="C00000"/>
                </a:solidFill>
              </a:rPr>
              <a:t> 忽視</a:t>
            </a:r>
            <a:r>
              <a:rPr lang="en-US" altLang="zh-TW" sz="3400" dirty="0"/>
              <a:t>	  </a:t>
            </a:r>
            <a:r>
              <a:rPr lang="zh-TW" altLang="en-US" sz="3000" dirty="0">
                <a:solidFill>
                  <a:srgbClr val="7030A0"/>
                </a:solidFill>
              </a:rPr>
              <a:t>例：</a:t>
            </a:r>
            <a:r>
              <a:rPr lang="en-US" altLang="zh-TW" sz="3000" dirty="0">
                <a:solidFill>
                  <a:srgbClr val="0070C0"/>
                </a:solidFill>
              </a:rPr>
              <a:t>He </a:t>
            </a:r>
            <a:r>
              <a:rPr lang="en-US" altLang="zh-TW" sz="3000" b="1" u="sng" dirty="0">
                <a:solidFill>
                  <a:srgbClr val="0070C0"/>
                </a:solidFill>
              </a:rPr>
              <a:t>ignored</a:t>
            </a:r>
            <a:r>
              <a:rPr lang="en-US" altLang="zh-TW" sz="3000" dirty="0">
                <a:solidFill>
                  <a:srgbClr val="0070C0"/>
                </a:solidFill>
              </a:rPr>
              <a:t> the warning.</a:t>
            </a:r>
          </a:p>
          <a:p>
            <a:pPr lvl="2"/>
            <a:r>
              <a:rPr lang="zh-TW" altLang="en-US" sz="3400" dirty="0"/>
              <a:t>預設：他收到警告。</a:t>
            </a:r>
            <a:endParaRPr lang="en-US" altLang="zh-HK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9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7543800" cy="4419600"/>
          </a:xfrm>
        </p:spPr>
        <p:txBody>
          <a:bodyPr>
            <a:noAutofit/>
          </a:bodyPr>
          <a:lstStyle/>
          <a:p>
            <a:r>
              <a:rPr lang="zh-TW" altLang="en-US" sz="3600" dirty="0"/>
              <a:t>除了詞語會有預設，有時候類似的語句（例如有</a:t>
            </a:r>
            <a:r>
              <a:rPr lang="zh-TW" altLang="en-US" sz="3600" dirty="0">
                <a:solidFill>
                  <a:srgbClr val="7030A0"/>
                </a:solidFill>
              </a:rPr>
              <a:t>相同的句子結構</a:t>
            </a:r>
            <a:r>
              <a:rPr lang="zh-TW" altLang="en-US" sz="3600" dirty="0"/>
              <a:t>）會因聽者已經有了</a:t>
            </a:r>
            <a:r>
              <a:rPr lang="zh-TW" altLang="en-US" sz="3600" b="1" dirty="0">
                <a:solidFill>
                  <a:srgbClr val="C00000"/>
                </a:solidFill>
              </a:rPr>
              <a:t>社會文化</a:t>
            </a:r>
            <a:r>
              <a:rPr lang="zh-TW" altLang="en-US" sz="3600" dirty="0"/>
              <a:t>上的預設，而會有不同的語義解釋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zh-TW" altLang="en-US" sz="3600" dirty="0"/>
              <a:t>這種因</a:t>
            </a:r>
            <a:r>
              <a:rPr lang="zh-TW" altLang="en-US" sz="3600" dirty="0">
                <a:solidFill>
                  <a:srgbClr val="C00000"/>
                </a:solidFill>
              </a:rPr>
              <a:t>社會文化</a:t>
            </a:r>
            <a:r>
              <a:rPr lang="zh-TW" altLang="en-US" sz="3600" dirty="0"/>
              <a:t>或</a:t>
            </a:r>
            <a:r>
              <a:rPr lang="zh-TW" altLang="en-US" sz="3600" dirty="0">
                <a:solidFill>
                  <a:srgbClr val="C00000"/>
                </a:solidFill>
              </a:rPr>
              <a:t>語言的前後文</a:t>
            </a:r>
            <a:r>
              <a:rPr lang="zh-TW" altLang="en-US" sz="3600" dirty="0"/>
              <a:t>而衍生出來的預設稱為</a:t>
            </a:r>
            <a:r>
              <a:rPr lang="zh-TW" altLang="en-US" sz="3600" b="1" dirty="0">
                <a:solidFill>
                  <a:srgbClr val="0070C0"/>
                </a:solidFill>
              </a:rPr>
              <a:t>「語用預設」 </a:t>
            </a:r>
            <a:r>
              <a:rPr lang="en-US" altLang="zh-TW" sz="3600" b="1" dirty="0">
                <a:solidFill>
                  <a:srgbClr val="0070C0"/>
                </a:solidFill>
              </a:rPr>
              <a:t>pragmatic presupposition</a:t>
            </a:r>
            <a:endParaRPr lang="zh-HK" altLang="en-US" sz="36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800600"/>
          </a:xfrm>
        </p:spPr>
        <p:txBody>
          <a:bodyPr>
            <a:normAutofit lnSpcReduction="10000"/>
          </a:bodyPr>
          <a:lstStyle/>
          <a:p>
            <a:r>
              <a:rPr lang="zh-TW" altLang="en-US" sz="3600" dirty="0"/>
              <a:t>例子：</a:t>
            </a:r>
            <a:endParaRPr lang="en-US" altLang="zh-TW" sz="3600" dirty="0"/>
          </a:p>
          <a:p>
            <a:r>
              <a:rPr lang="zh-TW" altLang="en-US" sz="3600" dirty="0">
                <a:solidFill>
                  <a:srgbClr val="0070C0"/>
                </a:solidFill>
              </a:rPr>
              <a:t>法官駁回了兇手的請求，因為</a:t>
            </a:r>
            <a:r>
              <a:rPr lang="zh-TW" altLang="en-US" sz="3600" b="1" u="sng" dirty="0">
                <a:solidFill>
                  <a:srgbClr val="0070C0"/>
                </a:solidFill>
              </a:rPr>
              <a:t>他</a:t>
            </a:r>
            <a:r>
              <a:rPr lang="zh-TW" altLang="en-US" sz="3600" dirty="0">
                <a:solidFill>
                  <a:srgbClr val="0070C0"/>
                </a:solidFill>
              </a:rPr>
              <a:t>是個小心的人。</a:t>
            </a:r>
            <a:endParaRPr lang="en-US" altLang="zh-TW" sz="3600" dirty="0">
              <a:solidFill>
                <a:srgbClr val="0070C0"/>
              </a:solidFill>
            </a:endParaRPr>
          </a:p>
          <a:p>
            <a:r>
              <a:rPr lang="zh-TW" altLang="en-US" sz="3600" dirty="0">
                <a:solidFill>
                  <a:srgbClr val="0070C0"/>
                </a:solidFill>
              </a:rPr>
              <a:t>法官駁回了兇手的請求，因為</a:t>
            </a:r>
            <a:r>
              <a:rPr lang="zh-TW" altLang="en-US" sz="3600" b="1" u="sng" dirty="0">
                <a:solidFill>
                  <a:srgbClr val="0070C0"/>
                </a:solidFill>
              </a:rPr>
              <a:t>他</a:t>
            </a:r>
            <a:r>
              <a:rPr lang="zh-TW" altLang="en-US" sz="3600" dirty="0">
                <a:solidFill>
                  <a:srgbClr val="0070C0"/>
                </a:solidFill>
              </a:rPr>
              <a:t>是個危險的人。</a:t>
            </a:r>
            <a:endParaRPr lang="en-US" altLang="zh-TW" sz="3600" dirty="0">
              <a:solidFill>
                <a:srgbClr val="0070C0"/>
              </a:solidFill>
            </a:endParaRPr>
          </a:p>
          <a:p>
            <a:endParaRPr lang="en-US" altLang="zh-TW" sz="3600" dirty="0"/>
          </a:p>
          <a:p>
            <a:r>
              <a:rPr lang="zh-TW" altLang="en-US" sz="3600" dirty="0"/>
              <a:t>為甚麼這兩句中的「他」會有不同的指涉 </a:t>
            </a:r>
            <a:r>
              <a:rPr lang="en-US" altLang="zh-TW" sz="3600" dirty="0"/>
              <a:t>(reference) </a:t>
            </a:r>
            <a:r>
              <a:rPr lang="zh-TW" altLang="en-US" sz="3600" dirty="0"/>
              <a:t>呢？</a:t>
            </a:r>
            <a:endParaRPr lang="en-US" altLang="zh-TW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4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600" dirty="0">
                <a:solidFill>
                  <a:srgbClr val="0070C0"/>
                </a:solidFill>
              </a:rPr>
              <a:t>語義的解讀</a:t>
            </a:r>
            <a:r>
              <a:rPr lang="zh-TW" altLang="en-US" sz="3600" dirty="0"/>
              <a:t>，並不只和詞語的內在語義有關，也和個人的社會文化背景有密切的關係</a:t>
            </a:r>
            <a:endParaRPr lang="en-US" altLang="zh-TW" sz="3600" dirty="0"/>
          </a:p>
          <a:p>
            <a:pPr lvl="1"/>
            <a:r>
              <a:rPr lang="zh-TW" altLang="en-US" sz="3600" dirty="0"/>
              <a:t>法官通常是「小心的人」</a:t>
            </a:r>
            <a:endParaRPr lang="en-US" altLang="zh-TW" sz="3600" dirty="0"/>
          </a:p>
          <a:p>
            <a:pPr lvl="1"/>
            <a:r>
              <a:rPr lang="zh-TW" altLang="en-US" sz="3600" dirty="0"/>
              <a:t>兇手通常是「危險的人」</a:t>
            </a:r>
            <a:endParaRPr lang="zh-HK" altLang="en-US" sz="3600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1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預設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presupposition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495800"/>
          </a:xfrm>
        </p:spPr>
        <p:txBody>
          <a:bodyPr>
            <a:noAutofit/>
          </a:bodyPr>
          <a:lstStyle/>
          <a:p>
            <a:r>
              <a:rPr lang="zh-TW" altLang="en-US" sz="3400" dirty="0"/>
              <a:t>另一例子：</a:t>
            </a:r>
            <a:endParaRPr lang="en-US" altLang="zh-HK" sz="3400" dirty="0"/>
          </a:p>
          <a:p>
            <a:pPr lvl="1"/>
            <a:r>
              <a:rPr lang="en-US" altLang="zh-HK" sz="3400" dirty="0">
                <a:solidFill>
                  <a:srgbClr val="C00000"/>
                </a:solidFill>
              </a:rPr>
              <a:t>murder</a:t>
            </a:r>
            <a:r>
              <a:rPr lang="en-US" altLang="zh-HK" sz="3400" dirty="0"/>
              <a:t> </a:t>
            </a:r>
            <a:r>
              <a:rPr lang="zh-TW" altLang="en-US" sz="3400" dirty="0"/>
              <a:t>和</a:t>
            </a:r>
            <a:r>
              <a:rPr lang="en-US" altLang="zh-TW" sz="3400" dirty="0"/>
              <a:t> </a:t>
            </a:r>
            <a:r>
              <a:rPr lang="en-US" altLang="zh-HK" sz="3400" dirty="0">
                <a:solidFill>
                  <a:srgbClr val="C00000"/>
                </a:solidFill>
              </a:rPr>
              <a:t>assassinate</a:t>
            </a:r>
            <a:r>
              <a:rPr lang="zh-TW" altLang="en-US" sz="3400" dirty="0"/>
              <a:t>：語義：故意殺害</a:t>
            </a:r>
            <a:endParaRPr lang="en-US" altLang="zh-TW" sz="3400" dirty="0"/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John was murdered.</a:t>
            </a:r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John F. Kennedy was assassinated.</a:t>
            </a:r>
          </a:p>
          <a:p>
            <a:endParaRPr lang="en-US" altLang="zh-HK" sz="3400" dirty="0"/>
          </a:p>
          <a:p>
            <a:pPr lvl="1"/>
            <a:r>
              <a:rPr lang="en-US" altLang="zh-HK" sz="3400" dirty="0"/>
              <a:t>murder </a:t>
            </a:r>
            <a:r>
              <a:rPr lang="zh-TW" altLang="en-US" sz="3400" dirty="0"/>
              <a:t>預設了被殺的人是普通人</a:t>
            </a:r>
            <a:endParaRPr lang="en-US" altLang="zh-TW" sz="3400" dirty="0"/>
          </a:p>
          <a:p>
            <a:pPr lvl="1"/>
            <a:r>
              <a:rPr lang="en-US" altLang="zh-HK" sz="3400" dirty="0"/>
              <a:t>assassinate </a:t>
            </a:r>
            <a:r>
              <a:rPr lang="zh-TW" altLang="en-US" sz="3400" dirty="0"/>
              <a:t>預設了被殺的人是重要人</a:t>
            </a:r>
            <a:r>
              <a:rPr lang="zh-TW" altLang="en-US" sz="3600" dirty="0"/>
              <a:t>物</a:t>
            </a:r>
            <a:endParaRPr lang="zh-HK" alt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Calibri" panose="020F0502020204030204" pitchFamily="34" charset="0"/>
                <a:ea typeface="KaiTi" panose="02010609060101010101" pitchFamily="49" charset="-122"/>
              </a:rPr>
              <a:t>衍推</a:t>
            </a:r>
            <a:r>
              <a:rPr lang="en-US" altLang="zh-TW" sz="4000" b="1" dirty="0">
                <a:latin typeface="Calibri" panose="020F0502020204030204" pitchFamily="34" charset="0"/>
                <a:ea typeface="KaiTi" panose="02010609060101010101" pitchFamily="49" charset="-122"/>
              </a:rPr>
              <a:t> entailment</a:t>
            </a:r>
            <a:endParaRPr lang="en-US" sz="4000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800600"/>
          </a:xfrm>
        </p:spPr>
        <p:txBody>
          <a:bodyPr>
            <a:normAutofit/>
          </a:bodyPr>
          <a:lstStyle/>
          <a:p>
            <a:r>
              <a:rPr lang="zh-TW" altLang="en-US" sz="3400" dirty="0"/>
              <a:t>衍推的觀念建立在哲學的三段論法，如：</a:t>
            </a:r>
            <a:endParaRPr lang="en-US" altLang="zh-TW" sz="3400" dirty="0"/>
          </a:p>
          <a:p>
            <a:pPr lvl="1"/>
            <a:r>
              <a:rPr lang="en-US" altLang="zh-TW" sz="3400" dirty="0"/>
              <a:t>(a) </a:t>
            </a:r>
            <a:r>
              <a:rPr lang="zh-TW" altLang="en-US" sz="3400" dirty="0">
                <a:solidFill>
                  <a:srgbClr val="0070C0"/>
                </a:solidFill>
              </a:rPr>
              <a:t>所有的人都會死。</a:t>
            </a:r>
            <a:endParaRPr lang="en-US" altLang="zh-TW" sz="3400" dirty="0">
              <a:solidFill>
                <a:srgbClr val="0070C0"/>
              </a:solidFill>
            </a:endParaRPr>
          </a:p>
          <a:p>
            <a:pPr lvl="1"/>
            <a:r>
              <a:rPr lang="en-US" altLang="zh-TW" sz="3400" dirty="0"/>
              <a:t>(b) </a:t>
            </a:r>
            <a:r>
              <a:rPr lang="zh-TW" altLang="en-US" sz="3400" dirty="0">
                <a:solidFill>
                  <a:srgbClr val="0070C0"/>
                </a:solidFill>
              </a:rPr>
              <a:t>張三是人。</a:t>
            </a:r>
            <a:endParaRPr lang="en-US" altLang="zh-TW" sz="3400" dirty="0">
              <a:solidFill>
                <a:srgbClr val="0070C0"/>
              </a:solidFill>
            </a:endParaRPr>
          </a:p>
          <a:p>
            <a:pPr lvl="1"/>
            <a:r>
              <a:rPr lang="en-US" altLang="zh-TW" sz="3400" dirty="0"/>
              <a:t>(c) </a:t>
            </a:r>
            <a:r>
              <a:rPr lang="zh-TW" altLang="en-US" sz="3400" dirty="0">
                <a:solidFill>
                  <a:srgbClr val="C00000"/>
                </a:solidFill>
              </a:rPr>
              <a:t>所以張三一定會死。</a:t>
            </a:r>
            <a:endParaRPr lang="en-US" altLang="zh-TW" sz="3400" dirty="0">
              <a:solidFill>
                <a:srgbClr val="C00000"/>
              </a:solidFill>
            </a:endParaRPr>
          </a:p>
          <a:p>
            <a:r>
              <a:rPr lang="zh-TW" altLang="en-US" sz="3400" dirty="0"/>
              <a:t>由 </a:t>
            </a:r>
            <a:r>
              <a:rPr lang="en-US" altLang="zh-TW" sz="3400" dirty="0"/>
              <a:t>(a)</a:t>
            </a:r>
            <a:r>
              <a:rPr lang="zh-TW" altLang="en-US" sz="3400" dirty="0"/>
              <a:t> 和 </a:t>
            </a:r>
            <a:r>
              <a:rPr lang="en-US" altLang="zh-TW" sz="3400" dirty="0"/>
              <a:t>(b)</a:t>
            </a:r>
            <a:r>
              <a:rPr lang="zh-TW" altLang="en-US" sz="3400" dirty="0"/>
              <a:t> 的</a:t>
            </a:r>
            <a:r>
              <a:rPr lang="zh-TW" altLang="en-US" sz="3400" b="1" dirty="0">
                <a:solidFill>
                  <a:srgbClr val="7030A0"/>
                </a:solidFill>
              </a:rPr>
              <a:t>前提</a:t>
            </a:r>
            <a:r>
              <a:rPr lang="zh-TW" altLang="en-US" sz="3400" dirty="0"/>
              <a:t>，我們一定能衍推出 </a:t>
            </a:r>
            <a:r>
              <a:rPr lang="en-US" altLang="zh-TW" sz="3400" dirty="0"/>
              <a:t>(c)</a:t>
            </a:r>
            <a:r>
              <a:rPr lang="zh-TW" altLang="en-US" sz="3400" dirty="0"/>
              <a:t> 的</a:t>
            </a:r>
            <a:r>
              <a:rPr lang="zh-TW" altLang="en-US" sz="3400" b="1" dirty="0">
                <a:solidFill>
                  <a:srgbClr val="7030A0"/>
                </a:solidFill>
              </a:rPr>
              <a:t>結論</a:t>
            </a:r>
            <a:endParaRPr lang="en-US" altLang="zh-TW" sz="3400" b="1" dirty="0">
              <a:solidFill>
                <a:srgbClr val="7030A0"/>
              </a:solidFill>
            </a:endParaRPr>
          </a:p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2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衍推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entailment</a:t>
            </a:r>
            <a:endParaRPr lang="zh-HK" alt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7543800" cy="3886200"/>
          </a:xfrm>
        </p:spPr>
        <p:txBody>
          <a:bodyPr/>
          <a:lstStyle/>
          <a:p>
            <a:r>
              <a:rPr lang="zh-TW" altLang="en-US" sz="3400" dirty="0"/>
              <a:t>衍推：</a:t>
            </a:r>
            <a:endParaRPr lang="en-US" altLang="zh-TW" sz="3400" dirty="0"/>
          </a:p>
          <a:p>
            <a:pPr lvl="1"/>
            <a:r>
              <a:rPr lang="zh-TW" altLang="en-US" sz="3400" dirty="0"/>
              <a:t>某個句子或命題 </a:t>
            </a:r>
            <a:r>
              <a:rPr lang="en-US" altLang="zh-TW" sz="3400" dirty="0"/>
              <a:t>proposition </a:t>
            </a:r>
            <a:r>
              <a:rPr lang="zh-TW" altLang="en-US" sz="3400" b="1" dirty="0">
                <a:solidFill>
                  <a:srgbClr val="7030A0"/>
                </a:solidFill>
              </a:rPr>
              <a:t>一定</a:t>
            </a:r>
            <a:r>
              <a:rPr lang="zh-TW" altLang="en-US" sz="3400" dirty="0"/>
              <a:t>可以衍推出另一句的結果</a:t>
            </a:r>
            <a:endParaRPr lang="en-US" altLang="zh-TW" sz="3400" dirty="0"/>
          </a:p>
          <a:p>
            <a:pPr lvl="1"/>
            <a:r>
              <a:rPr lang="zh-TW" altLang="en-US" sz="3400" dirty="0"/>
              <a:t>衍推是兩個句子之間的</a:t>
            </a:r>
            <a:r>
              <a:rPr lang="zh-TW" altLang="en-US" sz="3400" dirty="0">
                <a:solidFill>
                  <a:srgbClr val="C00000"/>
                </a:solidFill>
              </a:rPr>
              <a:t>邏輯關係</a:t>
            </a:r>
            <a:r>
              <a:rPr lang="zh-TW" altLang="en-US" sz="3400" dirty="0"/>
              <a:t>，當其中一個句子為真時，另一個句子也必定為真</a:t>
            </a:r>
            <a:endParaRPr lang="en-US" altLang="zh-HK" sz="3400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5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衍推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 entailment</a:t>
            </a:r>
            <a:endParaRPr lang="zh-HK" alt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7543800" cy="3886200"/>
          </a:xfrm>
        </p:spPr>
        <p:txBody>
          <a:bodyPr>
            <a:noAutofit/>
          </a:bodyPr>
          <a:lstStyle/>
          <a:p>
            <a:r>
              <a:rPr lang="zh-TW" altLang="en-US" sz="3400" dirty="0"/>
              <a:t>衍推例子：</a:t>
            </a:r>
            <a:endParaRPr lang="en-US" altLang="zh-TW" sz="3400" dirty="0"/>
          </a:p>
          <a:p>
            <a:r>
              <a:rPr lang="en-US" altLang="zh-TW" sz="3400" dirty="0"/>
              <a:t>(a) </a:t>
            </a:r>
            <a:r>
              <a:rPr lang="zh-TW" altLang="en-US" sz="3400" dirty="0">
                <a:solidFill>
                  <a:srgbClr val="0070C0"/>
                </a:solidFill>
              </a:rPr>
              <a:t>張三寫了很多書。</a:t>
            </a:r>
            <a:endParaRPr lang="en-US" altLang="zh-TW" sz="3400" dirty="0">
              <a:solidFill>
                <a:srgbClr val="0070C0"/>
              </a:solidFill>
            </a:endParaRPr>
          </a:p>
          <a:p>
            <a:r>
              <a:rPr lang="en-US" altLang="zh-TW" sz="3400" dirty="0"/>
              <a:t>(b) </a:t>
            </a:r>
            <a:r>
              <a:rPr lang="zh-TW" altLang="en-US" sz="3400" dirty="0">
                <a:solidFill>
                  <a:srgbClr val="0070C0"/>
                </a:solidFill>
              </a:rPr>
              <a:t>張三是個作家。</a:t>
            </a:r>
            <a:endParaRPr lang="en-US" altLang="zh-TW" sz="3400" dirty="0">
              <a:solidFill>
                <a:srgbClr val="0070C0"/>
              </a:solidFill>
            </a:endParaRPr>
          </a:p>
          <a:p>
            <a:endParaRPr lang="en-US" altLang="zh-HK" sz="3400" dirty="0"/>
          </a:p>
          <a:p>
            <a:r>
              <a:rPr lang="en-US" altLang="zh-HK" sz="3400" dirty="0"/>
              <a:t>(a) </a:t>
            </a:r>
            <a:r>
              <a:rPr lang="zh-TW" altLang="en-US" sz="3400" dirty="0"/>
              <a:t>可以衍推 </a:t>
            </a:r>
            <a:r>
              <a:rPr lang="en-US" altLang="zh-TW" sz="3400" dirty="0"/>
              <a:t>(b)</a:t>
            </a:r>
          </a:p>
          <a:p>
            <a:r>
              <a:rPr lang="zh-TW" altLang="en-US" sz="3400" dirty="0"/>
              <a:t>注意：</a:t>
            </a:r>
            <a:r>
              <a:rPr lang="zh-TW" altLang="en-US" sz="3400" dirty="0">
                <a:solidFill>
                  <a:srgbClr val="7030A0"/>
                </a:solidFill>
              </a:rPr>
              <a:t>反向衍推不一定正確</a:t>
            </a:r>
            <a:endParaRPr lang="zh-HK" altLang="en-US" sz="34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5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Calibri" panose="020F0502020204030204" pitchFamily="34" charset="0"/>
                <a:ea typeface="KaiTi" panose="02010609060101010101" pitchFamily="49" charset="-122"/>
              </a:rPr>
              <a:t>指代詞</a:t>
            </a:r>
            <a:r>
              <a:rPr lang="en-US" altLang="zh-TW" sz="4000" b="1" dirty="0">
                <a:latin typeface="Calibri" panose="020F0502020204030204" pitchFamily="34" charset="0"/>
                <a:ea typeface="KaiTi" panose="02010609060101010101" pitchFamily="49" charset="-122"/>
              </a:rPr>
              <a:t> </a:t>
            </a:r>
            <a:r>
              <a:rPr lang="en-US" altLang="zh-TW" sz="4000" b="1" dirty="0" err="1">
                <a:latin typeface="Calibri" panose="020F0502020204030204" pitchFamily="34" charset="0"/>
                <a:ea typeface="KaiTi" panose="02010609060101010101" pitchFamily="49" charset="-122"/>
              </a:rPr>
              <a:t>deixis</a:t>
            </a:r>
            <a:endParaRPr lang="en-US" sz="4000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7543800" cy="4572000"/>
          </a:xfrm>
        </p:spPr>
        <p:txBody>
          <a:bodyPr>
            <a:normAutofit/>
          </a:bodyPr>
          <a:lstStyle/>
          <a:p>
            <a:r>
              <a:rPr lang="zh-TW" altLang="en-US" sz="3400" dirty="0"/>
              <a:t>指代詞 </a:t>
            </a:r>
            <a:r>
              <a:rPr lang="en-US" altLang="zh-TW" sz="3400" dirty="0" err="1">
                <a:solidFill>
                  <a:srgbClr val="0070C0"/>
                </a:solidFill>
              </a:rPr>
              <a:t>deixis</a:t>
            </a:r>
            <a:r>
              <a:rPr lang="zh-TW" altLang="en-US" sz="3400" dirty="0"/>
              <a:t> </a:t>
            </a:r>
            <a:r>
              <a:rPr lang="en-US" altLang="zh-TW" sz="3400" dirty="0"/>
              <a:t>(/</a:t>
            </a:r>
            <a:r>
              <a:rPr lang="en-GB" sz="3400" dirty="0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ˈ</a:t>
            </a:r>
            <a:r>
              <a:rPr lang="en-GB" sz="3400" dirty="0" err="1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deɪksɪs</a:t>
            </a:r>
            <a:r>
              <a:rPr lang="en-GB" sz="3400" dirty="0"/>
              <a:t>/ or /</a:t>
            </a:r>
            <a:r>
              <a:rPr lang="en-GB" sz="3400" dirty="0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ˈ</a:t>
            </a:r>
            <a:r>
              <a:rPr lang="en-GB" sz="3400" dirty="0" err="1">
                <a:latin typeface="Doulos SIL" panose="02000500070000020004" pitchFamily="2" charset="0"/>
                <a:ea typeface="Doulos SIL" panose="02000500070000020004" pitchFamily="2" charset="0"/>
                <a:cs typeface="Doulos SIL" panose="02000500070000020004" pitchFamily="2" charset="0"/>
              </a:rPr>
              <a:t>daɪksɪs</a:t>
            </a:r>
            <a:r>
              <a:rPr lang="en-GB" sz="3400" dirty="0"/>
              <a:t>/</a:t>
            </a:r>
            <a:r>
              <a:rPr lang="en-US" altLang="zh-TW" sz="3400" dirty="0"/>
              <a:t>)</a:t>
            </a:r>
            <a:r>
              <a:rPr lang="zh-TW" altLang="en-US" sz="3400" dirty="0"/>
              <a:t>：</a:t>
            </a:r>
            <a:r>
              <a:rPr lang="en-US" altLang="zh-TW" sz="3400" dirty="0"/>
              <a:t> </a:t>
            </a:r>
            <a:br>
              <a:rPr lang="en-US" altLang="zh-TW" sz="3400" dirty="0"/>
            </a:br>
            <a:r>
              <a:rPr lang="zh-TW" altLang="en-US" sz="3400" dirty="0"/>
              <a:t>表示</a:t>
            </a:r>
            <a:r>
              <a:rPr lang="zh-TW" altLang="en-US" sz="3400" dirty="0">
                <a:solidFill>
                  <a:srgbClr val="C00000"/>
                </a:solidFill>
              </a:rPr>
              <a:t>詞語所指涉的對象</a:t>
            </a:r>
            <a:r>
              <a:rPr lang="zh-TW" altLang="en-US" sz="3400" dirty="0"/>
              <a:t>如事物、動作、觀念等等和</a:t>
            </a:r>
            <a:r>
              <a:rPr lang="zh-TW" altLang="en-US" sz="3400" dirty="0">
                <a:solidFill>
                  <a:srgbClr val="C00000"/>
                </a:solidFill>
              </a:rPr>
              <a:t>講者</a:t>
            </a:r>
            <a:r>
              <a:rPr lang="zh-TW" altLang="en-US" sz="3400" dirty="0"/>
              <a:t>之間的</a:t>
            </a:r>
            <a:r>
              <a:rPr lang="zh-TW" altLang="en-US" sz="3400" dirty="0">
                <a:solidFill>
                  <a:srgbClr val="C00000"/>
                </a:solidFill>
              </a:rPr>
              <a:t>距離關係</a:t>
            </a:r>
            <a:r>
              <a:rPr lang="zh-TW" altLang="en-US" sz="3400" dirty="0"/>
              <a:t>的用詞；</a:t>
            </a:r>
            <a:br>
              <a:rPr lang="en-US" altLang="zh-TW" sz="3400" dirty="0"/>
            </a:br>
            <a:r>
              <a:rPr lang="zh-TW" altLang="en-US" sz="3400" dirty="0"/>
              <a:t>例如 </a:t>
            </a:r>
            <a:r>
              <a:rPr lang="en-US" altLang="zh-TW" sz="3400" dirty="0"/>
              <a:t>this/that, here/there, now/then</a:t>
            </a:r>
          </a:p>
          <a:p>
            <a:endParaRPr lang="en-US" altLang="zh-TW" sz="3400" dirty="0"/>
          </a:p>
          <a:p>
            <a:r>
              <a:rPr lang="zh-TW" altLang="en-US" sz="3400" dirty="0"/>
              <a:t>語言中的指代詞包括指示代名詞、指示形容詞、表時間的副詞等等</a:t>
            </a:r>
            <a:endParaRPr lang="en-US" altLang="zh-TW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5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Calibri" panose="020F0502020204030204" pitchFamily="34" charset="0"/>
                <a:ea typeface="KaiTi" panose="02010609060101010101" pitchFamily="49" charset="-122"/>
              </a:rPr>
              <a:t>指代詞</a:t>
            </a:r>
            <a:r>
              <a:rPr lang="en-US" altLang="zh-TW" sz="4000" b="1" dirty="0">
                <a:latin typeface="Calibri" panose="020F0502020204030204" pitchFamily="34" charset="0"/>
                <a:ea typeface="KaiTi" panose="02010609060101010101" pitchFamily="49" charset="-122"/>
              </a:rPr>
              <a:t> </a:t>
            </a:r>
            <a:r>
              <a:rPr lang="en-US" altLang="zh-TW" sz="4000" b="1" dirty="0" err="1">
                <a:latin typeface="Calibri" panose="020F0502020204030204" pitchFamily="34" charset="0"/>
                <a:ea typeface="KaiTi" panose="02010609060101010101" pitchFamily="49" charset="-122"/>
              </a:rPr>
              <a:t>deixis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0"/>
            <a:ext cx="7543800" cy="3886200"/>
          </a:xfrm>
        </p:spPr>
        <p:txBody>
          <a:bodyPr>
            <a:noAutofit/>
          </a:bodyPr>
          <a:lstStyle/>
          <a:p>
            <a:r>
              <a:rPr lang="zh-TW" altLang="en-US" sz="3400" dirty="0"/>
              <a:t>指代詞</a:t>
            </a:r>
            <a:r>
              <a:rPr lang="zh-TW" altLang="en-US" sz="3400" dirty="0">
                <a:solidFill>
                  <a:srgbClr val="C00000"/>
                </a:solidFill>
              </a:rPr>
              <a:t>並沒有固定的語義和指涉</a:t>
            </a:r>
            <a:r>
              <a:rPr lang="zh-TW" altLang="en-US" sz="3400" dirty="0"/>
              <a:t>，它們的使用和</a:t>
            </a:r>
            <a:r>
              <a:rPr lang="zh-TW" altLang="en-US" sz="3400" dirty="0">
                <a:solidFill>
                  <a:srgbClr val="C00000"/>
                </a:solidFill>
              </a:rPr>
              <a:t>講話的時間、方位、立場</a:t>
            </a:r>
            <a:r>
              <a:rPr lang="zh-TW" altLang="en-US" sz="3400" dirty="0"/>
              <a:t>等因素有關係</a:t>
            </a:r>
            <a:endParaRPr lang="en-US" altLang="zh-TW" sz="3400" dirty="0"/>
          </a:p>
          <a:p>
            <a:endParaRPr lang="en-US" altLang="zh-HK" sz="3400" dirty="0"/>
          </a:p>
          <a:p>
            <a:r>
              <a:rPr lang="zh-TW" altLang="en-US" sz="3400" dirty="0"/>
              <a:t>然而，在現實交談中，指代詞常常用來指講話者和對話者共同知道的觀念、地點或事物</a:t>
            </a:r>
            <a:endParaRPr lang="zh-HK" altLang="en-US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41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533400"/>
            <a:ext cx="8382000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600" dirty="0"/>
              <a:t>speech act theory was proposed by </a:t>
            </a:r>
            <a:r>
              <a:rPr lang="en-US" altLang="zh-CN" sz="2600" dirty="0">
                <a:solidFill>
                  <a:srgbClr val="C00000"/>
                </a:solidFill>
              </a:rPr>
              <a:t>John L. Austin </a:t>
            </a:r>
            <a:r>
              <a:rPr lang="en-US" altLang="zh-CN" sz="2600" dirty="0"/>
              <a:t>and has been developed by </a:t>
            </a:r>
            <a:r>
              <a:rPr lang="en-US" altLang="zh-CN" sz="2600" dirty="0">
                <a:solidFill>
                  <a:srgbClr val="C00000"/>
                </a:solidFill>
              </a:rPr>
              <a:t>J. R. Searle</a:t>
            </a:r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endParaRPr lang="en-US" altLang="zh-CN" sz="26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/>
              <a:t>they believe that language is not only used to inform or to describe things, it is often used to “do things”, to perform acts</a:t>
            </a:r>
          </a:p>
        </p:txBody>
      </p:sp>
      <p:pic>
        <p:nvPicPr>
          <p:cNvPr id="4" name="Picture 3" descr="austi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088" y="1502979"/>
            <a:ext cx="2065076" cy="256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C:\Wingli\Files\Windows 7\Desktop\John Sear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502978"/>
            <a:ext cx="2219355" cy="256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7E9D-F4D0-48C2-9AE5-C54175915B0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83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799"/>
            <a:ext cx="7543800" cy="4882261"/>
          </a:xfrm>
        </p:spPr>
        <p:txBody>
          <a:bodyPr>
            <a:normAutofit/>
          </a:bodyPr>
          <a:lstStyle/>
          <a:p>
            <a:r>
              <a:rPr lang="zh-TW" altLang="en-US" sz="3000" dirty="0"/>
              <a:t>自</a:t>
            </a:r>
            <a:r>
              <a:rPr lang="en-US" altLang="zh-TW" sz="3000" dirty="0"/>
              <a:t>1952</a:t>
            </a:r>
            <a:r>
              <a:rPr lang="zh-TW" altLang="en-US" sz="3000" dirty="0"/>
              <a:t>年起，英國哲學家</a:t>
            </a:r>
            <a:r>
              <a:rPr lang="zh-TW" altLang="en-US" sz="3000" dirty="0">
                <a:solidFill>
                  <a:srgbClr val="C00000"/>
                </a:solidFill>
              </a:rPr>
              <a:t>奧斯汀 </a:t>
            </a:r>
            <a:r>
              <a:rPr lang="en-US" altLang="zh-TW" sz="3000" dirty="0">
                <a:solidFill>
                  <a:srgbClr val="C00000"/>
                </a:solidFill>
              </a:rPr>
              <a:t>John L. Austin</a:t>
            </a:r>
            <a:r>
              <a:rPr lang="zh-TW" altLang="en-US" sz="3000" dirty="0"/>
              <a:t>在牛津大學發表關於語言和行為之間的關係 </a:t>
            </a:r>
            <a:r>
              <a:rPr lang="en-US" altLang="zh-TW" sz="3000" dirty="0"/>
              <a:t>(speech and deeds)</a:t>
            </a:r>
            <a:r>
              <a:rPr lang="zh-TW" altLang="en-US" sz="3000" dirty="0"/>
              <a:t> 的演講，但當時沒有引起太大的注意。</a:t>
            </a:r>
            <a:endParaRPr lang="en-HK" altLang="zh-TW" sz="3000" dirty="0"/>
          </a:p>
          <a:p>
            <a:endParaRPr lang="en-US" altLang="zh-TW" sz="3000" dirty="0"/>
          </a:p>
          <a:p>
            <a:r>
              <a:rPr lang="en-US" altLang="zh-TW" sz="3000" dirty="0"/>
              <a:t>1955</a:t>
            </a:r>
            <a:r>
              <a:rPr lang="zh-TW" altLang="en-US" sz="3000" dirty="0"/>
              <a:t>年，</a:t>
            </a:r>
            <a:r>
              <a:rPr lang="zh-TW" altLang="en-US" sz="3000" dirty="0">
                <a:solidFill>
                  <a:srgbClr val="C00000"/>
                </a:solidFill>
              </a:rPr>
              <a:t>奧斯汀</a:t>
            </a:r>
            <a:r>
              <a:rPr lang="zh-TW" altLang="en-US" sz="3000" dirty="0"/>
              <a:t>應邀到哈佛大學講授一系列「如何用語言做事」</a:t>
            </a:r>
            <a:r>
              <a:rPr lang="en-US" altLang="zh-TW" sz="3000" dirty="0"/>
              <a:t>(</a:t>
            </a:r>
            <a:r>
              <a:rPr lang="en-US" altLang="zh-TW" sz="3000" i="1" dirty="0"/>
              <a:t>How to do things with words</a:t>
            </a:r>
            <a:r>
              <a:rPr lang="en-US" altLang="zh-TW" sz="3000" dirty="0"/>
              <a:t>) </a:t>
            </a:r>
            <a:r>
              <a:rPr lang="zh-TW" altLang="en-US" sz="3000" dirty="0"/>
              <a:t>的課，</a:t>
            </a:r>
            <a:r>
              <a:rPr lang="zh-TW" altLang="en-US" sz="3000" dirty="0">
                <a:solidFill>
                  <a:srgbClr val="7030A0"/>
                </a:solidFill>
              </a:rPr>
              <a:t>提出「語言其實也有行為事實的結果」這看法</a:t>
            </a:r>
            <a:r>
              <a:rPr lang="zh-TW" altLang="en-US" sz="3000" dirty="0"/>
              <a:t>，開始引起注意</a:t>
            </a:r>
            <a:endParaRPr lang="en-US" altLang="zh-HK" sz="3000" dirty="0"/>
          </a:p>
          <a:p>
            <a:endParaRPr lang="en-US" altLang="zh-TW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778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343400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後來經過</a:t>
            </a:r>
            <a:r>
              <a:rPr lang="zh-TW" altLang="en-US" sz="3600" dirty="0">
                <a:solidFill>
                  <a:srgbClr val="C00000"/>
                </a:solidFill>
              </a:rPr>
              <a:t>奧斯汀</a:t>
            </a:r>
            <a:r>
              <a:rPr lang="zh-TW" altLang="en-US" sz="3600" dirty="0"/>
              <a:t>的學生</a:t>
            </a:r>
            <a:r>
              <a:rPr lang="zh-TW" altLang="en-US" sz="3600" dirty="0">
                <a:solidFill>
                  <a:srgbClr val="C00000"/>
                </a:solidFill>
              </a:rPr>
              <a:t>賽爾</a:t>
            </a:r>
            <a:r>
              <a:rPr lang="zh-TW" altLang="en-US" sz="3600" dirty="0"/>
              <a:t> </a:t>
            </a:r>
            <a:r>
              <a:rPr lang="en-US" altLang="zh-TW" sz="3600" dirty="0">
                <a:solidFill>
                  <a:srgbClr val="C00000"/>
                </a:solidFill>
              </a:rPr>
              <a:t>John R. Searle</a:t>
            </a:r>
            <a:r>
              <a:rPr lang="zh-TW" altLang="en-US" sz="3600" dirty="0">
                <a:solidFill>
                  <a:srgbClr val="C00000"/>
                </a:solidFill>
              </a:rPr>
              <a:t> </a:t>
            </a:r>
            <a:r>
              <a:rPr lang="zh-TW" altLang="en-US" sz="3600" dirty="0"/>
              <a:t>的著作 </a:t>
            </a:r>
            <a:r>
              <a:rPr lang="en-US" altLang="zh-TW" sz="3600" i="1" dirty="0"/>
              <a:t>What is a Speech Act?</a:t>
            </a:r>
            <a:r>
              <a:rPr lang="zh-TW" altLang="en-US" sz="3600" i="1" dirty="0"/>
              <a:t> </a:t>
            </a:r>
            <a:r>
              <a:rPr lang="zh-TW" altLang="en-US" sz="3600" dirty="0"/>
              <a:t>的宣揚，奧斯汀的學說終被定為</a:t>
            </a:r>
            <a:br>
              <a:rPr lang="en-US" altLang="zh-TW" sz="3600" dirty="0"/>
            </a:br>
            <a:r>
              <a:rPr lang="zh-TW" altLang="en-US" sz="3600" dirty="0">
                <a:solidFill>
                  <a:srgbClr val="C00000"/>
                </a:solidFill>
              </a:rPr>
              <a:t>言語行為理論 </a:t>
            </a:r>
            <a:r>
              <a:rPr lang="en-US" altLang="zh-TW" sz="3600" dirty="0">
                <a:solidFill>
                  <a:srgbClr val="C00000"/>
                </a:solidFill>
              </a:rPr>
              <a:t>speech act theory</a:t>
            </a:r>
          </a:p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796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924800" cy="3886200"/>
          </a:xfrm>
        </p:spPr>
        <p:txBody>
          <a:bodyPr>
            <a:normAutofit/>
          </a:bodyPr>
          <a:lstStyle/>
          <a:p>
            <a:r>
              <a:rPr lang="zh-TW" altLang="en-US" sz="3400" dirty="0"/>
              <a:t>這理論的主要看法：我們平常所使用的句子，是由三個層次組成的：</a:t>
            </a:r>
            <a:endParaRPr lang="en-US" altLang="zh-TW" sz="3400" dirty="0"/>
          </a:p>
          <a:p>
            <a:pPr lvl="1"/>
            <a:r>
              <a:rPr lang="en-US" altLang="zh-TW" sz="3400" dirty="0"/>
              <a:t>(1)</a:t>
            </a:r>
            <a:r>
              <a:rPr lang="zh-TW" altLang="en-US" sz="3400" dirty="0"/>
              <a:t> </a:t>
            </a:r>
            <a:r>
              <a:rPr lang="zh-TW" altLang="en-US" sz="3400" dirty="0">
                <a:solidFill>
                  <a:srgbClr val="C00000"/>
                </a:solidFill>
              </a:rPr>
              <a:t>表達式 </a:t>
            </a:r>
            <a:r>
              <a:rPr lang="en-US" altLang="zh-TW" sz="3400" dirty="0">
                <a:solidFill>
                  <a:srgbClr val="C00000"/>
                </a:solidFill>
              </a:rPr>
              <a:t>locution </a:t>
            </a:r>
            <a:r>
              <a:rPr lang="en-US" altLang="zh-TW" sz="3400" dirty="0">
                <a:solidFill>
                  <a:schemeClr val="tx1"/>
                </a:solidFill>
              </a:rPr>
              <a:t>(</a:t>
            </a:r>
            <a:r>
              <a:rPr lang="zh-TW" altLang="en-US" sz="3400" dirty="0">
                <a:solidFill>
                  <a:schemeClr val="tx1"/>
                </a:solidFill>
              </a:rPr>
              <a:t>句子的形式</a:t>
            </a:r>
            <a:r>
              <a:rPr lang="en-US" altLang="zh-TW" sz="3400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zh-TW" sz="3400" dirty="0"/>
              <a:t>(2) </a:t>
            </a:r>
            <a:r>
              <a:rPr lang="zh-TW" altLang="en-US" sz="3400" dirty="0">
                <a:solidFill>
                  <a:srgbClr val="C00000"/>
                </a:solidFill>
              </a:rPr>
              <a:t>表達意圖 </a:t>
            </a:r>
            <a:r>
              <a:rPr lang="en-US" altLang="zh-TW" sz="3400" dirty="0">
                <a:solidFill>
                  <a:srgbClr val="C00000"/>
                </a:solidFill>
              </a:rPr>
              <a:t>illocution</a:t>
            </a:r>
          </a:p>
          <a:p>
            <a:pPr lvl="1"/>
            <a:r>
              <a:rPr lang="en-US" altLang="zh-TW" sz="3400" dirty="0"/>
              <a:t>(3) </a:t>
            </a:r>
            <a:r>
              <a:rPr lang="zh-TW" altLang="en-US" sz="3400" dirty="0">
                <a:solidFill>
                  <a:srgbClr val="C00000"/>
                </a:solidFill>
              </a:rPr>
              <a:t>行為結果 </a:t>
            </a:r>
            <a:r>
              <a:rPr lang="en-US" altLang="zh-TW" sz="3400" dirty="0" err="1">
                <a:solidFill>
                  <a:srgbClr val="C00000"/>
                </a:solidFill>
              </a:rPr>
              <a:t>perlocution</a:t>
            </a:r>
            <a:endParaRPr lang="zh-HK" altLang="en-US" sz="3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9465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dirty="0"/>
              <a:t>「言語行為」例子：</a:t>
            </a:r>
            <a:endParaRPr lang="en-US" altLang="zh-TW" sz="3600" dirty="0"/>
          </a:p>
          <a:p>
            <a:pPr lvl="1">
              <a:lnSpc>
                <a:spcPct val="90000"/>
              </a:lnSpc>
            </a:pPr>
            <a:r>
              <a:rPr lang="en-US" altLang="zh-CN" sz="3400" dirty="0">
                <a:solidFill>
                  <a:srgbClr val="0070C0"/>
                </a:solidFill>
              </a:rPr>
              <a:t>I </a:t>
            </a:r>
            <a:r>
              <a:rPr lang="en-US" altLang="zh-CN" sz="3400" u="sng" dirty="0">
                <a:solidFill>
                  <a:srgbClr val="0070C0"/>
                </a:solidFill>
              </a:rPr>
              <a:t>apologize</a:t>
            </a:r>
            <a:r>
              <a:rPr lang="en-US" altLang="zh-CN" sz="3400" dirty="0">
                <a:solidFill>
                  <a:srgbClr val="0070C0"/>
                </a:solidFill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3400" dirty="0">
                <a:solidFill>
                  <a:srgbClr val="0070C0"/>
                </a:solidFill>
              </a:rPr>
              <a:t>I </a:t>
            </a:r>
            <a:r>
              <a:rPr lang="en-US" altLang="zh-CN" sz="3400" u="sng" dirty="0">
                <a:solidFill>
                  <a:srgbClr val="0070C0"/>
                </a:solidFill>
              </a:rPr>
              <a:t>promise</a:t>
            </a:r>
            <a:r>
              <a:rPr lang="en-US" altLang="zh-CN" sz="3400" dirty="0">
                <a:solidFill>
                  <a:srgbClr val="0070C0"/>
                </a:solidFill>
              </a:rPr>
              <a:t> to go to the party.</a:t>
            </a:r>
          </a:p>
          <a:p>
            <a:pPr lvl="1">
              <a:lnSpc>
                <a:spcPct val="90000"/>
              </a:lnSpc>
            </a:pPr>
            <a:r>
              <a:rPr lang="en-US" altLang="zh-CN" sz="3400" dirty="0">
                <a:solidFill>
                  <a:srgbClr val="0070C0"/>
                </a:solidFill>
              </a:rPr>
              <a:t>I </a:t>
            </a:r>
            <a:r>
              <a:rPr lang="en-US" altLang="zh-CN" sz="3400" u="sng" dirty="0">
                <a:solidFill>
                  <a:srgbClr val="0070C0"/>
                </a:solidFill>
              </a:rPr>
              <a:t>sentence</a:t>
            </a:r>
            <a:r>
              <a:rPr lang="en-US" altLang="zh-CN" sz="3400" dirty="0">
                <a:solidFill>
                  <a:srgbClr val="0070C0"/>
                </a:solidFill>
              </a:rPr>
              <a:t> you to five years of prison.</a:t>
            </a:r>
          </a:p>
          <a:p>
            <a:pPr lvl="1">
              <a:lnSpc>
                <a:spcPct val="90000"/>
              </a:lnSpc>
            </a:pPr>
            <a:r>
              <a:rPr lang="en-US" altLang="zh-CN" sz="3400" dirty="0">
                <a:solidFill>
                  <a:srgbClr val="0070C0"/>
                </a:solidFill>
              </a:rPr>
              <a:t>I </a:t>
            </a:r>
            <a:r>
              <a:rPr lang="en-US" altLang="zh-CN" sz="3400" u="sng" dirty="0">
                <a:solidFill>
                  <a:srgbClr val="0070C0"/>
                </a:solidFill>
              </a:rPr>
              <a:t>bet</a:t>
            </a:r>
            <a:r>
              <a:rPr lang="en-US" altLang="zh-CN" sz="3400" dirty="0">
                <a:solidFill>
                  <a:srgbClr val="0070C0"/>
                </a:solidFill>
              </a:rPr>
              <a:t> you 50 dollars it will rain tomorrow.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7E9D-F4D0-48C2-9AE5-C54175915B0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772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動詞的種類：</a:t>
            </a:r>
            <a:endParaRPr lang="en-US" altLang="zh-TW" sz="3400" dirty="0"/>
          </a:p>
          <a:p>
            <a:r>
              <a:rPr lang="en-US" altLang="zh-TW" sz="3400" dirty="0"/>
              <a:t>(1) </a:t>
            </a:r>
            <a:r>
              <a:rPr lang="zh-TW" altLang="en-US" sz="3400" dirty="0"/>
              <a:t>靜態動詞 </a:t>
            </a:r>
            <a:r>
              <a:rPr lang="en-US" altLang="zh-TW" sz="3400" dirty="0" err="1">
                <a:solidFill>
                  <a:srgbClr val="7030A0"/>
                </a:solidFill>
              </a:rPr>
              <a:t>stative</a:t>
            </a:r>
            <a:r>
              <a:rPr lang="en-US" altLang="zh-TW" sz="3400" dirty="0">
                <a:solidFill>
                  <a:srgbClr val="7030A0"/>
                </a:solidFill>
              </a:rPr>
              <a:t> verbs</a:t>
            </a:r>
            <a:r>
              <a:rPr lang="zh-TW" altLang="en-US" sz="3400" dirty="0">
                <a:solidFill>
                  <a:srgbClr val="7030A0"/>
                </a:solidFill>
              </a:rPr>
              <a:t> </a:t>
            </a:r>
            <a:r>
              <a:rPr lang="zh-TW" altLang="en-US" sz="3400" dirty="0"/>
              <a:t>例子：</a:t>
            </a:r>
            <a:endParaRPr lang="en-US" altLang="zh-HK" sz="3400" dirty="0"/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He </a:t>
            </a:r>
            <a:r>
              <a:rPr lang="en-US" altLang="zh-HK" sz="3400" u="sng" dirty="0">
                <a:solidFill>
                  <a:srgbClr val="0070C0"/>
                </a:solidFill>
              </a:rPr>
              <a:t>seems</a:t>
            </a:r>
            <a:r>
              <a:rPr lang="en-US" altLang="zh-HK" sz="3400" dirty="0">
                <a:solidFill>
                  <a:srgbClr val="0070C0"/>
                </a:solidFill>
              </a:rPr>
              <a:t> sad.</a:t>
            </a:r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John </a:t>
            </a:r>
            <a:r>
              <a:rPr lang="en-US" altLang="zh-HK" sz="3400" u="sng" dirty="0">
                <a:solidFill>
                  <a:srgbClr val="0070C0"/>
                </a:solidFill>
              </a:rPr>
              <a:t>has</a:t>
            </a:r>
            <a:r>
              <a:rPr lang="en-US" altLang="zh-HK" sz="3400" dirty="0">
                <a:solidFill>
                  <a:srgbClr val="0070C0"/>
                </a:solidFill>
              </a:rPr>
              <a:t> three sons.</a:t>
            </a:r>
          </a:p>
          <a:p>
            <a:pPr lvl="2"/>
            <a:r>
              <a:rPr lang="en-US" altLang="zh-TW" sz="3400" dirty="0"/>
              <a:t>seems </a:t>
            </a:r>
            <a:r>
              <a:rPr lang="zh-TW" altLang="en-US" sz="3400" dirty="0"/>
              <a:t>和</a:t>
            </a:r>
            <a:r>
              <a:rPr lang="en-US" altLang="zh-TW" sz="3400" dirty="0"/>
              <a:t> has </a:t>
            </a:r>
            <a:r>
              <a:rPr lang="zh-TW" altLang="en-US" sz="3400" dirty="0"/>
              <a:t>這些動詞描述一些狀態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4303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動詞的種類：</a:t>
            </a:r>
            <a:endParaRPr lang="en-US" altLang="zh-TW" sz="3400" dirty="0"/>
          </a:p>
          <a:p>
            <a:r>
              <a:rPr lang="en-US" altLang="zh-TW" sz="3400" dirty="0"/>
              <a:t>(2) </a:t>
            </a:r>
            <a:r>
              <a:rPr lang="zh-TW" altLang="en-US" sz="3400" dirty="0"/>
              <a:t>動態動詞</a:t>
            </a:r>
            <a:r>
              <a:rPr lang="en-US" altLang="zh-TW" sz="3400" dirty="0"/>
              <a:t> </a:t>
            </a:r>
            <a:r>
              <a:rPr lang="en-US" altLang="zh-TW" sz="3400" dirty="0">
                <a:solidFill>
                  <a:srgbClr val="7030A0"/>
                </a:solidFill>
              </a:rPr>
              <a:t>dynamic verbs</a:t>
            </a:r>
            <a:r>
              <a:rPr lang="zh-TW" altLang="en-US" sz="3400" dirty="0">
                <a:solidFill>
                  <a:srgbClr val="7030A0"/>
                </a:solidFill>
              </a:rPr>
              <a:t> </a:t>
            </a:r>
            <a:r>
              <a:rPr lang="zh-TW" altLang="en-US" sz="3400" dirty="0"/>
              <a:t>例子：</a:t>
            </a:r>
            <a:endParaRPr lang="en-US" altLang="zh-TW" sz="3400" dirty="0"/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He </a:t>
            </a:r>
            <a:r>
              <a:rPr lang="en-US" altLang="zh-HK" sz="3400" u="sng" dirty="0">
                <a:solidFill>
                  <a:srgbClr val="0070C0"/>
                </a:solidFill>
              </a:rPr>
              <a:t>plays</a:t>
            </a:r>
            <a:r>
              <a:rPr lang="en-US" altLang="zh-HK" sz="3400" dirty="0">
                <a:solidFill>
                  <a:srgbClr val="0070C0"/>
                </a:solidFill>
              </a:rPr>
              <a:t> soccer every week.</a:t>
            </a:r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The boy </a:t>
            </a:r>
            <a:r>
              <a:rPr lang="en-US" altLang="zh-HK" sz="3400" u="sng" dirty="0">
                <a:solidFill>
                  <a:srgbClr val="0070C0"/>
                </a:solidFill>
              </a:rPr>
              <a:t>was hit</a:t>
            </a:r>
            <a:r>
              <a:rPr lang="en-US" altLang="zh-HK" sz="3400" dirty="0">
                <a:solidFill>
                  <a:srgbClr val="0070C0"/>
                </a:solidFill>
              </a:rPr>
              <a:t> by the girl.</a:t>
            </a:r>
          </a:p>
          <a:p>
            <a:pPr lvl="2"/>
            <a:r>
              <a:rPr lang="en-US" altLang="zh-HK" sz="3400" dirty="0"/>
              <a:t>plays </a:t>
            </a:r>
            <a:r>
              <a:rPr lang="zh-TW" altLang="en-US" sz="3400" dirty="0"/>
              <a:t>和</a:t>
            </a:r>
            <a:r>
              <a:rPr lang="en-US" altLang="zh-TW" sz="3400" dirty="0"/>
              <a:t> hit </a:t>
            </a:r>
            <a:r>
              <a:rPr lang="zh-TW" altLang="en-US" sz="3400" dirty="0"/>
              <a:t>這些動詞</a:t>
            </a:r>
            <a:r>
              <a:rPr lang="en-US" altLang="zh-TW" sz="3400" dirty="0"/>
              <a:t> </a:t>
            </a:r>
            <a:r>
              <a:rPr lang="zh-TW" altLang="en-US" sz="3400" dirty="0"/>
              <a:t>描述一些動作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4662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動詞的種類：</a:t>
            </a:r>
            <a:endParaRPr lang="en-US" altLang="zh-TW" sz="3400" dirty="0"/>
          </a:p>
          <a:p>
            <a:r>
              <a:rPr lang="en-US" altLang="zh-TW" sz="3400" dirty="0"/>
              <a:t>(3) </a:t>
            </a:r>
            <a:r>
              <a:rPr lang="zh-TW" altLang="en-US" sz="3400" dirty="0"/>
              <a:t>行事動詞</a:t>
            </a:r>
            <a:r>
              <a:rPr lang="en-US" altLang="zh-TW" sz="3400" dirty="0"/>
              <a:t> </a:t>
            </a:r>
            <a:r>
              <a:rPr lang="en-US" altLang="zh-TW" sz="3400" dirty="0" err="1">
                <a:solidFill>
                  <a:srgbClr val="7030A0"/>
                </a:solidFill>
              </a:rPr>
              <a:t>performative</a:t>
            </a:r>
            <a:r>
              <a:rPr lang="en-US" altLang="zh-TW" sz="3400" dirty="0">
                <a:solidFill>
                  <a:srgbClr val="7030A0"/>
                </a:solidFill>
              </a:rPr>
              <a:t> verbs</a:t>
            </a:r>
            <a:r>
              <a:rPr lang="zh-TW" altLang="en-US" sz="3400" dirty="0">
                <a:solidFill>
                  <a:srgbClr val="7030A0"/>
                </a:solidFill>
              </a:rPr>
              <a:t> </a:t>
            </a:r>
            <a:r>
              <a:rPr lang="zh-TW" altLang="en-US" sz="3400" dirty="0"/>
              <a:t>例子：</a:t>
            </a:r>
            <a:endParaRPr lang="en-US" altLang="zh-TW" sz="3400" dirty="0"/>
          </a:p>
          <a:p>
            <a:pPr lvl="1"/>
            <a:r>
              <a:rPr lang="en-US" altLang="zh-HK" sz="3400" dirty="0">
                <a:solidFill>
                  <a:srgbClr val="0070C0"/>
                </a:solidFill>
              </a:rPr>
              <a:t>I </a:t>
            </a:r>
            <a:r>
              <a:rPr lang="en-US" altLang="zh-HK" sz="3400" u="sng" dirty="0">
                <a:solidFill>
                  <a:srgbClr val="0070C0"/>
                </a:solidFill>
              </a:rPr>
              <a:t>name</a:t>
            </a:r>
            <a:r>
              <a:rPr lang="en-US" altLang="zh-HK" sz="3400" dirty="0">
                <a:solidFill>
                  <a:srgbClr val="0070C0"/>
                </a:solidFill>
              </a:rPr>
              <a:t> this ship Queen Elizabeth.</a:t>
            </a:r>
            <a:br>
              <a:rPr lang="en-US" altLang="zh-HK" sz="3400" dirty="0">
                <a:solidFill>
                  <a:srgbClr val="0070C0"/>
                </a:solidFill>
              </a:rPr>
            </a:br>
            <a:r>
              <a:rPr lang="en-US" altLang="zh-HK" dirty="0">
                <a:hlinkClick r:id="rId2"/>
              </a:rPr>
              <a:t>http://www.youtube.com/watch?v=nTEwFctzLFU</a:t>
            </a:r>
            <a:endParaRPr lang="en-US" altLang="zh-HK" dirty="0"/>
          </a:p>
          <a:p>
            <a:pPr lvl="2"/>
            <a:r>
              <a:rPr lang="en-US" altLang="zh-TW" sz="3600" dirty="0"/>
              <a:t>name </a:t>
            </a:r>
            <a:r>
              <a:rPr lang="zh-TW" altLang="en-US" sz="3600" dirty="0"/>
              <a:t>這個動詞實質上</a:t>
            </a:r>
            <a:r>
              <a:rPr lang="zh-TW" altLang="en-US" sz="3600" dirty="0">
                <a:solidFill>
                  <a:srgbClr val="C00000"/>
                </a:solidFill>
              </a:rPr>
              <a:t>已經做了一種動作：命名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0712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8001000" cy="4191000"/>
          </a:xfrm>
        </p:spPr>
        <p:txBody>
          <a:bodyPr>
            <a:noAutofit/>
          </a:bodyPr>
          <a:lstStyle/>
          <a:p>
            <a:r>
              <a:rPr lang="zh-TW" altLang="en-US" sz="3200" dirty="0">
                <a:solidFill>
                  <a:srgbClr val="7030A0"/>
                </a:solidFill>
              </a:rPr>
              <a:t>行事動詞</a:t>
            </a:r>
            <a:r>
              <a:rPr lang="zh-TW" altLang="en-US" sz="3200" dirty="0"/>
              <a:t>的語義及所要傳達的意志抱括：</a:t>
            </a:r>
            <a:br>
              <a:rPr lang="en-US" altLang="zh-TW" sz="3200" dirty="0"/>
            </a:br>
            <a:r>
              <a:rPr lang="zh-TW" altLang="en-US" sz="3200" dirty="0"/>
              <a:t>強調、答應、命令、要求、警告、宣稱、勸告和打賭</a:t>
            </a:r>
            <a:endParaRPr lang="en-US" altLang="zh-TW" sz="3200" dirty="0"/>
          </a:p>
          <a:p>
            <a:endParaRPr lang="en-US" altLang="zh-TW" sz="3200" dirty="0"/>
          </a:p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assert</a:t>
            </a:r>
            <a:r>
              <a:rPr lang="en-US" altLang="zh-HK" sz="3200" dirty="0"/>
              <a:t> that John will leave tomorrow.</a:t>
            </a:r>
          </a:p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nominate</a:t>
            </a:r>
            <a:r>
              <a:rPr lang="en-US" altLang="zh-HK" sz="3200" dirty="0"/>
              <a:t> Mr. Chan as the chairperson.</a:t>
            </a:r>
          </a:p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order</a:t>
            </a:r>
            <a:r>
              <a:rPr lang="en-US" altLang="zh-HK" sz="3200" dirty="0"/>
              <a:t> John to give you a ride to the airport.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86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7848600" cy="4114800"/>
          </a:xfrm>
        </p:spPr>
        <p:txBody>
          <a:bodyPr>
            <a:noAutofit/>
          </a:bodyPr>
          <a:lstStyle/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warn</a:t>
            </a:r>
            <a:r>
              <a:rPr lang="en-US" altLang="zh-HK" sz="3200" dirty="0"/>
              <a:t> you not to come here again.</a:t>
            </a:r>
          </a:p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promised</a:t>
            </a:r>
            <a:r>
              <a:rPr lang="en-US" altLang="zh-HK" sz="3200" dirty="0"/>
              <a:t> to help you with the work.</a:t>
            </a:r>
          </a:p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resign</a:t>
            </a:r>
            <a:r>
              <a:rPr lang="en-US" altLang="zh-HK" sz="3200" dirty="0"/>
              <a:t>.</a:t>
            </a:r>
          </a:p>
          <a:p>
            <a:pPr lvl="1"/>
            <a:r>
              <a:rPr lang="en-US" altLang="zh-HK" sz="3200" dirty="0"/>
              <a:t>I </a:t>
            </a:r>
            <a:r>
              <a:rPr lang="en-US" altLang="zh-HK" sz="3200" u="sng" dirty="0">
                <a:solidFill>
                  <a:srgbClr val="0070C0"/>
                </a:solidFill>
              </a:rPr>
              <a:t>pronounce</a:t>
            </a:r>
            <a:r>
              <a:rPr lang="en-US" altLang="zh-HK" sz="3200" dirty="0"/>
              <a:t> you man and wife.</a:t>
            </a:r>
          </a:p>
          <a:p>
            <a:pPr lvl="1"/>
            <a:endParaRPr lang="en-US" altLang="zh-HK" sz="3600" dirty="0"/>
          </a:p>
          <a:p>
            <a:r>
              <a:rPr lang="zh-TW" altLang="en-US" sz="3600" dirty="0">
                <a:solidFill>
                  <a:srgbClr val="C00000"/>
                </a:solidFill>
              </a:rPr>
              <a:t>有實質的行為，而不只是語言表達</a:t>
            </a:r>
            <a:endParaRPr lang="zh-HK" alt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65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7543800" cy="4495800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3200" dirty="0">
                <a:solidFill>
                  <a:srgbClr val="C00000"/>
                </a:solidFill>
              </a:rPr>
              <a:t>直接和間接言語行為：</a:t>
            </a:r>
            <a:endParaRPr lang="en-US" altLang="zh-TW" sz="3200" dirty="0">
              <a:solidFill>
                <a:srgbClr val="C00000"/>
              </a:solidFill>
            </a:endParaRPr>
          </a:p>
          <a:p>
            <a:r>
              <a:rPr lang="zh-TW" altLang="en-US" sz="3200" dirty="0">
                <a:solidFill>
                  <a:schemeClr val="tx1"/>
                </a:solidFill>
              </a:rPr>
              <a:t>句子形式、選詞和表達意圖的關係</a:t>
            </a:r>
            <a:endParaRPr lang="en-US" altLang="zh-TW" sz="3200" dirty="0">
              <a:solidFill>
                <a:schemeClr val="tx1"/>
              </a:solidFill>
            </a:endParaRPr>
          </a:p>
          <a:p>
            <a:r>
              <a:rPr lang="zh-TW" altLang="en-US" sz="3200" dirty="0">
                <a:solidFill>
                  <a:schemeClr val="tx1"/>
                </a:solidFill>
              </a:rPr>
              <a:t>我們下面會以命令、祈使做例子</a:t>
            </a:r>
            <a:endParaRPr lang="en-US" altLang="zh-TW" sz="3200" dirty="0">
              <a:solidFill>
                <a:schemeClr val="tx1"/>
              </a:solidFill>
            </a:endParaRPr>
          </a:p>
          <a:p>
            <a:endParaRPr lang="en-US" altLang="zh-TW" sz="3200" dirty="0">
              <a:solidFill>
                <a:schemeClr val="tx1"/>
              </a:solidFill>
            </a:endParaRPr>
          </a:p>
          <a:p>
            <a:r>
              <a:rPr lang="zh-TW" altLang="en-US" sz="3200" dirty="0">
                <a:solidFill>
                  <a:srgbClr val="C00000"/>
                </a:solidFill>
              </a:rPr>
              <a:t>直接言語行為 </a:t>
            </a:r>
            <a:r>
              <a:rPr lang="en-US" altLang="zh-TW" sz="3200" dirty="0"/>
              <a:t>direct speech act</a:t>
            </a:r>
            <a:r>
              <a:rPr lang="zh-TW" altLang="en-US" sz="3200" dirty="0"/>
              <a:t>：</a:t>
            </a:r>
            <a:endParaRPr lang="en-US" altLang="zh-TW" sz="3200" dirty="0"/>
          </a:p>
          <a:p>
            <a:r>
              <a:rPr lang="zh-TW" altLang="en-US" sz="3200" dirty="0"/>
              <a:t>由第一人稱開始、使用</a:t>
            </a:r>
            <a:r>
              <a:rPr lang="en-US" altLang="zh-TW" sz="3200" dirty="0" err="1"/>
              <a:t>performative</a:t>
            </a:r>
            <a:r>
              <a:rPr lang="en-US" altLang="zh-TW" sz="3200" dirty="0"/>
              <a:t> verb</a:t>
            </a:r>
            <a:r>
              <a:rPr lang="zh-TW" altLang="en-US" sz="3200" dirty="0"/>
              <a:t>的，或以命令句表達的表意句而衍生的語言行為</a:t>
            </a:r>
            <a:endParaRPr lang="en-US" altLang="zh-TW" sz="3200" dirty="0"/>
          </a:p>
          <a:p>
            <a:pPr lvl="1"/>
            <a:r>
              <a:rPr lang="en-US" altLang="zh-TW" sz="3200" dirty="0">
                <a:solidFill>
                  <a:srgbClr val="0070C0"/>
                </a:solidFill>
              </a:rPr>
              <a:t>I </a:t>
            </a:r>
            <a:r>
              <a:rPr lang="en-US" altLang="zh-TW" sz="3200" u="sng" dirty="0">
                <a:solidFill>
                  <a:srgbClr val="0070C0"/>
                </a:solidFill>
              </a:rPr>
              <a:t>advise</a:t>
            </a:r>
            <a:r>
              <a:rPr lang="en-US" altLang="zh-TW" sz="3200" dirty="0">
                <a:solidFill>
                  <a:srgbClr val="0070C0"/>
                </a:solidFill>
              </a:rPr>
              <a:t> you not to go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787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3000" dirty="0"/>
          </a:p>
          <a:p>
            <a:r>
              <a:rPr lang="zh-TW" altLang="en-US" sz="3200" dirty="0">
                <a:solidFill>
                  <a:srgbClr val="C00000"/>
                </a:solidFill>
              </a:rPr>
              <a:t>間接言語行為 </a:t>
            </a:r>
            <a:r>
              <a:rPr lang="en-US" altLang="zh-TW" sz="3200" dirty="0"/>
              <a:t>indirect speech act</a:t>
            </a:r>
            <a:r>
              <a:rPr lang="zh-TW" altLang="en-US" sz="3200" dirty="0"/>
              <a:t>：</a:t>
            </a:r>
            <a:endParaRPr lang="en-US" altLang="zh-TW" sz="3200" dirty="0"/>
          </a:p>
          <a:p>
            <a:r>
              <a:rPr lang="zh-TW" altLang="en-US" sz="3200" dirty="0"/>
              <a:t>以非命令句表達</a:t>
            </a:r>
            <a:endParaRPr lang="en-US" altLang="zh-TW" sz="3200" dirty="0"/>
          </a:p>
          <a:p>
            <a:pPr lvl="1"/>
            <a:r>
              <a:rPr lang="en-US" altLang="zh-HK" sz="3200" dirty="0">
                <a:solidFill>
                  <a:srgbClr val="0070C0"/>
                </a:solidFill>
              </a:rPr>
              <a:t>I would like you not to touch that.</a:t>
            </a:r>
          </a:p>
          <a:p>
            <a:pPr lvl="1"/>
            <a:r>
              <a:rPr lang="en-US" altLang="zh-HK" sz="3200" dirty="0">
                <a:solidFill>
                  <a:srgbClr val="0070C0"/>
                </a:solidFill>
              </a:rPr>
              <a:t>Would you stop talking?</a:t>
            </a:r>
            <a:endParaRPr lang="zh-HK" altLang="en-US" sz="3200" dirty="0">
              <a:solidFill>
                <a:srgbClr val="0070C0"/>
              </a:solidFill>
            </a:endParaRPr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8366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191000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問題：說話者是否可以任意選用行事動詞來講話呢？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語言行為理論設了一個求真條件 </a:t>
            </a:r>
            <a:r>
              <a:rPr lang="en-US" altLang="zh-TW" sz="2800" dirty="0"/>
              <a:t>felicity condition</a:t>
            </a:r>
          </a:p>
          <a:p>
            <a:pPr lvl="1"/>
            <a:r>
              <a:rPr lang="zh-TW" altLang="en-US" sz="2600" dirty="0"/>
              <a:t>講話者應該要有相當的資源、能力或地位才能去執行他的語言行為</a:t>
            </a:r>
            <a:endParaRPr lang="zh-HK" altLang="en-US" sz="2600" dirty="0"/>
          </a:p>
          <a:p>
            <a:pPr lvl="1"/>
            <a:r>
              <a:rPr lang="zh-TW" altLang="en-US" sz="2600" dirty="0"/>
              <a:t>任何講述</a:t>
            </a:r>
            <a:r>
              <a:rPr lang="zh-TW" altLang="en-US" sz="2600" dirty="0">
                <a:solidFill>
                  <a:schemeClr val="tx1"/>
                </a:solidFill>
              </a:rPr>
              <a:t>表意句</a:t>
            </a:r>
            <a:r>
              <a:rPr lang="zh-TW" altLang="en-US" sz="2600" dirty="0"/>
              <a:t>者，都必定能滿足行事動詞的必要條件</a:t>
            </a:r>
            <a:endParaRPr lang="en-US" altLang="zh-TW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言語行為理論 </a:t>
            </a:r>
            <a:r>
              <a:rPr lang="en-US" altLang="zh-TW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speech act theory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07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763000" cy="4800600"/>
          </a:xfrm>
        </p:spPr>
        <p:txBody>
          <a:bodyPr>
            <a:noAutofit/>
          </a:bodyPr>
          <a:lstStyle/>
          <a:p>
            <a:pPr lvl="0"/>
            <a:r>
              <a:rPr lang="zh-TW" altLang="en-US" dirty="0"/>
              <a:t>格萊斯</a:t>
            </a:r>
            <a:r>
              <a:rPr lang="en-US" altLang="zh-TW" dirty="0"/>
              <a:t> H. P. Grice</a:t>
            </a:r>
            <a:r>
              <a:rPr lang="zh-TW" altLang="en-US" dirty="0"/>
              <a:t> 提出，我們平時的對談都遵循</a:t>
            </a:r>
            <a:r>
              <a:rPr lang="zh-TW" altLang="en-US" dirty="0">
                <a:solidFill>
                  <a:srgbClr val="C00000"/>
                </a:solidFill>
              </a:rPr>
              <a:t>合作原則</a:t>
            </a:r>
            <a:r>
              <a:rPr lang="en-US" dirty="0">
                <a:solidFill>
                  <a:srgbClr val="C00000"/>
                </a:solidFill>
              </a:rPr>
              <a:t> cooperative principle</a:t>
            </a:r>
            <a:r>
              <a:rPr lang="zh-TW" altLang="en-US" dirty="0"/>
              <a:t>，其中包含</a:t>
            </a:r>
            <a:r>
              <a:rPr lang="zh-TW" altLang="en-US" dirty="0">
                <a:solidFill>
                  <a:srgbClr val="C00000"/>
                </a:solidFill>
              </a:rPr>
              <a:t>四個軸心</a:t>
            </a:r>
            <a:r>
              <a:rPr lang="en-US" dirty="0">
                <a:solidFill>
                  <a:srgbClr val="C00000"/>
                </a:solidFill>
              </a:rPr>
              <a:t> maxims of conversation / </a:t>
            </a:r>
            <a:r>
              <a:rPr lang="zh-TW" altLang="en-US" dirty="0">
                <a:solidFill>
                  <a:srgbClr val="C00000"/>
                </a:solidFill>
              </a:rPr>
              <a:t>交談準則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altLang="zh-TW" sz="2400" dirty="0"/>
              <a:t>(1) </a:t>
            </a:r>
            <a:r>
              <a:rPr lang="zh-TW" altLang="en-US" sz="2400" dirty="0"/>
              <a:t>質性軸心</a:t>
            </a:r>
            <a:r>
              <a:rPr lang="en-US" sz="2400" dirty="0"/>
              <a:t>/</a:t>
            </a:r>
            <a:r>
              <a:rPr lang="zh-TW" altLang="en-US" sz="2400" dirty="0"/>
              <a:t>質的準則</a:t>
            </a:r>
            <a:r>
              <a:rPr lang="en-US" sz="2400" dirty="0"/>
              <a:t> maxim of </a:t>
            </a:r>
            <a:r>
              <a:rPr lang="en-US" sz="2400" dirty="0">
                <a:solidFill>
                  <a:srgbClr val="0070C0"/>
                </a:solidFill>
              </a:rPr>
              <a:t>quality</a:t>
            </a:r>
            <a:r>
              <a:rPr lang="zh-TW" altLang="en-US" sz="2400" dirty="0"/>
              <a:t>：提供的資料要真實</a:t>
            </a:r>
            <a:endParaRPr lang="en-US" sz="2400" dirty="0"/>
          </a:p>
          <a:p>
            <a:pPr lvl="1"/>
            <a:r>
              <a:rPr lang="en-US" altLang="zh-TW" sz="2400" dirty="0"/>
              <a:t>(2) </a:t>
            </a:r>
            <a:r>
              <a:rPr lang="zh-TW" altLang="en-US" sz="2400" dirty="0"/>
              <a:t>量性軸心</a:t>
            </a:r>
            <a:r>
              <a:rPr lang="en-US" sz="2400" dirty="0"/>
              <a:t>/</a:t>
            </a:r>
            <a:r>
              <a:rPr lang="zh-TW" altLang="en-US" sz="2400" dirty="0"/>
              <a:t>量的準則</a:t>
            </a:r>
            <a:r>
              <a:rPr lang="en-US" sz="2400" dirty="0"/>
              <a:t> maxim of </a:t>
            </a:r>
            <a:r>
              <a:rPr lang="en-US" sz="2400" dirty="0">
                <a:solidFill>
                  <a:srgbClr val="0070C0"/>
                </a:solidFill>
              </a:rPr>
              <a:t>quantity</a:t>
            </a:r>
            <a:r>
              <a:rPr lang="zh-TW" altLang="en-US" sz="2400" dirty="0"/>
              <a:t>：提供足夠資料</a:t>
            </a:r>
            <a:endParaRPr lang="en-HK" altLang="zh-TW" sz="2400" dirty="0"/>
          </a:p>
          <a:p>
            <a:pPr lvl="1"/>
            <a:r>
              <a:rPr lang="en-US" altLang="zh-TW" sz="2400" dirty="0"/>
              <a:t>(3) </a:t>
            </a:r>
            <a:r>
              <a:rPr lang="zh-TW" altLang="en-US" sz="2400" dirty="0"/>
              <a:t>相關軸心</a:t>
            </a:r>
            <a:r>
              <a:rPr lang="en-US" sz="2400" dirty="0"/>
              <a:t>/</a:t>
            </a:r>
            <a:r>
              <a:rPr lang="zh-TW" altLang="en-US" sz="2400" dirty="0"/>
              <a:t>關係的準則</a:t>
            </a:r>
            <a:r>
              <a:rPr lang="en-US" sz="2400" dirty="0"/>
              <a:t> maxim of </a:t>
            </a:r>
            <a:r>
              <a:rPr lang="en-US" sz="2400" dirty="0">
                <a:solidFill>
                  <a:srgbClr val="0070C0"/>
                </a:solidFill>
              </a:rPr>
              <a:t>relevance</a:t>
            </a:r>
            <a:r>
              <a:rPr lang="zh-TW" altLang="en-US" sz="2400" dirty="0"/>
              <a:t>：提供的資料要與交談目的有關</a:t>
            </a:r>
            <a:endParaRPr lang="en-US" sz="2400" dirty="0"/>
          </a:p>
          <a:p>
            <a:pPr lvl="1"/>
            <a:r>
              <a:rPr lang="en-US" altLang="zh-TW" sz="2400" dirty="0"/>
              <a:t>(4) </a:t>
            </a:r>
            <a:r>
              <a:rPr lang="zh-TW" altLang="en-US" sz="2400" dirty="0"/>
              <a:t>方式軸心</a:t>
            </a:r>
            <a:r>
              <a:rPr lang="en-US" sz="2400" dirty="0"/>
              <a:t>/</a:t>
            </a:r>
            <a:r>
              <a:rPr lang="zh-TW" altLang="en-US" sz="2400" dirty="0"/>
              <a:t>方式的準則</a:t>
            </a:r>
            <a:r>
              <a:rPr lang="en-US" sz="2400" dirty="0"/>
              <a:t> maxim of </a:t>
            </a:r>
            <a:r>
              <a:rPr lang="en-US" sz="2400" dirty="0">
                <a:solidFill>
                  <a:srgbClr val="0070C0"/>
                </a:solidFill>
              </a:rPr>
              <a:t>manner</a:t>
            </a:r>
            <a:r>
              <a:rPr lang="zh-TW" altLang="en-US" sz="2400" dirty="0"/>
              <a:t>：說話要清楚、有條理</a:t>
            </a:r>
            <a:endParaRPr lang="en-US" sz="2400" dirty="0"/>
          </a:p>
          <a:p>
            <a:endParaRPr lang="en-US" dirty="0"/>
          </a:p>
          <a:p>
            <a:r>
              <a:rPr lang="zh-TW" altLang="en-US" dirty="0"/>
              <a:t>有些時候我們會不遵守這些原則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0"/>
            <a:ext cx="72390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合作原則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cooperative principle</a:t>
            </a:r>
            <a:endParaRPr lang="en-US" altLang="zh-CN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08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pPr marL="274320" lvl="1"/>
            <a:r>
              <a:rPr lang="zh-TW" altLang="en-US" sz="2800" dirty="0"/>
              <a:t>不遵從</a:t>
            </a:r>
            <a:r>
              <a:rPr lang="en-US" altLang="zh-TW" sz="2800" dirty="0"/>
              <a:t>  </a:t>
            </a:r>
            <a:r>
              <a:rPr lang="zh-TW" altLang="en-US" sz="2800" dirty="0"/>
              <a:t>質性軸心</a:t>
            </a:r>
            <a:r>
              <a:rPr lang="en-US" sz="2800" dirty="0"/>
              <a:t>/</a:t>
            </a:r>
            <a:r>
              <a:rPr lang="zh-TW" altLang="en-US" sz="2800" dirty="0"/>
              <a:t>質的準則</a:t>
            </a:r>
            <a:r>
              <a:rPr lang="en-US" sz="2800" dirty="0"/>
              <a:t> maxim of quality</a:t>
            </a:r>
          </a:p>
          <a:p>
            <a:endParaRPr lang="en-US" sz="2800" dirty="0"/>
          </a:p>
          <a:p>
            <a:r>
              <a:rPr lang="en-US" sz="2800" dirty="0"/>
              <a:t>A: Would you like to come to our party tonight?</a:t>
            </a:r>
          </a:p>
          <a:p>
            <a:r>
              <a:rPr lang="en-US" sz="2800" dirty="0"/>
              <a:t>B: I’m afraid I’m not feeling so well today.</a:t>
            </a:r>
          </a:p>
          <a:p>
            <a:endParaRPr lang="en-US" sz="2800" dirty="0"/>
          </a:p>
          <a:p>
            <a:pPr lvl="0"/>
            <a:r>
              <a:rPr lang="zh-TW" altLang="zh-HK" sz="2800" dirty="0"/>
              <a:t>語涵</a:t>
            </a:r>
            <a:r>
              <a:rPr lang="en-US" altLang="zh-TW" sz="2800" dirty="0"/>
              <a:t>/</a:t>
            </a:r>
            <a:r>
              <a:rPr lang="zh-TW" altLang="en-US" sz="2800" dirty="0"/>
              <a:t>含意</a:t>
            </a:r>
            <a:r>
              <a:rPr lang="en-US" altLang="zh-HK" sz="2800" dirty="0"/>
              <a:t> </a:t>
            </a:r>
            <a:r>
              <a:rPr lang="en-US" altLang="zh-HK" sz="2800" dirty="0" err="1"/>
              <a:t>implicature</a:t>
            </a:r>
            <a:r>
              <a:rPr lang="zh-TW" altLang="en-US" sz="2800" dirty="0"/>
              <a:t>：</a:t>
            </a:r>
            <a:r>
              <a:rPr lang="en-US" sz="2800" dirty="0"/>
              <a:t>B </a:t>
            </a:r>
            <a:r>
              <a:rPr lang="zh-TW" altLang="en-US" sz="2800" dirty="0"/>
              <a:t>不想赴會。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77724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合作原則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cooperative principle</a:t>
            </a:r>
            <a:endParaRPr 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842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924800" cy="3886200"/>
          </a:xfrm>
        </p:spPr>
        <p:txBody>
          <a:bodyPr/>
          <a:lstStyle/>
          <a:p>
            <a:pPr marL="274320" lvl="1"/>
            <a:r>
              <a:rPr lang="zh-TW" altLang="en-US" sz="2800" dirty="0"/>
              <a:t>不遵從  量性軸心</a:t>
            </a:r>
            <a:r>
              <a:rPr lang="en-US" sz="2800" dirty="0"/>
              <a:t>/</a:t>
            </a:r>
            <a:r>
              <a:rPr lang="zh-TW" altLang="en-US" sz="2800" dirty="0"/>
              <a:t>量的準則</a:t>
            </a:r>
            <a:r>
              <a:rPr lang="en-US" sz="2800" dirty="0"/>
              <a:t> maxim of quantity</a:t>
            </a:r>
          </a:p>
          <a:p>
            <a:endParaRPr lang="en-US" sz="2800" dirty="0"/>
          </a:p>
          <a:p>
            <a:r>
              <a:rPr lang="en-US" sz="2800" dirty="0"/>
              <a:t>A: Do you know where Mr. X lives?</a:t>
            </a:r>
          </a:p>
          <a:p>
            <a:r>
              <a:rPr lang="en-US" sz="2800" dirty="0"/>
              <a:t>B: Somewhere in the southern suburbs of the city.</a:t>
            </a:r>
          </a:p>
          <a:p>
            <a:endParaRPr lang="en-US" sz="2800" dirty="0"/>
          </a:p>
          <a:p>
            <a:r>
              <a:rPr lang="zh-TW" altLang="zh-HK" sz="2800" dirty="0"/>
              <a:t>語涵</a:t>
            </a:r>
            <a:r>
              <a:rPr lang="en-US" altLang="zh-TW" sz="2800" dirty="0"/>
              <a:t>/</a:t>
            </a:r>
            <a:r>
              <a:rPr lang="zh-TW" altLang="en-US" sz="2800" dirty="0"/>
              <a:t>含意</a:t>
            </a:r>
            <a:r>
              <a:rPr lang="en-US" altLang="zh-HK" sz="2800" dirty="0"/>
              <a:t> </a:t>
            </a:r>
            <a:r>
              <a:rPr lang="en-US" altLang="zh-HK" sz="2800" dirty="0" err="1"/>
              <a:t>implicature</a:t>
            </a:r>
            <a:r>
              <a:rPr lang="zh-TW" altLang="en-US" sz="2800" dirty="0"/>
              <a:t>：</a:t>
            </a:r>
            <a:r>
              <a:rPr lang="en-US" sz="2800" dirty="0"/>
              <a:t>B </a:t>
            </a:r>
            <a:r>
              <a:rPr lang="zh-TW" altLang="en-US" sz="2800" dirty="0"/>
              <a:t>不想透露</a:t>
            </a:r>
            <a:r>
              <a:rPr lang="en-US" altLang="zh-TW" sz="2800" dirty="0"/>
              <a:t>X</a:t>
            </a:r>
            <a:r>
              <a:rPr lang="zh-TW" altLang="en-US" sz="2800" dirty="0"/>
              <a:t>的住處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77724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合作原則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cooperative principle</a:t>
            </a:r>
            <a:endParaRPr 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493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8077200" cy="3886200"/>
          </a:xfrm>
        </p:spPr>
        <p:txBody>
          <a:bodyPr>
            <a:noAutofit/>
          </a:bodyPr>
          <a:lstStyle/>
          <a:p>
            <a:pPr marL="274320" lvl="1"/>
            <a:r>
              <a:rPr lang="zh-TW" altLang="en-US" sz="2800" dirty="0"/>
              <a:t>不遵從  相關軸心</a:t>
            </a:r>
            <a:r>
              <a:rPr lang="en-US" sz="2800" dirty="0"/>
              <a:t>/</a:t>
            </a:r>
            <a:r>
              <a:rPr lang="zh-TW" altLang="en-US" sz="2800" dirty="0"/>
              <a:t>關係的準則</a:t>
            </a:r>
            <a:r>
              <a:rPr lang="en-US" sz="2800" dirty="0"/>
              <a:t> maxim of relevance</a:t>
            </a:r>
          </a:p>
          <a:p>
            <a:endParaRPr lang="en-US" sz="2800" dirty="0"/>
          </a:p>
          <a:p>
            <a:r>
              <a:rPr lang="en-US" sz="2800" dirty="0"/>
              <a:t>A: The hostess is an awful one. Don’t you think so?</a:t>
            </a:r>
          </a:p>
          <a:p>
            <a:r>
              <a:rPr lang="en-US" sz="2800" dirty="0"/>
              <a:t>B: The roses in the garden are beautiful, aren’t they?</a:t>
            </a:r>
          </a:p>
          <a:p>
            <a:endParaRPr lang="en-US" sz="2800" dirty="0"/>
          </a:p>
          <a:p>
            <a:r>
              <a:rPr lang="zh-TW" altLang="zh-HK" sz="2800" dirty="0"/>
              <a:t>語涵</a:t>
            </a:r>
            <a:r>
              <a:rPr lang="en-US" altLang="zh-TW" sz="2800" dirty="0"/>
              <a:t>/</a:t>
            </a:r>
            <a:r>
              <a:rPr lang="zh-TW" altLang="en-US" sz="2800" dirty="0"/>
              <a:t>含意</a:t>
            </a:r>
            <a:r>
              <a:rPr lang="en-US" altLang="zh-HK" sz="2800" dirty="0"/>
              <a:t> </a:t>
            </a:r>
            <a:r>
              <a:rPr lang="en-US" altLang="zh-HK" sz="2800" dirty="0" err="1"/>
              <a:t>implicature</a:t>
            </a:r>
            <a:r>
              <a:rPr lang="zh-TW" altLang="en-US" sz="2800" dirty="0"/>
              <a:t>：</a:t>
            </a:r>
            <a:r>
              <a:rPr lang="en-US" sz="2800" dirty="0"/>
              <a:t>B</a:t>
            </a:r>
            <a:r>
              <a:rPr lang="zh-TW" altLang="en-US" sz="2800" dirty="0"/>
              <a:t>不想評論</a:t>
            </a:r>
            <a:r>
              <a:rPr lang="en-US" altLang="zh-TW" sz="2800" dirty="0"/>
              <a:t>A</a:t>
            </a:r>
            <a:r>
              <a:rPr lang="zh-TW" altLang="en-US" sz="2800" dirty="0"/>
              <a:t>的看法，不想談這話題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77724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合作原則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cooperative principle</a:t>
            </a:r>
            <a:endParaRPr 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427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8077200" cy="3886200"/>
          </a:xfrm>
        </p:spPr>
        <p:txBody>
          <a:bodyPr>
            <a:normAutofit lnSpcReduction="10000"/>
          </a:bodyPr>
          <a:lstStyle/>
          <a:p>
            <a:pPr marL="274320" lvl="1"/>
            <a:r>
              <a:rPr lang="zh-TW" altLang="en-US" sz="2800" dirty="0"/>
              <a:t>不遵從  方式軸心</a:t>
            </a:r>
            <a:r>
              <a:rPr lang="en-US" sz="2800" dirty="0"/>
              <a:t>/</a:t>
            </a:r>
            <a:r>
              <a:rPr lang="zh-TW" altLang="en-US" sz="2800" dirty="0"/>
              <a:t>方式的準則</a:t>
            </a:r>
            <a:r>
              <a:rPr lang="en-US" sz="2800" dirty="0"/>
              <a:t> maxim of manner</a:t>
            </a:r>
          </a:p>
          <a:p>
            <a:endParaRPr lang="en-US" sz="2800" dirty="0"/>
          </a:p>
          <a:p>
            <a:r>
              <a:rPr lang="en-US" sz="2800" dirty="0"/>
              <a:t>A:Shall we get something for the kids?</a:t>
            </a:r>
          </a:p>
          <a:p>
            <a:r>
              <a:rPr lang="en-US" sz="2800" dirty="0"/>
              <a:t>B:Yes. But I vote. I-C-E-C-R-E-A-M. </a:t>
            </a:r>
            <a:r>
              <a:rPr lang="en-US" sz="2800" i="1" dirty="0"/>
              <a:t>(</a:t>
            </a:r>
            <a:r>
              <a:rPr lang="zh-TW" altLang="en-US" sz="2800" i="1" dirty="0"/>
              <a:t>只把字母讀出來，不把詞語念出來</a:t>
            </a:r>
            <a:r>
              <a:rPr lang="en-US" sz="2800" i="1" dirty="0"/>
              <a:t>)</a:t>
            </a:r>
          </a:p>
          <a:p>
            <a:endParaRPr lang="en-US" sz="2800" dirty="0"/>
          </a:p>
          <a:p>
            <a:r>
              <a:rPr lang="zh-TW" altLang="zh-HK" sz="2800" dirty="0"/>
              <a:t>語涵</a:t>
            </a:r>
            <a:r>
              <a:rPr lang="en-US" altLang="zh-TW" sz="2800" dirty="0"/>
              <a:t>/</a:t>
            </a:r>
            <a:r>
              <a:rPr lang="zh-TW" altLang="en-US" sz="2800" dirty="0"/>
              <a:t>含意</a:t>
            </a:r>
            <a:r>
              <a:rPr lang="en-US" altLang="zh-HK" sz="2800" dirty="0"/>
              <a:t> </a:t>
            </a:r>
            <a:r>
              <a:rPr lang="en-US" altLang="zh-HK" sz="2800" dirty="0" err="1"/>
              <a:t>implicature</a:t>
            </a:r>
            <a:r>
              <a:rPr lang="zh-TW" altLang="en-US" sz="2800" dirty="0"/>
              <a:t>：</a:t>
            </a:r>
            <a:r>
              <a:rPr lang="en-US" sz="2800" dirty="0"/>
              <a:t>B</a:t>
            </a:r>
            <a:r>
              <a:rPr lang="zh-TW" altLang="en-US" sz="2800" dirty="0"/>
              <a:t>不想孩子聽到</a:t>
            </a:r>
            <a:r>
              <a:rPr lang="en-US" altLang="zh-TW" sz="2800" dirty="0"/>
              <a:t>ice cream</a:t>
            </a:r>
            <a:r>
              <a:rPr lang="zh-TW" altLang="en-US" sz="2800" dirty="0"/>
              <a:t>，想孩子看到冰淇淋時有驚喜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7772400" cy="1600200"/>
          </a:xfrm>
        </p:spPr>
        <p:txBody>
          <a:bodyPr/>
          <a:lstStyle/>
          <a:p>
            <a:r>
              <a:rPr lang="zh-TW" alt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合作原則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 pitchFamily="34" charset="0"/>
                <a:ea typeface="KaiTi" panose="02010609060101010101" pitchFamily="49" charset="-122"/>
              </a:rPr>
              <a:t>cooperative principle</a:t>
            </a:r>
            <a:endParaRPr lang="en-US" b="1" dirty="0">
              <a:latin typeface="Calibri" panose="020F050202020403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338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KaiTi" panose="02010609060101010101" pitchFamily="49" charset="-122"/>
                <a:ea typeface="KaiTi" panose="02010609060101010101" pitchFamily="49" charset="-122"/>
              </a:rPr>
              <a:t>語言幽默</a:t>
            </a:r>
            <a:endParaRPr lang="en-US" sz="40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685800"/>
            <a:ext cx="7696200" cy="4572000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對幽默語言的研究，主要是從語用和認知兩方面進行</a:t>
            </a:r>
            <a:endParaRPr lang="en-US" altLang="zh-TW" sz="2800" dirty="0"/>
          </a:p>
          <a:p>
            <a:r>
              <a:rPr lang="zh-TW" altLang="en-US" sz="2800" dirty="0">
                <a:solidFill>
                  <a:srgbClr val="C00000"/>
                </a:solidFill>
              </a:rPr>
              <a:t>語用角度</a:t>
            </a:r>
            <a:r>
              <a:rPr lang="zh-TW" altLang="en-US" sz="2800" dirty="0"/>
              <a:t>，包括言語行為理論、合作原則、禮貌原則、關聯理論等</a:t>
            </a:r>
            <a:endParaRPr lang="en-US" altLang="zh-TW" sz="2800" dirty="0"/>
          </a:p>
          <a:p>
            <a:r>
              <a:rPr lang="zh-TW" altLang="en-US" sz="2800" dirty="0">
                <a:solidFill>
                  <a:srgbClr val="C00000"/>
                </a:solidFill>
              </a:rPr>
              <a:t>認知角度</a:t>
            </a:r>
            <a:r>
              <a:rPr lang="zh-TW" altLang="en-US" sz="2800" dirty="0"/>
              <a:t>，包括不和諧－消解</a:t>
            </a:r>
            <a:r>
              <a:rPr lang="en-US" altLang="zh-TW" sz="2800" dirty="0"/>
              <a:t> (incongruity-resolution)</a:t>
            </a:r>
            <a:r>
              <a:rPr lang="zh-TW" altLang="en-US" sz="2800" dirty="0"/>
              <a:t>的二階段模式</a:t>
            </a:r>
            <a:endParaRPr lang="en-US" altLang="zh-TW" sz="2800" dirty="0"/>
          </a:p>
          <a:p>
            <a:pPr lvl="1"/>
            <a:r>
              <a:rPr lang="zh-TW" altLang="en-US" sz="2800"/>
              <a:t>第一階段：</a:t>
            </a:r>
            <a:r>
              <a:rPr lang="zh-TW" altLang="en-US" sz="2800" dirty="0"/>
              <a:t>啟動常規的、默認的框架</a:t>
            </a:r>
            <a:endParaRPr lang="en-US" altLang="zh-TW" sz="2800" dirty="0"/>
          </a:p>
          <a:p>
            <a:pPr lvl="1"/>
            <a:r>
              <a:rPr lang="zh-TW" altLang="en-US" sz="2800" dirty="0"/>
              <a:t>第二階段：用第二個框架來對幽默語言的前半部分進行重新解釋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5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冷笑話之一種定義</a:t>
            </a:r>
            <a:endParaRPr lang="en-US" altLang="zh-TW" sz="3000" dirty="0"/>
          </a:p>
          <a:p>
            <a:r>
              <a:rPr lang="en-US" altLang="zh-TW" sz="3200" dirty="0"/>
              <a:t>“</a:t>
            </a:r>
            <a:r>
              <a:rPr lang="zh-TW" altLang="en-US" sz="3200" dirty="0"/>
              <a:t>冷笑話一般都超出常規的思維，不符合邏輯和生活實際，讓人聽了覺得一愣；這種笑話聽了也不會像那些聽“正常”笑話後一樣開懷大笑</a:t>
            </a:r>
            <a:r>
              <a:rPr lang="en-US" altLang="zh-TW" sz="3200" dirty="0"/>
              <a:t>”</a:t>
            </a:r>
            <a:endParaRPr lang="en-US" altLang="zh-TW" sz="3000" dirty="0"/>
          </a:p>
          <a:p>
            <a:endParaRPr lang="en-US" altLang="zh-TW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0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400" dirty="0"/>
              <a:t>笑話中常見</a:t>
            </a:r>
            <a:r>
              <a:rPr lang="zh-TW" altLang="en-US" sz="3400"/>
              <a:t>的語言特點包括</a:t>
            </a:r>
            <a:r>
              <a:rPr lang="zh-TW" altLang="en-US" sz="3400" dirty="0"/>
              <a:t>：</a:t>
            </a:r>
            <a:endParaRPr lang="en-US" altLang="zh-TW" sz="3400" dirty="0"/>
          </a:p>
          <a:p>
            <a:pPr lvl="1"/>
            <a:r>
              <a:rPr lang="en-US" altLang="zh-HK" sz="3200" dirty="0"/>
              <a:t>homophone </a:t>
            </a:r>
            <a:r>
              <a:rPr lang="zh-TW" altLang="en-US" sz="3200" dirty="0"/>
              <a:t>同音詞</a:t>
            </a:r>
            <a:endParaRPr lang="en-US" altLang="zh-TW" sz="3200" dirty="0"/>
          </a:p>
          <a:p>
            <a:pPr lvl="1"/>
            <a:r>
              <a:rPr lang="en-US" altLang="zh-HK" sz="3200" dirty="0"/>
              <a:t>homograph </a:t>
            </a:r>
            <a:r>
              <a:rPr lang="zh-TW" altLang="en-US" sz="3200" dirty="0"/>
              <a:t>同形詞</a:t>
            </a:r>
            <a:endParaRPr lang="en-US" altLang="zh-TW" sz="3200" dirty="0"/>
          </a:p>
          <a:p>
            <a:pPr lvl="1"/>
            <a:r>
              <a:rPr lang="en-US" altLang="zh-TW" sz="3200" dirty="0"/>
              <a:t>homonym </a:t>
            </a:r>
            <a:r>
              <a:rPr lang="zh-TW" altLang="en-US" sz="3200" dirty="0"/>
              <a:t>同形同音詞</a:t>
            </a:r>
            <a:r>
              <a:rPr lang="en-US" altLang="zh-TW" sz="3200" dirty="0"/>
              <a:t>	</a:t>
            </a:r>
          </a:p>
          <a:p>
            <a:pPr lvl="1"/>
            <a:r>
              <a:rPr lang="en-US" altLang="zh-HK" sz="3200" dirty="0" err="1"/>
              <a:t>polyseme</a:t>
            </a:r>
            <a:r>
              <a:rPr lang="en-US" altLang="zh-HK" sz="3200" dirty="0"/>
              <a:t> </a:t>
            </a:r>
            <a:r>
              <a:rPr lang="zh-TW" altLang="en-US" sz="3200" dirty="0"/>
              <a:t>多義詞</a:t>
            </a:r>
            <a:endParaRPr lang="en-US" altLang="zh-TW" sz="3200" dirty="0"/>
          </a:p>
          <a:p>
            <a:pPr lvl="1"/>
            <a:r>
              <a:rPr lang="en-US" altLang="zh-HK" sz="3200" dirty="0"/>
              <a:t>syntactic ambiguity </a:t>
            </a:r>
            <a:r>
              <a:rPr lang="zh-TW" altLang="en-US" sz="3200" dirty="0"/>
              <a:t>句子結構歧義</a:t>
            </a:r>
            <a:endParaRPr lang="zh-HK" alt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98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sz="3600" dirty="0"/>
              <a:t>今天談過的題目：</a:t>
            </a:r>
            <a:endParaRPr lang="en-US" altLang="zh-TW" sz="3600" dirty="0"/>
          </a:p>
          <a:p>
            <a:pPr lvl="1"/>
            <a:r>
              <a:rPr lang="en-US" altLang="zh-TW" sz="3400" dirty="0"/>
              <a:t>speaker’s meaning; meaning in context</a:t>
            </a:r>
          </a:p>
          <a:p>
            <a:pPr lvl="1"/>
            <a:r>
              <a:rPr lang="zh-TW" altLang="en-US" sz="3600" dirty="0"/>
              <a:t>預設</a:t>
            </a:r>
            <a:r>
              <a:rPr lang="en-US" altLang="zh-TW" sz="3600" dirty="0"/>
              <a:t> presupposition</a:t>
            </a:r>
          </a:p>
          <a:p>
            <a:pPr lvl="1"/>
            <a:r>
              <a:rPr lang="zh-TW" altLang="en-US" sz="3600" dirty="0"/>
              <a:t>衍推 </a:t>
            </a:r>
            <a:r>
              <a:rPr lang="en-US" altLang="zh-TW" sz="3600" dirty="0"/>
              <a:t>entailment</a:t>
            </a:r>
          </a:p>
          <a:p>
            <a:pPr lvl="1"/>
            <a:r>
              <a:rPr lang="zh-TW" altLang="en-US" sz="3600" dirty="0"/>
              <a:t>指代詞 </a:t>
            </a:r>
            <a:r>
              <a:rPr lang="en-US" altLang="zh-TW" sz="3600" dirty="0" err="1"/>
              <a:t>deixis</a:t>
            </a:r>
            <a:endParaRPr lang="en-US" altLang="zh-TW" sz="3600" dirty="0"/>
          </a:p>
          <a:p>
            <a:pPr lvl="1"/>
            <a:r>
              <a:rPr lang="zh-TW" altLang="en-US" sz="3600" dirty="0"/>
              <a:t>言語行為 </a:t>
            </a:r>
            <a:r>
              <a:rPr lang="en-US" altLang="zh-TW" sz="3600" dirty="0"/>
              <a:t>speech acts</a:t>
            </a:r>
          </a:p>
          <a:p>
            <a:pPr lvl="1"/>
            <a:r>
              <a:rPr lang="zh-TW" altLang="en-US" sz="3600" dirty="0"/>
              <a:t>談話中的合作原則 </a:t>
            </a:r>
            <a:r>
              <a:rPr lang="en-US" altLang="zh-TW" sz="3600" dirty="0"/>
              <a:t>cooperative principle</a:t>
            </a:r>
          </a:p>
          <a:p>
            <a:pPr lvl="1"/>
            <a:r>
              <a:rPr lang="zh-TW" altLang="en-US" sz="3600" dirty="0"/>
              <a:t>語言幽默 </a:t>
            </a:r>
            <a:r>
              <a:rPr lang="en-US" altLang="zh-TW" sz="3600" dirty="0"/>
              <a:t>linguistic </a:t>
            </a:r>
            <a:r>
              <a:rPr lang="en-US" altLang="zh-TW" sz="3600" dirty="0" err="1"/>
              <a:t>humour</a:t>
            </a:r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678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Spring</Template>
  <TotalTime>6328</TotalTime>
  <Words>2247</Words>
  <PresentationFormat>On-screen Show (4:3)</PresentationFormat>
  <Paragraphs>283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Doulos SIL</vt:lpstr>
      <vt:lpstr>KaiTi</vt:lpstr>
      <vt:lpstr>Arial</vt:lpstr>
      <vt:lpstr>Calibri</vt:lpstr>
      <vt:lpstr>Impact</vt:lpstr>
      <vt:lpstr>Times New Roman</vt:lpstr>
      <vt:lpstr>NewsPrint</vt:lpstr>
      <vt:lpstr>CBS1A01P Fun with Language</vt:lpstr>
      <vt:lpstr>回顧：語言學分析</vt:lpstr>
      <vt:lpstr>引言：語言能力</vt:lpstr>
      <vt:lpstr>個人方言 idiolect</vt:lpstr>
      <vt:lpstr>語用學 pragmatics</vt:lpstr>
      <vt:lpstr>語用學 pragmatics</vt:lpstr>
      <vt:lpstr>語用學 pragmatics</vt:lpstr>
      <vt:lpstr>PowerPoint Presentation</vt:lpstr>
      <vt:lpstr>預設 presupposition</vt:lpstr>
      <vt:lpstr>預設 presupposition</vt:lpstr>
      <vt:lpstr>預設 presupposition</vt:lpstr>
      <vt:lpstr>預設 presupposition</vt:lpstr>
      <vt:lpstr>預設 presupposition</vt:lpstr>
      <vt:lpstr>預設 presupposition</vt:lpstr>
      <vt:lpstr>預設 presupposition</vt:lpstr>
      <vt:lpstr>預設 presupposition</vt:lpstr>
      <vt:lpstr>衍推 entailment</vt:lpstr>
      <vt:lpstr>衍推 entailment</vt:lpstr>
      <vt:lpstr>衍推 entailment</vt:lpstr>
      <vt:lpstr>指代詞 deixis</vt:lpstr>
      <vt:lpstr>指代詞 deixis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言語行為理論 speech act theory</vt:lpstr>
      <vt:lpstr>合作原則 cooperative principle</vt:lpstr>
      <vt:lpstr>合作原則 cooperative principle</vt:lpstr>
      <vt:lpstr>合作原則 cooperative principle</vt:lpstr>
      <vt:lpstr>合作原則 cooperative principle</vt:lpstr>
      <vt:lpstr>合作原則 cooperative principle</vt:lpstr>
      <vt:lpstr>語言幽默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terms:modified xsi:type="dcterms:W3CDTF">2023-09-28T15:13:34Z</dcterms:modified>
</cp:coreProperties>
</file>
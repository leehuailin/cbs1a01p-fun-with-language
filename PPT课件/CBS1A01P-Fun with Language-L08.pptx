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4152" r:id="rId1"/>
  </p:sldMasterIdLst>
  <p:notesMasterIdLst>
    <p:notesMasterId r:id="rId44"/>
  </p:notesMasterIdLst>
  <p:sldIdLst>
    <p:sldId id="256" r:id="rId2"/>
    <p:sldId id="392" r:id="rId3"/>
    <p:sldId id="614" r:id="rId4"/>
    <p:sldId id="663" r:id="rId5"/>
    <p:sldId id="664" r:id="rId6"/>
    <p:sldId id="713" r:id="rId7"/>
    <p:sldId id="679" r:id="rId8"/>
    <p:sldId id="559" r:id="rId9"/>
    <p:sldId id="591" r:id="rId10"/>
    <p:sldId id="592" r:id="rId11"/>
    <p:sldId id="615" r:id="rId12"/>
    <p:sldId id="616" r:id="rId13"/>
    <p:sldId id="647" r:id="rId14"/>
    <p:sldId id="584" r:id="rId15"/>
    <p:sldId id="666" r:id="rId16"/>
    <p:sldId id="569" r:id="rId17"/>
    <p:sldId id="580" r:id="rId18"/>
    <p:sldId id="667" r:id="rId19"/>
    <p:sldId id="581" r:id="rId20"/>
    <p:sldId id="617" r:id="rId21"/>
    <p:sldId id="648" r:id="rId22"/>
    <p:sldId id="609" r:id="rId23"/>
    <p:sldId id="669" r:id="rId24"/>
    <p:sldId id="649" r:id="rId25"/>
    <p:sldId id="571" r:id="rId26"/>
    <p:sldId id="590" r:id="rId27"/>
    <p:sldId id="610" r:id="rId28"/>
    <p:sldId id="650" r:id="rId29"/>
    <p:sldId id="651" r:id="rId30"/>
    <p:sldId id="652" r:id="rId31"/>
    <p:sldId id="653" r:id="rId32"/>
    <p:sldId id="670" r:id="rId33"/>
    <p:sldId id="636" r:id="rId34"/>
    <p:sldId id="611" r:id="rId35"/>
    <p:sldId id="612" r:id="rId36"/>
    <p:sldId id="558" r:id="rId37"/>
    <p:sldId id="613" r:id="rId38"/>
    <p:sldId id="691" r:id="rId39"/>
    <p:sldId id="602" r:id="rId40"/>
    <p:sldId id="603" r:id="rId41"/>
    <p:sldId id="604" r:id="rId42"/>
    <p:sldId id="605" r:id="rId43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Tw Cen MT" panose="020B0602020104020603" pitchFamily="34" charset="0"/>
      <p:regular r:id="rId49"/>
      <p:bold r:id="rId50"/>
      <p:italic r:id="rId51"/>
      <p:boldItalic r:id="rId52"/>
    </p:embeddedFont>
    <p:embeddedFont>
      <p:font typeface="Wingdings 2" panose="05020102010507070707" pitchFamily="18" charset="2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89876" autoAdjust="0"/>
  </p:normalViewPr>
  <p:slideViewPr>
    <p:cSldViewPr>
      <p:cViewPr varScale="1">
        <p:scale>
          <a:sx n="80" d="100"/>
          <a:sy n="80" d="100"/>
        </p:scale>
        <p:origin x="180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0" y="2327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DC586-2683-46C2-BCAC-305DA05B874A}" type="datetimeFigureOut">
              <a:rPr lang="zh-HK" altLang="en-US" smtClean="0"/>
              <a:pPr/>
              <a:t>28/9/2023</a:t>
            </a:fld>
            <a:endParaRPr lang="zh-HK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HK"/>
              <a:t>Click to 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54351-3776-481E-98A1-CBCB02763DC8}" type="slidenum">
              <a:rPr lang="zh-HK" altLang="en-US" smtClean="0"/>
              <a:pPr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720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838EA42-25D2-4DB9-8887-2E7EFF2F62DF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B279-E0E0-4B9C-879D-9A1AC2635A71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21661-20E4-4506-9764-447618D8CA5C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527BDC6-12CB-47C1-A63D-E1B10E2E1E55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13AC1EE-8741-47CB-BDAB-4594D7E250B6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70654-A74A-4CE1-8F2F-DE8D65A9A782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1E6E7-4172-4F21-9551-C067E02CA08D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87D3-9DD6-441B-9FD0-2F908B6E2485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3F2A97F-8A2D-4AC5-ACAC-9AFA09DD0C93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02259-0B98-4931-9BF9-6E2DE136EC06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D988FB0-BED4-4D4E-8040-AEEB62DA0972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C61242C-E179-4099-AE81-158C1B3A48A4}" type="datetime1">
              <a:rPr lang="en-US" altLang="zh-HK" smtClean="0"/>
              <a:pPr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1752600"/>
            <a:ext cx="5334000" cy="1343028"/>
          </a:xfrm>
        </p:spPr>
        <p:txBody>
          <a:bodyPr>
            <a:normAutofit fontScale="90000"/>
          </a:bodyPr>
          <a:lstStyle/>
          <a:p>
            <a:r>
              <a:rPr lang="en-US" altLang="zh-HK" dirty="0"/>
              <a:t>CBS1A01P</a:t>
            </a:r>
            <a:br>
              <a:rPr lang="en-US" altLang="zh-HK" dirty="0"/>
            </a:br>
            <a:r>
              <a:rPr lang="en-US" altLang="zh-HK" sz="4000" dirty="0"/>
              <a:t>Fun with Language</a:t>
            </a:r>
            <a:endParaRPr lang="zh-HK" alt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94760" y="3721472"/>
            <a:ext cx="5120640" cy="1993527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Lecture 8</a:t>
            </a:r>
          </a:p>
          <a:p>
            <a:r>
              <a:rPr lang="zh-TW" altLang="en-US" sz="3200" dirty="0"/>
              <a:t>句法學 </a:t>
            </a:r>
            <a:r>
              <a:rPr lang="en-US" altLang="zh-TW" sz="3200"/>
              <a:t>syntax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381559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本課題目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句法學 </a:t>
            </a:r>
            <a:r>
              <a:rPr lang="en-US" altLang="zh-TW" sz="3200" dirty="0"/>
              <a:t>s</a:t>
            </a:r>
            <a:r>
              <a:rPr lang="en-US" altLang="zh-HK" sz="3200" dirty="0"/>
              <a:t>yntax</a:t>
            </a:r>
          </a:p>
          <a:p>
            <a:r>
              <a:rPr lang="zh-TW" altLang="en-US" sz="3200" dirty="0"/>
              <a:t>句法語義學 </a:t>
            </a:r>
            <a:r>
              <a:rPr lang="en-US" altLang="zh-TW" sz="3200" dirty="0"/>
              <a:t>syntactic semantics</a:t>
            </a:r>
          </a:p>
          <a:p>
            <a:endParaRPr lang="en-US" altLang="zh-TW" sz="3200" dirty="0"/>
          </a:p>
          <a:p>
            <a:r>
              <a:rPr lang="zh-TW" altLang="en-US" sz="3200" dirty="0"/>
              <a:t>術語：</a:t>
            </a:r>
            <a:endParaRPr lang="en-US" altLang="zh-TW" sz="3200" dirty="0"/>
          </a:p>
          <a:p>
            <a:pPr lvl="1"/>
            <a:r>
              <a:rPr lang="zh-TW" altLang="en-US" sz="3200" dirty="0"/>
              <a:t>構詞學</a:t>
            </a:r>
            <a:r>
              <a:rPr lang="en-US" altLang="zh-TW" sz="3200" dirty="0"/>
              <a:t> </a:t>
            </a:r>
            <a:r>
              <a:rPr lang="en-US" sz="3200" dirty="0"/>
              <a:t>morphology: </a:t>
            </a:r>
            <a:r>
              <a:rPr lang="zh-TW" altLang="en-US" sz="3200" dirty="0"/>
              <a:t>研究詞的結構</a:t>
            </a:r>
            <a:endParaRPr lang="en-US" altLang="zh-TW" sz="3200" dirty="0"/>
          </a:p>
          <a:p>
            <a:pPr lvl="1"/>
            <a:r>
              <a:rPr lang="zh-TW" altLang="en-US" sz="3200" dirty="0"/>
              <a:t>句法學</a:t>
            </a:r>
            <a:r>
              <a:rPr lang="en-US" altLang="zh-TW" sz="3200" dirty="0"/>
              <a:t> </a:t>
            </a:r>
            <a:r>
              <a:rPr lang="en-US" sz="3200" dirty="0"/>
              <a:t>syntax: </a:t>
            </a:r>
            <a:r>
              <a:rPr lang="zh-TW" altLang="en-US" sz="3200" dirty="0"/>
              <a:t>研究詞組和句子的結構</a:t>
            </a:r>
            <a:endParaRPr lang="en-US" sz="3200" dirty="0"/>
          </a:p>
          <a:p>
            <a:pPr lvl="1"/>
            <a:r>
              <a:rPr lang="zh-TW" altLang="en-US" sz="3200" dirty="0"/>
              <a:t>語法</a:t>
            </a:r>
            <a:r>
              <a:rPr lang="en-US" altLang="zh-TW" sz="3200" dirty="0"/>
              <a:t> / </a:t>
            </a:r>
            <a:r>
              <a:rPr lang="zh-TW" altLang="en-US" sz="3200" dirty="0"/>
              <a:t>文法</a:t>
            </a:r>
            <a:r>
              <a:rPr lang="en-US" altLang="zh-TW" sz="3200" dirty="0"/>
              <a:t> </a:t>
            </a:r>
            <a:r>
              <a:rPr lang="en-US" sz="3200" dirty="0">
                <a:solidFill>
                  <a:srgbClr val="C00000"/>
                </a:solidFill>
              </a:rPr>
              <a:t>grammar</a:t>
            </a:r>
            <a:r>
              <a:rPr lang="en-US" sz="3200" dirty="0"/>
              <a:t>: </a:t>
            </a:r>
            <a:r>
              <a:rPr lang="zh-TW" altLang="en-US" sz="3200" dirty="0"/>
              <a:t>語言的所有法則，包含</a:t>
            </a:r>
            <a:r>
              <a:rPr lang="en-US" altLang="zh-TW" sz="3200" dirty="0"/>
              <a:t> phonology, morphology </a:t>
            </a:r>
            <a:r>
              <a:rPr lang="zh-TW" altLang="en-US" sz="3200" dirty="0"/>
              <a:t>和</a:t>
            </a:r>
            <a:r>
              <a:rPr lang="en-US" altLang="zh-TW" sz="3200" dirty="0"/>
              <a:t> syntax</a:t>
            </a:r>
            <a:br>
              <a:rPr lang="en-US" altLang="zh-TW" sz="2500" dirty="0"/>
            </a:br>
            <a:endParaRPr lang="en-US" altLang="zh-TW" sz="25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56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1524000"/>
            <a:ext cx="8686800" cy="5029200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r>
              <a:rPr lang="zh-TW" altLang="en-US" sz="3200" dirty="0"/>
              <a:t>規範語法</a:t>
            </a:r>
            <a:r>
              <a:rPr lang="en-US" altLang="zh-TW" sz="3200" dirty="0"/>
              <a:t> (</a:t>
            </a:r>
            <a:r>
              <a:rPr lang="en-US" sz="3200" dirty="0"/>
              <a:t>prescriptive grammar)   </a:t>
            </a:r>
            <a:r>
              <a:rPr lang="zh-TW" altLang="en-US" sz="2800" dirty="0"/>
              <a:t>應該怎樣怎樣</a:t>
            </a:r>
            <a:br>
              <a:rPr lang="en-US" sz="3200" dirty="0"/>
            </a:br>
            <a:r>
              <a:rPr lang="en-US" sz="3200" dirty="0"/>
              <a:t>      vs.</a:t>
            </a:r>
            <a:br>
              <a:rPr lang="en-US" sz="3200" dirty="0"/>
            </a:br>
            <a:r>
              <a:rPr lang="zh-TW" altLang="en-US" sz="3200" dirty="0"/>
              <a:t>描寫語法 </a:t>
            </a:r>
            <a:r>
              <a:rPr lang="en-US" altLang="zh-TW" sz="3200" dirty="0"/>
              <a:t>(</a:t>
            </a:r>
            <a:r>
              <a:rPr lang="en-US" sz="3200" dirty="0"/>
              <a:t>descriptive grammar)  </a:t>
            </a:r>
            <a:r>
              <a:rPr lang="en-US" sz="2500" dirty="0"/>
              <a:t> </a:t>
            </a:r>
            <a:r>
              <a:rPr lang="zh-TW" altLang="en-US" sz="2500" dirty="0"/>
              <a:t>人們用的是怎樣的</a:t>
            </a:r>
            <a:endParaRPr lang="en-US" sz="2500" dirty="0"/>
          </a:p>
          <a:p>
            <a:endParaRPr lang="en-US" dirty="0"/>
          </a:p>
          <a:p>
            <a:endParaRPr lang="en-US" dirty="0"/>
          </a:p>
          <a:p>
            <a:r>
              <a:rPr lang="zh-TW" altLang="en-US" sz="3200" dirty="0"/>
              <a:t>語言學，描寫語法</a:t>
            </a:r>
            <a:endParaRPr lang="en-US" altLang="zh-TW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7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例子：</a:t>
            </a:r>
            <a:endParaRPr lang="en-US" altLang="zh-TW" sz="3200" dirty="0"/>
          </a:p>
          <a:p>
            <a:r>
              <a:rPr lang="zh-TW" altLang="en-US" sz="3200" dirty="0"/>
              <a:t>英語的 </a:t>
            </a:r>
            <a:r>
              <a:rPr lang="en-US" altLang="zh-HK" sz="3200" dirty="0">
                <a:solidFill>
                  <a:srgbClr val="C00000"/>
                </a:solidFill>
              </a:rPr>
              <a:t>prescriptive grammar </a:t>
            </a:r>
            <a:r>
              <a:rPr lang="zh-TW" altLang="en-US" sz="3200" dirty="0">
                <a:solidFill>
                  <a:srgbClr val="C00000"/>
                </a:solidFill>
              </a:rPr>
              <a:t>「規範語法」</a:t>
            </a:r>
            <a:r>
              <a:rPr lang="zh-TW" altLang="en-US" sz="3200" dirty="0"/>
              <a:t>會要求句子不要以介詞結尾 </a:t>
            </a:r>
            <a:r>
              <a:rPr lang="en-US" altLang="zh-TW" sz="3200" dirty="0"/>
              <a:t>(</a:t>
            </a:r>
            <a:r>
              <a:rPr lang="en-US" altLang="zh-TW" sz="3200" i="1" dirty="0"/>
              <a:t>“</a:t>
            </a:r>
            <a:r>
              <a:rPr lang="en-US" altLang="zh-HK" sz="3200" i="1" dirty="0"/>
              <a:t>Don’t end a sentence with a preposition!”</a:t>
            </a:r>
            <a:r>
              <a:rPr lang="en-US" altLang="zh-HK" sz="3200" dirty="0"/>
              <a:t>)</a:t>
            </a:r>
          </a:p>
          <a:p>
            <a:r>
              <a:rPr lang="en-US" altLang="zh-HK" sz="3200" dirty="0" err="1"/>
              <a:t>prescriptivists</a:t>
            </a:r>
            <a:r>
              <a:rPr lang="en-US" altLang="zh-HK" sz="3200" dirty="0"/>
              <a:t> </a:t>
            </a:r>
            <a:r>
              <a:rPr lang="zh-TW" altLang="en-US" sz="3200" dirty="0"/>
              <a:t>不喜歡如 </a:t>
            </a:r>
            <a:r>
              <a:rPr lang="en-US" altLang="zh-TW" sz="3200" i="1" dirty="0"/>
              <a:t>Could you please tell me where the library is </a:t>
            </a:r>
            <a:r>
              <a:rPr lang="en-US" altLang="zh-TW" sz="3200" b="1" i="1" dirty="0">
                <a:solidFill>
                  <a:srgbClr val="0070C0"/>
                </a:solidFill>
              </a:rPr>
              <a:t>at</a:t>
            </a:r>
            <a:r>
              <a:rPr lang="en-US" altLang="zh-TW" sz="3200" i="1" dirty="0"/>
              <a:t>?</a:t>
            </a:r>
            <a:r>
              <a:rPr lang="en-US" altLang="zh-TW" sz="3200" dirty="0"/>
              <a:t> </a:t>
            </a:r>
            <a:r>
              <a:rPr lang="zh-TW" altLang="en-US" sz="3200" dirty="0"/>
              <a:t>的句子</a:t>
            </a:r>
            <a:endParaRPr lang="en-US" altLang="zh-HK" sz="3200" i="1" dirty="0"/>
          </a:p>
          <a:p>
            <a:r>
              <a:rPr lang="zh-TW" altLang="en-US" sz="3200" dirty="0"/>
              <a:t>但說英語的人是會把</a:t>
            </a:r>
            <a:r>
              <a:rPr lang="en-US" altLang="zh-TW" sz="3200" dirty="0"/>
              <a:t>preposition</a:t>
            </a:r>
            <a:r>
              <a:rPr lang="zh-TW" altLang="en-US" sz="3200" dirty="0"/>
              <a:t>放在句末，如 </a:t>
            </a:r>
            <a:r>
              <a:rPr lang="en-US" altLang="zh-HK" sz="3200" i="1" dirty="0"/>
              <a:t>Who do you want to speak </a:t>
            </a:r>
            <a:r>
              <a:rPr lang="en-US" altLang="zh-HK" sz="3200" b="1" i="1" dirty="0">
                <a:solidFill>
                  <a:srgbClr val="0070C0"/>
                </a:solidFill>
              </a:rPr>
              <a:t>to</a:t>
            </a:r>
            <a:r>
              <a:rPr lang="en-US" altLang="zh-HK" sz="3200" i="1" dirty="0"/>
              <a:t>?</a:t>
            </a:r>
          </a:p>
          <a:p>
            <a:r>
              <a:rPr lang="en-US" altLang="zh-HK" sz="3200" dirty="0">
                <a:solidFill>
                  <a:srgbClr val="C00000"/>
                </a:solidFill>
              </a:rPr>
              <a:t>       </a:t>
            </a:r>
            <a:r>
              <a:rPr lang="zh-TW" altLang="en-US" sz="3200" dirty="0">
                <a:solidFill>
                  <a:srgbClr val="C00000"/>
                </a:solidFill>
              </a:rPr>
              <a:t>描寫語法</a:t>
            </a:r>
            <a:r>
              <a:rPr lang="en-US" altLang="zh-HK" sz="3200" dirty="0">
                <a:solidFill>
                  <a:srgbClr val="C00000"/>
                </a:solidFill>
              </a:rPr>
              <a:t> descriptive grammar</a:t>
            </a:r>
            <a:endParaRPr lang="zh-HK" altLang="en-US" sz="3200" dirty="0">
              <a:solidFill>
                <a:srgbClr val="C00000"/>
              </a:solidFill>
            </a:endParaRPr>
          </a:p>
        </p:txBody>
      </p:sp>
      <p:sp>
        <p:nvSpPr>
          <p:cNvPr id="8" name="Curved Left Arrow 7"/>
          <p:cNvSpPr/>
          <p:nvPr/>
        </p:nvSpPr>
        <p:spPr>
          <a:xfrm>
            <a:off x="6934200" y="5334000"/>
            <a:ext cx="609600" cy="914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26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/>
          </a:bodyPr>
          <a:lstStyle/>
          <a:p>
            <a:r>
              <a:rPr lang="zh-TW" altLang="en-US" sz="3500" dirty="0"/>
              <a:t>語言學，描寫語法</a:t>
            </a:r>
            <a:endParaRPr lang="en-US" altLang="zh-TW" sz="3500" dirty="0"/>
          </a:p>
          <a:p>
            <a:endParaRPr lang="en-US" altLang="zh-TW" sz="3500" dirty="0"/>
          </a:p>
          <a:p>
            <a:r>
              <a:rPr lang="zh-TW" altLang="en-US" sz="3500" dirty="0"/>
              <a:t>語言運用</a:t>
            </a:r>
            <a:r>
              <a:rPr lang="en-US" altLang="zh-TW" sz="3500" dirty="0"/>
              <a:t>/</a:t>
            </a:r>
            <a:r>
              <a:rPr lang="zh-TW" altLang="en-US" sz="3500" dirty="0"/>
              <a:t>語言行為 </a:t>
            </a:r>
            <a:r>
              <a:rPr lang="en-US" altLang="zh-HK" sz="3500" dirty="0"/>
              <a:t>performance:</a:t>
            </a:r>
          </a:p>
          <a:p>
            <a:pPr lvl="1"/>
            <a:r>
              <a:rPr lang="en-US" altLang="zh-HK" sz="3500" dirty="0"/>
              <a:t>the actual use of language</a:t>
            </a:r>
          </a:p>
          <a:p>
            <a:endParaRPr lang="en-US" altLang="zh-TW" sz="3500" dirty="0"/>
          </a:p>
          <a:p>
            <a:r>
              <a:rPr lang="zh-TW" altLang="en-US" sz="3500" dirty="0"/>
              <a:t>語言能力 </a:t>
            </a:r>
            <a:r>
              <a:rPr lang="en-US" altLang="zh-HK" sz="3500" dirty="0"/>
              <a:t>competence:</a:t>
            </a:r>
          </a:p>
          <a:p>
            <a:pPr lvl="1"/>
            <a:r>
              <a:rPr lang="en-US" altLang="zh-HK" sz="3500" dirty="0"/>
              <a:t>speaker-hearers’ knowledge of their language</a:t>
            </a:r>
          </a:p>
          <a:p>
            <a:endParaRPr lang="en-US" altLang="zh-HK" sz="3500" dirty="0"/>
          </a:p>
        </p:txBody>
      </p:sp>
    </p:spTree>
    <p:extLst>
      <p:ext uri="{BB962C8B-B14F-4D97-AF65-F5344CB8AC3E}">
        <p14:creationId xmlns:p14="http://schemas.microsoft.com/office/powerpoint/2010/main" val="315784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performance vs. competence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76800"/>
          </a:xfrm>
        </p:spPr>
        <p:txBody>
          <a:bodyPr>
            <a:noAutofit/>
          </a:bodyPr>
          <a:lstStyle/>
          <a:p>
            <a:r>
              <a:rPr lang="en-US" altLang="zh-TW" sz="2800" dirty="0"/>
              <a:t>slip </a:t>
            </a:r>
            <a:r>
              <a:rPr lang="zh-TW" altLang="en-US" sz="2800" dirty="0"/>
              <a:t>小錯誤</a:t>
            </a:r>
            <a:endParaRPr lang="en-US" altLang="zh-TW" sz="2800" dirty="0"/>
          </a:p>
          <a:p>
            <a:r>
              <a:rPr lang="zh-TW" altLang="en-US" sz="2800" dirty="0"/>
              <a:t>口誤 </a:t>
            </a:r>
            <a:r>
              <a:rPr lang="en-US" altLang="zh-TW" sz="2800" dirty="0"/>
              <a:t>slip of the tongue</a:t>
            </a:r>
          </a:p>
          <a:p>
            <a:r>
              <a:rPr lang="zh-TW" altLang="en-US" sz="2800" dirty="0"/>
              <a:t>筆誤 </a:t>
            </a:r>
            <a:r>
              <a:rPr lang="en-US" altLang="zh-TW" sz="2800" dirty="0"/>
              <a:t>slip of the pen</a:t>
            </a:r>
          </a:p>
          <a:p>
            <a:endParaRPr lang="en-US" altLang="zh-TW" sz="2800" dirty="0"/>
          </a:p>
          <a:p>
            <a:r>
              <a:rPr lang="en-US" altLang="zh-HK" sz="2800" dirty="0"/>
              <a:t>Spoonerism </a:t>
            </a:r>
            <a:r>
              <a:rPr lang="zh-TW" altLang="en-US" sz="2800" dirty="0"/>
              <a:t>首音互換 </a:t>
            </a:r>
            <a:r>
              <a:rPr lang="en-US" altLang="zh-TW" sz="2800" dirty="0"/>
              <a:t>/ </a:t>
            </a:r>
            <a:r>
              <a:rPr lang="zh-TW" altLang="en-US" sz="2800" dirty="0"/>
              <a:t>首音誤置</a:t>
            </a:r>
            <a:endParaRPr lang="en-US" altLang="zh-HK" sz="2800" dirty="0"/>
          </a:p>
          <a:p>
            <a:pPr lvl="1"/>
            <a:r>
              <a:rPr lang="en-US" altLang="zh-HK" sz="2800" dirty="0"/>
              <a:t>e.g., </a:t>
            </a:r>
            <a:r>
              <a:rPr lang="zh-TW" altLang="en-US" sz="2800" dirty="0"/>
              <a:t>把 </a:t>
            </a:r>
            <a:r>
              <a:rPr lang="en-US" altLang="zh-HK" sz="2800" dirty="0"/>
              <a:t>Is the Dean busy? </a:t>
            </a:r>
            <a:r>
              <a:rPr lang="zh-TW" altLang="en-US" sz="2800" dirty="0"/>
              <a:t>說成 </a:t>
            </a:r>
            <a:r>
              <a:rPr lang="en-US" altLang="zh-HK" sz="2800" dirty="0"/>
              <a:t>Is the </a:t>
            </a:r>
            <a:r>
              <a:rPr lang="en-US" altLang="zh-HK" sz="2800" b="1" u="sng" dirty="0">
                <a:solidFill>
                  <a:srgbClr val="C00000"/>
                </a:solidFill>
              </a:rPr>
              <a:t>b</a:t>
            </a:r>
            <a:r>
              <a:rPr lang="en-US" altLang="zh-HK" sz="2800" dirty="0"/>
              <a:t>ean </a:t>
            </a:r>
            <a:r>
              <a:rPr lang="en-US" altLang="zh-HK" sz="2800" b="1" u="sng" dirty="0">
                <a:solidFill>
                  <a:srgbClr val="C00000"/>
                </a:solidFill>
              </a:rPr>
              <a:t>d</a:t>
            </a:r>
            <a:r>
              <a:rPr lang="en-US" altLang="zh-HK" sz="2800" dirty="0"/>
              <a:t>izzy?</a:t>
            </a:r>
          </a:p>
          <a:p>
            <a:pPr lvl="1"/>
            <a:r>
              <a:rPr lang="en-US" altLang="zh-HK" sz="2800" dirty="0"/>
              <a:t>named after the Rev. William Archibald Spooner </a:t>
            </a:r>
            <a:r>
              <a:rPr lang="en-US" altLang="zh-TW" sz="2800" dirty="0"/>
              <a:t>(</a:t>
            </a:r>
            <a:r>
              <a:rPr lang="zh-TW" altLang="en-US" sz="2800" dirty="0"/>
              <a:t>施本納牧師</a:t>
            </a:r>
            <a:r>
              <a:rPr lang="en-US" altLang="zh-TW" sz="2800" dirty="0"/>
              <a:t>, 1844, 1930), who was known to often make this kind of mistakes</a:t>
            </a:r>
            <a:endParaRPr lang="zh-HK" altLang="en-US" sz="2800" dirty="0"/>
          </a:p>
          <a:p>
            <a:endParaRPr lang="en-US" altLang="zh-TW" sz="2800" dirty="0"/>
          </a:p>
          <a:p>
            <a:endParaRPr lang="en-US" altLang="zh-HK" sz="2800" dirty="0"/>
          </a:p>
          <a:p>
            <a:pPr marL="0" indent="0">
              <a:buNone/>
            </a:pPr>
            <a:r>
              <a:rPr lang="en-US" altLang="zh-HK" sz="2800" dirty="0"/>
              <a:t> </a:t>
            </a:r>
            <a:endParaRPr lang="zh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4707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performance vs. competence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3200" b="1" dirty="0"/>
              <a:t>said:          you hissed my mystery lecture</a:t>
            </a:r>
          </a:p>
          <a:p>
            <a:pPr marL="0" indent="0">
              <a:buNone/>
            </a:pPr>
            <a:r>
              <a:rPr lang="en-US" altLang="zh-HK" sz="3200" b="1" dirty="0">
                <a:solidFill>
                  <a:srgbClr val="0070C0"/>
                </a:solidFill>
              </a:rPr>
              <a:t>intended:   you missed my history lecture</a:t>
            </a:r>
          </a:p>
          <a:p>
            <a:pPr marL="0" indent="0">
              <a:buNone/>
            </a:pPr>
            <a:r>
              <a:rPr lang="en-US" altLang="zh-H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/</a:t>
            </a:r>
            <a:r>
              <a:rPr lang="en-US" altLang="zh-HK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HK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ɪst</a:t>
            </a:r>
            <a:r>
              <a:rPr lang="en-US" altLang="zh-H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       /</a:t>
            </a:r>
            <a:r>
              <a:rPr lang="en-US" altLang="zh-HK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HK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ɪstri</a:t>
            </a:r>
            <a:r>
              <a:rPr lang="en-US" altLang="zh-H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0" indent="0">
              <a:buNone/>
            </a:pPr>
            <a:r>
              <a:rPr lang="en-US" altLang="zh-HK" sz="3200" b="1" dirty="0"/>
              <a:t>said:          you've tasted two worms</a:t>
            </a:r>
          </a:p>
          <a:p>
            <a:pPr marL="0" indent="0">
              <a:buNone/>
            </a:pPr>
            <a:r>
              <a:rPr lang="en-US" altLang="zh-HK" sz="3200" b="1" dirty="0">
                <a:solidFill>
                  <a:srgbClr val="0070C0"/>
                </a:solidFill>
              </a:rPr>
              <a:t>intended:   you've wasted two terms</a:t>
            </a:r>
          </a:p>
          <a:p>
            <a:pPr marL="0" indent="0">
              <a:buNone/>
            </a:pPr>
            <a:r>
              <a:rPr lang="en-US" altLang="zh-HK" sz="3200" dirty="0">
                <a:solidFill>
                  <a:srgbClr val="0070C0"/>
                </a:solidFill>
              </a:rPr>
              <a:t>	                   </a:t>
            </a:r>
            <a:r>
              <a:rPr lang="en-US" altLang="zh-H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HK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HK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eɪstɪd</a:t>
            </a:r>
            <a:r>
              <a:rPr lang="en-US" altLang="zh-H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    /</a:t>
            </a:r>
            <a:r>
              <a:rPr lang="en-US" altLang="zh-HK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HK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ɜːmz</a:t>
            </a:r>
            <a:r>
              <a:rPr lang="en-US" altLang="zh-H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0" indent="0">
              <a:buNone/>
            </a:pPr>
            <a:r>
              <a:rPr lang="en-US" altLang="zh-HK" sz="3200" b="1" dirty="0"/>
              <a:t>said:          a half-warmed fish</a:t>
            </a:r>
          </a:p>
          <a:p>
            <a:pPr marL="0" indent="0">
              <a:buNone/>
            </a:pPr>
            <a:r>
              <a:rPr lang="en-US" altLang="zh-HK" sz="3200" b="1" dirty="0">
                <a:solidFill>
                  <a:srgbClr val="0070C0"/>
                </a:solidFill>
              </a:rPr>
              <a:t>intended:   a half-formed wish</a:t>
            </a:r>
          </a:p>
          <a:p>
            <a:pPr marL="0" indent="0">
              <a:buNone/>
            </a:pPr>
            <a:r>
              <a:rPr lang="en-US" altLang="zh-HK" sz="3200" dirty="0">
                <a:solidFill>
                  <a:srgbClr val="0070C0"/>
                </a:solidFill>
              </a:rPr>
              <a:t>	             </a:t>
            </a:r>
            <a:r>
              <a:rPr lang="en-US" altLang="zh-HK" sz="3200" dirty="0"/>
              <a:t>    </a:t>
            </a:r>
            <a:r>
              <a:rPr lang="en-US" altLang="zh-H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HK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HK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ɔːmd</a:t>
            </a:r>
            <a:r>
              <a:rPr lang="en-US" altLang="zh-H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/</a:t>
            </a:r>
            <a:r>
              <a:rPr lang="en-US" altLang="zh-HK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HK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ɪʃ</a:t>
            </a:r>
            <a:r>
              <a:rPr lang="en-US" altLang="zh-H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600" y="1676400"/>
            <a:ext cx="3048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276600" y="1676400"/>
            <a:ext cx="3048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810000" y="3424335"/>
            <a:ext cx="2286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5715000" y="3429000"/>
            <a:ext cx="3048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733800" y="5181600"/>
            <a:ext cx="3048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5181600" y="5181600"/>
            <a:ext cx="2286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語法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845552" cy="5029200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習用母語的人士對他們語言的語法規則擁有</a:t>
            </a:r>
            <a:r>
              <a:rPr lang="zh-TW" altLang="en-US" sz="32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直覺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(</a:t>
            </a:r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native speaker intuition</a:t>
            </a:r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)</a:t>
            </a:r>
          </a:p>
          <a:p>
            <a:endParaRPr lang="en-US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我去</a:t>
            </a:r>
            <a:r>
              <a:rPr lang="zh-TW" altLang="en-US" sz="3200" u="sng" dirty="0">
                <a:latin typeface="Calibri" panose="020F0502020204030204" pitchFamily="34" charset="0"/>
                <a:ea typeface="PMingLiU" panose="02020500000000000000" pitchFamily="18" charset="-120"/>
              </a:rPr>
              <a:t>日本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旅遊</a:t>
            </a:r>
            <a:b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</a:b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*去我旅遊</a:t>
            </a:r>
            <a:r>
              <a:rPr lang="zh-TW" altLang="en-US" sz="3200" u="sng" dirty="0">
                <a:latin typeface="Calibri" panose="020F0502020204030204" pitchFamily="34" charset="0"/>
                <a:ea typeface="PMingLiU" panose="02020500000000000000" pitchFamily="18" charset="-120"/>
              </a:rPr>
              <a:t>日本</a:t>
            </a:r>
            <a:endParaRPr lang="en-US" altLang="zh-TW" sz="3200" u="sng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en-US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* 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代表不合語法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 (ungrammatical)</a:t>
            </a:r>
            <a:endParaRPr lang="en-US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02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句子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495800"/>
          </a:xfrm>
        </p:spPr>
        <p:txBody>
          <a:bodyPr/>
          <a:lstStyle/>
          <a:p>
            <a:r>
              <a:rPr lang="zh-TW" altLang="en-US" sz="3400" dirty="0">
                <a:latin typeface="Calibri" panose="020F0502020204030204" pitchFamily="34" charset="0"/>
                <a:ea typeface="PMingLiU" panose="02020500000000000000" pitchFamily="18" charset="-120"/>
              </a:rPr>
              <a:t>基本定義：</a:t>
            </a:r>
            <a:endParaRPr lang="en-US" altLang="zh-TW" sz="34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由一個主詞和一個動詞所組成，而且能表達完整的語義</a:t>
            </a: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en-US" altLang="zh-HK" sz="3200" dirty="0">
                <a:solidFill>
                  <a:srgbClr val="7030A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Time flies</a:t>
            </a:r>
            <a:r>
              <a:rPr lang="en-US" altLang="zh-HK" sz="3200" dirty="0">
                <a:latin typeface="Calibri" panose="020F0502020204030204" pitchFamily="34" charset="0"/>
                <a:ea typeface="PMingLiU" panose="02020500000000000000" pitchFamily="18" charset="-120"/>
              </a:rPr>
              <a:t>	</a:t>
            </a:r>
            <a:br>
              <a:rPr lang="en-US" altLang="zh-HK" sz="3200" dirty="0">
                <a:latin typeface="Calibri" panose="020F0502020204030204" pitchFamily="34" charset="0"/>
                <a:ea typeface="PMingLiU" panose="02020500000000000000" pitchFamily="18" charset="-120"/>
              </a:rPr>
            </a:b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en-US" altLang="zh-HK" sz="3200" dirty="0">
                <a:latin typeface="Calibri" panose="020F0502020204030204" pitchFamily="34" charset="0"/>
                <a:ea typeface="PMingLiU" panose="02020500000000000000" pitchFamily="18" charset="-120"/>
              </a:rPr>
              <a:t>*</a:t>
            </a:r>
            <a:r>
              <a:rPr lang="en-US" altLang="zh-HK" sz="3200" dirty="0">
                <a:solidFill>
                  <a:srgbClr val="7030A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John bought</a:t>
            </a:r>
            <a:r>
              <a:rPr lang="en-US" altLang="zh-HK" sz="3200" dirty="0">
                <a:latin typeface="Calibri" panose="020F0502020204030204" pitchFamily="34" charset="0"/>
                <a:ea typeface="PMingLiU" panose="02020500000000000000" pitchFamily="18" charset="-120"/>
              </a:rPr>
              <a:t>	</a:t>
            </a:r>
            <a:br>
              <a:rPr lang="en-US" altLang="zh-HK" sz="3200" dirty="0">
                <a:latin typeface="Calibri" panose="020F0502020204030204" pitchFamily="34" charset="0"/>
                <a:ea typeface="PMingLiU" panose="02020500000000000000" pitchFamily="18" charset="-120"/>
              </a:rPr>
            </a:b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27193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句子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105400"/>
          </a:xfrm>
        </p:spPr>
        <p:txBody>
          <a:bodyPr/>
          <a:lstStyle/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每個語言都有無限的句子，我們能創造很多句子。其中一種做法：</a:t>
            </a: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The cat chased the mouse.</a:t>
            </a:r>
          </a:p>
          <a:p>
            <a:pPr lvl="1"/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The cat chased the mouse </a:t>
            </a:r>
            <a:r>
              <a:rPr lang="en-US" altLang="zh-TW" sz="30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that ate the cheese</a:t>
            </a:r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.</a:t>
            </a:r>
          </a:p>
          <a:p>
            <a:pPr lvl="1"/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The cat chased the mouse that ate the cheese </a:t>
            </a:r>
            <a:r>
              <a:rPr lang="en-US" altLang="zh-TW" sz="30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that came from the cow</a:t>
            </a:r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.</a:t>
            </a:r>
          </a:p>
          <a:p>
            <a:pPr lvl="1"/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The cat chased the mouse that ate the cheese that came from the cow </a:t>
            </a:r>
            <a:r>
              <a:rPr lang="en-US" altLang="zh-TW" sz="30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that grazed in the field</a:t>
            </a:r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554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句子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lnSpcReduction="10000"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推測：人不是把所有句子儲存在腦裏，而是儲存一些</a:t>
            </a:r>
            <a:r>
              <a:rPr lang="zh-TW" altLang="en-US" sz="32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法則 </a:t>
            </a:r>
            <a:r>
              <a:rPr lang="en-US" altLang="zh-TW" sz="32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rules</a:t>
            </a:r>
          </a:p>
          <a:p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zh-TW" altLang="en-US" sz="3200" u="sng" dirty="0">
                <a:latin typeface="Calibri" panose="020F0502020204030204" pitchFamily="34" charset="0"/>
                <a:ea typeface="PMingLiU" panose="02020500000000000000" pitchFamily="18" charset="-120"/>
              </a:rPr>
              <a:t>喬姆斯基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(Noam Chomsky)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 認為，人們天生就有</a:t>
            </a:r>
            <a:r>
              <a:rPr lang="zh-TW" altLang="en-US" sz="32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語言習得機制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(language acquisition device)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，裏面含有</a:t>
            </a:r>
            <a:r>
              <a:rPr lang="zh-TW" altLang="en-US" sz="32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通用語法 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(universal grammar)</a:t>
            </a:r>
          </a:p>
          <a:p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語言學家嘗試了解各種語言之句法結構的共通性</a:t>
            </a: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51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合乎語法</a:t>
            </a:r>
            <a:r>
              <a:rPr lang="en-US" altLang="zh-TW" dirty="0"/>
              <a:t> grammaticality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1524000"/>
            <a:ext cx="88392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/>
              <a:t>grammaticality does not depend on meaningfulness</a:t>
            </a:r>
          </a:p>
          <a:p>
            <a:pPr lvl="1"/>
            <a:r>
              <a:rPr lang="en-US" sz="3100" dirty="0"/>
              <a:t>e.g., “</a:t>
            </a:r>
            <a:r>
              <a:rPr lang="en-US" sz="3100" dirty="0" err="1">
                <a:solidFill>
                  <a:srgbClr val="0070C0"/>
                </a:solidFill>
              </a:rPr>
              <a:t>Colourless</a:t>
            </a:r>
            <a:r>
              <a:rPr lang="en-US" sz="3100" dirty="0">
                <a:solidFill>
                  <a:srgbClr val="0070C0"/>
                </a:solidFill>
              </a:rPr>
              <a:t> green ideas sleep furiously.</a:t>
            </a:r>
            <a:r>
              <a:rPr lang="en-US" sz="3100" dirty="0"/>
              <a:t>”</a:t>
            </a:r>
          </a:p>
          <a:p>
            <a:pPr lvl="2"/>
            <a:r>
              <a:rPr lang="zh-TW" altLang="en-US" sz="3100" dirty="0"/>
              <a:t>合乎語法，但沒有意義</a:t>
            </a:r>
            <a:endParaRPr lang="en-US" sz="3100" dirty="0"/>
          </a:p>
          <a:p>
            <a:endParaRPr lang="en-US" sz="3100" dirty="0"/>
          </a:p>
          <a:p>
            <a:r>
              <a:rPr lang="en-US" sz="3200" dirty="0"/>
              <a:t>grammaticality does not depend on the truth of sentences</a:t>
            </a:r>
          </a:p>
          <a:p>
            <a:pPr lvl="1"/>
            <a:r>
              <a:rPr lang="en-US" sz="3100" dirty="0"/>
              <a:t>e.g., “</a:t>
            </a:r>
            <a:r>
              <a:rPr lang="en-US" sz="3100" dirty="0">
                <a:solidFill>
                  <a:srgbClr val="0070C0"/>
                </a:solidFill>
              </a:rPr>
              <a:t>He hit me with a stick.</a:t>
            </a:r>
            <a:r>
              <a:rPr lang="en-US" sz="3100" dirty="0"/>
              <a:t>”</a:t>
            </a:r>
          </a:p>
          <a:p>
            <a:pPr lvl="2"/>
            <a:r>
              <a:rPr lang="zh-TW" altLang="en-US" sz="3100" dirty="0"/>
              <a:t>合乎語法，但未必是事實</a:t>
            </a:r>
            <a:endParaRPr lang="en-US" sz="3100" dirty="0"/>
          </a:p>
          <a:p>
            <a:pPr lvl="1"/>
            <a:endParaRPr lang="en-US" sz="3100" dirty="0"/>
          </a:p>
          <a:p>
            <a:r>
              <a:rPr lang="en-US" sz="3200" dirty="0"/>
              <a:t>grammaticality does not depend on whether real objects are being discussed or on whether something is possible</a:t>
            </a:r>
          </a:p>
          <a:p>
            <a:pPr lvl="1"/>
            <a:r>
              <a:rPr lang="en-US" sz="3100" dirty="0"/>
              <a:t>e.g., “</a:t>
            </a:r>
            <a:r>
              <a:rPr lang="en-US" sz="3100" dirty="0">
                <a:solidFill>
                  <a:srgbClr val="0070C0"/>
                </a:solidFill>
              </a:rPr>
              <a:t>Their son is pregnant.</a:t>
            </a:r>
            <a:r>
              <a:rPr lang="en-US" sz="3100" dirty="0"/>
              <a:t>”</a:t>
            </a:r>
          </a:p>
          <a:p>
            <a:pPr lvl="2"/>
            <a:r>
              <a:rPr lang="zh-TW" altLang="en-US" sz="3100" dirty="0"/>
              <a:t>合乎語法，但不可能發生</a:t>
            </a:r>
            <a:endParaRPr lang="en-US" sz="31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56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詞類 </a:t>
            </a:r>
            <a:r>
              <a:rPr lang="en-US" altLang="zh-TW" dirty="0"/>
              <a:t>word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105400"/>
          </a:xfrm>
        </p:spPr>
        <p:txBody>
          <a:bodyPr>
            <a:normAutofit lnSpcReduction="10000"/>
          </a:bodyPr>
          <a:lstStyle/>
          <a:p>
            <a:r>
              <a:rPr lang="zh-TW" altLang="en-US" sz="3000" dirty="0"/>
              <a:t>詞類 </a:t>
            </a:r>
            <a:r>
              <a:rPr lang="en-US" sz="3000" dirty="0"/>
              <a:t>grammatical categories / word classes / parts of speech</a:t>
            </a:r>
          </a:p>
          <a:p>
            <a:pPr lvl="1"/>
            <a:r>
              <a:rPr lang="zh-TW" altLang="en-US" dirty="0"/>
              <a:t>詞語的分類，按</a:t>
            </a:r>
            <a:r>
              <a:rPr lang="zh-TW" altLang="en-US" dirty="0">
                <a:solidFill>
                  <a:srgbClr val="C00000"/>
                </a:solidFill>
              </a:rPr>
              <a:t>構詞</a:t>
            </a:r>
            <a:r>
              <a:rPr lang="zh-TW" altLang="en-US" dirty="0"/>
              <a:t>和</a:t>
            </a:r>
            <a:r>
              <a:rPr lang="zh-TW" altLang="en-US" dirty="0">
                <a:solidFill>
                  <a:srgbClr val="C00000"/>
                </a:solidFill>
              </a:rPr>
              <a:t>語法</a:t>
            </a:r>
            <a:r>
              <a:rPr lang="zh-TW" altLang="en-US" dirty="0"/>
              <a:t>特點</a:t>
            </a:r>
            <a:endParaRPr lang="en-US" dirty="0"/>
          </a:p>
          <a:p>
            <a:endParaRPr lang="en-US" altLang="zh-TW" dirty="0"/>
          </a:p>
          <a:p>
            <a:r>
              <a:rPr lang="zh-TW" altLang="en-US" sz="3000" dirty="0"/>
              <a:t>主要詞類：</a:t>
            </a:r>
            <a:endParaRPr lang="en-US" sz="3000" dirty="0"/>
          </a:p>
          <a:p>
            <a:pPr lvl="1"/>
            <a:r>
              <a:rPr lang="zh-TW" altLang="en-US" dirty="0"/>
              <a:t>名詞 </a:t>
            </a:r>
            <a:r>
              <a:rPr lang="en-US" dirty="0"/>
              <a:t>noun (N)			</a:t>
            </a:r>
            <a:r>
              <a:rPr lang="en-US" dirty="0">
                <a:solidFill>
                  <a:srgbClr val="0070C0"/>
                </a:solidFill>
              </a:rPr>
              <a:t>car, Tom, water</a:t>
            </a:r>
          </a:p>
          <a:p>
            <a:pPr lvl="1"/>
            <a:r>
              <a:rPr lang="zh-TW" altLang="en-US" dirty="0"/>
              <a:t>動詞 </a:t>
            </a:r>
            <a:r>
              <a:rPr lang="en-US" dirty="0"/>
              <a:t>verb (V)			</a:t>
            </a:r>
            <a:r>
              <a:rPr lang="en-US" dirty="0">
                <a:solidFill>
                  <a:srgbClr val="0070C0"/>
                </a:solidFill>
              </a:rPr>
              <a:t>speak, jump, write</a:t>
            </a:r>
          </a:p>
          <a:p>
            <a:pPr lvl="1"/>
            <a:r>
              <a:rPr lang="zh-TW" altLang="en-US" dirty="0"/>
              <a:t>形容詞</a:t>
            </a:r>
            <a:r>
              <a:rPr lang="en-US" altLang="zh-TW" dirty="0"/>
              <a:t> </a:t>
            </a:r>
            <a:r>
              <a:rPr lang="en-US" dirty="0"/>
              <a:t>adjective (</a:t>
            </a:r>
            <a:r>
              <a:rPr lang="en-US" dirty="0" err="1"/>
              <a:t>Adj</a:t>
            </a:r>
            <a:r>
              <a:rPr lang="en-US" dirty="0"/>
              <a:t>)		</a:t>
            </a:r>
            <a:r>
              <a:rPr lang="en-US" dirty="0">
                <a:solidFill>
                  <a:srgbClr val="0070C0"/>
                </a:solidFill>
              </a:rPr>
              <a:t>quiet, sharp, long</a:t>
            </a:r>
          </a:p>
          <a:p>
            <a:pPr lvl="1"/>
            <a:r>
              <a:rPr lang="zh-TW" altLang="en-US" dirty="0"/>
              <a:t>副詞</a:t>
            </a:r>
            <a:r>
              <a:rPr lang="en-US" altLang="zh-TW" dirty="0"/>
              <a:t> </a:t>
            </a:r>
            <a:r>
              <a:rPr lang="en-US" dirty="0"/>
              <a:t>adverb (</a:t>
            </a:r>
            <a:r>
              <a:rPr lang="en-US" dirty="0" err="1"/>
              <a:t>Adv</a:t>
            </a:r>
            <a:r>
              <a:rPr lang="en-US" dirty="0"/>
              <a:t>)		</a:t>
            </a:r>
            <a:r>
              <a:rPr lang="en-US" dirty="0">
                <a:solidFill>
                  <a:srgbClr val="0070C0"/>
                </a:solidFill>
              </a:rPr>
              <a:t>very, slowly, importantly</a:t>
            </a:r>
          </a:p>
          <a:p>
            <a:pPr lvl="1"/>
            <a:r>
              <a:rPr lang="zh-TW" altLang="en-US" dirty="0"/>
              <a:t>介詞</a:t>
            </a:r>
            <a:r>
              <a:rPr lang="en-US" altLang="zh-TW" dirty="0"/>
              <a:t> </a:t>
            </a:r>
            <a:r>
              <a:rPr lang="en-US" dirty="0"/>
              <a:t>preposition (Prep)	</a:t>
            </a:r>
            <a:r>
              <a:rPr lang="en-US" dirty="0">
                <a:solidFill>
                  <a:srgbClr val="0070C0"/>
                </a:solidFill>
              </a:rPr>
              <a:t>in, at on</a:t>
            </a:r>
          </a:p>
          <a:p>
            <a:pPr lvl="1"/>
            <a:r>
              <a:rPr lang="zh-TW" altLang="en-US" dirty="0"/>
              <a:t>範詞 </a:t>
            </a:r>
            <a:r>
              <a:rPr lang="en-US" altLang="zh-TW" dirty="0"/>
              <a:t>determinative (</a:t>
            </a:r>
            <a:r>
              <a:rPr lang="en-US" altLang="zh-TW" dirty="0" err="1"/>
              <a:t>Det</a:t>
            </a:r>
            <a:r>
              <a:rPr lang="en-US" altLang="zh-TW" dirty="0"/>
              <a:t>)	</a:t>
            </a:r>
            <a:r>
              <a:rPr lang="en-US" altLang="zh-TW" dirty="0">
                <a:solidFill>
                  <a:srgbClr val="0070C0"/>
                </a:solidFill>
              </a:rPr>
              <a:t>a, an, the, this some, many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406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詞的次分類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/>
          <a:lstStyle/>
          <a:p>
            <a:r>
              <a:rPr lang="zh-TW" altLang="en-US" sz="3200" dirty="0"/>
              <a:t>詞的次分類</a:t>
            </a:r>
            <a:r>
              <a:rPr lang="en-US" altLang="zh-TW" sz="3200" dirty="0"/>
              <a:t> subcategories</a:t>
            </a:r>
            <a:r>
              <a:rPr lang="zh-TW" altLang="en-US" sz="3200" dirty="0"/>
              <a:t>，例如：</a:t>
            </a:r>
            <a:endParaRPr lang="en-US" altLang="zh-TW" sz="3200" dirty="0"/>
          </a:p>
          <a:p>
            <a:pPr lvl="1"/>
            <a:r>
              <a:rPr lang="zh-TW" altLang="en-US" sz="3200" dirty="0"/>
              <a:t>名詞：</a:t>
            </a:r>
            <a:endParaRPr lang="en-US" altLang="zh-TW" sz="3200" dirty="0"/>
          </a:p>
          <a:p>
            <a:pPr lvl="2"/>
            <a:r>
              <a:rPr lang="zh-TW" altLang="en-US" sz="3200" dirty="0"/>
              <a:t>不可數名詞 </a:t>
            </a:r>
            <a:r>
              <a:rPr lang="en-US" altLang="zh-TW" sz="3200" dirty="0"/>
              <a:t>uncountable nouns</a:t>
            </a:r>
          </a:p>
          <a:p>
            <a:pPr lvl="3"/>
            <a:r>
              <a:rPr lang="en-US" altLang="zh-TW" sz="3200" dirty="0"/>
              <a:t>e.g., </a:t>
            </a:r>
            <a:r>
              <a:rPr lang="en-US" altLang="zh-TW" sz="3200" dirty="0">
                <a:solidFill>
                  <a:srgbClr val="0070C0"/>
                </a:solidFill>
              </a:rPr>
              <a:t>equipment</a:t>
            </a:r>
            <a:r>
              <a:rPr lang="en-US" altLang="zh-TW" sz="3200" dirty="0"/>
              <a:t>, </a:t>
            </a:r>
            <a:r>
              <a:rPr lang="en-US" altLang="zh-TW" sz="3200" dirty="0">
                <a:solidFill>
                  <a:srgbClr val="0070C0"/>
                </a:solidFill>
              </a:rPr>
              <a:t>homework</a:t>
            </a:r>
            <a:r>
              <a:rPr lang="en-US" altLang="zh-TW" sz="3200" dirty="0"/>
              <a:t>, </a:t>
            </a:r>
            <a:r>
              <a:rPr lang="en-US" altLang="zh-TW" sz="3200" dirty="0">
                <a:solidFill>
                  <a:srgbClr val="0070C0"/>
                </a:solidFill>
              </a:rPr>
              <a:t>information</a:t>
            </a:r>
          </a:p>
          <a:p>
            <a:pPr lvl="2"/>
            <a:endParaRPr lang="en-US" altLang="zh-TW" sz="3200" dirty="0"/>
          </a:p>
          <a:p>
            <a:pPr lvl="2"/>
            <a:endParaRPr lang="en-US" altLang="zh-TW" sz="3200" dirty="0"/>
          </a:p>
          <a:p>
            <a:pPr lvl="2"/>
            <a:endParaRPr lang="en-US" altLang="zh-TW" sz="3200" dirty="0"/>
          </a:p>
          <a:p>
            <a:pPr lvl="2"/>
            <a:r>
              <a:rPr lang="zh-TW" altLang="en-US" sz="3200" dirty="0"/>
              <a:t>可數名詞 </a:t>
            </a:r>
            <a:r>
              <a:rPr lang="en-US" altLang="zh-TW" sz="3200" dirty="0"/>
              <a:t>countable nouns</a:t>
            </a:r>
          </a:p>
          <a:p>
            <a:pPr lvl="3"/>
            <a:r>
              <a:rPr lang="en-US" altLang="zh-TW" sz="3200" dirty="0"/>
              <a:t>e.g., </a:t>
            </a:r>
            <a:r>
              <a:rPr lang="en-US" altLang="zh-TW" sz="3200" dirty="0">
                <a:solidFill>
                  <a:srgbClr val="0070C0"/>
                </a:solidFill>
              </a:rPr>
              <a:t>book</a:t>
            </a:r>
            <a:r>
              <a:rPr lang="en-US" altLang="zh-TW" sz="3200" dirty="0"/>
              <a:t>, </a:t>
            </a:r>
            <a:r>
              <a:rPr lang="en-US" altLang="zh-TW" sz="3200" dirty="0">
                <a:solidFill>
                  <a:srgbClr val="0070C0"/>
                </a:solidFill>
              </a:rPr>
              <a:t>car</a:t>
            </a:r>
            <a:r>
              <a:rPr lang="en-US" altLang="zh-TW" sz="3200" dirty="0"/>
              <a:t>, </a:t>
            </a:r>
            <a:r>
              <a:rPr lang="en-US" altLang="zh-TW" sz="3200" dirty="0">
                <a:solidFill>
                  <a:srgbClr val="0070C0"/>
                </a:solidFill>
              </a:rPr>
              <a:t>door</a:t>
            </a:r>
          </a:p>
          <a:p>
            <a:pPr lvl="2"/>
            <a:endParaRPr lang="en-US" altLang="zh-TW" sz="3200" dirty="0"/>
          </a:p>
          <a:p>
            <a:endParaRPr lang="en-US" dirty="0"/>
          </a:p>
        </p:txBody>
      </p:sp>
      <p:pic>
        <p:nvPicPr>
          <p:cNvPr id="1026" name="Picture 2" descr="C:\Wingli\Files\Screenshot Captor Files\OALD-equipmen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733800"/>
            <a:ext cx="5631180" cy="146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>
            <a:off x="2743200" y="4876800"/>
            <a:ext cx="1600200" cy="39620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838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詞的次分類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029200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詞的次分類</a:t>
            </a:r>
            <a:r>
              <a:rPr lang="en-US" altLang="zh-TW" sz="3200" dirty="0"/>
              <a:t> subcategories</a:t>
            </a:r>
            <a:r>
              <a:rPr lang="zh-TW" altLang="en-US" sz="3200" dirty="0"/>
              <a:t>，例如：</a:t>
            </a:r>
            <a:endParaRPr lang="en-US" altLang="zh-TW" sz="3200" dirty="0"/>
          </a:p>
          <a:p>
            <a:pPr lvl="1"/>
            <a:r>
              <a:rPr lang="zh-TW" altLang="en-US" sz="3200" dirty="0"/>
              <a:t>動詞：</a:t>
            </a:r>
            <a:endParaRPr lang="en-US" altLang="zh-TW" sz="3200" dirty="0"/>
          </a:p>
          <a:p>
            <a:pPr lvl="2"/>
            <a:r>
              <a:rPr lang="zh-TW" altLang="en-US" sz="3200" dirty="0"/>
              <a:t>不及物動詞 </a:t>
            </a:r>
            <a:r>
              <a:rPr lang="en-US" altLang="zh-TW" sz="3200" dirty="0"/>
              <a:t>intransitive verbs,</a:t>
            </a:r>
          </a:p>
          <a:p>
            <a:pPr lvl="3"/>
            <a:r>
              <a:rPr lang="en-US" altLang="zh-TW" sz="3200" dirty="0"/>
              <a:t>e.g., </a:t>
            </a:r>
            <a:r>
              <a:rPr lang="en-US" altLang="zh-TW" sz="3200" dirty="0">
                <a:solidFill>
                  <a:srgbClr val="0070C0"/>
                </a:solidFill>
              </a:rPr>
              <a:t>yawn</a:t>
            </a:r>
          </a:p>
          <a:p>
            <a:pPr lvl="2"/>
            <a:r>
              <a:rPr lang="zh-TW" altLang="en-US" sz="3200" dirty="0"/>
              <a:t>及物動詞</a:t>
            </a:r>
            <a:r>
              <a:rPr lang="en-US" altLang="zh-TW" sz="3200" dirty="0"/>
              <a:t> transitive verbs,</a:t>
            </a:r>
          </a:p>
          <a:p>
            <a:pPr lvl="3"/>
            <a:r>
              <a:rPr lang="en-US" altLang="zh-TW" sz="3200" dirty="0"/>
              <a:t>e.g., </a:t>
            </a:r>
            <a:r>
              <a:rPr lang="en-US" altLang="zh-TW" sz="3200" dirty="0">
                <a:solidFill>
                  <a:srgbClr val="0070C0"/>
                </a:solidFill>
              </a:rPr>
              <a:t>take</a:t>
            </a:r>
          </a:p>
          <a:p>
            <a:pPr lvl="2"/>
            <a:r>
              <a:rPr lang="zh-TW" altLang="en-US" sz="3200" dirty="0"/>
              <a:t>雙賓語動詞</a:t>
            </a:r>
            <a:r>
              <a:rPr lang="en-US" altLang="zh-TW" sz="3200" dirty="0"/>
              <a:t> </a:t>
            </a:r>
            <a:r>
              <a:rPr lang="en-US" altLang="zh-TW" sz="3200" dirty="0" err="1"/>
              <a:t>ditransitive</a:t>
            </a:r>
            <a:r>
              <a:rPr lang="en-US" altLang="zh-TW" sz="3200" dirty="0"/>
              <a:t> verbs,</a:t>
            </a:r>
          </a:p>
          <a:p>
            <a:pPr lvl="3"/>
            <a:r>
              <a:rPr lang="en-US" altLang="zh-TW" sz="3200" dirty="0"/>
              <a:t>e.g., </a:t>
            </a:r>
            <a:r>
              <a:rPr lang="en-US" altLang="zh-TW" sz="3200" dirty="0">
                <a:solidFill>
                  <a:srgbClr val="0070C0"/>
                </a:solidFill>
              </a:rPr>
              <a:t>give</a:t>
            </a:r>
          </a:p>
          <a:p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51212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句法成分</a:t>
            </a:r>
            <a:r>
              <a:rPr lang="en-US" altLang="zh-TW" dirty="0"/>
              <a:t> constituents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/>
          </a:bodyPr>
          <a:lstStyle/>
          <a:p>
            <a:r>
              <a:rPr lang="zh-TW" altLang="en-US" dirty="0"/>
              <a:t>例句：</a:t>
            </a:r>
            <a:r>
              <a:rPr lang="en-US" altLang="zh-TW" dirty="0"/>
              <a:t>A coin     is</a:t>
            </a:r>
            <a:r>
              <a:rPr lang="en-US" dirty="0"/>
              <a:t>    under my desk.</a:t>
            </a:r>
          </a:p>
          <a:p>
            <a:r>
              <a:rPr lang="zh-TW" altLang="en-US" sz="3000" dirty="0"/>
              <a:t>某些詞語有緊密的關係，屬於一個單位，稱為</a:t>
            </a:r>
            <a:r>
              <a:rPr lang="zh-TW" altLang="en-US" sz="3000" dirty="0">
                <a:solidFill>
                  <a:srgbClr val="C00000"/>
                </a:solidFill>
              </a:rPr>
              <a:t>句法成分</a:t>
            </a:r>
            <a:r>
              <a:rPr lang="en-US" altLang="zh-TW" sz="3000" dirty="0"/>
              <a:t> (</a:t>
            </a:r>
            <a:r>
              <a:rPr lang="en-US" altLang="zh-TW" sz="3000" dirty="0">
                <a:solidFill>
                  <a:srgbClr val="C00000"/>
                </a:solidFill>
              </a:rPr>
              <a:t>constituent</a:t>
            </a:r>
            <a:r>
              <a:rPr lang="en-US" altLang="zh-TW" sz="3000" dirty="0"/>
              <a:t>)</a:t>
            </a:r>
          </a:p>
          <a:p>
            <a:endParaRPr lang="en-US" dirty="0"/>
          </a:p>
          <a:p>
            <a:r>
              <a:rPr lang="zh-TW" altLang="en-US" sz="3000" dirty="0"/>
              <a:t>辨認句法成分的方法：</a:t>
            </a:r>
            <a:endParaRPr lang="en-US" sz="3000" dirty="0"/>
          </a:p>
          <a:p>
            <a:pPr lvl="1"/>
            <a:r>
              <a:rPr lang="en-US" sz="3000" dirty="0"/>
              <a:t>(1) substitution / replacement test</a:t>
            </a:r>
          </a:p>
          <a:p>
            <a:pPr lvl="1"/>
            <a:r>
              <a:rPr lang="en-US" sz="3000" dirty="0"/>
              <a:t>(2) sentence fragment / stand alone test</a:t>
            </a:r>
          </a:p>
          <a:p>
            <a:pPr lvl="1"/>
            <a:r>
              <a:rPr lang="en-US" sz="3000" dirty="0"/>
              <a:t>(3) movement test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095500" y="1600200"/>
            <a:ext cx="1028700" cy="4572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" name="Rectangle 5"/>
          <p:cNvSpPr/>
          <p:nvPr/>
        </p:nvSpPr>
        <p:spPr>
          <a:xfrm>
            <a:off x="3276600" y="1600200"/>
            <a:ext cx="53340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Rectangle 6"/>
          <p:cNvSpPr/>
          <p:nvPr/>
        </p:nvSpPr>
        <p:spPr>
          <a:xfrm>
            <a:off x="4038600" y="1600200"/>
            <a:ext cx="2209800" cy="4572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4822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句法成分</a:t>
            </a:r>
            <a:r>
              <a:rPr lang="en-US" altLang="zh-TW" dirty="0"/>
              <a:t> constituents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5105400"/>
          </a:xfrm>
        </p:spPr>
        <p:txBody>
          <a:bodyPr>
            <a:normAutofit/>
          </a:bodyPr>
          <a:lstStyle/>
          <a:p>
            <a:r>
              <a:rPr lang="en-US" sz="3200" dirty="0"/>
              <a:t>(1) substitution / replacement test</a:t>
            </a:r>
          </a:p>
          <a:p>
            <a:pPr lvl="1"/>
            <a:r>
              <a:rPr lang="zh-TW" altLang="en-US" sz="3200" dirty="0"/>
              <a:t>能被代名詞或</a:t>
            </a:r>
            <a:r>
              <a:rPr lang="en-US" altLang="zh-TW" sz="3200" i="1" dirty="0"/>
              <a:t>do</a:t>
            </a:r>
            <a:r>
              <a:rPr lang="zh-TW" altLang="en-US" sz="3200" dirty="0"/>
              <a:t>取代</a:t>
            </a:r>
            <a:endParaRPr lang="en-US" altLang="zh-TW" sz="3200" dirty="0"/>
          </a:p>
          <a:p>
            <a:pPr lvl="1"/>
            <a:endParaRPr lang="en-US" altLang="zh-TW" sz="3200" dirty="0"/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  </a:t>
            </a:r>
            <a:r>
              <a:rPr lang="en-US" sz="3200" u="sng" dirty="0">
                <a:solidFill>
                  <a:srgbClr val="0070C0"/>
                </a:solidFill>
              </a:rPr>
              <a:t>A coin </a:t>
            </a:r>
            <a:r>
              <a:rPr lang="en-US" sz="3200" dirty="0">
                <a:solidFill>
                  <a:srgbClr val="0070C0"/>
                </a:solidFill>
              </a:rPr>
              <a:t>is under my desk.</a:t>
            </a:r>
          </a:p>
          <a:p>
            <a:pPr lvl="2"/>
            <a:r>
              <a:rPr lang="en-US" sz="3200" dirty="0">
                <a:solidFill>
                  <a:srgbClr val="00B050"/>
                </a:solidFill>
              </a:rPr>
              <a:t>  </a:t>
            </a:r>
            <a:r>
              <a:rPr lang="en-US" sz="3200" u="sng" dirty="0">
                <a:solidFill>
                  <a:srgbClr val="00B050"/>
                </a:solidFill>
              </a:rPr>
              <a:t>It</a:t>
            </a:r>
            <a:r>
              <a:rPr lang="en-US" sz="3200" dirty="0"/>
              <a:t> is under my desk.</a:t>
            </a:r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John </a:t>
            </a:r>
            <a:r>
              <a:rPr lang="en-US" sz="3200" u="sng" dirty="0">
                <a:solidFill>
                  <a:srgbClr val="0070C0"/>
                </a:solidFill>
              </a:rPr>
              <a:t>found a puppy</a:t>
            </a:r>
            <a:r>
              <a:rPr lang="en-US" sz="3200" dirty="0">
                <a:solidFill>
                  <a:srgbClr val="0070C0"/>
                </a:solidFill>
              </a:rPr>
              <a:t>. Bill found a puppy too.</a:t>
            </a:r>
          </a:p>
          <a:p>
            <a:pPr lvl="2"/>
            <a:r>
              <a:rPr lang="en-US" sz="3200" dirty="0"/>
              <a:t>  John found a puppy and Bill </a:t>
            </a:r>
            <a:r>
              <a:rPr lang="en-US" sz="3200" u="sng" dirty="0">
                <a:solidFill>
                  <a:srgbClr val="00B050"/>
                </a:solidFill>
              </a:rPr>
              <a:t>did</a:t>
            </a:r>
            <a:r>
              <a:rPr lang="en-US" sz="3200" dirty="0"/>
              <a:t> too.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0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句法成分</a:t>
            </a:r>
            <a:r>
              <a:rPr lang="en-US" altLang="zh-TW" dirty="0"/>
              <a:t> constituents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HK" sz="3200" dirty="0"/>
              <a:t>(2) sentence fragment / stand alone test</a:t>
            </a:r>
          </a:p>
          <a:p>
            <a:pPr lvl="1"/>
            <a:r>
              <a:rPr lang="zh-TW" altLang="en-US" sz="3200" dirty="0"/>
              <a:t>能單獨使用，作為</a:t>
            </a:r>
            <a:r>
              <a:rPr lang="en-US" altLang="zh-TW" sz="3200" dirty="0" err="1"/>
              <a:t>wh</a:t>
            </a:r>
            <a:r>
              <a:rPr lang="en-US" altLang="zh-TW" sz="3200" dirty="0"/>
              <a:t>-</a:t>
            </a:r>
            <a:r>
              <a:rPr lang="zh-TW" altLang="en-US" sz="3200" dirty="0"/>
              <a:t>問題 </a:t>
            </a:r>
            <a:r>
              <a:rPr lang="en-US" altLang="zh-TW" sz="3200" dirty="0"/>
              <a:t>(what, when, where, why, etc.) </a:t>
            </a:r>
            <a:r>
              <a:rPr lang="zh-TW" altLang="en-US" sz="3200" dirty="0"/>
              <a:t>的答案</a:t>
            </a:r>
            <a:endParaRPr lang="en-US" altLang="zh-TW" sz="3200" dirty="0"/>
          </a:p>
          <a:p>
            <a:pPr lvl="1"/>
            <a:endParaRPr lang="en-US" altLang="zh-TW" sz="3200" dirty="0"/>
          </a:p>
          <a:p>
            <a:pPr lvl="1"/>
            <a:r>
              <a:rPr lang="en-US" altLang="zh-TW" sz="3200" dirty="0"/>
              <a:t>  What is under your desk?</a:t>
            </a:r>
          </a:p>
          <a:p>
            <a:pPr lvl="1"/>
            <a:r>
              <a:rPr lang="en-US" altLang="zh-TW" sz="3200" dirty="0">
                <a:solidFill>
                  <a:srgbClr val="0070C0"/>
                </a:solidFill>
              </a:rPr>
              <a:t>  </a:t>
            </a:r>
            <a:r>
              <a:rPr lang="en-US" altLang="zh-TW" sz="3200" u="sng" dirty="0">
                <a:solidFill>
                  <a:srgbClr val="00B050"/>
                </a:solidFill>
              </a:rPr>
              <a:t>A coin</a:t>
            </a:r>
            <a:r>
              <a:rPr lang="en-US" altLang="zh-TW" sz="3200" dirty="0">
                <a:solidFill>
                  <a:srgbClr val="0070C0"/>
                </a:solidFill>
              </a:rPr>
              <a:t> is under my desk.</a:t>
            </a:r>
          </a:p>
          <a:p>
            <a:pPr lvl="1"/>
            <a:r>
              <a:rPr lang="en-US" altLang="zh-TW" sz="3200" dirty="0">
                <a:solidFill>
                  <a:srgbClr val="0070C0"/>
                </a:solidFill>
              </a:rPr>
              <a:t>  </a:t>
            </a:r>
            <a:r>
              <a:rPr lang="en-US" altLang="zh-TW" sz="3200" u="sng" dirty="0">
                <a:solidFill>
                  <a:srgbClr val="00B050"/>
                </a:solidFill>
              </a:rPr>
              <a:t>A coin</a:t>
            </a:r>
            <a:r>
              <a:rPr lang="en-US" altLang="zh-TW" sz="3200" dirty="0">
                <a:solidFill>
                  <a:srgbClr val="0070C0"/>
                </a:solidFill>
              </a:rPr>
              <a:t>.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64904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句法成分</a:t>
            </a:r>
            <a:r>
              <a:rPr lang="en-US" altLang="zh-TW" dirty="0"/>
              <a:t> constituents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181600"/>
          </a:xfrm>
        </p:spPr>
        <p:txBody>
          <a:bodyPr>
            <a:normAutofit/>
          </a:bodyPr>
          <a:lstStyle/>
          <a:p>
            <a:r>
              <a:rPr lang="en-US" sz="3200" dirty="0"/>
              <a:t>(3) movement test</a:t>
            </a:r>
          </a:p>
          <a:p>
            <a:pPr lvl="1"/>
            <a:r>
              <a:rPr lang="zh-TW" altLang="en-US" sz="3200" dirty="0"/>
              <a:t>同被移動</a:t>
            </a:r>
            <a:endParaRPr lang="en-US" altLang="zh-TW" sz="3200" dirty="0"/>
          </a:p>
          <a:p>
            <a:endParaRPr lang="en-US" altLang="zh-TW" sz="3200" dirty="0"/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  I found </a:t>
            </a:r>
            <a:r>
              <a:rPr lang="en-US" sz="3200" u="sng" dirty="0">
                <a:solidFill>
                  <a:srgbClr val="00B050"/>
                </a:solidFill>
              </a:rPr>
              <a:t>a coin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>
                <a:solidFill>
                  <a:srgbClr val="0070C0"/>
                </a:solidFill>
              </a:rPr>
              <a:t>under my desk.</a:t>
            </a:r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  It was </a:t>
            </a:r>
            <a:r>
              <a:rPr lang="en-US" sz="3200" u="sng" dirty="0">
                <a:solidFill>
                  <a:srgbClr val="00B050"/>
                </a:solidFill>
              </a:rPr>
              <a:t>a coin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>
                <a:solidFill>
                  <a:srgbClr val="0070C0"/>
                </a:solidFill>
              </a:rPr>
              <a:t>that I found under my desk.</a:t>
            </a:r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  Under my desk I found </a:t>
            </a:r>
            <a:r>
              <a:rPr lang="en-US" sz="3200" u="sng" dirty="0">
                <a:solidFill>
                  <a:srgbClr val="00B050"/>
                </a:solidFill>
              </a:rPr>
              <a:t>a coin</a:t>
            </a:r>
            <a:r>
              <a:rPr lang="en-US" sz="3200" dirty="0">
                <a:solidFill>
                  <a:srgbClr val="0070C0"/>
                </a:solidFill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19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句法成分</a:t>
            </a:r>
            <a:r>
              <a:rPr lang="en-US" altLang="zh-TW" dirty="0">
                <a:solidFill>
                  <a:srgbClr val="775F55"/>
                </a:solidFill>
              </a:rPr>
              <a:t> constituents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sz="3200" dirty="0"/>
              <a:t>例句：</a:t>
            </a:r>
            <a:r>
              <a:rPr lang="en-US" altLang="zh-TW" sz="3200" dirty="0"/>
              <a:t>The puppy played </a:t>
            </a:r>
            <a:r>
              <a:rPr lang="en-US" altLang="zh-TW" sz="3200" dirty="0">
                <a:solidFill>
                  <a:srgbClr val="FF0000"/>
                </a:solidFill>
              </a:rPr>
              <a:t>in the garden</a:t>
            </a:r>
            <a:r>
              <a:rPr lang="en-US" altLang="zh-TW" sz="3200" dirty="0"/>
              <a:t>.</a:t>
            </a:r>
          </a:p>
          <a:p>
            <a:endParaRPr lang="en-US" dirty="0"/>
          </a:p>
          <a:p>
            <a:r>
              <a:rPr lang="en-US" sz="3200" dirty="0"/>
              <a:t>The puppy played </a:t>
            </a:r>
            <a:r>
              <a:rPr lang="en-US" sz="3200" i="1" dirty="0">
                <a:solidFill>
                  <a:srgbClr val="FF0000"/>
                </a:solidFill>
              </a:rPr>
              <a:t>there</a:t>
            </a:r>
            <a:r>
              <a:rPr lang="en-US" sz="3200" dirty="0"/>
              <a:t>.</a:t>
            </a:r>
          </a:p>
          <a:p>
            <a:pPr lvl="1"/>
            <a:r>
              <a:rPr lang="en-US" dirty="0"/>
              <a:t>(replacement by a pronoun)</a:t>
            </a:r>
          </a:p>
          <a:p>
            <a:endParaRPr lang="en-US" dirty="0"/>
          </a:p>
          <a:p>
            <a:r>
              <a:rPr lang="en-US" sz="3200" dirty="0"/>
              <a:t>Where did the puppy play?</a:t>
            </a:r>
          </a:p>
          <a:p>
            <a:r>
              <a:rPr lang="en-US" sz="3200" i="1" dirty="0">
                <a:solidFill>
                  <a:srgbClr val="FF0000"/>
                </a:solidFill>
              </a:rPr>
              <a:t>In the garden</a:t>
            </a:r>
          </a:p>
          <a:p>
            <a:pPr lvl="1"/>
            <a:r>
              <a:rPr lang="en-US" dirty="0"/>
              <a:t>(stand alone)</a:t>
            </a:r>
          </a:p>
          <a:p>
            <a:endParaRPr lang="en-US" dirty="0"/>
          </a:p>
          <a:p>
            <a:r>
              <a:rPr lang="en-US" sz="3200" i="1" dirty="0">
                <a:solidFill>
                  <a:srgbClr val="FF0000"/>
                </a:solidFill>
              </a:rPr>
              <a:t>In the garden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is where the puppy played.</a:t>
            </a:r>
          </a:p>
          <a:p>
            <a:r>
              <a:rPr lang="en-US" sz="3200" dirty="0"/>
              <a:t>It was </a:t>
            </a:r>
            <a:r>
              <a:rPr lang="en-US" sz="3200" i="1" dirty="0">
                <a:solidFill>
                  <a:srgbClr val="FF0000"/>
                </a:solidFill>
              </a:rPr>
              <a:t>in the garden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that the puppy played.</a:t>
            </a:r>
          </a:p>
          <a:p>
            <a:pPr lvl="1"/>
            <a:r>
              <a:rPr lang="en-US" dirty="0"/>
              <a:t>(moved as a unit)</a:t>
            </a:r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1648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775F55"/>
                </a:solidFill>
              </a:rPr>
              <a:t>詞組 </a:t>
            </a:r>
            <a:r>
              <a:rPr lang="en-US" altLang="zh-TW" dirty="0">
                <a:solidFill>
                  <a:srgbClr val="775F55"/>
                </a:solidFill>
              </a:rPr>
              <a:t>phrases</a:t>
            </a:r>
            <a:r>
              <a:rPr lang="zh-TW" altLang="en-US" dirty="0">
                <a:solidFill>
                  <a:srgbClr val="775F55"/>
                </a:solidFill>
              </a:rPr>
              <a:t>；詞組的結構和特性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267200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以上我們看到句子含有不同成分，接下來我們分析這些成分的</a:t>
            </a:r>
            <a:r>
              <a:rPr lang="zh-TW" altLang="en-US" sz="32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結構</a:t>
            </a:r>
            <a:endParaRPr lang="en-US" altLang="zh-TW" sz="3200" dirty="0">
              <a:solidFill>
                <a:srgbClr val="C00000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詞組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 (phrases)</a:t>
            </a:r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、詞組結構律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 (phrase structure rules) </a:t>
            </a:r>
          </a:p>
          <a:p>
            <a:pPr lvl="1"/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257175" y="4572000"/>
            <a:ext cx="3741730" cy="584775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zh-TW" altLang="en-US" sz="3200" dirty="0"/>
              <a:t>句法成分</a:t>
            </a:r>
            <a:r>
              <a:rPr lang="en-US" altLang="zh-TW" sz="3200" dirty="0"/>
              <a:t> constituents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48578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核心詞</a:t>
            </a:r>
            <a:r>
              <a:rPr lang="en-US" altLang="zh-TW" dirty="0"/>
              <a:t> heads (of phrases)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0352" cy="4876800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詞組 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phrase</a:t>
            </a:r>
          </a:p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核心詞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head</a:t>
            </a:r>
          </a:p>
          <a:p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詞組的核心詞決定</a:t>
            </a: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詞組的核心意義</a:t>
            </a:r>
            <a:endParaRPr lang="en-US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詞組的句法特性</a:t>
            </a:r>
            <a:b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</a:br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(syntactic properties of the phrase)</a:t>
            </a: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詞組的類別（名詞詞組、動詞詞組等等）</a:t>
            </a:r>
            <a:endParaRPr lang="en-US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87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詞組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105400"/>
          </a:xfrm>
        </p:spPr>
        <p:txBody>
          <a:bodyPr/>
          <a:lstStyle/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主要的詞組：</a:t>
            </a: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名詞詞組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 noun phrase (NP)</a:t>
            </a: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動詞詞組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 verb phrase (VP)</a:t>
            </a: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形容詞詞組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 adjective phrase (</a:t>
            </a:r>
            <a:r>
              <a:rPr lang="en-US" altLang="zh-TW" sz="3200" dirty="0" err="1">
                <a:latin typeface="Calibri" panose="020F0502020204030204" pitchFamily="34" charset="0"/>
                <a:ea typeface="PMingLiU" panose="02020500000000000000" pitchFamily="18" charset="-120"/>
              </a:rPr>
              <a:t>AdjP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)</a:t>
            </a: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副詞詞組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 adverb phrase (</a:t>
            </a:r>
            <a:r>
              <a:rPr lang="en-US" altLang="zh-TW" sz="3200" dirty="0" err="1">
                <a:latin typeface="Calibri" panose="020F0502020204030204" pitchFamily="34" charset="0"/>
                <a:ea typeface="PMingLiU" panose="02020500000000000000" pitchFamily="18" charset="-120"/>
              </a:rPr>
              <a:t>AdvP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)</a:t>
            </a: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介詞詞組</a:t>
            </a:r>
            <a:r>
              <a:rPr lang="en-US" altLang="zh-TW" sz="3200" dirty="0">
                <a:latin typeface="Calibri" panose="020F0502020204030204" pitchFamily="34" charset="0"/>
                <a:ea typeface="PMingLiU" panose="02020500000000000000" pitchFamily="18" charset="-120"/>
              </a:rPr>
              <a:t> preposition phrase (PP)</a:t>
            </a:r>
            <a:r>
              <a:rPr lang="en-US" altLang="zh-HK" sz="32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</a:p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詞組結構律</a:t>
            </a: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每個詞組都有結構規律</a:t>
            </a: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每個語言都有自己的一套詞組結構律</a:t>
            </a:r>
            <a:endParaRPr lang="en-US" altLang="zh-TW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513936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775F55"/>
                </a:solidFill>
              </a:rPr>
              <a:t>詞組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5181600"/>
          </a:xfrm>
        </p:spPr>
        <p:txBody>
          <a:bodyPr>
            <a:normAutofit fontScale="55000" lnSpcReduction="20000"/>
          </a:bodyPr>
          <a:lstStyle/>
          <a:p>
            <a:r>
              <a:rPr lang="zh-TW" altLang="en-US" sz="5100" dirty="0">
                <a:latin typeface="Calibri" panose="020F0502020204030204" pitchFamily="34" charset="0"/>
                <a:ea typeface="PMingLiU" panose="02020500000000000000" pitchFamily="18" charset="-120"/>
              </a:rPr>
              <a:t>英語的詞組結構律：</a:t>
            </a:r>
            <a:endParaRPr lang="en-US" sz="51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</a:rPr>
              <a:t>S (sentence) 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  NP VP</a:t>
            </a:r>
          </a:p>
          <a:p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NP	  	  (</a:t>
            </a:r>
            <a:r>
              <a:rPr lang="en-US" altLang="zh-TW" sz="51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Det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) (</a:t>
            </a:r>
            <a:r>
              <a:rPr lang="en-US" sz="51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AdjP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) </a:t>
            </a:r>
            <a:r>
              <a:rPr lang="en-US" sz="5100" dirty="0">
                <a:solidFill>
                  <a:srgbClr val="FF000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(PP)</a:t>
            </a:r>
          </a:p>
          <a:p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VP	  	  </a:t>
            </a:r>
            <a:r>
              <a:rPr lang="en-US" sz="5100" dirty="0">
                <a:solidFill>
                  <a:srgbClr val="FF000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V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(NP) (NP) (PP) (</a:t>
            </a:r>
            <a:r>
              <a:rPr lang="en-US" sz="51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AdvP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)</a:t>
            </a:r>
          </a:p>
          <a:p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PP	  	  </a:t>
            </a:r>
            <a:r>
              <a:rPr lang="en-US" sz="5100" dirty="0">
                <a:solidFill>
                  <a:srgbClr val="FF000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Prep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(NP)</a:t>
            </a:r>
          </a:p>
          <a:p>
            <a:r>
              <a:rPr lang="en-US" sz="51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AdjP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	  (</a:t>
            </a:r>
            <a:r>
              <a:rPr lang="en-US" sz="51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AdvP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) </a:t>
            </a:r>
            <a:r>
              <a:rPr lang="en-US" sz="5100" dirty="0" err="1">
                <a:solidFill>
                  <a:srgbClr val="FF000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Adj</a:t>
            </a:r>
            <a:endParaRPr lang="en-US" sz="5100" dirty="0">
              <a:solidFill>
                <a:srgbClr val="FF0000"/>
              </a:solidFill>
              <a:latin typeface="Calibri" panose="020F0502020204030204" pitchFamily="34" charset="0"/>
              <a:ea typeface="PMingLiU" panose="02020500000000000000" pitchFamily="18" charset="-120"/>
              <a:sym typeface="Wingdings" pitchFamily="2" charset="2"/>
            </a:endParaRPr>
          </a:p>
          <a:p>
            <a:r>
              <a:rPr lang="en-US" sz="51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AdvP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	  (</a:t>
            </a:r>
            <a:r>
              <a:rPr lang="en-US" sz="51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AdvP</a:t>
            </a:r>
            <a:r>
              <a:rPr lang="en-US" sz="51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) </a:t>
            </a:r>
            <a:r>
              <a:rPr lang="en-US" sz="5100" dirty="0" err="1">
                <a:solidFill>
                  <a:srgbClr val="FF000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Adv</a:t>
            </a:r>
            <a:endParaRPr lang="en-US" sz="5100" dirty="0">
              <a:solidFill>
                <a:srgbClr val="FF0000"/>
              </a:solidFill>
              <a:latin typeface="Calibri" panose="020F0502020204030204" pitchFamily="34" charset="0"/>
              <a:ea typeface="PMingLiU" panose="02020500000000000000" pitchFamily="18" charset="-120"/>
              <a:sym typeface="Wingdings" pitchFamily="2" charset="2"/>
            </a:endParaRPr>
          </a:p>
          <a:p>
            <a:endParaRPr lang="en-US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註：</a:t>
            </a:r>
            <a:endParaRPr lang="en-US" sz="47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	</a:t>
            </a:r>
            <a:r>
              <a:rPr lang="en-US" altLang="zh-TW" sz="47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N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</a:rPr>
              <a:t>,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47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V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</a:rPr>
              <a:t>,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47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P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</a:rPr>
              <a:t>,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4700" dirty="0" err="1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Adj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</a:rPr>
              <a:t>,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4700" dirty="0" err="1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Adv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是核心詞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</a:rPr>
              <a:t> heads</a:t>
            </a:r>
            <a:endParaRPr lang="en-US" sz="47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( 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</a:rPr>
              <a:t>)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 表示可有可無，例如：</a:t>
            </a:r>
            <a:r>
              <a:rPr lang="en-US" altLang="zh-TW" sz="4700" dirty="0" err="1">
                <a:latin typeface="Calibri" panose="020F0502020204030204" pitchFamily="34" charset="0"/>
                <a:ea typeface="PMingLiU" panose="02020500000000000000" pitchFamily="18" charset="-120"/>
              </a:rPr>
              <a:t>AdjP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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(</a:t>
            </a:r>
            <a:r>
              <a:rPr lang="en-US" altLang="zh-TW" sz="47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AdvP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) </a:t>
            </a:r>
            <a:r>
              <a:rPr lang="en-US" altLang="zh-TW" sz="47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Adj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即表示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	</a:t>
            </a:r>
            <a:r>
              <a:rPr lang="en-US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 </a:t>
            </a:r>
            <a:r>
              <a:rPr lang="en-US" sz="47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AdjP</a:t>
            </a:r>
            <a:r>
              <a:rPr lang="en-US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 </a:t>
            </a:r>
            <a:r>
              <a:rPr lang="en-US" sz="47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Adj</a:t>
            </a:r>
            <a:r>
              <a:rPr lang="en-US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    </a:t>
            </a:r>
            <a:r>
              <a:rPr lang="zh-TW" altLang="en-US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或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   </a:t>
            </a:r>
            <a:r>
              <a:rPr lang="en-US" altLang="zh-TW" sz="47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AdjP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  </a:t>
            </a:r>
            <a:r>
              <a:rPr lang="en-US" altLang="zh-TW" sz="47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AdvP</a:t>
            </a:r>
            <a: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 </a:t>
            </a:r>
            <a:r>
              <a:rPr lang="en-US" altLang="zh-TW" sz="47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Adj</a:t>
            </a:r>
            <a:br>
              <a:rPr lang="en-US" altLang="zh-TW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</a:br>
            <a:r>
              <a:rPr lang="en-US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                 </a:t>
            </a:r>
            <a:r>
              <a:rPr lang="en-US" sz="47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rich</a:t>
            </a:r>
            <a:r>
              <a:rPr lang="en-US" sz="47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                        </a:t>
            </a:r>
            <a:r>
              <a:rPr lang="en-US" sz="47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very     rich </a:t>
            </a:r>
            <a:endParaRPr lang="en-US" sz="4700" dirty="0">
              <a:solidFill>
                <a:srgbClr val="0070C0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1542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兩種表達句法成分關係的方法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3000" dirty="0"/>
              <a:t>(1) </a:t>
            </a:r>
            <a:r>
              <a:rPr lang="zh-TW" altLang="en-US" sz="3000" dirty="0"/>
              <a:t>樹狀結構 </a:t>
            </a:r>
            <a:r>
              <a:rPr lang="en-US" altLang="zh-TW" sz="3000" dirty="0"/>
              <a:t>tree structure / tree diagram</a:t>
            </a:r>
          </a:p>
          <a:p>
            <a:r>
              <a:rPr lang="en-US" altLang="zh-TW" sz="3000" dirty="0">
                <a:solidFill>
                  <a:srgbClr val="0070C0"/>
                </a:solidFill>
              </a:rPr>
              <a:t>The boys found the money</a:t>
            </a:r>
          </a:p>
          <a:p>
            <a:r>
              <a:rPr lang="en-US" altLang="zh-TW" dirty="0"/>
              <a:t>                          S</a:t>
            </a:r>
          </a:p>
          <a:p>
            <a:endParaRPr lang="en-US" altLang="zh-TW" dirty="0"/>
          </a:p>
          <a:p>
            <a:r>
              <a:rPr lang="en-US" altLang="zh-TW" dirty="0"/>
              <a:t>              NP               VP</a:t>
            </a:r>
          </a:p>
          <a:p>
            <a:endParaRPr lang="en-US" altLang="zh-TW" dirty="0"/>
          </a:p>
          <a:p>
            <a:r>
              <a:rPr lang="en-US" altLang="zh-TW" dirty="0"/>
              <a:t>           </a:t>
            </a:r>
            <a:r>
              <a:rPr lang="en-US" altLang="zh-TW" dirty="0" err="1"/>
              <a:t>Det</a:t>
            </a:r>
            <a:r>
              <a:rPr lang="en-US" altLang="zh-TW" dirty="0"/>
              <a:t>    N         V          NP</a:t>
            </a:r>
          </a:p>
          <a:p>
            <a:r>
              <a:rPr lang="en-US" altLang="zh-TW" dirty="0"/>
              <a:t>       </a:t>
            </a:r>
          </a:p>
          <a:p>
            <a:r>
              <a:rPr lang="en-US" altLang="zh-TW" dirty="0"/>
              <a:t>                                         </a:t>
            </a:r>
            <a:r>
              <a:rPr lang="en-US" altLang="zh-TW" dirty="0" err="1"/>
              <a:t>Det</a:t>
            </a:r>
            <a:r>
              <a:rPr lang="en-US" altLang="zh-TW" dirty="0"/>
              <a:t>     N</a:t>
            </a:r>
          </a:p>
          <a:p>
            <a:r>
              <a:rPr lang="en-US" altLang="zh-TW" dirty="0"/>
              <a:t>   </a:t>
            </a:r>
          </a:p>
          <a:p>
            <a:r>
              <a:rPr lang="en-US" altLang="zh-TW" dirty="0"/>
              <a:t>            </a:t>
            </a:r>
            <a:r>
              <a:rPr lang="en-US" altLang="zh-TW" dirty="0">
                <a:solidFill>
                  <a:srgbClr val="0070C0"/>
                </a:solidFill>
              </a:rPr>
              <a:t>the   boys    found   the  money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2743200" y="2819400"/>
            <a:ext cx="762000" cy="609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657600" y="2819400"/>
            <a:ext cx="609600" cy="609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2362200" y="3886200"/>
            <a:ext cx="152400" cy="457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362200" y="4800600"/>
            <a:ext cx="0" cy="1371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590800" y="3886200"/>
            <a:ext cx="304800" cy="457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124200" y="4800600"/>
            <a:ext cx="0" cy="1371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114800" y="4800600"/>
            <a:ext cx="0" cy="1371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4114800" y="3886200"/>
            <a:ext cx="152400" cy="457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572000" y="3810000"/>
            <a:ext cx="60960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5105400" y="4800600"/>
            <a:ext cx="152400" cy="457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410200" y="4831080"/>
            <a:ext cx="533400" cy="426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181600" y="5638800"/>
            <a:ext cx="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943600" y="5638800"/>
            <a:ext cx="0" cy="533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860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600" dirty="0"/>
              <a:t>樹狀結構 </a:t>
            </a:r>
            <a:r>
              <a:rPr lang="en-US" altLang="zh-TW" sz="3600" dirty="0"/>
              <a:t>tree structure / tree diagram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5048" y="1600200"/>
            <a:ext cx="7464552" cy="5105400"/>
          </a:xfrm>
        </p:spPr>
        <p:txBody>
          <a:bodyPr/>
          <a:lstStyle/>
          <a:p>
            <a:r>
              <a:rPr lang="zh-TW" altLang="en-US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每個樹狀結構上的位置稱為「點」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node</a:t>
            </a:r>
          </a:p>
          <a:p>
            <a:endParaRPr lang="en-US" altLang="zh-TW" dirty="0">
              <a:latin typeface="Calibri" panose="020F0502020204030204" pitchFamily="34" charset="0"/>
              <a:ea typeface="PMingLiU" panose="02020500000000000000" pitchFamily="18" charset="-120"/>
              <a:sym typeface="Wingdings" pitchFamily="2" charset="2"/>
            </a:endParaRPr>
          </a:p>
          <a:p>
            <a:r>
              <a:rPr lang="zh-TW" altLang="en-US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例如：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NP</a:t>
            </a:r>
            <a:r>
              <a:rPr lang="zh-TW" altLang="en-US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就叫作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NP-</a:t>
            </a:r>
            <a:r>
              <a:rPr lang="zh-TW" altLang="en-US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點，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Det</a:t>
            </a:r>
            <a:r>
              <a:rPr lang="zh-TW" altLang="en-US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稱為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Det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-</a:t>
            </a:r>
            <a:r>
              <a:rPr lang="zh-TW" altLang="en-US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點</a:t>
            </a:r>
            <a:endParaRPr lang="en-US" altLang="zh-TW" dirty="0">
              <a:latin typeface="Calibri" panose="020F0502020204030204" pitchFamily="34" charset="0"/>
              <a:ea typeface="PMingLiU" panose="02020500000000000000" pitchFamily="18" charset="-120"/>
              <a:sym typeface="Wingdings" pitchFamily="2" charset="2"/>
            </a:endParaRPr>
          </a:p>
          <a:p>
            <a:r>
              <a:rPr lang="zh-TW" altLang="en-US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點和點之間的關係：</a:t>
            </a:r>
            <a:endParaRPr lang="en-US" altLang="zh-TW" dirty="0">
              <a:latin typeface="Calibri" panose="020F0502020204030204" pitchFamily="34" charset="0"/>
              <a:ea typeface="PMingLiU" panose="02020500000000000000" pitchFamily="18" charset="-120"/>
              <a:sym typeface="Wingdings" pitchFamily="2" charset="2"/>
            </a:endParaRPr>
          </a:p>
          <a:p>
            <a:pPr lvl="1"/>
            <a:r>
              <a:rPr lang="en-US" altLang="zh-TW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NP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轄控</a:t>
            </a:r>
            <a:r>
              <a:rPr lang="en-US" altLang="zh-TW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(dominate) 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了</a:t>
            </a:r>
            <a:r>
              <a:rPr lang="en-US" altLang="zh-TW" sz="29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Det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和</a:t>
            </a:r>
            <a:r>
              <a:rPr lang="en-US" altLang="zh-TW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兩個點，因此它們在點和點的關係就像母女一般</a:t>
            </a:r>
            <a:endParaRPr lang="en-US" altLang="zh-TW" sz="2900" dirty="0">
              <a:latin typeface="Calibri" panose="020F0502020204030204" pitchFamily="34" charset="0"/>
              <a:ea typeface="PMingLiU" panose="02020500000000000000" pitchFamily="18" charset="-120"/>
              <a:sym typeface="Wingdings" pitchFamily="2" charset="2"/>
            </a:endParaRPr>
          </a:p>
          <a:p>
            <a:pPr lvl="1"/>
            <a:r>
              <a:rPr lang="en-US" altLang="zh-TW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NP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叫作</a:t>
            </a:r>
            <a:r>
              <a:rPr lang="zh-TW" altLang="en-US" sz="29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母點</a:t>
            </a:r>
            <a:r>
              <a:rPr lang="en-US" altLang="zh-TW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(mother node)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，而</a:t>
            </a:r>
            <a:r>
              <a:rPr lang="en-US" altLang="zh-TW" sz="29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Det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及</a:t>
            </a:r>
            <a:r>
              <a:rPr lang="en-US" altLang="zh-TW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稱為</a:t>
            </a:r>
            <a:r>
              <a:rPr lang="zh-TW" altLang="en-US" sz="29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女點</a:t>
            </a:r>
            <a:r>
              <a:rPr lang="en-US" altLang="zh-TW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(daughter nodes)</a:t>
            </a:r>
          </a:p>
          <a:p>
            <a:pPr lvl="1"/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由於</a:t>
            </a:r>
            <a:r>
              <a:rPr lang="en-US" altLang="zh-TW" sz="2900" dirty="0" err="1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Det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及</a:t>
            </a:r>
            <a:r>
              <a:rPr lang="en-US" altLang="zh-TW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N</a:t>
            </a:r>
            <a:r>
              <a:rPr lang="zh-TW" altLang="en-US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都在同一層次上，它們彼此稱為</a:t>
            </a:r>
            <a:r>
              <a:rPr lang="zh-TW" altLang="en-US" sz="29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姊妹點</a:t>
            </a:r>
            <a:r>
              <a:rPr lang="en-US" altLang="zh-TW" sz="2900" dirty="0">
                <a:latin typeface="Calibri" panose="020F0502020204030204" pitchFamily="34" charset="0"/>
                <a:ea typeface="PMingLiU" panose="02020500000000000000" pitchFamily="18" charset="-120"/>
                <a:sym typeface="Wingdings" pitchFamily="2" charset="2"/>
              </a:rPr>
              <a:t> sister nodes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3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兩種表達句法成分關係的方法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 fontScale="92500"/>
          </a:bodyPr>
          <a:lstStyle/>
          <a:p>
            <a:r>
              <a:rPr lang="en-US" altLang="zh-TW" sz="2800" dirty="0">
                <a:latin typeface="Calibri" panose="020F0502020204030204" pitchFamily="34" charset="0"/>
                <a:ea typeface="PMingLiU" panose="02020500000000000000" pitchFamily="18" charset="-120"/>
              </a:rPr>
              <a:t>(2) </a:t>
            </a:r>
            <a:r>
              <a:rPr lang="zh-TW" altLang="en-US" sz="2800" dirty="0">
                <a:latin typeface="Calibri" panose="020F0502020204030204" pitchFamily="34" charset="0"/>
                <a:ea typeface="PMingLiU" panose="02020500000000000000" pitchFamily="18" charset="-120"/>
              </a:rPr>
              <a:t>弧狀結構</a:t>
            </a:r>
            <a:endParaRPr lang="en-US" altLang="zh-TW" sz="28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en-US" altLang="zh-TW" sz="28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The boys found the money</a:t>
            </a:r>
          </a:p>
          <a:p>
            <a:r>
              <a:rPr lang="en-US" altLang="zh-HK" sz="3800" dirty="0">
                <a:latin typeface="Calibri" panose="020F0502020204030204" pitchFamily="34" charset="0"/>
                <a:ea typeface="PMingLiU" panose="02020500000000000000" pitchFamily="18" charset="-120"/>
              </a:rPr>
              <a:t>[[</a:t>
            </a:r>
            <a:r>
              <a:rPr lang="en-US" altLang="zh-HK" sz="38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The boys</a:t>
            </a:r>
            <a:r>
              <a:rPr lang="en-US" altLang="zh-HK" sz="3800" dirty="0">
                <a:latin typeface="Calibri" panose="020F0502020204030204" pitchFamily="34" charset="0"/>
                <a:ea typeface="PMingLiU" panose="02020500000000000000" pitchFamily="18" charset="-120"/>
              </a:rPr>
              <a:t>]</a:t>
            </a:r>
            <a:r>
              <a:rPr lang="en-US" altLang="zh-HK" sz="3800" baseline="-25000" dirty="0">
                <a:solidFill>
                  <a:srgbClr val="00B05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NP</a:t>
            </a:r>
            <a:r>
              <a:rPr lang="en-US" altLang="zh-HK" sz="3800" dirty="0">
                <a:latin typeface="Calibri" panose="020F0502020204030204" pitchFamily="34" charset="0"/>
                <a:ea typeface="PMingLiU" panose="02020500000000000000" pitchFamily="18" charset="-120"/>
              </a:rPr>
              <a:t> [</a:t>
            </a:r>
            <a:r>
              <a:rPr lang="en-US" altLang="zh-HK" sz="38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found</a:t>
            </a:r>
            <a:r>
              <a:rPr lang="en-US" altLang="zh-HK" sz="3800" dirty="0">
                <a:latin typeface="Calibri" panose="020F0502020204030204" pitchFamily="34" charset="0"/>
                <a:ea typeface="PMingLiU" panose="02020500000000000000" pitchFamily="18" charset="-120"/>
              </a:rPr>
              <a:t> [</a:t>
            </a:r>
            <a:r>
              <a:rPr lang="en-US" altLang="zh-HK" sz="3800" dirty="0">
                <a:solidFill>
                  <a:srgbClr val="0070C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the money</a:t>
            </a:r>
            <a:r>
              <a:rPr lang="en-US" altLang="zh-HK" sz="3800" dirty="0">
                <a:latin typeface="Calibri" panose="020F0502020204030204" pitchFamily="34" charset="0"/>
                <a:ea typeface="PMingLiU" panose="02020500000000000000" pitchFamily="18" charset="-120"/>
              </a:rPr>
              <a:t>]</a:t>
            </a:r>
            <a:r>
              <a:rPr lang="en-US" altLang="zh-HK" sz="3800" baseline="-25000" dirty="0">
                <a:solidFill>
                  <a:srgbClr val="00B05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NP</a:t>
            </a:r>
            <a:r>
              <a:rPr lang="en-US" altLang="zh-HK" sz="3800" dirty="0">
                <a:latin typeface="Calibri" panose="020F0502020204030204" pitchFamily="34" charset="0"/>
                <a:ea typeface="PMingLiU" panose="02020500000000000000" pitchFamily="18" charset="-120"/>
              </a:rPr>
              <a:t>]</a:t>
            </a:r>
            <a:r>
              <a:rPr lang="en-US" altLang="zh-HK" sz="3800" baseline="-25000" dirty="0">
                <a:solidFill>
                  <a:srgbClr val="00B05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VP</a:t>
            </a:r>
            <a:r>
              <a:rPr lang="en-US" altLang="zh-HK" sz="3800" dirty="0">
                <a:latin typeface="Calibri" panose="020F0502020204030204" pitchFamily="34" charset="0"/>
                <a:ea typeface="PMingLiU" panose="02020500000000000000" pitchFamily="18" charset="-120"/>
              </a:rPr>
              <a:t>]</a:t>
            </a:r>
            <a:r>
              <a:rPr lang="en-US" altLang="zh-HK" sz="3800" baseline="-25000" dirty="0">
                <a:solidFill>
                  <a:srgbClr val="00B05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S</a:t>
            </a:r>
          </a:p>
          <a:p>
            <a:endParaRPr lang="en-US" altLang="zh-TW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en-US" altLang="zh-TW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zh-TW" altLang="en-US" sz="3000" dirty="0">
                <a:latin typeface="Calibri" panose="020F0502020204030204" pitchFamily="34" charset="0"/>
                <a:ea typeface="PMingLiU" panose="02020500000000000000" pitchFamily="18" charset="-120"/>
              </a:rPr>
              <a:t>兩種表達方式都告訴我們</a:t>
            </a:r>
            <a:endParaRPr lang="en-US" altLang="zh-TW" sz="30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(1)</a:t>
            </a:r>
            <a:r>
              <a:rPr lang="zh-TW" altLang="en-US" sz="3000" dirty="0">
                <a:latin typeface="Calibri" panose="020F0502020204030204" pitchFamily="34" charset="0"/>
                <a:ea typeface="PMingLiU" panose="02020500000000000000" pitchFamily="18" charset="-120"/>
              </a:rPr>
              <a:t> 句子中有甚麼</a:t>
            </a:r>
            <a:r>
              <a:rPr lang="zh-TW" altLang="en-US" sz="30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成分</a:t>
            </a:r>
            <a:endParaRPr lang="en-US" altLang="zh-TW" sz="3000" dirty="0">
              <a:solidFill>
                <a:srgbClr val="C00000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(2) </a:t>
            </a:r>
            <a:r>
              <a:rPr lang="zh-TW" altLang="en-US" sz="3000" dirty="0">
                <a:latin typeface="Calibri" panose="020F0502020204030204" pitchFamily="34" charset="0"/>
                <a:ea typeface="PMingLiU" panose="02020500000000000000" pitchFamily="18" charset="-120"/>
              </a:rPr>
              <a:t>成分的</a:t>
            </a:r>
            <a:r>
              <a:rPr lang="zh-TW" altLang="en-US" sz="30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種類</a:t>
            </a:r>
            <a:endParaRPr lang="en-US" altLang="zh-TW" sz="3000" dirty="0">
              <a:solidFill>
                <a:srgbClr val="C00000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en-US" altLang="zh-TW" sz="3000" dirty="0">
                <a:latin typeface="Calibri" panose="020F0502020204030204" pitchFamily="34" charset="0"/>
                <a:ea typeface="PMingLiU" panose="02020500000000000000" pitchFamily="18" charset="-120"/>
              </a:rPr>
              <a:t>(3)</a:t>
            </a:r>
            <a:r>
              <a:rPr lang="zh-TW" altLang="en-US" sz="3000" dirty="0">
                <a:latin typeface="Calibri" panose="020F0502020204030204" pitchFamily="34" charset="0"/>
                <a:ea typeface="PMingLiU" panose="02020500000000000000" pitchFamily="18" charset="-120"/>
              </a:rPr>
              <a:t> 不同成分之間的</a:t>
            </a:r>
            <a:r>
              <a:rPr lang="zh-TW" altLang="en-US" sz="3000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關係</a:t>
            </a:r>
            <a:endParaRPr lang="en-US" altLang="zh-TW" sz="3000" dirty="0">
              <a:solidFill>
                <a:srgbClr val="C00000"/>
              </a:solidFill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75335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語法功能</a:t>
            </a:r>
            <a:r>
              <a:rPr lang="en-US" altLang="zh-TW" dirty="0"/>
              <a:t> / </a:t>
            </a:r>
            <a:r>
              <a:rPr lang="zh-TW" altLang="en-US" dirty="0"/>
              <a:t>語法關係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5105400"/>
          </a:xfrm>
        </p:spPr>
        <p:txBody>
          <a:bodyPr>
            <a:normAutofit fontScale="85000" lnSpcReduction="20000"/>
          </a:bodyPr>
          <a:lstStyle/>
          <a:p>
            <a:r>
              <a:rPr lang="en-US" sz="3500" dirty="0">
                <a:latin typeface="Calibri" panose="020F0502020204030204" pitchFamily="34" charset="0"/>
                <a:ea typeface="PMingLiU" panose="02020500000000000000" pitchFamily="18" charset="-120"/>
              </a:rPr>
              <a:t>grammatical functions / grammatical relations</a:t>
            </a:r>
          </a:p>
          <a:p>
            <a:r>
              <a:rPr lang="en-US" sz="3500" dirty="0">
                <a:latin typeface="Calibri" panose="020F0502020204030204" pitchFamily="34" charset="0"/>
                <a:ea typeface="PMingLiU" panose="02020500000000000000" pitchFamily="18" charset="-120"/>
              </a:rPr>
              <a:t>relations which hold between the </a:t>
            </a:r>
            <a:r>
              <a:rPr lang="en-US" sz="3500" u="sng" dirty="0">
                <a:solidFill>
                  <a:srgbClr val="C00000"/>
                </a:solidFill>
                <a:latin typeface="Calibri" panose="020F0502020204030204" pitchFamily="34" charset="0"/>
                <a:ea typeface="PMingLiU" panose="02020500000000000000" pitchFamily="18" charset="-120"/>
              </a:rPr>
              <a:t>verb</a:t>
            </a:r>
            <a:r>
              <a:rPr lang="en-US" sz="3500" dirty="0">
                <a:latin typeface="Calibri" panose="020F0502020204030204" pitchFamily="34" charset="0"/>
                <a:ea typeface="PMingLiU" panose="02020500000000000000" pitchFamily="18" charset="-120"/>
              </a:rPr>
              <a:t> and the entity/entities which are relevant to the event denoted by the verb</a:t>
            </a:r>
          </a:p>
          <a:p>
            <a:r>
              <a:rPr lang="zh-TW" altLang="en-US" sz="3500" dirty="0">
                <a:latin typeface="Calibri" panose="020F0502020204030204" pitchFamily="34" charset="0"/>
                <a:ea typeface="PMingLiU" panose="02020500000000000000" pitchFamily="18" charset="-120"/>
              </a:rPr>
              <a:t>不同詞組在句中的功能、彼此間的關係</a:t>
            </a:r>
            <a:endParaRPr lang="en-US" altLang="zh-TW" sz="35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endParaRPr lang="en-US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r>
              <a:rPr lang="zh-TW" alt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英語中主要有：</a:t>
            </a:r>
            <a:endParaRPr lang="en-US" sz="3200" dirty="0">
              <a:latin typeface="Calibri" panose="020F0502020204030204" pitchFamily="34" charset="0"/>
              <a:ea typeface="PMingLiU" panose="02020500000000000000" pitchFamily="18" charset="-120"/>
            </a:endParaRPr>
          </a:p>
          <a:p>
            <a:pPr lvl="1"/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subject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direct object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indirect object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complement</a:t>
            </a:r>
          </a:p>
          <a:p>
            <a:pPr lvl="1"/>
            <a:r>
              <a:rPr lang="en-US" sz="3200" dirty="0">
                <a:latin typeface="Calibri" panose="020F0502020204030204" pitchFamily="34" charset="0"/>
                <a:ea typeface="PMingLiU" panose="02020500000000000000" pitchFamily="18" charset="-120"/>
              </a:rPr>
              <a:t>adjunct</a:t>
            </a:r>
          </a:p>
        </p:txBody>
      </p:sp>
    </p:spTree>
    <p:extLst>
      <p:ext uri="{BB962C8B-B14F-4D97-AF65-F5344CB8AC3E}">
        <p14:creationId xmlns:p14="http://schemas.microsoft.com/office/powerpoint/2010/main" val="3089668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subject </a:t>
            </a:r>
            <a:r>
              <a:rPr lang="zh-TW" altLang="en-US" dirty="0"/>
              <a:t>主語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/>
          </a:bodyPr>
          <a:lstStyle/>
          <a:p>
            <a:r>
              <a:rPr lang="en-US" sz="2800" dirty="0"/>
              <a:t>ways to identify subject</a:t>
            </a:r>
          </a:p>
          <a:p>
            <a:pPr lvl="1"/>
            <a:r>
              <a:rPr lang="en-US" sz="2800" dirty="0"/>
              <a:t>word order</a:t>
            </a:r>
          </a:p>
          <a:p>
            <a:pPr lvl="2"/>
            <a:r>
              <a:rPr lang="en-US" sz="2800" u="sng" dirty="0">
                <a:solidFill>
                  <a:srgbClr val="00B050"/>
                </a:solidFill>
              </a:rPr>
              <a:t>Students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hate examinations.</a:t>
            </a:r>
          </a:p>
          <a:p>
            <a:pPr lvl="1"/>
            <a:r>
              <a:rPr lang="en-US" sz="2800" dirty="0"/>
              <a:t>forms of pronouns</a:t>
            </a:r>
          </a:p>
          <a:p>
            <a:pPr lvl="2"/>
            <a:r>
              <a:rPr lang="en-US" sz="2800" u="sng" dirty="0">
                <a:solidFill>
                  <a:srgbClr val="00B050"/>
                </a:solidFill>
              </a:rPr>
              <a:t>She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likes cats. </a:t>
            </a:r>
          </a:p>
          <a:p>
            <a:pPr lvl="2"/>
            <a:r>
              <a:rPr lang="en-US" sz="2800" dirty="0"/>
              <a:t>*Her likes cats.</a:t>
            </a:r>
          </a:p>
          <a:p>
            <a:pPr lvl="1"/>
            <a:r>
              <a:rPr lang="en-US" sz="2800" dirty="0"/>
              <a:t>subject-verb agreement</a:t>
            </a:r>
          </a:p>
          <a:p>
            <a:pPr lvl="2"/>
            <a:r>
              <a:rPr lang="en-US" sz="2800" dirty="0">
                <a:solidFill>
                  <a:srgbClr val="0070C0"/>
                </a:solidFill>
              </a:rPr>
              <a:t>I </a:t>
            </a:r>
            <a:r>
              <a:rPr lang="en-US" sz="2800" u="sng" dirty="0">
                <a:solidFill>
                  <a:srgbClr val="00B050"/>
                </a:solidFill>
              </a:rPr>
              <a:t>am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speaking.</a:t>
            </a:r>
          </a:p>
          <a:p>
            <a:pPr lvl="2"/>
            <a:r>
              <a:rPr lang="en-US" sz="2800" dirty="0">
                <a:solidFill>
                  <a:srgbClr val="0070C0"/>
                </a:solidFill>
              </a:rPr>
              <a:t>You/They </a:t>
            </a:r>
            <a:r>
              <a:rPr lang="en-US" sz="2800" u="sng" dirty="0">
                <a:solidFill>
                  <a:srgbClr val="00B050"/>
                </a:solidFill>
              </a:rPr>
              <a:t>are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sitting.</a:t>
            </a:r>
          </a:p>
          <a:p>
            <a:pPr lvl="2"/>
            <a:r>
              <a:rPr lang="en-US" sz="2800" dirty="0">
                <a:solidFill>
                  <a:srgbClr val="0070C0"/>
                </a:solidFill>
              </a:rPr>
              <a:t>He/She/It </a:t>
            </a:r>
            <a:r>
              <a:rPr lang="en-US" sz="2800" u="sng" dirty="0">
                <a:solidFill>
                  <a:srgbClr val="00B050"/>
                </a:solidFill>
              </a:rPr>
              <a:t>is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sleeping.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1123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</a:t>
            </a:r>
            <a:r>
              <a:rPr lang="zh-TW" altLang="en-US" dirty="0"/>
              <a:t>賓語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5240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direct object </a:t>
            </a:r>
            <a:r>
              <a:rPr lang="zh-TW" altLang="en-US" dirty="0">
                <a:solidFill>
                  <a:srgbClr val="C00000"/>
                </a:solidFill>
              </a:rPr>
              <a:t>直接賓語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en-US" dirty="0"/>
              <a:t>ways to identify direct object</a:t>
            </a:r>
          </a:p>
          <a:p>
            <a:pPr lvl="1"/>
            <a:r>
              <a:rPr lang="en-US" sz="2900" dirty="0"/>
              <a:t>word order</a:t>
            </a:r>
          </a:p>
          <a:p>
            <a:pPr lvl="2"/>
            <a:r>
              <a:rPr lang="en-US" altLang="zh-TW" sz="2900" dirty="0">
                <a:solidFill>
                  <a:srgbClr val="0070C0"/>
                </a:solidFill>
              </a:rPr>
              <a:t>Mary likes </a:t>
            </a:r>
            <a:r>
              <a:rPr lang="en-US" altLang="zh-TW" sz="2900" u="sng" dirty="0">
                <a:solidFill>
                  <a:srgbClr val="00B050"/>
                </a:solidFill>
              </a:rPr>
              <a:t>salad</a:t>
            </a:r>
            <a:r>
              <a:rPr lang="en-US" sz="2900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sz="2900" dirty="0"/>
              <a:t>forms of pronouns</a:t>
            </a:r>
          </a:p>
          <a:p>
            <a:pPr lvl="2"/>
            <a:r>
              <a:rPr lang="en-US" sz="2900" dirty="0">
                <a:solidFill>
                  <a:srgbClr val="0070C0"/>
                </a:solidFill>
              </a:rPr>
              <a:t>She saw </a:t>
            </a:r>
            <a:r>
              <a:rPr lang="en-US" sz="2900" u="sng" dirty="0">
                <a:solidFill>
                  <a:srgbClr val="00B050"/>
                </a:solidFill>
              </a:rPr>
              <a:t>him</a:t>
            </a:r>
            <a:r>
              <a:rPr lang="en-US" sz="2900" dirty="0">
                <a:solidFill>
                  <a:srgbClr val="0070C0"/>
                </a:solidFill>
              </a:rPr>
              <a:t>.</a:t>
            </a:r>
          </a:p>
          <a:p>
            <a:pPr lvl="2"/>
            <a:r>
              <a:rPr lang="en-US" sz="2900" dirty="0"/>
              <a:t>*She saw he.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indirect object </a:t>
            </a:r>
            <a:r>
              <a:rPr lang="zh-TW" altLang="en-US" dirty="0">
                <a:solidFill>
                  <a:srgbClr val="C00000"/>
                </a:solidFill>
              </a:rPr>
              <a:t>間接賓語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en-US" altLang="zh-TW" sz="2900" dirty="0">
                <a:solidFill>
                  <a:srgbClr val="0070C0"/>
                </a:solidFill>
              </a:rPr>
              <a:t>John gave </a:t>
            </a:r>
            <a:r>
              <a:rPr lang="en-US" altLang="zh-TW" sz="2900" u="sng" dirty="0">
                <a:solidFill>
                  <a:srgbClr val="00B050"/>
                </a:solidFill>
              </a:rPr>
              <a:t>Mary</a:t>
            </a:r>
            <a:r>
              <a:rPr lang="en-US" altLang="zh-TW" sz="2900" dirty="0">
                <a:solidFill>
                  <a:srgbClr val="00B050"/>
                </a:solidFill>
              </a:rPr>
              <a:t> </a:t>
            </a:r>
            <a:r>
              <a:rPr lang="en-US" altLang="zh-TW" sz="2900" dirty="0">
                <a:solidFill>
                  <a:srgbClr val="0070C0"/>
                </a:solidFill>
              </a:rPr>
              <a:t>the flowers.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5840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complement </a:t>
            </a:r>
            <a:r>
              <a:rPr lang="zh-TW" altLang="en-US" dirty="0"/>
              <a:t>補語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例子：</a:t>
            </a:r>
            <a:endParaRPr lang="en-US" altLang="zh-TW" sz="3200" dirty="0"/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John is </a:t>
            </a:r>
            <a:r>
              <a:rPr lang="en-US" sz="3200" u="sng" dirty="0">
                <a:solidFill>
                  <a:srgbClr val="00B050"/>
                </a:solidFill>
              </a:rPr>
              <a:t>a teacher</a:t>
            </a:r>
            <a:r>
              <a:rPr lang="en-US" sz="3200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John is </a:t>
            </a:r>
            <a:r>
              <a:rPr lang="en-US" sz="3200" u="sng" dirty="0">
                <a:solidFill>
                  <a:srgbClr val="00B050"/>
                </a:solidFill>
              </a:rPr>
              <a:t>smart</a:t>
            </a:r>
            <a:r>
              <a:rPr lang="en-US" sz="3200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John is </a:t>
            </a:r>
            <a:r>
              <a:rPr lang="en-US" sz="3200" u="sng" dirty="0">
                <a:solidFill>
                  <a:srgbClr val="00B050"/>
                </a:solidFill>
              </a:rPr>
              <a:t>in the garden</a:t>
            </a:r>
            <a:r>
              <a:rPr lang="en-US" sz="3200" dirty="0">
                <a:solidFill>
                  <a:srgbClr val="0070C0"/>
                </a:solidFill>
              </a:rPr>
              <a:t>.</a:t>
            </a:r>
          </a:p>
          <a:p>
            <a:pPr lvl="2"/>
            <a:endParaRPr lang="en-US" altLang="zh-TW" sz="3200" dirty="0"/>
          </a:p>
          <a:p>
            <a:pPr lvl="2"/>
            <a:r>
              <a:rPr lang="en-US" altLang="zh-TW" sz="3200" dirty="0"/>
              <a:t>complement</a:t>
            </a:r>
            <a:r>
              <a:rPr lang="zh-TW" altLang="en-US" sz="3200" dirty="0"/>
              <a:t> </a:t>
            </a:r>
            <a:r>
              <a:rPr lang="en-US" sz="3200" dirty="0"/>
              <a:t>fills the same position as an object; </a:t>
            </a:r>
            <a:r>
              <a:rPr lang="en-US" sz="3200" dirty="0">
                <a:solidFill>
                  <a:srgbClr val="C00000"/>
                </a:solidFill>
              </a:rPr>
              <a:t>refers to the same thing as the subject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16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adjunct </a:t>
            </a:r>
            <a:r>
              <a:rPr lang="zh-TW" altLang="en-US" dirty="0"/>
              <a:t>附加語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 lnSpcReduction="10000"/>
          </a:bodyPr>
          <a:lstStyle/>
          <a:p>
            <a:r>
              <a:rPr lang="zh-TW" altLang="en-US" sz="3200" dirty="0"/>
              <a:t>例子：</a:t>
            </a:r>
            <a:endParaRPr lang="en-US" altLang="zh-HK" sz="3200" dirty="0"/>
          </a:p>
          <a:p>
            <a:pPr lvl="1"/>
            <a:r>
              <a:rPr lang="en-US" altLang="zh-HK" sz="3200" dirty="0">
                <a:solidFill>
                  <a:srgbClr val="0070C0"/>
                </a:solidFill>
              </a:rPr>
              <a:t>He lost his wallet </a:t>
            </a:r>
            <a:r>
              <a:rPr lang="en-US" altLang="zh-HK" sz="3200" u="sng" dirty="0">
                <a:solidFill>
                  <a:srgbClr val="00B050"/>
                </a:solidFill>
              </a:rPr>
              <a:t>yesterday</a:t>
            </a:r>
            <a:r>
              <a:rPr lang="en-US" altLang="zh-HK" sz="3200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altLang="zh-TW" sz="3200" dirty="0">
                <a:solidFill>
                  <a:srgbClr val="0070C0"/>
                </a:solidFill>
              </a:rPr>
              <a:t>I</a:t>
            </a:r>
            <a:r>
              <a:rPr lang="zh-TW" altLang="en-US" sz="3200" dirty="0">
                <a:solidFill>
                  <a:srgbClr val="0070C0"/>
                </a:solidFill>
              </a:rPr>
              <a:t> </a:t>
            </a:r>
            <a:r>
              <a:rPr lang="en-US" altLang="zh-TW" sz="3200" dirty="0">
                <a:solidFill>
                  <a:srgbClr val="0070C0"/>
                </a:solidFill>
              </a:rPr>
              <a:t>will travel </a:t>
            </a:r>
            <a:r>
              <a:rPr lang="en-US" altLang="zh-TW" sz="3200" u="sng" dirty="0">
                <a:solidFill>
                  <a:srgbClr val="00B050"/>
                </a:solidFill>
              </a:rPr>
              <a:t>in the morning</a:t>
            </a:r>
            <a:r>
              <a:rPr lang="en-US" altLang="zh-TW" sz="3200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altLang="zh-HK" sz="3200" dirty="0">
                <a:solidFill>
                  <a:srgbClr val="0070C0"/>
                </a:solidFill>
              </a:rPr>
              <a:t>They will leave </a:t>
            </a:r>
            <a:r>
              <a:rPr lang="en-US" altLang="zh-HK" sz="3200" u="sng" dirty="0">
                <a:solidFill>
                  <a:srgbClr val="00B050"/>
                </a:solidFill>
              </a:rPr>
              <a:t>after they have got the money</a:t>
            </a:r>
            <a:r>
              <a:rPr lang="en-US" altLang="zh-HK" sz="3200" dirty="0">
                <a:solidFill>
                  <a:srgbClr val="0070C0"/>
                </a:solidFill>
              </a:rPr>
              <a:t>.</a:t>
            </a:r>
          </a:p>
          <a:p>
            <a:pPr lvl="2"/>
            <a:endParaRPr lang="en-US" altLang="zh-TW" sz="3200" dirty="0"/>
          </a:p>
          <a:p>
            <a:pPr lvl="2"/>
            <a:r>
              <a:rPr lang="en-US" altLang="zh-TW" sz="3200" dirty="0"/>
              <a:t>adjunct</a:t>
            </a:r>
            <a:r>
              <a:rPr lang="zh-TW" altLang="en-US" sz="3200" dirty="0"/>
              <a:t> </a:t>
            </a:r>
            <a:r>
              <a:rPr lang="en-US" altLang="zh-HK" sz="3200" dirty="0"/>
              <a:t>provides additional circumstantial information </a:t>
            </a:r>
            <a:r>
              <a:rPr lang="zh-TW" altLang="en-US" sz="3200" dirty="0"/>
              <a:t>額外、詳細的資料</a:t>
            </a:r>
            <a:r>
              <a:rPr lang="en-US" altLang="zh-HK" sz="3200" dirty="0"/>
              <a:t>, e.g., the time, location, manner of an action, event or state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15926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structure diagram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70C0"/>
                </a:solidFill>
              </a:rPr>
              <a:t>The girl drank apple juice.</a:t>
            </a:r>
          </a:p>
          <a:p>
            <a:endParaRPr lang="en-US" dirty="0"/>
          </a:p>
          <a:p>
            <a:r>
              <a:rPr lang="en-US" dirty="0"/>
              <a:t>VERB         ‘drink &lt;SUBJECT, OBJECT&gt;’</a:t>
            </a:r>
          </a:p>
          <a:p>
            <a:r>
              <a:rPr lang="en-US" dirty="0"/>
              <a:t>TENSE       PAST</a:t>
            </a:r>
          </a:p>
          <a:p>
            <a:r>
              <a:rPr lang="en-US" dirty="0"/>
              <a:t>SUBJECT   [The girl]</a:t>
            </a:r>
          </a:p>
          <a:p>
            <a:r>
              <a:rPr lang="en-US" dirty="0"/>
              <a:t>OBJECT    [apple juice] </a:t>
            </a:r>
          </a:p>
        </p:txBody>
      </p:sp>
      <p:sp>
        <p:nvSpPr>
          <p:cNvPr id="8" name="Left Bracket 7"/>
          <p:cNvSpPr/>
          <p:nvPr/>
        </p:nvSpPr>
        <p:spPr>
          <a:xfrm>
            <a:off x="990600" y="2743200"/>
            <a:ext cx="45719" cy="2057400"/>
          </a:xfrm>
          <a:prstGeom prst="lef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ket 8"/>
          <p:cNvSpPr/>
          <p:nvPr/>
        </p:nvSpPr>
        <p:spPr>
          <a:xfrm>
            <a:off x="6888481" y="2819400"/>
            <a:ext cx="45719" cy="1981200"/>
          </a:xfrm>
          <a:prstGeom prst="righ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29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語義和句子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在句法上，部分的語言學家都還是以組合理論 </a:t>
            </a:r>
            <a:r>
              <a:rPr lang="en-US" altLang="zh-TW" dirty="0"/>
              <a:t>compositional theory</a:t>
            </a:r>
            <a:r>
              <a:rPr lang="zh-TW" altLang="en-US" dirty="0"/>
              <a:t> 為基礎，定了以下的語義組合原則 </a:t>
            </a:r>
            <a:r>
              <a:rPr lang="en-US" altLang="zh-TW" dirty="0"/>
              <a:t>principle of compositionality</a:t>
            </a:r>
            <a:r>
              <a:rPr lang="zh-TW" altLang="en-US" dirty="0"/>
              <a:t>：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「句子的語義取決於句子內部的句法結構和句法單位」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例子（句子結構見下頁）：</a:t>
            </a:r>
            <a:endParaRPr lang="en-US" altLang="zh-TW" dirty="0"/>
          </a:p>
          <a:p>
            <a:r>
              <a:rPr lang="en-US" altLang="zh-TW" dirty="0">
                <a:solidFill>
                  <a:srgbClr val="0070C0"/>
                </a:solidFill>
              </a:rPr>
              <a:t>John killed the mad dog.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The mad dog killed John.</a:t>
            </a:r>
          </a:p>
          <a:p>
            <a:endParaRPr lang="en-US" altLang="zh-HK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260125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語義和句子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句子結構一樣，主詞不同，賓語不同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句法上的內部結構成分不同，使得兩句的語義不同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HK" dirty="0"/>
          </a:p>
          <a:p>
            <a:endParaRPr lang="zh-HK" altLang="en-US" dirty="0"/>
          </a:p>
        </p:txBody>
      </p:sp>
      <p:pic>
        <p:nvPicPr>
          <p:cNvPr id="1026" name="Picture 2" descr="C:\Wingli\Files\Windows 7\Desktop\John kille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90799"/>
            <a:ext cx="3505200" cy="273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Wingli\Files\Windows 7\Desktop\The mad dog kille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698146"/>
            <a:ext cx="3737118" cy="263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240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結構和語義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/>
          </a:bodyPr>
          <a:lstStyle/>
          <a:p>
            <a:r>
              <a:rPr lang="zh-TW" altLang="en-US" dirty="0"/>
              <a:t>以結構來論，最可能影響語義的是歧義結構</a:t>
            </a:r>
            <a:r>
              <a:rPr lang="en-US" dirty="0"/>
              <a:t>ambiguous structure</a:t>
            </a:r>
            <a:r>
              <a:rPr lang="zh-TW" altLang="en-US" dirty="0"/>
              <a:t>：一個句子具有多於一個結構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nice-looking cups and glasses</a:t>
            </a:r>
          </a:p>
          <a:p>
            <a:pPr lvl="1"/>
            <a:r>
              <a:rPr lang="en-US" dirty="0"/>
              <a:t>[nice-looking cups] and glasses</a:t>
            </a:r>
          </a:p>
          <a:p>
            <a:pPr lvl="1"/>
            <a:r>
              <a:rPr lang="en-US" dirty="0"/>
              <a:t>nice-looking [cups and glasses]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aseline="-25000" dirty="0"/>
          </a:p>
        </p:txBody>
      </p:sp>
      <p:pic>
        <p:nvPicPr>
          <p:cNvPr id="2050" name="Picture 2" descr="C:\Wingli\Files\Windows 7\Desktop\nice-looking 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611007"/>
            <a:ext cx="3352800" cy="207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Wingli\Files\Windows 7\Desktop\nice-looking 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586997"/>
            <a:ext cx="3200400" cy="20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1711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結構和語義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5105400"/>
          </a:xfrm>
        </p:spPr>
        <p:txBody>
          <a:bodyPr>
            <a:normAutofit lnSpcReduction="10000"/>
          </a:bodyPr>
          <a:lstStyle/>
          <a:p>
            <a:r>
              <a:rPr lang="en-US" altLang="zh-HK" dirty="0">
                <a:solidFill>
                  <a:srgbClr val="0070C0"/>
                </a:solidFill>
              </a:rPr>
              <a:t>We need more intelligent teachers.</a:t>
            </a:r>
          </a:p>
          <a:p>
            <a:r>
              <a:rPr lang="en-US" altLang="zh-HK" dirty="0"/>
              <a:t>[[more intelligent]</a:t>
            </a:r>
            <a:r>
              <a:rPr lang="en-US" altLang="zh-HK" baseline="-25000" dirty="0" err="1">
                <a:solidFill>
                  <a:srgbClr val="C00000"/>
                </a:solidFill>
              </a:rPr>
              <a:t>AdjP</a:t>
            </a:r>
            <a:r>
              <a:rPr lang="en-US" altLang="zh-HK" dirty="0"/>
              <a:t> teachers]</a:t>
            </a:r>
            <a:r>
              <a:rPr lang="en-US" altLang="zh-HK" baseline="-25000" dirty="0">
                <a:solidFill>
                  <a:srgbClr val="00B050"/>
                </a:solidFill>
              </a:rPr>
              <a:t>NP</a:t>
            </a:r>
          </a:p>
          <a:p>
            <a:r>
              <a:rPr lang="en-US" altLang="zh-HK" dirty="0"/>
              <a:t>[[more [intelligent teachers]</a:t>
            </a:r>
            <a:r>
              <a:rPr lang="en-US" altLang="zh-HK" baseline="-25000" dirty="0">
                <a:solidFill>
                  <a:srgbClr val="00B050"/>
                </a:solidFill>
              </a:rPr>
              <a:t>NP</a:t>
            </a:r>
            <a:r>
              <a:rPr lang="en-US" altLang="zh-HK" dirty="0"/>
              <a:t>]</a:t>
            </a:r>
            <a:r>
              <a:rPr lang="en-US" altLang="zh-HK" baseline="-25000" dirty="0">
                <a:solidFill>
                  <a:srgbClr val="00B050"/>
                </a:solidFill>
              </a:rPr>
              <a:t>NP</a:t>
            </a:r>
            <a:endParaRPr lang="en-US" altLang="zh-HK" dirty="0">
              <a:solidFill>
                <a:srgbClr val="00B050"/>
              </a:solidFill>
            </a:endParaRPr>
          </a:p>
          <a:p>
            <a:endParaRPr lang="en-US" altLang="zh-HK" dirty="0"/>
          </a:p>
          <a:p>
            <a:r>
              <a:rPr lang="en-US" altLang="zh-HK" dirty="0">
                <a:solidFill>
                  <a:srgbClr val="0070C0"/>
                </a:solidFill>
              </a:rPr>
              <a:t>I saw a man with a telescope.</a:t>
            </a:r>
          </a:p>
          <a:p>
            <a:r>
              <a:rPr lang="zh-TW" altLang="en-US" dirty="0"/>
              <a:t>用望遠鏡看</a:t>
            </a:r>
            <a:endParaRPr lang="en-US" altLang="zh-TW" dirty="0"/>
          </a:p>
          <a:p>
            <a:r>
              <a:rPr lang="zh-TW" altLang="en-US" dirty="0"/>
              <a:t>有望遠鏡的男人</a:t>
            </a:r>
            <a:endParaRPr lang="en-US" altLang="zh-HK" dirty="0"/>
          </a:p>
          <a:p>
            <a:r>
              <a:rPr lang="en-US" altLang="zh-HK" dirty="0">
                <a:solidFill>
                  <a:srgbClr val="0070C0"/>
                </a:solidFill>
              </a:rPr>
              <a:t>John hit the man with a stick.</a:t>
            </a:r>
          </a:p>
          <a:p>
            <a:r>
              <a:rPr lang="zh-TW" altLang="en-US" dirty="0"/>
              <a:t>用棒子打</a:t>
            </a:r>
            <a:endParaRPr lang="en-US" altLang="zh-TW" dirty="0"/>
          </a:p>
          <a:p>
            <a:r>
              <a:rPr lang="zh-TW" altLang="en-US" dirty="0"/>
              <a:t>有棒子的男人</a:t>
            </a:r>
            <a:endParaRPr lang="en-US" altLang="zh-HK" dirty="0"/>
          </a:p>
          <a:p>
            <a:endParaRPr lang="en-US" altLang="zh-HK" dirty="0">
              <a:solidFill>
                <a:srgbClr val="0070C0"/>
              </a:solidFill>
            </a:endParaRP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57367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結構和語義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029200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問題：</a:t>
            </a:r>
            <a:r>
              <a:rPr lang="en-US" sz="3200" i="1" dirty="0">
                <a:solidFill>
                  <a:srgbClr val="0070C0"/>
                </a:solidFill>
              </a:rPr>
              <a:t>Put the box on the table by the window in the kitchen.</a:t>
            </a:r>
            <a:r>
              <a:rPr lang="zh-TW" altLang="en-US" sz="3200" dirty="0">
                <a:solidFill>
                  <a:srgbClr val="0070C0"/>
                </a:solidFill>
              </a:rPr>
              <a:t> </a:t>
            </a:r>
            <a:r>
              <a:rPr lang="zh-TW" altLang="en-US" sz="3200" dirty="0"/>
              <a:t>可以有哪些意思？</a:t>
            </a:r>
            <a:endParaRPr lang="en-US" altLang="zh-TW" sz="3200" dirty="0"/>
          </a:p>
          <a:p>
            <a:r>
              <a:rPr lang="en-US" altLang="zh-TW" sz="3200" dirty="0"/>
              <a:t>Put </a:t>
            </a:r>
            <a:r>
              <a:rPr lang="en-US" altLang="zh-TW" sz="3200" dirty="0">
                <a:solidFill>
                  <a:srgbClr val="C00000"/>
                </a:solidFill>
              </a:rPr>
              <a:t>the box </a:t>
            </a:r>
            <a:r>
              <a:rPr lang="en-US" altLang="zh-TW" sz="3200" dirty="0"/>
              <a:t>onto </a:t>
            </a:r>
            <a:r>
              <a:rPr lang="en-US" altLang="zh-TW" sz="3200" u="sng" dirty="0">
                <a:solidFill>
                  <a:srgbClr val="00B050"/>
                </a:solidFill>
              </a:rPr>
              <a:t>the table</a:t>
            </a:r>
            <a:r>
              <a:rPr lang="en-US" altLang="zh-TW" sz="3200" dirty="0">
                <a:solidFill>
                  <a:srgbClr val="00B050"/>
                </a:solidFill>
              </a:rPr>
              <a:t> that is by the window in the kitchen</a:t>
            </a:r>
            <a:r>
              <a:rPr lang="en-US" altLang="zh-TW" sz="3200" dirty="0"/>
              <a:t>.</a:t>
            </a:r>
          </a:p>
          <a:p>
            <a:r>
              <a:rPr lang="en-US" altLang="zh-TW" sz="3200" dirty="0"/>
              <a:t>Take </a:t>
            </a:r>
            <a:r>
              <a:rPr lang="en-US" altLang="zh-TW" sz="3200" dirty="0">
                <a:solidFill>
                  <a:srgbClr val="C00000"/>
                </a:solidFill>
              </a:rPr>
              <a:t>the box that is on the table</a:t>
            </a:r>
            <a:r>
              <a:rPr lang="en-US" altLang="zh-TW" sz="3200" dirty="0"/>
              <a:t> and put it by </a:t>
            </a:r>
            <a:r>
              <a:rPr lang="en-US" altLang="zh-TW" sz="3200" u="sng" dirty="0">
                <a:solidFill>
                  <a:srgbClr val="00B050"/>
                </a:solidFill>
              </a:rPr>
              <a:t>the window</a:t>
            </a:r>
            <a:r>
              <a:rPr lang="en-US" altLang="zh-TW" sz="3200" dirty="0">
                <a:solidFill>
                  <a:srgbClr val="00B050"/>
                </a:solidFill>
              </a:rPr>
              <a:t> in the kitchen</a:t>
            </a:r>
            <a:r>
              <a:rPr lang="en-US" altLang="zh-TW" sz="3200" dirty="0"/>
              <a:t>.</a:t>
            </a:r>
          </a:p>
          <a:p>
            <a:r>
              <a:rPr lang="en-US" altLang="zh-TW" sz="3200" dirty="0"/>
              <a:t>Take </a:t>
            </a:r>
            <a:r>
              <a:rPr lang="en-US" altLang="zh-TW" sz="3200" dirty="0">
                <a:solidFill>
                  <a:srgbClr val="C00000"/>
                </a:solidFill>
              </a:rPr>
              <a:t>the box</a:t>
            </a:r>
            <a:r>
              <a:rPr lang="en-US" altLang="zh-TW" sz="3200" dirty="0"/>
              <a:t> </a:t>
            </a:r>
            <a:r>
              <a:rPr lang="en-US" altLang="zh-TW" sz="3200" dirty="0">
                <a:solidFill>
                  <a:srgbClr val="C00000"/>
                </a:solidFill>
              </a:rPr>
              <a:t>that is on the table</a:t>
            </a:r>
            <a:r>
              <a:rPr lang="en-US" altLang="zh-TW" sz="3200" dirty="0"/>
              <a:t> </a:t>
            </a:r>
            <a:r>
              <a:rPr lang="en-US" altLang="zh-TW" sz="3200" dirty="0">
                <a:solidFill>
                  <a:srgbClr val="C00000"/>
                </a:solidFill>
              </a:rPr>
              <a:t>that is by the window</a:t>
            </a:r>
            <a:r>
              <a:rPr lang="en-US" altLang="zh-TW" sz="3200" dirty="0"/>
              <a:t> and put it in </a:t>
            </a:r>
            <a:r>
              <a:rPr lang="en-US" altLang="zh-TW" sz="3200" u="sng" dirty="0">
                <a:solidFill>
                  <a:srgbClr val="00B050"/>
                </a:solidFill>
              </a:rPr>
              <a:t>the kitchen</a:t>
            </a:r>
            <a:r>
              <a:rPr lang="en-US" altLang="zh-TW" sz="3200" dirty="0"/>
              <a:t>.</a:t>
            </a:r>
          </a:p>
          <a:p>
            <a:endParaRPr lang="en-US" altLang="zh-TW" sz="3200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36350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心理辭典 </a:t>
            </a:r>
            <a:r>
              <a:rPr lang="en-US" altLang="zh-TW" dirty="0"/>
              <a:t>mental lexicon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40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altLang="zh-TW" sz="3400" dirty="0"/>
          </a:p>
          <a:p>
            <a:r>
              <a:rPr lang="zh-TW" altLang="en-US" sz="34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現代語言學理論認為，每個單詞都儲存在我們的心理辭典 </a:t>
            </a:r>
            <a:r>
              <a:rPr lang="en-US" altLang="zh-TW" sz="34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mental lexicon</a:t>
            </a:r>
            <a:r>
              <a:rPr lang="zh-TW" altLang="en-US" sz="34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之中，而且在心理辭典裏的每個單詞，不但包括了該詞的語音、語義，還包括了詞的類別和次分類</a:t>
            </a:r>
            <a:endParaRPr lang="zh-HK" altLang="en-US" sz="3400" dirty="0"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6309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再看詞的次分類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41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5105400"/>
          </a:xfrm>
        </p:spPr>
        <p:txBody>
          <a:bodyPr>
            <a:normAutofit/>
          </a:bodyPr>
          <a:lstStyle/>
          <a:p>
            <a:r>
              <a:rPr lang="zh-TW" altLang="en-US" dirty="0"/>
              <a:t>動詞</a:t>
            </a:r>
            <a:endParaRPr lang="en-US" altLang="zh-HK" dirty="0"/>
          </a:p>
          <a:p>
            <a:pPr lvl="1"/>
            <a:r>
              <a:rPr lang="en-US" altLang="zh-HK" dirty="0"/>
              <a:t>smile, V, __		</a:t>
            </a:r>
            <a:r>
              <a:rPr lang="en-US" altLang="zh-TW" dirty="0"/>
              <a:t>	</a:t>
            </a:r>
            <a:r>
              <a:rPr lang="zh-TW" altLang="en-US" dirty="0"/>
              <a:t>其後不必接其他詞語</a:t>
            </a:r>
            <a:endParaRPr lang="en-US" altLang="zh-TW" dirty="0"/>
          </a:p>
          <a:p>
            <a:pPr lvl="2"/>
            <a:r>
              <a:rPr lang="en-US" altLang="zh-TW" dirty="0"/>
              <a:t>She smiles.</a:t>
            </a:r>
          </a:p>
          <a:p>
            <a:pPr lvl="1"/>
            <a:r>
              <a:rPr lang="en-US" altLang="zh-HK" dirty="0"/>
              <a:t>become, V, _</a:t>
            </a:r>
            <a:r>
              <a:rPr lang="en-US" altLang="zh-TW" dirty="0"/>
              <a:t>_</a:t>
            </a:r>
            <a:r>
              <a:rPr lang="en-US" altLang="zh-HK" dirty="0"/>
              <a:t>NP, __</a:t>
            </a:r>
            <a:r>
              <a:rPr lang="en-US" altLang="zh-HK" dirty="0" err="1"/>
              <a:t>AdjP</a:t>
            </a:r>
            <a:r>
              <a:rPr lang="en-US" altLang="zh-TW" dirty="0"/>
              <a:t>	</a:t>
            </a:r>
            <a:r>
              <a:rPr lang="zh-TW" altLang="en-US" dirty="0"/>
              <a:t>其後必須接</a:t>
            </a:r>
            <a:r>
              <a:rPr lang="en-US" altLang="zh-TW" dirty="0"/>
              <a:t>NP</a:t>
            </a:r>
            <a:r>
              <a:rPr lang="zh-TW" altLang="en-US" dirty="0"/>
              <a:t>或</a:t>
            </a:r>
            <a:r>
              <a:rPr lang="en-US" altLang="zh-TW" dirty="0" err="1"/>
              <a:t>AdjP</a:t>
            </a:r>
            <a:endParaRPr lang="en-US" altLang="zh-TW" dirty="0"/>
          </a:p>
          <a:p>
            <a:pPr lvl="2"/>
            <a:r>
              <a:rPr lang="en-US" altLang="zh-TW" dirty="0"/>
              <a:t>She became a teacher. / She became rich.</a:t>
            </a:r>
          </a:p>
          <a:p>
            <a:pPr lvl="1"/>
            <a:r>
              <a:rPr lang="en-US" altLang="zh-HK" dirty="0"/>
              <a:t>buy, V __ NP			</a:t>
            </a:r>
            <a:r>
              <a:rPr lang="zh-TW" altLang="en-US" dirty="0"/>
              <a:t>其後必須接個</a:t>
            </a:r>
            <a:r>
              <a:rPr lang="en-US" altLang="zh-TW" dirty="0"/>
              <a:t>NP</a:t>
            </a:r>
          </a:p>
          <a:p>
            <a:pPr lvl="2"/>
            <a:r>
              <a:rPr lang="en-US" altLang="zh-TW" dirty="0"/>
              <a:t>She bought a computer.</a:t>
            </a:r>
          </a:p>
          <a:p>
            <a:pPr lvl="1"/>
            <a:r>
              <a:rPr lang="en-US" altLang="zh-HK" dirty="0"/>
              <a:t>consider, V __ NP </a:t>
            </a:r>
            <a:r>
              <a:rPr lang="en-US" altLang="zh-HK" dirty="0" err="1"/>
              <a:t>AdjP</a:t>
            </a:r>
            <a:r>
              <a:rPr lang="en-US" altLang="zh-HK" dirty="0"/>
              <a:t>	</a:t>
            </a:r>
            <a:r>
              <a:rPr lang="zh-TW" altLang="en-US" dirty="0"/>
              <a:t>其後必須接個 </a:t>
            </a:r>
            <a:r>
              <a:rPr lang="en-US" altLang="zh-TW" dirty="0"/>
              <a:t>NP </a:t>
            </a:r>
            <a:r>
              <a:rPr lang="zh-TW" altLang="en-US" dirty="0"/>
              <a:t>和 </a:t>
            </a:r>
            <a:r>
              <a:rPr lang="en-US" altLang="zh-TW" dirty="0" err="1"/>
              <a:t>AdjP</a:t>
            </a:r>
            <a:endParaRPr lang="en-US" altLang="zh-TW" dirty="0"/>
          </a:p>
          <a:p>
            <a:pPr lvl="2"/>
            <a:r>
              <a:rPr lang="en-US" altLang="zh-HK" dirty="0"/>
              <a:t>She considered this arrangement good.</a:t>
            </a:r>
          </a:p>
          <a:p>
            <a:pPr lvl="1"/>
            <a:r>
              <a:rPr lang="en-US" altLang="zh-HK" dirty="0"/>
              <a:t>give, V, __ NP </a:t>
            </a:r>
            <a:r>
              <a:rPr lang="en-US" altLang="zh-HK" dirty="0" err="1"/>
              <a:t>NP</a:t>
            </a:r>
            <a:r>
              <a:rPr lang="en-US" altLang="zh-HK" dirty="0"/>
              <a:t>		</a:t>
            </a:r>
            <a:r>
              <a:rPr lang="zh-TW" altLang="en-US" dirty="0"/>
              <a:t>其後必須接兩個 </a:t>
            </a:r>
            <a:r>
              <a:rPr lang="en-US" altLang="zh-TW" dirty="0"/>
              <a:t>NP</a:t>
            </a:r>
          </a:p>
          <a:p>
            <a:pPr lvl="2"/>
            <a:r>
              <a:rPr lang="en-US" altLang="zh-HK" dirty="0"/>
              <a:t>She gave me the book.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1527767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再看詞的次分類</a:t>
            </a:r>
            <a:endParaRPr lang="zh-HK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42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形容詞</a:t>
            </a:r>
            <a:endParaRPr lang="en-US" altLang="zh-TW" dirty="0"/>
          </a:p>
          <a:p>
            <a:pPr lvl="1"/>
            <a:r>
              <a:rPr lang="en-US" altLang="zh-HK" dirty="0"/>
              <a:t>fond, </a:t>
            </a:r>
            <a:r>
              <a:rPr lang="en-US" altLang="zh-HK" dirty="0" err="1"/>
              <a:t>Adj</a:t>
            </a:r>
            <a:r>
              <a:rPr lang="en-US" altLang="zh-HK" dirty="0"/>
              <a:t> __ PP			</a:t>
            </a:r>
            <a:r>
              <a:rPr lang="zh-TW" altLang="en-US" dirty="0"/>
              <a:t>其後必須接一個</a:t>
            </a:r>
            <a:r>
              <a:rPr lang="en-US" altLang="zh-TW" dirty="0"/>
              <a:t>PP</a:t>
            </a:r>
            <a:endParaRPr lang="en-US" altLang="zh-HK" dirty="0"/>
          </a:p>
          <a:p>
            <a:pPr lvl="2"/>
            <a:r>
              <a:rPr lang="en-US" altLang="zh-HK" dirty="0"/>
              <a:t>She is fond of movies.</a:t>
            </a:r>
          </a:p>
          <a:p>
            <a:pPr lvl="2"/>
            <a:r>
              <a:rPr lang="en-US" altLang="zh-HK" dirty="0"/>
              <a:t>She is fond of reading.</a:t>
            </a:r>
          </a:p>
          <a:p>
            <a:pPr lvl="2"/>
            <a:r>
              <a:rPr lang="en-US" altLang="zh-HK" dirty="0"/>
              <a:t>*She is fond of.</a:t>
            </a:r>
          </a:p>
          <a:p>
            <a:pPr lvl="2"/>
            <a:r>
              <a:rPr lang="en-US" altLang="zh-HK" dirty="0"/>
              <a:t>*She is fond.</a:t>
            </a:r>
          </a:p>
          <a:p>
            <a:r>
              <a:rPr lang="zh-TW" altLang="en-US" dirty="0"/>
              <a:t>有了詞類和次分類的觀念，我們可以從中發現世界語言在句法結構上的相似性及共通性</a:t>
            </a:r>
            <a:endParaRPr lang="en-US" altLang="zh-TW" dirty="0"/>
          </a:p>
          <a:p>
            <a:pPr lvl="1"/>
            <a:r>
              <a:rPr lang="zh-TW" altLang="en-US" dirty="0"/>
              <a:t>例如中文的「死」和英文的「</a:t>
            </a:r>
            <a:r>
              <a:rPr lang="en-US" altLang="zh-TW" dirty="0"/>
              <a:t>die</a:t>
            </a:r>
            <a:r>
              <a:rPr lang="zh-TW" altLang="en-US" dirty="0"/>
              <a:t>」其後都不能接</a:t>
            </a:r>
            <a:r>
              <a:rPr lang="en-US" altLang="zh-TW" dirty="0"/>
              <a:t>NP</a:t>
            </a:r>
          </a:p>
          <a:p>
            <a:pPr lvl="1"/>
            <a:r>
              <a:rPr lang="zh-TW" altLang="en-US" dirty="0"/>
              <a:t>另外，這觀念可以解釋為何某些句子不合語法</a:t>
            </a:r>
            <a:endParaRPr lang="en-US" altLang="zh-TW" dirty="0"/>
          </a:p>
          <a:p>
            <a:pPr lvl="2"/>
            <a:r>
              <a:rPr lang="en-US" altLang="zh-TW" dirty="0"/>
              <a:t>e.g., *John cries a book</a:t>
            </a:r>
          </a:p>
          <a:p>
            <a:endParaRPr lang="en-US" altLang="zh-HK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456085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HK" dirty="0"/>
              <a:t>43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詞類和次分類功能的界定：</a:t>
            </a:r>
            <a:endParaRPr lang="en-US" altLang="zh-TW" sz="3200" dirty="0"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lvl="1"/>
            <a:endParaRPr lang="en-US" altLang="zh-TW" sz="3200" dirty="0"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lvl="1"/>
            <a:r>
              <a:rPr lang="zh-TW" altLang="en-US" sz="32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一方面顯示我們的心理辭典掌握單詞儲存順序及方式</a:t>
            </a:r>
            <a:endParaRPr lang="en-US" altLang="zh-TW" sz="3200" dirty="0"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lvl="1"/>
            <a:endParaRPr lang="en-US" altLang="zh-TW" sz="3200" dirty="0"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lvl="1"/>
            <a:r>
              <a:rPr lang="zh-TW" altLang="en-US" sz="3200" dirty="0">
                <a:latin typeface="Arial" panose="020B060402020202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另一方面，幫助我們解釋為何某些句子是不可能產生的</a:t>
            </a:r>
            <a:endParaRPr lang="zh-HK" altLang="en-US" sz="3200" dirty="0">
              <a:latin typeface="Arial" panose="020B0604020202020204" pitchFamily="34" charset="0"/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20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5728</TotalTime>
  <Words>2386</Words>
  <PresentationFormat>On-screen Show (4:3)</PresentationFormat>
  <Paragraphs>411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Wingdings 2</vt:lpstr>
      <vt:lpstr>Wingdings</vt:lpstr>
      <vt:lpstr>Times New Roman</vt:lpstr>
      <vt:lpstr>Tw Cen MT</vt:lpstr>
      <vt:lpstr>Arial</vt:lpstr>
      <vt:lpstr>Calibri</vt:lpstr>
      <vt:lpstr>Median</vt:lpstr>
      <vt:lpstr>CBS1A01P Fun with Language</vt:lpstr>
      <vt:lpstr>本課題目</vt:lpstr>
      <vt:lpstr>語法</vt:lpstr>
      <vt:lpstr>語法</vt:lpstr>
      <vt:lpstr>語法</vt:lpstr>
      <vt:lpstr>performance vs. competence</vt:lpstr>
      <vt:lpstr>performance vs. competence</vt:lpstr>
      <vt:lpstr>語法</vt:lpstr>
      <vt:lpstr>句子</vt:lpstr>
      <vt:lpstr>句子</vt:lpstr>
      <vt:lpstr>句子</vt:lpstr>
      <vt:lpstr>合乎語法 grammaticality</vt:lpstr>
      <vt:lpstr>詞類 word class</vt:lpstr>
      <vt:lpstr>詞的次分類</vt:lpstr>
      <vt:lpstr>詞的次分類</vt:lpstr>
      <vt:lpstr>句法成分 constituents</vt:lpstr>
      <vt:lpstr>句法成分 constituents</vt:lpstr>
      <vt:lpstr>句法成分 constituents</vt:lpstr>
      <vt:lpstr>句法成分 constituents</vt:lpstr>
      <vt:lpstr>句法成分 constituents</vt:lpstr>
      <vt:lpstr>詞組 phrases；詞組的結構和特性</vt:lpstr>
      <vt:lpstr>核心詞 heads (of phrases)</vt:lpstr>
      <vt:lpstr>詞組</vt:lpstr>
      <vt:lpstr>詞組</vt:lpstr>
      <vt:lpstr>兩種表達句法成分關係的方法</vt:lpstr>
      <vt:lpstr>樹狀結構 tree structure / tree diagram</vt:lpstr>
      <vt:lpstr>兩種表達句法成分關係的方法</vt:lpstr>
      <vt:lpstr>語法功能 / 語法關係</vt:lpstr>
      <vt:lpstr>subject 主語</vt:lpstr>
      <vt:lpstr>object 賓語</vt:lpstr>
      <vt:lpstr>complement 補語</vt:lpstr>
      <vt:lpstr>adjunct 附加語</vt:lpstr>
      <vt:lpstr>functional structure diagram</vt:lpstr>
      <vt:lpstr>語義和句子</vt:lpstr>
      <vt:lpstr>語義和句子</vt:lpstr>
      <vt:lpstr>結構和語義</vt:lpstr>
      <vt:lpstr>結構和語義</vt:lpstr>
      <vt:lpstr>結構和語義</vt:lpstr>
      <vt:lpstr>心理辭典 mental lexicon</vt:lpstr>
      <vt:lpstr>再看詞的次分類</vt:lpstr>
      <vt:lpstr>再看詞的次分類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terms:modified xsi:type="dcterms:W3CDTF">2023-09-28T15:11:07Z</dcterms:modified>
</cp:coreProperties>
</file>
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64" r:id="rId1"/>
  </p:sldMasterIdLst>
  <p:notesMasterIdLst>
    <p:notesMasterId r:id="rId43"/>
  </p:notesMasterIdLst>
  <p:handoutMasterIdLst>
    <p:handoutMasterId r:id="rId44"/>
  </p:handoutMasterIdLst>
  <p:sldIdLst>
    <p:sldId id="269" r:id="rId2"/>
    <p:sldId id="488" r:id="rId3"/>
    <p:sldId id="487" r:id="rId4"/>
    <p:sldId id="489" r:id="rId5"/>
    <p:sldId id="388" r:id="rId6"/>
    <p:sldId id="471" r:id="rId7"/>
    <p:sldId id="390" r:id="rId8"/>
    <p:sldId id="492" r:id="rId9"/>
    <p:sldId id="456" r:id="rId10"/>
    <p:sldId id="316" r:id="rId11"/>
    <p:sldId id="442" r:id="rId12"/>
    <p:sldId id="329" r:id="rId13"/>
    <p:sldId id="394" r:id="rId14"/>
    <p:sldId id="396" r:id="rId15"/>
    <p:sldId id="490" r:id="rId16"/>
    <p:sldId id="446" r:id="rId17"/>
    <p:sldId id="445" r:id="rId18"/>
    <p:sldId id="491" r:id="rId19"/>
    <p:sldId id="448" r:id="rId20"/>
    <p:sldId id="461" r:id="rId21"/>
    <p:sldId id="458" r:id="rId22"/>
    <p:sldId id="330" r:id="rId23"/>
    <p:sldId id="482" r:id="rId24"/>
    <p:sldId id="392" r:id="rId25"/>
    <p:sldId id="332" r:id="rId26"/>
    <p:sldId id="341" r:id="rId27"/>
    <p:sldId id="398" r:id="rId28"/>
    <p:sldId id="335" r:id="rId29"/>
    <p:sldId id="406" r:id="rId30"/>
    <p:sldId id="407" r:id="rId31"/>
    <p:sldId id="420" r:id="rId32"/>
    <p:sldId id="408" r:id="rId33"/>
    <p:sldId id="409" r:id="rId34"/>
    <p:sldId id="338" r:id="rId35"/>
    <p:sldId id="339" r:id="rId36"/>
    <p:sldId id="483" r:id="rId37"/>
    <p:sldId id="410" r:id="rId38"/>
    <p:sldId id="481" r:id="rId39"/>
    <p:sldId id="449" r:id="rId40"/>
    <p:sldId id="450" r:id="rId41"/>
    <p:sldId id="439" r:id="rId42"/>
  </p:sldIdLst>
  <p:sldSz cx="9144000" cy="6858000" type="screen4x3"/>
  <p:notesSz cx="6858000" cy="9144000"/>
  <p:embeddedFontLst>
    <p:embeddedFont>
      <p:font typeface="Franklin Gothic Book" panose="020B0503020102020204" pitchFamily="34" charset="0"/>
      <p:regular r:id="rId45"/>
      <p:italic r:id="rId46"/>
    </p:embeddedFont>
    <p:embeddedFont>
      <p:font typeface="Garamond" panose="02020404030301010803" pitchFamily="18" charset="0"/>
      <p:regular r:id="rId47"/>
      <p:bold r:id="rId48"/>
      <p:italic r:id="rId49"/>
    </p:embeddedFont>
    <p:embeddedFont>
      <p:font typeface="Gill Sans MT" panose="020B0502020104020203" pitchFamily="34" charset="0"/>
      <p:regular r:id="rId50"/>
      <p:bold r:id="rId51"/>
      <p:italic r:id="rId52"/>
      <p:boldItalic r:id="rId53"/>
    </p:embeddedFont>
    <p:embeddedFont>
      <p:font typeface="KaiTi" panose="02010609060101010101" pitchFamily="49" charset="-122"/>
      <p:regular r:id="rId54"/>
    </p:embeddedFont>
    <p:embeddedFont>
      <p:font typeface="PMingLiU" panose="02020500000000000000" pitchFamily="18" charset="-120"/>
      <p:regular r:id="rId55"/>
    </p:embeddedFont>
    <p:embeddedFont>
      <p:font typeface="PMingLiU" panose="02020500000000000000" pitchFamily="18" charset="-120"/>
      <p:regular r:id="rId55"/>
    </p:embeddedFont>
    <p:embeddedFont>
      <p:font typeface="Verdana" panose="020B0604030504040204" pitchFamily="34" charset="0"/>
      <p:regular r:id="rId56"/>
      <p:bold r:id="rId57"/>
      <p:italic r:id="rId58"/>
      <p:boldItalic r:id="rId59"/>
    </p:embeddedFont>
    <p:embeddedFont>
      <p:font typeface="Wingdings 2" panose="05020102010507070707" pitchFamily="18" charset="2"/>
      <p:regular r:id="rId60"/>
    </p:embeddedFont>
  </p:embeddedFont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260C"/>
    <a:srgbClr val="B51757"/>
    <a:srgbClr val="F88C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21" autoAdjust="0"/>
    <p:restoredTop sz="90929"/>
  </p:normalViewPr>
  <p:slideViewPr>
    <p:cSldViewPr>
      <p:cViewPr varScale="1">
        <p:scale>
          <a:sx n="80" d="100"/>
          <a:sy n="80" d="100"/>
        </p:scale>
        <p:origin x="137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0DC355-34C0-4A7D-BAF3-6B21DE27CB3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0B3711E-19CB-48D1-B084-76D874C6B4F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490A231-4894-4650-8591-5E220D24C61B}" type="slidenum">
              <a:rPr lang="zh-TW" altLang="en-US" smtClean="0"/>
              <a:pPr>
                <a:spcBef>
                  <a:spcPct val="0"/>
                </a:spcBef>
              </a:pPr>
              <a:t>13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11A6163D-431F-47D2-AF43-0A3099059187}" type="slidenum">
              <a:rPr lang="zh-TW" altLang="en-US" sz="1200" smtClean="0">
                <a:latin typeface="Times New Roman" panose="02020603050405020304" pitchFamily="18" charset="0"/>
              </a:rPr>
              <a:pPr/>
              <a:t>21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zh-HK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3F741F-6041-40A8-85F5-7FBF8B572824}" type="slidenum">
              <a:rPr lang="zh-HK" altLang="en-US" smtClean="0">
                <a:latin typeface="Calibri" panose="020F0502020204030204" pitchFamily="34" charset="0"/>
              </a:rPr>
              <a:pPr>
                <a:spcBef>
                  <a:spcPct val="0"/>
                </a:spcBef>
              </a:pPr>
              <a:t>26</a:t>
            </a:fld>
            <a:endParaRPr lang="zh-HK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HK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7FD8CA-6861-4084-8A50-264B30B5E515}" type="slidenum">
              <a:rPr lang="zh-HK" altLang="en-US" smtClean="0">
                <a:latin typeface="Calibri" panose="020F0502020204030204" pitchFamily="34" charset="0"/>
              </a:rPr>
              <a:pPr>
                <a:spcBef>
                  <a:spcPct val="0"/>
                </a:spcBef>
              </a:pPr>
              <a:t>28</a:t>
            </a:fld>
            <a:endParaRPr lang="zh-HK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000000"/>
              </a:solidFill>
              <a:latin typeface="Gill Sans MT" pitchFamily="34" charset="0"/>
              <a:ea typeface="新細明體" pitchFamily="18" charset="-12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altLang="zh-HK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DEE37-2BD1-4F7A-8463-8DB05EA831AF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97202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BA0FD-EB19-4BB3-BC90-8AC82D764425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14745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000000"/>
              </a:solidFill>
              <a:latin typeface="Gill Sans MT" pitchFamily="34" charset="0"/>
              <a:ea typeface="新細明體" pitchFamily="18" charset="-12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EB978-0B8B-4E9E-BE2E-21BA8B5F7842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09808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32F87-4723-47CF-AA21-BA5D3F2B4E8D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71464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F49BF-1CDC-4D00-BCF6-021374A17467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8788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957A1-3B07-4B14-8E78-B704ADD28DC6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31159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8D0E1-FBCF-4E2C-BA2C-DEA040EFF597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48579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2723E-22E2-42D0-AA22-F430ACD4F99A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84314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lvl1pPr indent="-282575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None/>
              <a:defRPr/>
            </a:pPr>
            <a:endParaRPr lang="en-US" altLang="zh-HK" sz="3200">
              <a:latin typeface="Gill Sans MT" pitchFamily="34" charset="0"/>
              <a:ea typeface="新細明體" pitchFamily="18" charset="-120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altLang="zh-HK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C451F-4882-48C7-9A60-BCBD6B89E2B6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16523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B51E2B-B668-4B83-BF20-8F23646C028C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69987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99BA1-1A17-4CA5-B7B2-4838BB7BBF7A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9988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Gill Sans MT" pitchFamily="34" charset="0"/>
              <a:ea typeface="新細明體" pitchFamily="18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endParaRPr lang="en-GB" altLang="zh-TW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B5A788"/>
                </a:solidFill>
              </a:defRPr>
            </a:lvl1pPr>
          </a:lstStyle>
          <a:p>
            <a:pPr>
              <a:defRPr/>
            </a:pPr>
            <a:fld id="{9E6EEC54-A42E-4218-A6AE-B1EADC973161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ea typeface="新細明體" pitchFamily="18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39" r:id="rId1"/>
    <p:sldLayoutId id="2147485334" r:id="rId2"/>
    <p:sldLayoutId id="2147485340" r:id="rId3"/>
    <p:sldLayoutId id="2147485335" r:id="rId4"/>
    <p:sldLayoutId id="2147485341" r:id="rId5"/>
    <p:sldLayoutId id="2147485336" r:id="rId6"/>
    <p:sldLayoutId id="2147485342" r:id="rId7"/>
    <p:sldLayoutId id="2147485343" r:id="rId8"/>
    <p:sldLayoutId id="2147485344" r:id="rId9"/>
    <p:sldLayoutId id="2147485337" r:id="rId10"/>
    <p:sldLayoutId id="2147485338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lyu.edu.hk/clc/web/en/slu/faq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lyu.edu.hk/clc/web/en/slu/faq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clas.mq.edu.au/animal_communication/index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pokpdM7PeI" TargetMode="External"/><Relationship Id="rId2" Type="http://schemas.openxmlformats.org/officeDocument/2006/relationships/hyperlink" Target="https://www.youtube.com/watch?v=D0HeEgKq1o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tAe3PQdSqzg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lumbia.edu/~rmk7/HC/HC_Readings/Hockett.pdf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FDGPgXtK-U" TargetMode="External"/><Relationship Id="rId2" Type="http://schemas.openxmlformats.org/officeDocument/2006/relationships/hyperlink" Target="http://www.youtube.com/watch?v=-7ijI-g4jH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lumbia.edu/~rmk7/HC/HC_Readings/Hockett.pdf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09600"/>
            <a:ext cx="8077200" cy="190500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zh-TW" altLang="en-US" sz="4100" dirty="0">
                <a:solidFill>
                  <a:schemeClr val="tx2">
                    <a:satMod val="130000"/>
                  </a:schemeClr>
                </a:solidFill>
                <a:latin typeface="Garamond" pitchFamily="18" charset="0"/>
                <a:ea typeface="新細明體" pitchFamily="18" charset="-120"/>
              </a:rPr>
            </a:br>
            <a:r>
              <a:rPr lang="en-US" altLang="zh-TW" sz="4000" dirty="0">
                <a:solidFill>
                  <a:srgbClr val="660033"/>
                </a:solidFill>
                <a:latin typeface="Garamond" pitchFamily="18" charset="0"/>
                <a:ea typeface="新細明體" pitchFamily="18" charset="-120"/>
              </a:rPr>
              <a:t>Fun with Language</a:t>
            </a:r>
            <a:br>
              <a:rPr lang="en-US" altLang="zh-TW" sz="4000" dirty="0">
                <a:solidFill>
                  <a:srgbClr val="660033"/>
                </a:solidFill>
                <a:latin typeface="Garamond" pitchFamily="18" charset="0"/>
                <a:ea typeface="新細明體" pitchFamily="18" charset="-120"/>
              </a:rPr>
            </a:br>
            <a:r>
              <a:rPr lang="en-US" altLang="zh-TW" sz="4000" dirty="0">
                <a:solidFill>
                  <a:srgbClr val="660033"/>
                </a:solidFill>
                <a:latin typeface="Garamond" pitchFamily="18" charset="0"/>
                <a:ea typeface="新細明體" pitchFamily="18" charset="-120"/>
              </a:rPr>
              <a:t>CBS1A01P</a:t>
            </a:r>
            <a:br>
              <a:rPr lang="en-US" altLang="zh-TW" sz="4000" dirty="0">
                <a:solidFill>
                  <a:srgbClr val="660033"/>
                </a:solidFill>
                <a:latin typeface="Garamond" pitchFamily="18" charset="0"/>
                <a:ea typeface="新細明體" pitchFamily="18" charset="-120"/>
              </a:rPr>
            </a:br>
            <a:endParaRPr lang="en-US" altLang="zh-TW" sz="4000" dirty="0">
              <a:solidFill>
                <a:srgbClr val="660033"/>
              </a:solidFill>
              <a:latin typeface="Garamond" pitchFamily="18" charset="0"/>
              <a:ea typeface="新細明體" pitchFamily="18" charset="-120"/>
            </a:endParaRPr>
          </a:p>
        </p:txBody>
      </p:sp>
      <p:sp>
        <p:nvSpPr>
          <p:cNvPr id="81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80999" y="2819400"/>
            <a:ext cx="8689975" cy="3962400"/>
          </a:xfrm>
        </p:spPr>
        <p:txBody>
          <a:bodyPr/>
          <a:lstStyle/>
          <a:p>
            <a:pPr marL="26988" eaLnBrk="1" hangingPunct="1">
              <a:defRPr/>
            </a:pPr>
            <a:endParaRPr lang="en-US" altLang="zh-TW" sz="2800" dirty="0">
              <a:solidFill>
                <a:srgbClr val="660033"/>
              </a:solidFill>
              <a:latin typeface="Garamond" pitchFamily="18" charset="0"/>
              <a:ea typeface="KaiTi" pitchFamily="49" charset="-122"/>
            </a:endParaRPr>
          </a:p>
          <a:p>
            <a:pPr marL="26988" eaLnBrk="1" hangingPunct="1">
              <a:defRPr/>
            </a:pPr>
            <a:endParaRPr lang="en-US" altLang="zh-TW" sz="2800" dirty="0">
              <a:solidFill>
                <a:srgbClr val="660033"/>
              </a:solidFill>
              <a:latin typeface="Garamond" pitchFamily="18" charset="0"/>
              <a:ea typeface="KaiTi" pitchFamily="49" charset="-122"/>
            </a:endParaRPr>
          </a:p>
          <a:p>
            <a:pPr marL="26988" eaLnBrk="1" hangingPunct="1">
              <a:defRPr/>
            </a:pPr>
            <a:r>
              <a:rPr lang="en-US" altLang="zh-TW" sz="2800" u="sng" dirty="0">
                <a:solidFill>
                  <a:schemeClr val="accent6">
                    <a:lumMod val="75000"/>
                  </a:schemeClr>
                </a:solidFill>
                <a:latin typeface="Garamond" pitchFamily="18" charset="0"/>
                <a:ea typeface="KaiTi" pitchFamily="49" charset="-122"/>
              </a:rPr>
              <a:t>Lecture 1</a:t>
            </a:r>
          </a:p>
          <a:p>
            <a:pPr marL="26988" eaLnBrk="1" hangingPunct="1">
              <a:defRPr/>
            </a:pPr>
            <a:r>
              <a:rPr lang="en-US" altLang="zh-TW" sz="2800" dirty="0">
                <a:solidFill>
                  <a:schemeClr val="accent6">
                    <a:lumMod val="75000"/>
                  </a:schemeClr>
                </a:solidFill>
                <a:latin typeface="Garamond" pitchFamily="18" charset="0"/>
                <a:ea typeface="KaiTi" pitchFamily="49" charset="-122"/>
              </a:rPr>
              <a:t>Introduction</a:t>
            </a:r>
          </a:p>
          <a:p>
            <a:pPr marL="26988" eaLnBrk="1" hangingPunct="1">
              <a:defRPr/>
            </a:pPr>
            <a:r>
              <a:rPr lang="en-US" altLang="zh-TW" sz="2800" dirty="0">
                <a:solidFill>
                  <a:schemeClr val="accent6">
                    <a:lumMod val="75000"/>
                  </a:schemeClr>
                </a:solidFill>
                <a:latin typeface="Garamond" pitchFamily="18" charset="0"/>
                <a:ea typeface="KaiTi" pitchFamily="49" charset="-122"/>
              </a:rPr>
              <a:t>Human language and animal communication systems</a:t>
            </a:r>
          </a:p>
          <a:p>
            <a:pPr marL="26988" eaLnBrk="1" hangingPunct="1">
              <a:defRPr/>
            </a:pPr>
            <a:endParaRPr lang="en-US" altLang="zh-TW" sz="2800" dirty="0">
              <a:solidFill>
                <a:schemeClr val="accent6">
                  <a:lumMod val="75000"/>
                </a:schemeClr>
              </a:solidFill>
              <a:latin typeface="Garamond" pitchFamily="18" charset="0"/>
              <a:ea typeface="KaiTi" pitchFamily="49" charset="-122"/>
            </a:endParaRPr>
          </a:p>
          <a:p>
            <a:pPr marL="26988" eaLnBrk="1" hangingPunct="1">
              <a:defRPr/>
            </a:pPr>
            <a:r>
              <a:rPr lang="en-US" altLang="zh-TW" sz="2800" dirty="0">
                <a:solidFill>
                  <a:schemeClr val="accent6">
                    <a:lumMod val="75000"/>
                  </a:schemeClr>
                </a:solidFill>
                <a:latin typeface="Garamond" pitchFamily="18" charset="0"/>
                <a:ea typeface="KaiTi" pitchFamily="49" charset="-122"/>
              </a:rPr>
              <a:t>Lecturer: Dr. Wing-Li Wu (</a:t>
            </a:r>
            <a:r>
              <a:rPr lang="zh-TW" altLang="en-US" sz="2800" dirty="0">
                <a:solidFill>
                  <a:schemeClr val="accent6">
                    <a:lumMod val="75000"/>
                  </a:schemeClr>
                </a:solidFill>
                <a:latin typeface="Garamond" pitchFamily="18" charset="0"/>
                <a:ea typeface="KaiTi" pitchFamily="49" charset="-122"/>
              </a:rPr>
              <a:t>胡永利博士</a:t>
            </a:r>
            <a:r>
              <a:rPr lang="en-HK" altLang="zh-TW" sz="2800" dirty="0">
                <a:solidFill>
                  <a:schemeClr val="accent6">
                    <a:lumMod val="75000"/>
                  </a:schemeClr>
                </a:solidFill>
                <a:latin typeface="Garamond" pitchFamily="18" charset="0"/>
                <a:ea typeface="KaiTi" pitchFamily="49" charset="-122"/>
              </a:rPr>
              <a:t>)</a:t>
            </a:r>
            <a:endParaRPr lang="en-US" altLang="zh-TW" sz="2800" dirty="0">
              <a:solidFill>
                <a:schemeClr val="accent6">
                  <a:lumMod val="75000"/>
                </a:schemeClr>
              </a:solidFill>
              <a:latin typeface="Garamond" pitchFamily="18" charset="0"/>
              <a:ea typeface="KaiTi" pitchFamily="49" charset="-122"/>
            </a:endParaRPr>
          </a:p>
        </p:txBody>
      </p:sp>
      <p:sp>
        <p:nvSpPr>
          <p:cNvPr id="22532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5607B7-6FD0-4668-A12E-A753A901DEAE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/>
              <a:t>本課程討論的題目</a:t>
            </a:r>
            <a:endParaRPr lang="en-US" sz="3800" u="sng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solidFill>
                  <a:schemeClr val="accent3">
                    <a:lumMod val="50000"/>
                  </a:schemeClr>
                </a:solidFill>
                <a:latin typeface="KaiTi" pitchFamily="49" charset="-122"/>
                <a:ea typeface="KaiTi" pitchFamily="49" charset="-122"/>
              </a:rPr>
              <a:t>語言是甚麼？語言學是甚麼？</a:t>
            </a:r>
          </a:p>
          <a:p>
            <a:pPr>
              <a:defRPr/>
            </a:pPr>
            <a:r>
              <a:rPr lang="zh-TW" altLang="en-US" dirty="0">
                <a:solidFill>
                  <a:schemeClr val="accent3">
                    <a:lumMod val="50000"/>
                  </a:schemeClr>
                </a:solidFill>
                <a:latin typeface="KaiTi" pitchFamily="49" charset="-122"/>
                <a:ea typeface="KaiTi" pitchFamily="49" charset="-122"/>
              </a:rPr>
              <a:t>人類語言有甚麼特點？和動物溝通系統有哪些分別？</a:t>
            </a:r>
            <a:endParaRPr lang="en-US" altLang="zh-TW" dirty="0">
              <a:solidFill>
                <a:schemeClr val="accent3">
                  <a:lumMod val="50000"/>
                </a:schemeClr>
              </a:solidFill>
              <a:latin typeface="KaiTi" pitchFamily="49" charset="-122"/>
              <a:ea typeface="KaiTi" pitchFamily="49" charset="-122"/>
            </a:endParaRPr>
          </a:p>
          <a:p>
            <a:pPr>
              <a:defRPr/>
            </a:pPr>
            <a:r>
              <a:rPr lang="zh-TW" altLang="en-US" dirty="0">
                <a:solidFill>
                  <a:schemeClr val="accent3">
                    <a:lumMod val="50000"/>
                  </a:schemeClr>
                </a:solidFill>
                <a:latin typeface="KaiTi" pitchFamily="49" charset="-122"/>
                <a:ea typeface="KaiTi" pitchFamily="49" charset="-122"/>
              </a:rPr>
              <a:t>語言的結構</a:t>
            </a:r>
            <a:endParaRPr lang="en-US" altLang="zh-TW" dirty="0">
              <a:solidFill>
                <a:schemeClr val="accent3">
                  <a:lumMod val="50000"/>
                </a:schemeClr>
              </a:solidFill>
              <a:latin typeface="KaiTi" pitchFamily="49" charset="-122"/>
              <a:ea typeface="KaiTi" pitchFamily="49" charset="-122"/>
            </a:endParaRPr>
          </a:p>
          <a:p>
            <a:pPr>
              <a:defRPr/>
            </a:pPr>
            <a:r>
              <a:rPr lang="zh-TW" altLang="en-US" dirty="0">
                <a:solidFill>
                  <a:schemeClr val="accent3">
                    <a:lumMod val="50000"/>
                  </a:schemeClr>
                </a:solidFill>
                <a:latin typeface="KaiTi" pitchFamily="49" charset="-122"/>
                <a:ea typeface="KaiTi" pitchFamily="49" charset="-122"/>
              </a:rPr>
              <a:t>英語、粵語的語音系統</a:t>
            </a:r>
          </a:p>
          <a:p>
            <a:pPr>
              <a:defRPr/>
            </a:pPr>
            <a:r>
              <a:rPr lang="zh-TW" altLang="en-US" dirty="0">
                <a:solidFill>
                  <a:schemeClr val="accent3">
                    <a:lumMod val="50000"/>
                  </a:schemeClr>
                </a:solidFill>
                <a:latin typeface="KaiTi" pitchFamily="49" charset="-122"/>
                <a:ea typeface="KaiTi" pitchFamily="49" charset="-122"/>
              </a:rPr>
              <a:t>語言的意義；語言的運用和理解</a:t>
            </a:r>
          </a:p>
          <a:p>
            <a:pPr>
              <a:defRPr/>
            </a:pPr>
            <a:r>
              <a:rPr lang="zh-TW" altLang="en-US" dirty="0">
                <a:solidFill>
                  <a:schemeClr val="accent3">
                    <a:lumMod val="50000"/>
                  </a:schemeClr>
                </a:solidFill>
                <a:latin typeface="KaiTi" pitchFamily="49" charset="-122"/>
                <a:ea typeface="KaiTi" pitchFamily="49" charset="-122"/>
              </a:rPr>
              <a:t>語言與方言；語言的接觸</a:t>
            </a:r>
          </a:p>
          <a:p>
            <a:pPr>
              <a:defRPr/>
            </a:pPr>
            <a:r>
              <a:rPr lang="zh-TW" altLang="en-US" dirty="0">
                <a:solidFill>
                  <a:schemeClr val="accent3">
                    <a:lumMod val="50000"/>
                  </a:schemeClr>
                </a:solidFill>
                <a:latin typeface="KaiTi" pitchFamily="49" charset="-122"/>
                <a:ea typeface="KaiTi" pitchFamily="49" charset="-122"/>
              </a:rPr>
              <a:t>書寫系統</a:t>
            </a:r>
            <a:endParaRPr lang="en-US" altLang="zh-TW" dirty="0">
              <a:solidFill>
                <a:schemeClr val="accent3">
                  <a:lumMod val="50000"/>
                </a:schemeClr>
              </a:solidFill>
              <a:latin typeface="KaiTi" pitchFamily="49" charset="-122"/>
              <a:ea typeface="KaiTi" pitchFamily="49" charset="-122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3D1A20-593A-46F4-B41A-5A891F9D5280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35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6BA0FD-EB19-4BB3-BC90-8AC82D764425}" type="slidenum">
              <a:rPr lang="zh-TW" altLang="en-GB" smtClean="0"/>
              <a:pPr>
                <a:defRPr/>
              </a:pPr>
              <a:t>3</a:t>
            </a:fld>
            <a:endParaRPr lang="en-GB" altLang="zh-TW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4420219"/>
              </p:ext>
            </p:extLst>
          </p:nvPr>
        </p:nvGraphicFramePr>
        <p:xfrm>
          <a:off x="157162" y="279718"/>
          <a:ext cx="8829675" cy="6400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8281">
                  <a:extLst>
                    <a:ext uri="{9D8B030D-6E8A-4147-A177-3AD203B41FA5}">
                      <a16:colId xmlns:a16="http://schemas.microsoft.com/office/drawing/2014/main" val="3632634114"/>
                    </a:ext>
                  </a:extLst>
                </a:gridCol>
                <a:gridCol w="7731394">
                  <a:extLst>
                    <a:ext uri="{9D8B030D-6E8A-4147-A177-3AD203B41FA5}">
                      <a16:colId xmlns:a16="http://schemas.microsoft.com/office/drawing/2014/main" val="49059336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L1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0" kern="100" dirty="0">
                          <a:solidFill>
                            <a:schemeClr val="tx1"/>
                          </a:solidFill>
                          <a:effectLst/>
                        </a:rPr>
                        <a:t>What is language?</a:t>
                      </a:r>
                      <a:br>
                        <a:rPr lang="en-US" sz="2800" b="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2800" b="0" kern="100" dirty="0">
                          <a:solidFill>
                            <a:schemeClr val="tx1"/>
                          </a:solidFill>
                          <a:effectLst/>
                        </a:rPr>
                        <a:t>Animal Communication vs. Human Language</a:t>
                      </a:r>
                      <a:endParaRPr lang="en-US" sz="2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rgbClr val="E8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7626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L2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Children’s acquisition of language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69919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L3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Sounds </a:t>
                      </a:r>
                      <a:r>
                        <a:rPr lang="en-US" sz="2800" kern="100" dirty="0">
                          <a:effectLst/>
                        </a:rPr>
                        <a:t>of language (1)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93155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L4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Sounds of language (2)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835537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L5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Sounds of language (3)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51365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L6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2800" kern="100" dirty="0">
                          <a:effectLst/>
                        </a:rPr>
                        <a:t>Structure of words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26032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L7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2800" kern="100" dirty="0">
                          <a:effectLst/>
                        </a:rPr>
                        <a:t>Meaning of words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33159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L8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2800" kern="100" dirty="0">
                          <a:effectLst/>
                        </a:rPr>
                        <a:t>Structure and meaning of sentences</a:t>
                      </a:r>
                      <a:endParaRPr lang="en-US" altLang="zh-HK" sz="2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69196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L9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2800" kern="100" dirty="0">
                          <a:effectLst/>
                        </a:rPr>
                        <a:t>Interpretation and understanding of utterances</a:t>
                      </a:r>
                      <a:endParaRPr lang="en-US" altLang="zh-HK" sz="2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36854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L10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2800" kern="100" dirty="0">
                          <a:effectLst/>
                        </a:rPr>
                        <a:t>Languages and dialects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77700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L11</a:t>
                      </a:r>
                      <a:endParaRPr lang="en-US" sz="2800" b="1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2800" kern="100" dirty="0">
                          <a:effectLst/>
                        </a:rPr>
                        <a:t>Language contact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43526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28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Writing systems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741492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rtl="0" eaLnBrk="1" latinLnBrk="0" hangingPunct="1">
                        <a:spcAft>
                          <a:spcPts val="0"/>
                        </a:spcAft>
                      </a:pPr>
                      <a:r>
                        <a:rPr kumimoji="0" lang="en-US" sz="28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L13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Language and the brain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4465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2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defRPr/>
            </a:pPr>
            <a:r>
              <a:rPr lang="en-US" altLang="zh-HK" sz="3800" u="sng" dirty="0">
                <a:solidFill>
                  <a:srgbClr val="4F271C">
                    <a:satMod val="130000"/>
                  </a:srgbClr>
                </a:solidFill>
                <a:latin typeface="Garamond" panose="02020404030301010803" pitchFamily="18" charset="0"/>
                <a:ea typeface="Verdana" pitchFamily="34" charset="0"/>
                <a:cs typeface="Verdana" pitchFamily="34" charset="0"/>
              </a:rPr>
              <a:t>CBS1A01P Fun with Language</a:t>
            </a:r>
            <a:endParaRPr lang="en-GB" sz="3800" u="sng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599" y="1752600"/>
            <a:ext cx="8080375" cy="5105400"/>
          </a:xfrm>
        </p:spPr>
        <p:txBody>
          <a:bodyPr/>
          <a:lstStyle/>
          <a:p>
            <a:pPr>
              <a:lnSpc>
                <a:spcPct val="92000"/>
              </a:lnSpc>
              <a:defRPr/>
            </a:pPr>
            <a:endParaRPr lang="en-HK" altLang="zh-TW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lnSpc>
                <a:spcPct val="92000"/>
              </a:lnSpc>
              <a:defRPr/>
            </a:pP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請留意</a:t>
            </a:r>
            <a:r>
              <a:rPr lang="zh-TW" altLang="en-US" b="1" u="sng" dirty="0">
                <a:solidFill>
                  <a:srgbClr val="00B05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提交功課的日期</a:t>
            </a:r>
            <a:endParaRPr lang="en-US" b="1" u="sng" dirty="0">
              <a:solidFill>
                <a:srgbClr val="00B050"/>
              </a:solidFill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lnSpc>
                <a:spcPct val="92000"/>
              </a:lnSpc>
              <a:defRPr/>
            </a:pPr>
            <a:endParaRPr lang="en-HK" altLang="zh-TW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>
              <a:lnSpc>
                <a:spcPct val="92000"/>
              </a:lnSpc>
              <a:defRPr/>
            </a:pP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每課的講義</a:t>
            </a:r>
            <a:r>
              <a:rPr lang="en-US" altLang="zh-TW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(PPT)</a:t>
            </a: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、功課的題目會上載至</a:t>
            </a:r>
            <a:r>
              <a:rPr lang="en-US" altLang="zh-TW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Blackboard</a:t>
            </a:r>
            <a:endParaRPr lang="en-GB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6D1451-76AE-44D9-AEEF-C5E6EE9554AC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12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066800" y="1676400"/>
            <a:ext cx="7867650" cy="5029200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TW" dirty="0">
                <a:latin typeface="Garamond" panose="02020404030301010803" pitchFamily="18" charset="0"/>
              </a:rPr>
              <a:t>CBS1A01P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altLang="zh-TW" dirty="0">
                <a:latin typeface="Garamond" panose="02020404030301010803" pitchFamily="18" charset="0"/>
              </a:rPr>
              <a:t>Cluster Area A</a:t>
            </a:r>
          </a:p>
          <a:p>
            <a:pPr lvl="2">
              <a:spcBef>
                <a:spcPts val="400"/>
              </a:spcBef>
              <a:spcAft>
                <a:spcPts val="400"/>
              </a:spcAft>
            </a:pPr>
            <a:r>
              <a:rPr lang="en-US" altLang="zh-TW" sz="2600" dirty="0">
                <a:latin typeface="Garamond" panose="02020404030301010803" pitchFamily="18" charset="0"/>
              </a:rPr>
              <a:t>Human nature, relations and development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altLang="zh-TW" dirty="0">
                <a:latin typeface="Garamond" panose="02020404030301010803" pitchFamily="18" charset="0"/>
              </a:rPr>
              <a:t>CR/CW</a:t>
            </a:r>
          </a:p>
          <a:p>
            <a:pPr lvl="2">
              <a:spcBef>
                <a:spcPts val="400"/>
              </a:spcBef>
              <a:spcAft>
                <a:spcPts val="400"/>
              </a:spcAft>
            </a:pPr>
            <a:r>
              <a:rPr lang="en-US" altLang="zh-TW" sz="2600" dirty="0">
                <a:latin typeface="Garamond" panose="02020404030301010803" pitchFamily="18" charset="0"/>
              </a:rPr>
              <a:t>Chinese Reading and Chinese Writing requirements</a:t>
            </a:r>
            <a:br>
              <a:rPr lang="en-US" altLang="zh-TW" dirty="0">
                <a:latin typeface="Garamond" panose="02020404030301010803" pitchFamily="18" charset="0"/>
              </a:rPr>
            </a:br>
            <a:endParaRPr lang="en-US" altLang="en-US" dirty="0">
              <a:latin typeface="Garamond" panose="02020404030301010803" pitchFamily="18" charset="0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6FB73E-D06F-45FB-8D02-94B6D8692F02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ctr">
              <a:defRPr/>
            </a:pPr>
            <a:r>
              <a:rPr lang="en-US" altLang="zh-HK" sz="3800" u="sng" dirty="0">
                <a:solidFill>
                  <a:srgbClr val="4F271C">
                    <a:satMod val="130000"/>
                  </a:srgbClr>
                </a:solidFill>
                <a:latin typeface="Garamond" panose="02020404030301010803" pitchFamily="18" charset="0"/>
                <a:ea typeface="Verdana" pitchFamily="34" charset="0"/>
              </a:rPr>
              <a:t>Cluster Areas Requirements (CAR)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ctr">
              <a:defRPr/>
            </a:pPr>
            <a:r>
              <a:rPr lang="en-US" altLang="zh-HK" sz="3800" u="sng" dirty="0">
                <a:solidFill>
                  <a:srgbClr val="4F271C">
                    <a:satMod val="130000"/>
                  </a:srgbClr>
                </a:solidFill>
                <a:latin typeface="Garamond" panose="02020404030301010803" pitchFamily="18" charset="0"/>
                <a:ea typeface="Verdana" pitchFamily="34" charset="0"/>
              </a:rPr>
              <a:t>CR/CW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066800" y="1371600"/>
            <a:ext cx="8001000" cy="5410200"/>
          </a:xfrm>
        </p:spPr>
        <p:txBody>
          <a:bodyPr/>
          <a:lstStyle/>
          <a:p>
            <a:pPr marL="82550" indent="0">
              <a:spcBef>
                <a:spcPts val="200"/>
              </a:spcBef>
              <a:spcAft>
                <a:spcPts val="200"/>
              </a:spcAft>
              <a:buFont typeface="Wingdings 2" panose="05020102010507070707" pitchFamily="18" charset="2"/>
              <a:buNone/>
              <a:defRPr/>
            </a:pPr>
            <a:r>
              <a:rPr lang="en-US" altLang="zh-TW" sz="2800" b="1" u="sng" dirty="0">
                <a:latin typeface="Garamond" panose="02020404030301010803" pitchFamily="18" charset="0"/>
                <a:ea typeface="PMingLiU" panose="02020500000000000000" pitchFamily="18" charset="-120"/>
                <a:cs typeface="Arial" charset="0"/>
              </a:rPr>
              <a:t>CW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/>
            </a:pPr>
            <a:r>
              <a:rPr lang="zh-TW" altLang="en-US" sz="2800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  <a:cs typeface="Arial" charset="0"/>
              </a:rPr>
              <a:t>論文之建議題目請參閱 </a:t>
            </a:r>
            <a:r>
              <a:rPr lang="en-US" altLang="zh-HK" sz="2800" dirty="0"/>
              <a:t>Blackboard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/>
            </a:pPr>
            <a:endParaRPr lang="en-US" altLang="zh-TW" sz="2800" dirty="0">
              <a:solidFill>
                <a:srgbClr val="7030A0"/>
              </a:solidFill>
              <a:latin typeface="Garamond" panose="02020404030301010803" pitchFamily="18" charset="0"/>
              <a:ea typeface="PMingLiU" panose="02020500000000000000" pitchFamily="18" charset="-120"/>
              <a:cs typeface="Arial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/>
            </a:pPr>
            <a:r>
              <a:rPr lang="zh-TW" altLang="en-US" sz="2800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  <a:cs typeface="Arial" charset="0"/>
              </a:rPr>
              <a:t>第一稿</a:t>
            </a:r>
            <a:endParaRPr lang="en-US" altLang="zh-TW" sz="2800" dirty="0">
              <a:solidFill>
                <a:srgbClr val="7030A0"/>
              </a:solidFill>
              <a:latin typeface="Garamond" panose="02020404030301010803" pitchFamily="18" charset="0"/>
              <a:ea typeface="PMingLiU" panose="02020500000000000000" pitchFamily="18" charset="-120"/>
              <a:cs typeface="Arial" charset="0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3891A7"/>
              </a:buClr>
              <a:defRPr/>
            </a:pPr>
            <a:r>
              <a:rPr lang="zh-TW" altLang="en-US" sz="2600" dirty="0">
                <a:solidFill>
                  <a:prstClr val="black"/>
                </a:solidFill>
              </a:rPr>
              <a:t>透過 </a:t>
            </a:r>
            <a:r>
              <a:rPr lang="en-US" altLang="zh-HK" sz="2600" b="1" u="sng" dirty="0">
                <a:solidFill>
                  <a:prstClr val="black"/>
                </a:solidFill>
              </a:rPr>
              <a:t>CR/CW</a:t>
            </a:r>
            <a:r>
              <a:rPr lang="zh-HK" altLang="en-US" sz="2600" b="1" u="sng" dirty="0">
                <a:solidFill>
                  <a:prstClr val="black"/>
                </a:solidFill>
              </a:rPr>
              <a:t>的</a:t>
            </a:r>
            <a:r>
              <a:rPr lang="zh-HK" altLang="en-US" sz="2600" dirty="0">
                <a:solidFill>
                  <a:prstClr val="black"/>
                </a:solidFill>
              </a:rPr>
              <a:t> </a:t>
            </a:r>
            <a:r>
              <a:rPr lang="en-US" sz="2600" dirty="0">
                <a:solidFill>
                  <a:prstClr val="black"/>
                </a:solidFill>
              </a:rPr>
              <a:t>Blackboard</a:t>
            </a:r>
            <a:endParaRPr lang="en-US" altLang="zh-TW" sz="2600" dirty="0">
              <a:solidFill>
                <a:srgbClr val="7030A0"/>
              </a:solidFill>
              <a:latin typeface="Garamond" panose="02020404030301010803" pitchFamily="18" charset="0"/>
              <a:ea typeface="PMingLiU" panose="02020500000000000000" pitchFamily="18" charset="-120"/>
              <a:cs typeface="Arial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/>
            </a:pPr>
            <a:r>
              <a:rPr lang="zh-TW" altLang="en-US" sz="2800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  <a:cs typeface="Arial" charset="0"/>
              </a:rPr>
              <a:t>第二稿</a:t>
            </a:r>
            <a:endParaRPr lang="en-US" altLang="zh-TW" sz="2800" dirty="0">
              <a:solidFill>
                <a:srgbClr val="7030A0"/>
              </a:solidFill>
              <a:latin typeface="Garamond" panose="02020404030301010803" pitchFamily="18" charset="0"/>
              <a:ea typeface="PMingLiU" panose="02020500000000000000" pitchFamily="18" charset="-120"/>
              <a:cs typeface="Arial" charset="0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3891A7"/>
              </a:buClr>
              <a:defRPr/>
            </a:pPr>
            <a:r>
              <a:rPr lang="zh-TW" altLang="en-US" sz="2600" dirty="0">
                <a:solidFill>
                  <a:prstClr val="black"/>
                </a:solidFill>
              </a:rPr>
              <a:t>透過 </a:t>
            </a:r>
            <a:r>
              <a:rPr lang="en-US" altLang="zh-HK" sz="2600" b="1" u="sng" dirty="0">
                <a:solidFill>
                  <a:prstClr val="black"/>
                </a:solidFill>
              </a:rPr>
              <a:t>CR/CW</a:t>
            </a:r>
            <a:r>
              <a:rPr lang="zh-HK" altLang="en-US" sz="2600" b="1" u="sng" dirty="0">
                <a:solidFill>
                  <a:prstClr val="black"/>
                </a:solidFill>
              </a:rPr>
              <a:t>的</a:t>
            </a:r>
            <a:r>
              <a:rPr lang="zh-HK" altLang="en-US" sz="2600" dirty="0">
                <a:solidFill>
                  <a:prstClr val="black"/>
                </a:solidFill>
              </a:rPr>
              <a:t> </a:t>
            </a:r>
            <a:r>
              <a:rPr lang="en-US" sz="2600" dirty="0">
                <a:solidFill>
                  <a:prstClr val="black"/>
                </a:solidFill>
              </a:rPr>
              <a:t>Blackboard</a:t>
            </a:r>
            <a:endParaRPr lang="en-US" altLang="zh-TW" sz="2600" dirty="0">
              <a:solidFill>
                <a:srgbClr val="7030A0"/>
              </a:solidFill>
              <a:latin typeface="Garamond" panose="02020404030301010803" pitchFamily="18" charset="0"/>
              <a:ea typeface="PMingLiU" panose="02020500000000000000" pitchFamily="18" charset="-120"/>
              <a:cs typeface="Arial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/>
            </a:pPr>
            <a:r>
              <a:rPr lang="zh-TW" altLang="en-US" sz="2800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  <a:cs typeface="Arial" charset="0"/>
              </a:rPr>
              <a:t>最終稿</a:t>
            </a:r>
            <a:endParaRPr lang="en-US" altLang="zh-TW" sz="2800" dirty="0">
              <a:solidFill>
                <a:srgbClr val="7030A0"/>
              </a:solidFill>
              <a:latin typeface="Garamond" panose="02020404030301010803" pitchFamily="18" charset="0"/>
              <a:ea typeface="PMingLiU" panose="02020500000000000000" pitchFamily="18" charset="-120"/>
              <a:cs typeface="Arial" charset="0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3891A7"/>
              </a:buClr>
              <a:defRPr/>
            </a:pPr>
            <a:r>
              <a:rPr lang="zh-TW" altLang="en-US" sz="2600" dirty="0">
                <a:solidFill>
                  <a:prstClr val="black"/>
                </a:solidFill>
              </a:rPr>
              <a:t>透過 </a:t>
            </a:r>
            <a:r>
              <a:rPr lang="en-US" altLang="zh-TW" sz="2600" b="1" u="sng" dirty="0"/>
              <a:t>CBS1A01P</a:t>
            </a:r>
            <a:r>
              <a:rPr lang="zh-HK" altLang="en-US" sz="2600" b="1" u="sng" dirty="0"/>
              <a:t>的</a:t>
            </a:r>
            <a:r>
              <a:rPr lang="en-US" sz="2600" dirty="0">
                <a:solidFill>
                  <a:prstClr val="black"/>
                </a:solidFill>
              </a:rPr>
              <a:t>Blackboard</a:t>
            </a:r>
            <a:endParaRPr lang="en-US" altLang="zh-TW" sz="2600" dirty="0">
              <a:solidFill>
                <a:srgbClr val="7030A0"/>
              </a:solidFill>
              <a:latin typeface="Garamond" panose="02020404030301010803" pitchFamily="18" charset="0"/>
              <a:ea typeface="PMingLiU" panose="02020500000000000000" pitchFamily="18" charset="-120"/>
              <a:cs typeface="Arial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/>
            </a:pPr>
            <a:endParaRPr lang="en-US" altLang="zh-TW" sz="2800" dirty="0">
              <a:latin typeface="Garamond" panose="02020404030301010803" pitchFamily="18" charset="0"/>
              <a:ea typeface="PMingLiU" panose="02020500000000000000" pitchFamily="18" charset="-120"/>
              <a:cs typeface="Arial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defRPr/>
            </a:pPr>
            <a:r>
              <a:rPr lang="en-US" altLang="zh-TW" sz="2800" dirty="0">
                <a:latin typeface="Garamond" panose="02020404030301010803" pitchFamily="18" charset="0"/>
                <a:ea typeface="PMingLiU" panose="02020500000000000000" pitchFamily="18" charset="-120"/>
                <a:cs typeface="Arial" charset="0"/>
              </a:rPr>
              <a:t>by 11:59 pm</a:t>
            </a:r>
            <a:endParaRPr lang="en-US" altLang="zh-TW" sz="2800" dirty="0">
              <a:latin typeface="Arial" charset="0"/>
              <a:ea typeface="新細明體" pitchFamily="18" charset="-120"/>
              <a:cs typeface="Arial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066D87-A22B-4E11-A873-A172B0F4A7D0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861300" cy="5135562"/>
          </a:xfrm>
        </p:spPr>
        <p:txBody>
          <a:bodyPr/>
          <a:lstStyle/>
          <a:p>
            <a:pPr marL="355600" indent="-355600"/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10%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裏拿到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4%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或以上，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CW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便及格</a:t>
            </a:r>
            <a:endParaRPr lang="en-US" altLang="zh-TW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marL="355600" indent="-355600"/>
            <a:endParaRPr lang="en-US" altLang="zh-TW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marL="355600" indent="-355600"/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  <a:hlinkClick r:id="rId2"/>
              </a:rPr>
              <a:t>https://www.polyu.edu.hk/clc/web/en/slu/faq/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 </a:t>
            </a:r>
          </a:p>
          <a:p>
            <a:pPr marL="720725" indent="-355600"/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「若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CW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不及格而</a:t>
            </a:r>
            <a:r>
              <a:rPr lang="zh-TW" altLang="en-US" sz="2800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通識科目學期論文</a:t>
            </a:r>
            <a:r>
              <a:rPr lang="en-US" altLang="zh-TW" sz="2800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/</a:t>
            </a:r>
            <a:r>
              <a:rPr lang="zh-TW" altLang="en-US" sz="2800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讀書報告總體成績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能達至及格，而整個通識科目最終獲得及格成績，仍算通過大學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R &amp; W Requirement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畢業要求。」</a:t>
            </a:r>
            <a:endParaRPr lang="en-US" altLang="zh-TW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marL="720725" indent="-355600"/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「若</a:t>
            </a:r>
            <a:r>
              <a:rPr lang="zh-TW" altLang="en-US" sz="2800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通識科目學期論文</a:t>
            </a:r>
            <a:r>
              <a:rPr lang="en-US" altLang="zh-TW" sz="2800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/</a:t>
            </a:r>
            <a:r>
              <a:rPr lang="zh-TW" altLang="en-US" sz="2800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讀書報告總體成績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不及格，則整科通識科目將視作不及格，同學必須重修另一科通識科目，以滿足大學畢業的要求。」</a:t>
            </a:r>
            <a:endParaRPr lang="en-US" altLang="zh-TW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2BE7EF-5D8A-4700-B14B-086F0C3F5385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3800" u="sng" dirty="0">
                <a:solidFill>
                  <a:srgbClr val="4F271C">
                    <a:satMod val="130000"/>
                  </a:srgbClr>
                </a:solidFill>
                <a:latin typeface="Garamond" panose="02020404030301010803" pitchFamily="18" charset="0"/>
                <a:ea typeface="Verdana" pitchFamily="34" charset="0"/>
              </a:rPr>
              <a:t>CR/CW</a:t>
            </a:r>
            <a:endParaRPr lang="en-US" sz="3800" u="sng" dirty="0">
              <a:solidFill>
                <a:srgbClr val="4F271C">
                  <a:satMod val="130000"/>
                </a:srgbClr>
              </a:solidFill>
              <a:latin typeface="Garamond" panose="02020404030301010803" pitchFamily="18" charset="0"/>
              <a:ea typeface="Verdana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861300" cy="4800600"/>
          </a:xfrm>
        </p:spPr>
        <p:txBody>
          <a:bodyPr/>
          <a:lstStyle/>
          <a:p>
            <a:pPr marL="355600" indent="-355600"/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  <a:hlinkClick r:id="rId2"/>
              </a:rPr>
              <a:t>https://www.polyu.edu.hk/clc/web/en/slu/faq/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 </a:t>
            </a:r>
          </a:p>
          <a:p>
            <a:pPr marL="720725" indent="-355600"/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「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CR &amp; CW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的第一文稿是不算分的，評分是以第二文稿為準。導師會根據以下三大原則評改同學的文稿：</a:t>
            </a:r>
          </a:p>
          <a:p>
            <a:pPr marL="1076325" indent="-355600"/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1. 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用詞 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30%</a:t>
            </a:r>
          </a:p>
          <a:p>
            <a:pPr marL="1076325" indent="-355600"/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2. 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造句 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30%</a:t>
            </a:r>
          </a:p>
          <a:p>
            <a:pPr marL="1076325" indent="-355600"/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3. 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行文 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40%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」</a:t>
            </a:r>
            <a:endParaRPr lang="en-US" altLang="zh-TW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2BE7EF-5D8A-4700-B14B-086F0C3F5385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3800" u="sng" dirty="0">
                <a:solidFill>
                  <a:srgbClr val="4F271C">
                    <a:satMod val="130000"/>
                  </a:srgbClr>
                </a:solidFill>
                <a:latin typeface="Garamond" panose="02020404030301010803" pitchFamily="18" charset="0"/>
                <a:ea typeface="Verdana" pitchFamily="34" charset="0"/>
              </a:rPr>
              <a:t>CR/CW</a:t>
            </a:r>
            <a:endParaRPr lang="en-US" sz="3800" u="sng" dirty="0">
              <a:solidFill>
                <a:srgbClr val="4F271C">
                  <a:satMod val="130000"/>
                </a:srgbClr>
              </a:solidFill>
              <a:latin typeface="Garamond" panose="02020404030301010803" pitchFamily="18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074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/>
          <p:cNvSpPr>
            <a:spLocks noGrp="1"/>
          </p:cNvSpPr>
          <p:nvPr>
            <p:ph idx="1"/>
          </p:nvPr>
        </p:nvSpPr>
        <p:spPr>
          <a:xfrm>
            <a:off x="1142999" y="1371600"/>
            <a:ext cx="7927975" cy="5334000"/>
          </a:xfrm>
        </p:spPr>
        <p:txBody>
          <a:bodyPr/>
          <a:lstStyle/>
          <a:p>
            <a:r>
              <a:rPr lang="en-US" altLang="zh-TW" dirty="0">
                <a:solidFill>
                  <a:srgbClr val="7030A0"/>
                </a:solidFill>
                <a:latin typeface="Garamond" panose="02020404030301010803" pitchFamily="18" charset="0"/>
              </a:rPr>
              <a:t>add/drop period</a:t>
            </a:r>
            <a:endParaRPr lang="en-US" altLang="zh-TW" dirty="0">
              <a:solidFill>
                <a:srgbClr val="0070C0"/>
              </a:solidFill>
              <a:latin typeface="Garamond" panose="02020404030301010803" pitchFamily="18" charset="0"/>
            </a:endParaRPr>
          </a:p>
          <a:p>
            <a:r>
              <a:rPr lang="en-US" altLang="zh-TW" b="1" dirty="0">
                <a:solidFill>
                  <a:srgbClr val="C00000"/>
                </a:solidFill>
                <a:latin typeface="Garamond" panose="02020404030301010803" pitchFamily="18" charset="0"/>
              </a:rPr>
              <a:t>withdrawal</a:t>
            </a:r>
            <a:r>
              <a:rPr lang="en-US" altLang="zh-TW" dirty="0">
                <a:latin typeface="Garamond" panose="02020404030301010803" pitchFamily="18" charset="0"/>
              </a:rPr>
              <a:t>: possible before the exam period starts</a:t>
            </a:r>
            <a:endParaRPr lang="en-US" altLang="zh-TW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 lvl="1"/>
            <a:r>
              <a:rPr lang="en-US" altLang="zh-TW" dirty="0">
                <a:latin typeface="Garamond" panose="02020404030301010803" pitchFamily="18" charset="0"/>
              </a:rPr>
              <a:t>written request (</a:t>
            </a:r>
            <a:r>
              <a:rPr lang="en-US" altLang="zh-TW" dirty="0">
                <a:solidFill>
                  <a:srgbClr val="0070C0"/>
                </a:solidFill>
                <a:latin typeface="Garamond" panose="02020404030301010803" pitchFamily="18" charset="0"/>
              </a:rPr>
              <a:t>email</a:t>
            </a:r>
            <a:r>
              <a:rPr lang="en-US" altLang="zh-TW" dirty="0">
                <a:latin typeface="Garamond" panose="02020404030301010803" pitchFamily="18" charset="0"/>
              </a:rPr>
              <a:t>) to the</a:t>
            </a:r>
            <a:br>
              <a:rPr lang="en-US" altLang="zh-TW" dirty="0">
                <a:latin typeface="Garamond" panose="02020404030301010803" pitchFamily="18" charset="0"/>
              </a:rPr>
            </a:br>
            <a:r>
              <a:rPr lang="en-US" altLang="zh-TW" b="1" u="sng" dirty="0">
                <a:solidFill>
                  <a:srgbClr val="7030A0"/>
                </a:solidFill>
                <a:latin typeface="Garamond" panose="02020404030301010803" pitchFamily="18" charset="0"/>
              </a:rPr>
              <a:t>subject teacher</a:t>
            </a:r>
            <a:r>
              <a:rPr lang="en-US" altLang="zh-TW" dirty="0">
                <a:solidFill>
                  <a:srgbClr val="7030A0"/>
                </a:solidFill>
                <a:latin typeface="Garamond" panose="02020404030301010803" pitchFamily="18" charset="0"/>
              </a:rPr>
              <a:t> and </a:t>
            </a:r>
            <a:r>
              <a:rPr lang="en-US" altLang="zh-TW" dirty="0">
                <a:latin typeface="Garamond" panose="02020404030301010803" pitchFamily="18" charset="0"/>
              </a:rPr>
              <a:t>your </a:t>
            </a:r>
            <a:r>
              <a:rPr lang="en-US" altLang="zh-TW" b="1" u="sng" dirty="0" err="1">
                <a:solidFill>
                  <a:srgbClr val="7030A0"/>
                </a:solidFill>
                <a:latin typeface="Garamond" panose="02020404030301010803" pitchFamily="18" charset="0"/>
              </a:rPr>
              <a:t>Programme</a:t>
            </a:r>
            <a:r>
              <a:rPr lang="en-US" altLang="zh-TW" b="1" u="sng" dirty="0">
                <a:solidFill>
                  <a:srgbClr val="7030A0"/>
                </a:solidFill>
                <a:latin typeface="Garamond" panose="02020404030301010803" pitchFamily="18" charset="0"/>
              </a:rPr>
              <a:t> Leader</a:t>
            </a:r>
          </a:p>
          <a:p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en-US" altLang="zh-TW" dirty="0">
                <a:latin typeface="Garamond" panose="02020404030301010803" pitchFamily="18" charset="0"/>
              </a:rPr>
              <a:t>please check your </a:t>
            </a:r>
            <a:r>
              <a:rPr lang="en-US" altLang="zh-TW" b="1" u="sng" dirty="0" err="1">
                <a:solidFill>
                  <a:srgbClr val="00B050"/>
                </a:solidFill>
                <a:latin typeface="Garamond" panose="02020404030301010803" pitchFamily="18" charset="0"/>
              </a:rPr>
              <a:t>PolyU</a:t>
            </a:r>
            <a:r>
              <a:rPr lang="en-US" altLang="zh-TW" b="1" u="sng" dirty="0">
                <a:solidFill>
                  <a:srgbClr val="00B050"/>
                </a:solidFill>
                <a:latin typeface="Garamond" panose="02020404030301010803" pitchFamily="18" charset="0"/>
              </a:rPr>
              <a:t> email account</a:t>
            </a:r>
            <a:r>
              <a:rPr lang="en-US" altLang="zh-TW" dirty="0">
                <a:solidFill>
                  <a:srgbClr val="00B050"/>
                </a:solidFill>
                <a:latin typeface="Garamond" panose="02020404030301010803" pitchFamily="18" charset="0"/>
              </a:rPr>
              <a:t> </a:t>
            </a:r>
            <a:r>
              <a:rPr lang="en-US" altLang="zh-TW" dirty="0">
                <a:latin typeface="Garamond" panose="02020404030301010803" pitchFamily="18" charset="0"/>
              </a:rPr>
              <a:t>regularly</a:t>
            </a:r>
            <a:endParaRPr lang="en-US" altLang="zh-TW" dirty="0">
              <a:solidFill>
                <a:srgbClr val="00B050"/>
              </a:solidFill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en-US" altLang="zh-TW" b="1" dirty="0">
                <a:solidFill>
                  <a:srgbClr val="00B0F0"/>
                </a:solidFill>
                <a:latin typeface="Garamond" panose="02020404030301010803" pitchFamily="18" charset="0"/>
              </a:rPr>
              <a:t>honesty</a:t>
            </a:r>
            <a:r>
              <a:rPr lang="en-US" altLang="zh-TW" dirty="0">
                <a:latin typeface="Garamond" panose="02020404030301010803" pitchFamily="18" charset="0"/>
              </a:rPr>
              <a:t> in doing assignments and worksheets</a:t>
            </a:r>
          </a:p>
          <a:p>
            <a:endParaRPr lang="en-US" altLang="zh-TW" dirty="0"/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B64970-6952-4EA2-9AC5-3A9EFBE85C7F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/>
              <a:t>提醒</a:t>
            </a:r>
            <a:endParaRPr lang="en-US" sz="3800" u="sng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251700" cy="1143000"/>
          </a:xfrm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HK" sz="3800" u="sng" dirty="0">
                <a:solidFill>
                  <a:srgbClr val="4F271C">
                    <a:satMod val="130000"/>
                  </a:srgbClr>
                </a:solidFill>
                <a:latin typeface="Garamond" panose="02020404030301010803" pitchFamily="18" charset="0"/>
                <a:ea typeface="Verdana" pitchFamily="34" charset="0"/>
              </a:rPr>
              <a:t>L1</a:t>
            </a:r>
            <a:endParaRPr lang="zh-HK" altLang="en-US" sz="3800" u="sng" dirty="0">
              <a:solidFill>
                <a:srgbClr val="4F271C">
                  <a:satMod val="130000"/>
                </a:srgbClr>
              </a:solidFill>
              <a:latin typeface="Garamond" panose="02020404030301010803" pitchFamily="18" charset="0"/>
            </a:endParaRP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zh-TW" altLang="en-US" sz="2800" dirty="0">
                <a:solidFill>
                  <a:srgbClr val="7030A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語言學是甚麼？語言是甚麼？</a:t>
            </a:r>
            <a:br>
              <a:rPr lang="en-US" altLang="zh-TW" sz="2800" dirty="0">
                <a:solidFill>
                  <a:srgbClr val="7030A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What is Linguistics? What is Language?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endParaRPr lang="en-US" altLang="zh-TW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zh-TW" altLang="en-US" sz="2800" dirty="0">
                <a:solidFill>
                  <a:srgbClr val="7030A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動物溝通系統和人類語言的比較</a:t>
            </a:r>
            <a:b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Animal Communication vs. Human language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endParaRPr lang="en-US" altLang="zh-TW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zh-TW" altLang="en-US" sz="2800" dirty="0">
                <a:solidFill>
                  <a:srgbClr val="7030A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動物能學懂人類語言嗎？</a:t>
            </a:r>
            <a:br>
              <a:rPr lang="en-US" altLang="zh-TW" sz="2800" dirty="0">
                <a:solidFill>
                  <a:srgbClr val="7030A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Can animals be taught to use human language?</a:t>
            </a:r>
            <a:endParaRPr lang="zh-HK" altLang="en-US" sz="3000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64BD70-BAEC-434D-B5D9-1144907CED83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334000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TW" alt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介紹：</a:t>
            </a:r>
            <a:endParaRPr lang="en-US" altLang="zh-TW" sz="2800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一些術語</a:t>
            </a:r>
            <a:b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</a:b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（「</a:t>
            </a:r>
            <a:r>
              <a:rPr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語言</a:t>
            </a: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」、「</a:t>
            </a:r>
            <a:r>
              <a:rPr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語言學</a:t>
            </a: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」、「</a:t>
            </a:r>
            <a:r>
              <a:rPr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語言學家</a:t>
            </a: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」等等）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語言的基本要素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「言語鏈」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語言學的主要分支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溝通系統的重要元素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動物溝通系統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人類語言的特徵</a:t>
            </a:r>
            <a:endParaRPr lang="en-US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25ADAF-8AE9-4EB3-8879-20E99AE5E709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251700" cy="1143000"/>
          </a:xfrm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HK" sz="3800" u="sng" dirty="0">
                <a:solidFill>
                  <a:srgbClr val="4F271C">
                    <a:satMod val="130000"/>
                  </a:srgbClr>
                </a:solidFill>
                <a:latin typeface="Garamond" panose="02020404030301010803" pitchFamily="18" charset="0"/>
                <a:ea typeface="Verdana" pitchFamily="34" charset="0"/>
              </a:rPr>
              <a:t>L1</a:t>
            </a:r>
            <a:endParaRPr lang="zh-HK" altLang="en-US" sz="3800" dirty="0">
              <a:effectLst>
                <a:outerShdw blurRad="38100" dist="38100" dir="2700000" algn="tl">
                  <a:srgbClr val="C0C0C0"/>
                </a:outerShdw>
              </a:effectLs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715250" cy="5334000"/>
          </a:xfrm>
        </p:spPr>
        <p:txBody>
          <a:bodyPr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TW" altLang="en-US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語言學 </a:t>
            </a:r>
            <a:r>
              <a:rPr lang="en-US" altLang="zh-HK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Linguistics</a:t>
            </a:r>
            <a:r>
              <a:rPr lang="zh-TW" alt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：</a:t>
            </a:r>
            <a:endParaRPr lang="en-US" altLang="zh-TW" sz="2800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對語言的科學研究</a:t>
            </a:r>
            <a:br>
              <a:rPr lang="en-US" altLang="zh-TW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</a:br>
            <a:r>
              <a:rPr lang="en-US" altLang="zh-HK" sz="2600" b="1" dirty="0">
                <a:solidFill>
                  <a:srgbClr val="00B050"/>
                </a:solidFill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the scientific study of language</a:t>
            </a:r>
            <a:endParaRPr lang="en-US" altLang="zh-TW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0" indent="0" eaLnBrk="1" fontAlgn="auto" hangingPunct="1">
              <a:lnSpc>
                <a:spcPct val="104000"/>
              </a:lnSpc>
              <a:spcBef>
                <a:spcPts val="200"/>
              </a:spcBef>
              <a:spcAft>
                <a:spcPts val="200"/>
              </a:spcAft>
              <a:buNone/>
              <a:defRPr/>
            </a:pPr>
            <a:endParaRPr lang="en-US" altLang="zh-HK" sz="28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TW" altLang="zh-HK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科學方法：</a:t>
            </a:r>
            <a:endParaRPr lang="en-US" altLang="zh-TW" sz="2800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觀察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(making observations)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形成假說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(formulating a hypothesis)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HK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試驗假說 </a:t>
            </a: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(testing the hypothesis)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HK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修訂假說 </a:t>
            </a: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(revising the hypothesis)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HK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與同行討論 </a:t>
            </a: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(communicating with other scientists)</a:t>
            </a:r>
            <a:endParaRPr lang="en-US" altLang="zh-HK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099C69-EB93-47A6-B39A-F80BA79BFEDE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先介紹一些術語 </a:t>
            </a:r>
            <a:r>
              <a:rPr lang="en-US" altLang="zh-TW" sz="3800" u="sng" dirty="0">
                <a:latin typeface="Garamond" panose="02020404030301010803" pitchFamily="18" charset="0"/>
              </a:rPr>
              <a:t>(1/3)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8077200" cy="5791200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altLang="zh-TW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zh-TW" altLang="en-US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語言 </a:t>
            </a:r>
            <a:r>
              <a:rPr lang="en-US" altLang="zh-HK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Language</a:t>
            </a:r>
          </a:p>
          <a:p>
            <a:pPr>
              <a:lnSpc>
                <a:spcPct val="20000"/>
              </a:lnSpc>
              <a:defRPr/>
            </a:pPr>
            <a:endParaRPr lang="en-US" altLang="zh-TW" sz="24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542925" indent="-361950">
              <a:defRPr/>
            </a:pPr>
            <a:r>
              <a:rPr lang="zh-TW" altLang="en-US" sz="24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徐通鏘</a:t>
            </a:r>
            <a:r>
              <a:rPr lang="en-US" altLang="zh-TW" sz="24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(2001: 13,14) </a:t>
            </a:r>
            <a:r>
              <a:rPr lang="zh-TW" altLang="en-US" sz="1800" i="1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基礎語言學教程。</a:t>
            </a:r>
            <a:r>
              <a:rPr lang="zh-TW" altLang="en-US" sz="1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北京：北京大學出版社。</a:t>
            </a:r>
            <a:endParaRPr lang="en-US" altLang="zh-TW" sz="18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TW" sz="27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“</a:t>
            </a:r>
            <a:r>
              <a:rPr lang="zh-TW" altLang="en-US" sz="27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語言是人們用來</a:t>
            </a:r>
            <a:r>
              <a:rPr lang="zh-TW" altLang="en-US" sz="2700" dirty="0">
                <a:solidFill>
                  <a:srgbClr val="0070C0"/>
                </a:solidFill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交流思想</a:t>
            </a:r>
            <a:r>
              <a:rPr lang="zh-TW" altLang="en-US" sz="27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的最重要的交際工具</a:t>
            </a:r>
            <a:r>
              <a:rPr lang="en-US" altLang="zh-TW" sz="27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”</a:t>
            </a:r>
          </a:p>
          <a:p>
            <a:pPr lvl="1">
              <a:defRPr/>
            </a:pPr>
            <a:r>
              <a:rPr lang="en-US" altLang="zh-TW" sz="27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“</a:t>
            </a:r>
            <a:r>
              <a:rPr lang="zh-TW" altLang="en-US" sz="27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語言是現實的</a:t>
            </a:r>
            <a:r>
              <a:rPr lang="zh-TW" altLang="en-US" sz="2700" dirty="0">
                <a:solidFill>
                  <a:srgbClr val="0070C0"/>
                </a:solidFill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編碼體系</a:t>
            </a:r>
            <a:r>
              <a:rPr lang="en-US" altLang="zh-TW" sz="27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”</a:t>
            </a:r>
            <a:endParaRPr lang="zh-HK" altLang="en-US" sz="27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274320" indent="-274320" eaLnBrk="1" fontAlgn="auto" hangingPunct="1">
              <a:lnSpc>
                <a:spcPct val="20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altLang="zh-HK" sz="24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marL="542925" indent="-36195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HK" sz="2400" dirty="0">
                <a:latin typeface="Garamond" panose="02020404030301010803" pitchFamily="18" charset="0"/>
                <a:ea typeface="PMingLiU" panose="02020500000000000000" pitchFamily="18" charset="-120"/>
              </a:rPr>
              <a:t>Oxford Advanced Learner’s Dictionary</a:t>
            </a:r>
          </a:p>
          <a:p>
            <a:pPr marL="795020" lvl="2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HK" sz="2200" dirty="0">
                <a:latin typeface="Garamond" panose="02020404030301010803" pitchFamily="18" charset="0"/>
                <a:ea typeface="PMingLiU" panose="02020500000000000000" pitchFamily="18" charset="-120"/>
              </a:rPr>
              <a:t>[</a:t>
            </a:r>
            <a:r>
              <a:rPr lang="en-US" altLang="zh-HK" sz="2200" dirty="0">
                <a:solidFill>
                  <a:srgbClr val="00B05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countable</a:t>
            </a:r>
            <a:r>
              <a:rPr lang="en-US" altLang="zh-HK" sz="2200" dirty="0">
                <a:latin typeface="Garamond" panose="02020404030301010803" pitchFamily="18" charset="0"/>
                <a:ea typeface="PMingLiU" panose="02020500000000000000" pitchFamily="18" charset="-120"/>
              </a:rPr>
              <a:t>] the </a:t>
            </a:r>
            <a:r>
              <a:rPr lang="en-US" altLang="zh-HK" sz="2200" dirty="0">
                <a:solidFill>
                  <a:srgbClr val="0070C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system</a:t>
            </a:r>
            <a:r>
              <a:rPr lang="en-US" altLang="zh-HK" sz="2200" dirty="0">
                <a:latin typeface="Garamond" panose="02020404030301010803" pitchFamily="18" charset="0"/>
                <a:ea typeface="PMingLiU" panose="02020500000000000000" pitchFamily="18" charset="-120"/>
              </a:rPr>
              <a:t> of communication in speech and writing that is used by people of a particular country or area</a:t>
            </a:r>
          </a:p>
          <a:p>
            <a:pPr marL="1006158" lvl="3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HK" sz="1800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e.g., Cantonese is </a:t>
            </a:r>
            <a:r>
              <a:rPr lang="en-US" altLang="zh-HK" sz="1800" i="1" u="sng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a</a:t>
            </a:r>
            <a:r>
              <a:rPr lang="en-US" altLang="zh-HK" sz="1800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 language </a:t>
            </a:r>
            <a:r>
              <a:rPr lang="en-US" altLang="zh-HK" sz="1800" dirty="0">
                <a:latin typeface="Garamond" panose="02020404030301010803" pitchFamily="18" charset="0"/>
                <a:ea typeface="PMingLiU" panose="02020500000000000000" pitchFamily="18" charset="-120"/>
              </a:rPr>
              <a:t>[with an article]</a:t>
            </a:r>
            <a:r>
              <a:rPr lang="en-US" altLang="zh-HK" sz="1800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 spoken in Hong Kong.</a:t>
            </a:r>
          </a:p>
          <a:p>
            <a:pPr marL="1006158" lvl="3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HK" sz="1800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e.g., He knows several language</a:t>
            </a:r>
            <a:r>
              <a:rPr lang="en-US" altLang="zh-HK" sz="1800" i="1" u="sng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s</a:t>
            </a:r>
            <a:r>
              <a:rPr lang="en-US" altLang="zh-HK" sz="1800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. </a:t>
            </a:r>
            <a:r>
              <a:rPr lang="en-US" altLang="zh-HK" sz="1800" dirty="0">
                <a:latin typeface="Garamond" panose="02020404030301010803" pitchFamily="18" charset="0"/>
                <a:ea typeface="PMingLiU" panose="02020500000000000000" pitchFamily="18" charset="-120"/>
              </a:rPr>
              <a:t>[plural]</a:t>
            </a:r>
          </a:p>
          <a:p>
            <a:pPr marL="795020" lvl="2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sz="2200" dirty="0">
                <a:latin typeface="Garamond" panose="02020404030301010803" pitchFamily="18" charset="0"/>
                <a:ea typeface="PMingLiU" panose="02020500000000000000" pitchFamily="18" charset="-120"/>
              </a:rPr>
              <a:t>[</a:t>
            </a:r>
            <a:r>
              <a:rPr lang="en-US" altLang="zh-TW" sz="2200" dirty="0">
                <a:solidFill>
                  <a:srgbClr val="00B05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uncountable</a:t>
            </a:r>
            <a:r>
              <a:rPr lang="en-US" altLang="zh-TW" sz="2200" dirty="0">
                <a:latin typeface="Garamond" panose="02020404030301010803" pitchFamily="18" charset="0"/>
                <a:ea typeface="PMingLiU" panose="02020500000000000000" pitchFamily="18" charset="-120"/>
              </a:rPr>
              <a:t>] the use by humans of a system of sounds and words to communicate</a:t>
            </a:r>
          </a:p>
          <a:p>
            <a:pPr marL="1006158" lvl="3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TW" sz="1800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e.g., the scientific study of language </a:t>
            </a:r>
            <a:r>
              <a:rPr lang="en-US" altLang="zh-HK" sz="1800" dirty="0">
                <a:latin typeface="Garamond" panose="02020404030301010803" pitchFamily="18" charset="0"/>
                <a:ea typeface="PMingLiU" panose="02020500000000000000" pitchFamily="18" charset="-120"/>
              </a:rPr>
              <a:t>[without an article]</a:t>
            </a:r>
            <a:r>
              <a:rPr lang="en-US" altLang="zh-HK" sz="1800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 </a:t>
            </a:r>
            <a:r>
              <a:rPr lang="en-US" altLang="zh-TW" sz="1800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is called linguistics</a:t>
            </a:r>
          </a:p>
        </p:txBody>
      </p:sp>
      <p:sp>
        <p:nvSpPr>
          <p:cNvPr id="3993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6690EE-7376-4800-83D5-627342F15058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先介紹一些術語 </a:t>
            </a:r>
            <a:r>
              <a:rPr lang="en-US" altLang="zh-TW" sz="3800" u="sng" dirty="0">
                <a:latin typeface="Garamond" panose="02020404030301010803" pitchFamily="18" charset="0"/>
              </a:rPr>
              <a:t>(2/3)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eaLnBrk="1" fontAlgn="auto" hangingPunct="1">
              <a:spcBef>
                <a:spcPts val="58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endParaRPr lang="en-US" altLang="zh-HK" sz="28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HK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speech</a:t>
            </a:r>
            <a:r>
              <a:rPr lang="zh-TW" altLang="en-US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/</a:t>
            </a:r>
            <a:r>
              <a:rPr lang="zh-TW" altLang="en-US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HK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spoken language </a:t>
            </a:r>
            <a:r>
              <a:rPr lang="zh-TW" altLang="en-US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說話、言語</a:t>
            </a:r>
            <a:r>
              <a:rPr lang="zh-TW" alt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：</a:t>
            </a:r>
            <a:endParaRPr lang="en-US" altLang="zh-TW" sz="2800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語言能力最主要的外在表現形式</a:t>
            </a:r>
            <a:br>
              <a:rPr lang="en-US" altLang="zh-TW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</a:b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the primary form of language</a:t>
            </a:r>
            <a:br>
              <a:rPr lang="en-US" altLang="zh-TW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</a:br>
            <a:endParaRPr lang="en-US" altLang="zh-TW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endParaRPr lang="en-US" altLang="zh-HK" sz="28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HK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a linguist		vs.		a polyglot</a:t>
            </a:r>
            <a:br>
              <a:rPr lang="en-US" altLang="zh-HK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</a:br>
            <a:r>
              <a:rPr lang="zh-TW" altLang="en-US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語言學家</a:t>
            </a:r>
            <a:r>
              <a:rPr lang="en-US" altLang="zh-TW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			       </a:t>
            </a:r>
            <a:r>
              <a:rPr lang="zh-TW" altLang="en-US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懂多種語言的人</a:t>
            </a:r>
            <a:endParaRPr lang="en-US" altLang="zh-TW" sz="2800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altLang="zh-TW" sz="2800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altLang="zh-HK" sz="28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>
              <a:defRPr/>
            </a:pPr>
            <a:endParaRPr lang="zh-HK" altLang="en-US" dirty="0">
              <a:latin typeface="Garamond" panose="02020404030301010803" pitchFamily="18" charset="0"/>
              <a:ea typeface="PMingLiU" panose="02020500000000000000" pitchFamily="18" charset="-120"/>
            </a:endParaRPr>
          </a:p>
        </p:txBody>
      </p:sp>
      <p:sp>
        <p:nvSpPr>
          <p:cNvPr id="4198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0ADBB0-C7ED-4941-8694-FDD6FEA8D44E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先介紹一些術語 </a:t>
            </a:r>
            <a:r>
              <a:rPr lang="en-US" altLang="zh-TW" sz="3800" u="sng" dirty="0">
                <a:latin typeface="Garamond" panose="02020404030301010803" pitchFamily="18" charset="0"/>
              </a:rPr>
              <a:t>(3/3)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7715250" cy="5334000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「某人懂得說某種語言」是甚麼意思？</a:t>
            </a: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sz="3200" dirty="0">
                <a:latin typeface="Garamond" panose="02020404030301010803" pitchFamily="18" charset="0"/>
                <a:ea typeface="新細明體" panose="02020500000000000000" pitchFamily="18" charset="-120"/>
              </a:rPr>
              <a:t>這人懂得關於語言的哪些方面？</a:t>
            </a:r>
            <a:endParaRPr lang="en-US" altLang="zh-TW" sz="32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語言（口語）基本要素：</a:t>
            </a: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sz="3200" dirty="0">
                <a:latin typeface="Garamond" panose="02020404030301010803" pitchFamily="18" charset="0"/>
                <a:ea typeface="新細明體" panose="02020500000000000000" pitchFamily="18" charset="-120"/>
              </a:rPr>
              <a:t>語音 </a:t>
            </a:r>
            <a:r>
              <a:rPr lang="en-US" altLang="zh-TW" sz="3200" dirty="0">
                <a:latin typeface="Garamond" panose="02020404030301010803" pitchFamily="18" charset="0"/>
                <a:ea typeface="新細明體" panose="02020500000000000000" pitchFamily="18" charset="-120"/>
              </a:rPr>
              <a:t>speech sounds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sz="3200" dirty="0">
                <a:latin typeface="Garamond" panose="02020404030301010803" pitchFamily="18" charset="0"/>
                <a:ea typeface="新細明體" panose="02020500000000000000" pitchFamily="18" charset="-120"/>
              </a:rPr>
              <a:t>詞彙 </a:t>
            </a:r>
            <a:r>
              <a:rPr lang="en-US" altLang="zh-TW" sz="3200" dirty="0">
                <a:latin typeface="Garamond" panose="02020404030301010803" pitchFamily="18" charset="0"/>
                <a:ea typeface="新細明體" panose="02020500000000000000" pitchFamily="18" charset="-120"/>
              </a:rPr>
              <a:t>lexicon / vocabulary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sz="3200" dirty="0">
                <a:latin typeface="Garamond" panose="02020404030301010803" pitchFamily="18" charset="0"/>
                <a:ea typeface="新細明體" panose="02020500000000000000" pitchFamily="18" charset="-120"/>
              </a:rPr>
              <a:t>語法 </a:t>
            </a:r>
            <a:r>
              <a:rPr lang="en-US" altLang="zh-TW" sz="3200" dirty="0">
                <a:latin typeface="Garamond" panose="02020404030301010803" pitchFamily="18" charset="0"/>
                <a:ea typeface="新細明體" panose="02020500000000000000" pitchFamily="18" charset="-120"/>
              </a:rPr>
              <a:t>grammar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zh-TW" altLang="en-US" sz="3200" dirty="0">
                <a:latin typeface="Garamond" panose="02020404030301010803" pitchFamily="18" charset="0"/>
                <a:ea typeface="新細明體" panose="02020500000000000000" pitchFamily="18" charset="-120"/>
              </a:rPr>
              <a:t>意義 </a:t>
            </a:r>
            <a:r>
              <a:rPr lang="en-US" altLang="zh-TW" sz="3200" dirty="0">
                <a:latin typeface="Garamond" panose="02020404030301010803" pitchFamily="18" charset="0"/>
                <a:ea typeface="新細明體" panose="02020500000000000000" pitchFamily="18" charset="-120"/>
              </a:rPr>
              <a:t>meaning</a:t>
            </a:r>
            <a:endParaRPr lang="zh-HK" altLang="en-US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B404E3-59D9-410C-B5B5-4042FE155E73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語言的基本要素 </a:t>
            </a:r>
            <a:r>
              <a:rPr lang="en-US" altLang="zh-TW" sz="3800" u="sng" dirty="0">
                <a:latin typeface="Garamond" panose="02020404030301010803" pitchFamily="18" charset="0"/>
              </a:rPr>
              <a:t>(1/5)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635875" cy="5181600"/>
          </a:xfrm>
        </p:spPr>
        <p:txBody>
          <a:bodyPr/>
          <a:lstStyle/>
          <a:p>
            <a:pPr>
              <a:defRPr/>
            </a:pPr>
            <a:r>
              <a:rPr lang="zh-TW" altLang="en-US" b="1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語音</a:t>
            </a: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方面的例子</a:t>
            </a:r>
            <a:endParaRPr lang="en-US" altLang="zh-TW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defRPr/>
            </a:pPr>
            <a:endParaRPr lang="en-US" altLang="zh-HK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defRPr/>
            </a:pPr>
            <a:r>
              <a:rPr lang="en-US" altLang="zh-HK" dirty="0">
                <a:latin typeface="Garamond" panose="02020404030301010803" pitchFamily="18" charset="0"/>
                <a:ea typeface="PMingLiU" panose="02020500000000000000" pitchFamily="18" charset="-120"/>
              </a:rPr>
              <a:t>English:		</a:t>
            </a:r>
            <a:r>
              <a:rPr lang="en-US" altLang="zh-HK" i="1" dirty="0">
                <a:solidFill>
                  <a:srgbClr val="0070C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thin    tin    ring</a:t>
            </a:r>
          </a:p>
          <a:p>
            <a:pPr>
              <a:defRPr/>
            </a:pP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留意 </a:t>
            </a:r>
            <a:r>
              <a:rPr lang="en-US" altLang="zh-HK" dirty="0">
                <a:latin typeface="Garamond" panose="02020404030301010803" pitchFamily="18" charset="0"/>
                <a:ea typeface="PMingLiU" panose="02020500000000000000" pitchFamily="18" charset="-120"/>
              </a:rPr>
              <a:t>“</a:t>
            </a:r>
            <a:r>
              <a:rPr lang="en-US" altLang="zh-HK" i="1" dirty="0" err="1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th</a:t>
            </a:r>
            <a:r>
              <a:rPr lang="en-US" altLang="zh-HK" dirty="0">
                <a:latin typeface="Garamond" panose="02020404030301010803" pitchFamily="18" charset="0"/>
                <a:ea typeface="PMingLiU" panose="02020500000000000000" pitchFamily="18" charset="-120"/>
              </a:rPr>
              <a:t>” </a:t>
            </a: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音、</a:t>
            </a:r>
            <a:r>
              <a:rPr lang="en-US" altLang="zh-TW" dirty="0">
                <a:latin typeface="Garamond" panose="02020404030301010803" pitchFamily="18" charset="0"/>
                <a:ea typeface="PMingLiU" panose="02020500000000000000" pitchFamily="18" charset="-120"/>
              </a:rPr>
              <a:t>“</a:t>
            </a:r>
            <a:r>
              <a:rPr lang="en-US" altLang="zh-TW" i="1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r</a:t>
            </a:r>
            <a:r>
              <a:rPr lang="en-US" altLang="zh-TW" dirty="0">
                <a:latin typeface="Garamond" panose="02020404030301010803" pitchFamily="18" charset="0"/>
                <a:ea typeface="PMingLiU" panose="02020500000000000000" pitchFamily="18" charset="-120"/>
              </a:rPr>
              <a:t>” </a:t>
            </a: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音、</a:t>
            </a:r>
            <a:r>
              <a:rPr lang="en-US" altLang="zh-HK" dirty="0">
                <a:latin typeface="Garamond" panose="02020404030301010803" pitchFamily="18" charset="0"/>
                <a:ea typeface="PMingLiU" panose="02020500000000000000" pitchFamily="18" charset="-120"/>
              </a:rPr>
              <a:t>“</a:t>
            </a:r>
            <a:r>
              <a:rPr lang="en-US" altLang="zh-HK" i="1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ng</a:t>
            </a:r>
            <a:r>
              <a:rPr lang="en-US" altLang="zh-HK" dirty="0">
                <a:latin typeface="Garamond" panose="02020404030301010803" pitchFamily="18" charset="0"/>
                <a:ea typeface="PMingLiU" panose="02020500000000000000" pitchFamily="18" charset="-120"/>
              </a:rPr>
              <a:t>” </a:t>
            </a: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音</a:t>
            </a:r>
            <a:endParaRPr lang="en-US" altLang="zh-TW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lvl="1">
              <a:defRPr/>
            </a:pP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粵語有沒有英語中的 </a:t>
            </a:r>
            <a:r>
              <a:rPr lang="en-US" altLang="zh-HK" dirty="0">
                <a:latin typeface="Garamond" panose="02020404030301010803" pitchFamily="18" charset="0"/>
                <a:ea typeface="PMingLiU" panose="02020500000000000000" pitchFamily="18" charset="-120"/>
              </a:rPr>
              <a:t>“</a:t>
            </a:r>
            <a:r>
              <a:rPr lang="en-US" altLang="zh-HK" i="1" dirty="0" err="1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th</a:t>
            </a:r>
            <a:r>
              <a:rPr lang="en-US" altLang="zh-HK" dirty="0">
                <a:latin typeface="Garamond" panose="02020404030301010803" pitchFamily="18" charset="0"/>
                <a:ea typeface="PMingLiU" panose="02020500000000000000" pitchFamily="18" charset="-120"/>
              </a:rPr>
              <a:t>” </a:t>
            </a: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音和 </a:t>
            </a:r>
            <a:r>
              <a:rPr lang="en-US" altLang="zh-TW" dirty="0">
                <a:latin typeface="Garamond" panose="02020404030301010803" pitchFamily="18" charset="0"/>
                <a:ea typeface="PMingLiU" panose="02020500000000000000" pitchFamily="18" charset="-120"/>
              </a:rPr>
              <a:t>“</a:t>
            </a:r>
            <a:r>
              <a:rPr lang="en-US" altLang="zh-TW" i="1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r</a:t>
            </a:r>
            <a:r>
              <a:rPr lang="en-US" altLang="zh-TW" dirty="0">
                <a:latin typeface="Garamond" panose="02020404030301010803" pitchFamily="18" charset="0"/>
                <a:ea typeface="PMingLiU" panose="02020500000000000000" pitchFamily="18" charset="-120"/>
              </a:rPr>
              <a:t>” </a:t>
            </a: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音</a:t>
            </a:r>
            <a:endParaRPr lang="en-US" altLang="zh-TW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lvl="1">
              <a:defRPr/>
            </a:pP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英語和粵語的 </a:t>
            </a:r>
            <a:r>
              <a:rPr lang="en-US" altLang="zh-TW" dirty="0">
                <a:latin typeface="Garamond" panose="02020404030301010803" pitchFamily="18" charset="0"/>
                <a:ea typeface="PMingLiU" panose="02020500000000000000" pitchFamily="18" charset="-120"/>
              </a:rPr>
              <a:t>“</a:t>
            </a:r>
            <a:r>
              <a:rPr lang="en-US" altLang="zh-HK" i="1" dirty="0">
                <a:solidFill>
                  <a:srgbClr val="B51757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ng</a:t>
            </a:r>
            <a:r>
              <a:rPr lang="en-US" altLang="zh-TW" dirty="0">
                <a:latin typeface="Garamond" panose="02020404030301010803" pitchFamily="18" charset="0"/>
                <a:ea typeface="PMingLiU" panose="02020500000000000000" pitchFamily="18" charset="-120"/>
              </a:rPr>
              <a:t>”</a:t>
            </a: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音在分佈上有甚麼不同？</a:t>
            </a:r>
            <a:endParaRPr lang="en-US" altLang="zh-HK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marL="365125" lvl="1" indent="-282575">
              <a:spcBef>
                <a:spcPts val="600"/>
              </a:spcBef>
              <a:buSzPct val="80000"/>
              <a:buFont typeface="Wingdings 2" panose="05020102010507070707" pitchFamily="18" charset="2"/>
              <a:buChar char=""/>
              <a:defRPr/>
            </a:pPr>
            <a:r>
              <a:rPr lang="zh-TW" altLang="en-US" sz="3200" dirty="0">
                <a:latin typeface="Garamond" panose="02020404030301010803" pitchFamily="18" charset="0"/>
                <a:ea typeface="PMingLiU" panose="02020500000000000000" pitchFamily="18" charset="-120"/>
              </a:rPr>
              <a:t>英語中的 </a:t>
            </a:r>
            <a:r>
              <a:rPr lang="en-US" altLang="zh-TW" sz="3200" i="1" dirty="0">
                <a:solidFill>
                  <a:srgbClr val="0070C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tin</a:t>
            </a:r>
            <a:r>
              <a:rPr lang="en-US" altLang="zh-TW" sz="3200" dirty="0">
                <a:latin typeface="Garamond" panose="02020404030301010803" pitchFamily="18" charset="0"/>
                <a:ea typeface="PMingLiU" panose="02020500000000000000" pitchFamily="18" charset="-120"/>
              </a:rPr>
              <a:t> </a:t>
            </a:r>
            <a:r>
              <a:rPr lang="zh-TW" altLang="en-US" sz="3200" dirty="0">
                <a:latin typeface="Garamond" panose="02020404030301010803" pitchFamily="18" charset="0"/>
                <a:ea typeface="PMingLiU" panose="02020500000000000000" pitchFamily="18" charset="-120"/>
              </a:rPr>
              <a:t>和 </a:t>
            </a:r>
            <a:r>
              <a:rPr lang="en-US" altLang="zh-TW" sz="3200" i="1" dirty="0">
                <a:solidFill>
                  <a:srgbClr val="0070C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teen </a:t>
            </a:r>
            <a:r>
              <a:rPr lang="zh-TW" altLang="en-US" sz="3200" dirty="0">
                <a:latin typeface="Garamond" panose="02020404030301010803" pitchFamily="18" charset="0"/>
                <a:ea typeface="PMingLiU" panose="02020500000000000000" pitchFamily="18" charset="-120"/>
              </a:rPr>
              <a:t>發音一樣嗎？</a:t>
            </a:r>
            <a:endParaRPr lang="en-US" altLang="zh-TW" sz="32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lnSpc>
                <a:spcPct val="50000"/>
              </a:lnSpc>
              <a:defRPr/>
            </a:pPr>
            <a:endParaRPr lang="en-US" altLang="zh-HK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defRPr/>
            </a:pP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發音器官；描述不同的語音</a:t>
            </a:r>
            <a:endParaRPr lang="en-US" altLang="zh-TW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defRPr/>
            </a:pP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語音在</a:t>
            </a:r>
            <a:r>
              <a:rPr lang="zh-TW" altLang="en-US">
                <a:latin typeface="Garamond" panose="02020404030301010803" pitchFamily="18" charset="0"/>
                <a:ea typeface="PMingLiU" panose="02020500000000000000" pitchFamily="18" charset="-120"/>
              </a:rPr>
              <a:t>不同語言裏的</a:t>
            </a:r>
            <a:r>
              <a:rPr lang="zh-TW" altLang="en-US" dirty="0">
                <a:latin typeface="Garamond" panose="02020404030301010803" pitchFamily="18" charset="0"/>
                <a:ea typeface="PMingLiU" panose="02020500000000000000" pitchFamily="18" charset="-120"/>
              </a:rPr>
              <a:t>組合</a:t>
            </a:r>
            <a:endParaRPr lang="en-US" altLang="zh-HK" dirty="0">
              <a:latin typeface="Garamond" panose="02020404030301010803" pitchFamily="18" charset="0"/>
              <a:ea typeface="PMingLiU" panose="02020500000000000000" pitchFamily="18" charset="-120"/>
            </a:endParaRPr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EF648D-1E46-434E-826B-A469787308D5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語言的基本要素 </a:t>
            </a:r>
            <a:r>
              <a:rPr lang="en-US" altLang="zh-TW" sz="3800" u="sng" dirty="0">
                <a:latin typeface="Garamond" panose="02020404030301010803" pitchFamily="18" charset="0"/>
              </a:rPr>
              <a:t>(2/5)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181600"/>
          </a:xfrm>
        </p:spPr>
        <p:txBody>
          <a:bodyPr/>
          <a:lstStyle/>
          <a:p>
            <a:r>
              <a:rPr lang="zh-TW" altLang="en-US" b="1" dirty="0">
                <a:solidFill>
                  <a:srgbClr val="7030A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詞彙</a:t>
            </a: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方面的例子</a:t>
            </a: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English:		</a:t>
            </a:r>
            <a:r>
              <a:rPr lang="en-US" altLang="zh-HK" i="1" dirty="0">
                <a:solidFill>
                  <a:srgbClr val="0070C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cat	teacher   disallowed</a:t>
            </a:r>
          </a:p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能否把這些單詞分割成更小的、有意義的單位？</a:t>
            </a:r>
            <a:endParaRPr lang="en-US" altLang="zh-HK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詞語：形義結合體</a:t>
            </a: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詞語的構造</a:t>
            </a:r>
            <a:endParaRPr lang="en-US" altLang="zh-HK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FDDED2-5E96-4E82-958C-85798DC518F3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語言的基本要素 </a:t>
            </a:r>
            <a:r>
              <a:rPr lang="en-US" altLang="zh-TW" sz="3800" u="sng" dirty="0">
                <a:latin typeface="Garamond" panose="02020404030301010803" pitchFamily="18" charset="0"/>
              </a:rPr>
              <a:t>(3/5)</a:t>
            </a:r>
            <a:endParaRPr lang="zh-HK" altLang="en-US" sz="3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181600"/>
          </a:xfrm>
        </p:spPr>
        <p:txBody>
          <a:bodyPr/>
          <a:lstStyle/>
          <a:p>
            <a:r>
              <a:rPr lang="zh-TW" altLang="en-US" b="1" dirty="0">
                <a:solidFill>
                  <a:srgbClr val="7030A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語法</a:t>
            </a: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方面的例子</a:t>
            </a: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English: 		</a:t>
            </a:r>
            <a:r>
              <a:rPr lang="en-US" altLang="zh-HK" i="1" dirty="0">
                <a:solidFill>
                  <a:srgbClr val="0070C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The dog ran away.</a:t>
            </a:r>
          </a:p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這樣說可以嗎？</a:t>
            </a:r>
            <a: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  <a:t>	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*Ran the away dog.</a:t>
            </a:r>
          </a:p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為甚麼？</a:t>
            </a: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語言成分按照一定的</a:t>
            </a:r>
            <a:r>
              <a:rPr lang="zh-TW" altLang="en-US" b="1" dirty="0">
                <a:solidFill>
                  <a:srgbClr val="7030A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語言組合法則</a:t>
            </a: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組織起來</a:t>
            </a: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4608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E7678D-9E23-4603-8133-8805BD4C7E5E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語言的基本要素 </a:t>
            </a:r>
            <a:r>
              <a:rPr lang="en-US" altLang="zh-TW" sz="3800" u="sng" dirty="0">
                <a:latin typeface="Garamond" panose="02020404030301010803" pitchFamily="18" charset="0"/>
              </a:rPr>
              <a:t>(4/5)</a:t>
            </a:r>
            <a:endParaRPr lang="zh-HK" altLang="en-US" sz="3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105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TW" altLang="en-US" dirty="0">
                <a:latin typeface="Arial" panose="020B0604020202020204" pitchFamily="34" charset="0"/>
                <a:ea typeface="新細明體" panose="02020500000000000000" pitchFamily="18" charset="-120"/>
              </a:rPr>
              <a:t>語言</a:t>
            </a:r>
            <a:r>
              <a:rPr lang="zh-TW" altLang="en-US" b="1" dirty="0">
                <a:solidFill>
                  <a:srgbClr val="7030A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意義</a:t>
            </a:r>
            <a:r>
              <a:rPr lang="zh-TW" altLang="en-US" dirty="0">
                <a:latin typeface="Arial" panose="020B0604020202020204" pitchFamily="34" charset="0"/>
                <a:ea typeface="新細明體" panose="02020500000000000000" pitchFamily="18" charset="-120"/>
              </a:rPr>
              <a:t>方面的例子</a:t>
            </a:r>
            <a:endParaRPr lang="en-US" altLang="zh-TW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</a:pPr>
            <a:endParaRPr lang="en-US" altLang="zh-TW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</a:pPr>
            <a:r>
              <a:rPr lang="zh-TW" altLang="zh-HK" dirty="0">
                <a:latin typeface="Arial" panose="020B0604020202020204" pitchFamily="34" charset="0"/>
                <a:ea typeface="新細明體" panose="02020500000000000000" pitchFamily="18" charset="-120"/>
              </a:rPr>
              <a:t>甲：</a:t>
            </a:r>
            <a:r>
              <a:rPr lang="zh-TW" altLang="en-US" dirty="0">
                <a:latin typeface="Arial" panose="020B0604020202020204" pitchFamily="34" charset="0"/>
                <a:ea typeface="新細明體" panose="02020500000000000000" pitchFamily="18" charset="-120"/>
              </a:rPr>
              <a:t>喂</a:t>
            </a:r>
            <a:r>
              <a:rPr lang="zh-TW" altLang="zh-HK" dirty="0">
                <a:latin typeface="Arial" panose="020B0604020202020204" pitchFamily="34" charset="0"/>
                <a:ea typeface="新細明體" panose="02020500000000000000" pitchFamily="18" charset="-120"/>
              </a:rPr>
              <a:t>，</a:t>
            </a:r>
            <a:r>
              <a:rPr lang="zh-TW" altLang="en-US" dirty="0">
                <a:latin typeface="Arial" panose="020B0604020202020204" pitchFamily="34" charset="0"/>
                <a:ea typeface="新細明體" panose="02020500000000000000" pitchFamily="18" charset="-120"/>
              </a:rPr>
              <a:t>你甚麼時候把錢還我啊？</a:t>
            </a:r>
            <a:endParaRPr lang="zh-TW" altLang="zh-HK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</a:pPr>
            <a:r>
              <a:rPr lang="zh-TW" altLang="zh-HK" dirty="0">
                <a:latin typeface="Arial" panose="020B0604020202020204" pitchFamily="34" charset="0"/>
                <a:ea typeface="新細明體" panose="02020500000000000000" pitchFamily="18" charset="-120"/>
              </a:rPr>
              <a:t>乙：</a:t>
            </a:r>
            <a:r>
              <a:rPr lang="zh-TW" altLang="en-US" dirty="0">
                <a:latin typeface="Arial" panose="020B0604020202020204" pitchFamily="34" charset="0"/>
                <a:ea typeface="新細明體" panose="02020500000000000000" pitchFamily="18" charset="-120"/>
              </a:rPr>
              <a:t>今天天氣不太好，好像會下雨。</a:t>
            </a:r>
            <a:endParaRPr lang="en-US" altLang="zh-TW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</a:pPr>
            <a:endParaRPr lang="en-US" altLang="zh-HK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</a:pPr>
            <a:r>
              <a:rPr lang="zh-TW" altLang="zh-HK" dirty="0">
                <a:latin typeface="Arial" panose="020B0604020202020204" pitchFamily="34" charset="0"/>
                <a:ea typeface="新細明體" panose="02020500000000000000" pitchFamily="18" charset="-120"/>
              </a:rPr>
              <a:t>甲：</a:t>
            </a:r>
            <a:r>
              <a:rPr lang="zh-TW" altLang="en-US" dirty="0">
                <a:latin typeface="Arial" panose="020B0604020202020204" pitchFamily="34" charset="0"/>
                <a:ea typeface="新細明體" panose="02020500000000000000" pitchFamily="18" charset="-120"/>
              </a:rPr>
              <a:t>選這個好嗎</a:t>
            </a:r>
            <a:r>
              <a:rPr lang="zh-TW" altLang="zh-HK" dirty="0">
                <a:latin typeface="Arial" panose="020B0604020202020204" pitchFamily="34" charset="0"/>
                <a:ea typeface="新細明體" panose="02020500000000000000" pitchFamily="18" charset="-120"/>
              </a:rPr>
              <a:t>？</a:t>
            </a:r>
          </a:p>
          <a:p>
            <a:pPr>
              <a:spcBef>
                <a:spcPct val="0"/>
              </a:spcBef>
            </a:pPr>
            <a:r>
              <a:rPr lang="zh-TW" altLang="zh-HK" dirty="0">
                <a:latin typeface="Arial" panose="020B0604020202020204" pitchFamily="34" charset="0"/>
                <a:ea typeface="新細明體" panose="02020500000000000000" pitchFamily="18" charset="-120"/>
              </a:rPr>
              <a:t>乙：好</a:t>
            </a:r>
            <a:r>
              <a:rPr lang="zh-TW" altLang="en-US" dirty="0">
                <a:latin typeface="Arial" panose="020B0604020202020204" pitchFamily="34" charset="0"/>
                <a:ea typeface="新細明體" panose="02020500000000000000" pitchFamily="18" charset="-120"/>
              </a:rPr>
              <a:t>。</a:t>
            </a:r>
            <a:endParaRPr lang="en-US" altLang="zh-TW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</a:pPr>
            <a:endParaRPr lang="en-US" altLang="zh-HK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</a:pPr>
            <a:r>
              <a:rPr lang="zh-TW" altLang="en-US" b="1" dirty="0">
                <a:solidFill>
                  <a:srgbClr val="7030A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字句</a:t>
            </a:r>
            <a:r>
              <a:rPr lang="zh-TW" altLang="en-US" dirty="0">
                <a:latin typeface="Arial" panose="020B0604020202020204" pitchFamily="34" charset="0"/>
                <a:ea typeface="新細明體" panose="02020500000000000000" pitchFamily="18" charset="-120"/>
              </a:rPr>
              <a:t>的意義</a:t>
            </a:r>
            <a:endParaRPr lang="en-US" altLang="zh-TW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</a:pPr>
            <a:r>
              <a:rPr lang="zh-TW" altLang="en-US" dirty="0">
                <a:solidFill>
                  <a:srgbClr val="7030A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說話者</a:t>
            </a:r>
            <a:r>
              <a:rPr lang="zh-TW" altLang="en-US" dirty="0">
                <a:latin typeface="Arial" panose="020B0604020202020204" pitchFamily="34" charset="0"/>
                <a:ea typeface="新細明體" panose="02020500000000000000" pitchFamily="18" charset="-120"/>
              </a:rPr>
              <a:t>想要傳達的意義</a:t>
            </a:r>
            <a:endParaRPr lang="zh-HK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6D44C1-CD50-4BA5-AF56-36CE3C3FF105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語言的基本要素 </a:t>
            </a:r>
            <a:r>
              <a:rPr lang="en-US" altLang="zh-TW" sz="3800" u="sng" dirty="0">
                <a:latin typeface="Garamond" panose="02020404030301010803" pitchFamily="18" charset="0"/>
              </a:rPr>
              <a:t>(5/5)</a:t>
            </a:r>
            <a:endParaRPr lang="zh-HK" altLang="en-US" sz="3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 dirty="0"/>
          </a:p>
        </p:txBody>
      </p:sp>
      <p:pic>
        <p:nvPicPr>
          <p:cNvPr id="49155" name="Picture 2" descr="C:\Wingli\Files\Dropbox\Work\PolyU-CBS465-Applied Pronunciation Studies\CBS465-201209-WingLi\speech-chain-five-level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00" y="5703888"/>
            <a:ext cx="7594600" cy="77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3" descr="C:\Wingli\Files\Dropbox\Work\PolyU-CBS465-Applied Pronunciation Studies\CBS465-201209-WingLi\speechchain - edited - no head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55750"/>
            <a:ext cx="8077200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78301C-C0AC-43F2-8E23-F10D03F0DA0D}" type="slidenum">
              <a:rPr lang="en-US" altLang="zh-HK" sz="1200" smtClean="0">
                <a:solidFill>
                  <a:srgbClr val="B5A788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HK" sz="1200">
              <a:solidFill>
                <a:srgbClr val="B5A788"/>
              </a:solidFill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言語鏈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C4346-A0C3-47B4-B294-C4E04E62534B}"/>
              </a:ext>
            </a:extLst>
          </p:cNvPr>
          <p:cNvSpPr/>
          <p:nvPr/>
        </p:nvSpPr>
        <p:spPr>
          <a:xfrm>
            <a:off x="4002079" y="1525588"/>
            <a:ext cx="2365391" cy="461665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r>
              <a:rPr lang="zh-HK" altLang="en-US" dirty="0"/>
              <a:t>The Speech Chain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latin typeface="新細明體" panose="02020500000000000000" pitchFamily="18" charset="-120"/>
                <a:ea typeface="新細明體" panose="02020500000000000000" pitchFamily="18" charset="-120"/>
              </a:rPr>
              <a:t>語言結構和語言學的主要分支</a:t>
            </a:r>
            <a:endParaRPr lang="en-US" altLang="zh-HK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5017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3F4D8C-4570-46AF-9796-1EA21A99BA9E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pic>
        <p:nvPicPr>
          <p:cNvPr id="50180" name="Picture 2" descr="C:\Users\CBS\Desktop\LevelsOfLanguage-Graph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133600"/>
            <a:ext cx="7791450" cy="443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Rectangle 6"/>
          <p:cNvSpPr>
            <a:spLocks noChangeArrowheads="1"/>
          </p:cNvSpPr>
          <p:nvPr/>
        </p:nvSpPr>
        <p:spPr bwMode="auto">
          <a:xfrm>
            <a:off x="1447800" y="38100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語音學</a:t>
            </a:r>
            <a:endParaRPr lang="en-US" altLang="zh-HK" sz="24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182" name="Rectangle 7"/>
          <p:cNvSpPr>
            <a:spLocks noChangeArrowheads="1"/>
          </p:cNvSpPr>
          <p:nvPr/>
        </p:nvSpPr>
        <p:spPr bwMode="auto">
          <a:xfrm>
            <a:off x="2667000" y="3813175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音韻學</a:t>
            </a:r>
            <a:endParaRPr lang="en-US" altLang="zh-HK" sz="24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183" name="Rectangle 8"/>
          <p:cNvSpPr>
            <a:spLocks noChangeArrowheads="1"/>
          </p:cNvSpPr>
          <p:nvPr/>
        </p:nvSpPr>
        <p:spPr bwMode="auto">
          <a:xfrm>
            <a:off x="3937000" y="38100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構詞學</a:t>
            </a:r>
            <a:endParaRPr lang="en-US" altLang="zh-HK" sz="24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184" name="Rectangle 9"/>
          <p:cNvSpPr>
            <a:spLocks noChangeArrowheads="1"/>
          </p:cNvSpPr>
          <p:nvPr/>
        </p:nvSpPr>
        <p:spPr bwMode="auto">
          <a:xfrm>
            <a:off x="5062538" y="38100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句法學</a:t>
            </a:r>
            <a:endParaRPr lang="en-US" altLang="zh-HK" sz="24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185" name="Rectangle 10"/>
          <p:cNvSpPr>
            <a:spLocks noChangeArrowheads="1"/>
          </p:cNvSpPr>
          <p:nvPr/>
        </p:nvSpPr>
        <p:spPr bwMode="auto">
          <a:xfrm>
            <a:off x="6170613" y="3816350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語義學</a:t>
            </a:r>
            <a:endParaRPr lang="en-US" altLang="zh-HK" sz="24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186" name="Rectangle 11"/>
          <p:cNvSpPr>
            <a:spLocks noChangeArrowheads="1"/>
          </p:cNvSpPr>
          <p:nvPr/>
        </p:nvSpPr>
        <p:spPr bwMode="auto">
          <a:xfrm>
            <a:off x="7278688" y="3816350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語用學</a:t>
            </a:r>
            <a:endParaRPr lang="en-US" altLang="zh-HK" sz="24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語言學的主要分支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1143000" y="1327150"/>
            <a:ext cx="7791450" cy="5378450"/>
          </a:xfrm>
        </p:spPr>
        <p:txBody>
          <a:bodyPr/>
          <a:lstStyle/>
          <a:p>
            <a:pPr eaLnBrk="1" hangingPunct="1"/>
            <a:r>
              <a:rPr lang="en-US" altLang="zh-HK" sz="2600" u="sng">
                <a:latin typeface="Garamond" panose="02020404030301010803" pitchFamily="18" charset="0"/>
                <a:ea typeface="新細明體" panose="02020500000000000000" pitchFamily="18" charset="-120"/>
              </a:rPr>
              <a:t>signs </a:t>
            </a:r>
            <a:r>
              <a:rPr lang="zh-TW" altLang="en-US" sz="2600" u="sng">
                <a:latin typeface="Garamond" panose="02020404030301010803" pitchFamily="18" charset="0"/>
                <a:ea typeface="新細明體" panose="02020500000000000000" pitchFamily="18" charset="-120"/>
              </a:rPr>
              <a:t>符號</a:t>
            </a:r>
            <a:endParaRPr lang="en-US" altLang="zh-HK" sz="2600" u="sng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 eaLnBrk="1" hangingPunct="1"/>
            <a:r>
              <a:rPr lang="zh-TW" altLang="en-US" sz="2400">
                <a:latin typeface="Garamond" panose="02020404030301010803" pitchFamily="18" charset="0"/>
                <a:ea typeface="新細明體" panose="02020500000000000000" pitchFamily="18" charset="-120"/>
              </a:rPr>
              <a:t>由</a:t>
            </a:r>
            <a:r>
              <a:rPr lang="en-US" altLang="zh-HK" sz="2400">
                <a:latin typeface="Garamond" panose="02020404030301010803" pitchFamily="18" charset="0"/>
                <a:ea typeface="新細明體" panose="02020500000000000000" pitchFamily="18" charset="-120"/>
              </a:rPr>
              <a:t> </a:t>
            </a:r>
            <a:r>
              <a:rPr lang="en-US" altLang="zh-HK" sz="2400" u="sng">
                <a:latin typeface="Garamond" panose="02020404030301010803" pitchFamily="18" charset="0"/>
                <a:ea typeface="新細明體" panose="02020500000000000000" pitchFamily="18" charset="-120"/>
              </a:rPr>
              <a:t>form </a:t>
            </a:r>
            <a:r>
              <a:rPr lang="zh-TW" altLang="en-US" sz="2400" u="sng">
                <a:latin typeface="Garamond" panose="02020404030301010803" pitchFamily="18" charset="0"/>
                <a:ea typeface="新細明體" panose="02020500000000000000" pitchFamily="18" charset="-120"/>
              </a:rPr>
              <a:t>形式</a:t>
            </a:r>
            <a:r>
              <a:rPr lang="zh-TW" altLang="en-US" sz="2400">
                <a:latin typeface="Garamond" panose="02020404030301010803" pitchFamily="18" charset="0"/>
                <a:ea typeface="新細明體" panose="02020500000000000000" pitchFamily="18" charset="-120"/>
              </a:rPr>
              <a:t> 和</a:t>
            </a:r>
            <a:r>
              <a:rPr lang="en-US" altLang="zh-HK" sz="2400">
                <a:latin typeface="Garamond" panose="02020404030301010803" pitchFamily="18" charset="0"/>
                <a:ea typeface="新細明體" panose="02020500000000000000" pitchFamily="18" charset="-120"/>
              </a:rPr>
              <a:t> </a:t>
            </a:r>
            <a:r>
              <a:rPr lang="en-US" altLang="zh-HK" sz="2400" u="sng">
                <a:latin typeface="Garamond" panose="02020404030301010803" pitchFamily="18" charset="0"/>
                <a:ea typeface="新細明體" panose="02020500000000000000" pitchFamily="18" charset="-120"/>
              </a:rPr>
              <a:t>meaning</a:t>
            </a:r>
            <a:r>
              <a:rPr lang="zh-TW" altLang="en-US" sz="2400" u="sng">
                <a:latin typeface="Garamond" panose="02020404030301010803" pitchFamily="18" charset="0"/>
                <a:ea typeface="新細明體" panose="02020500000000000000" pitchFamily="18" charset="-120"/>
              </a:rPr>
              <a:t> 意義</a:t>
            </a:r>
            <a:r>
              <a:rPr lang="en-US" altLang="zh-HK" sz="2400">
                <a:latin typeface="Garamond" panose="02020404030301010803" pitchFamily="18" charset="0"/>
                <a:ea typeface="新細明體" panose="02020500000000000000" pitchFamily="18" charset="-120"/>
              </a:rPr>
              <a:t> </a:t>
            </a:r>
            <a:r>
              <a:rPr lang="zh-TW" altLang="en-US" sz="2400">
                <a:latin typeface="Garamond" panose="02020404030301010803" pitchFamily="18" charset="0"/>
                <a:ea typeface="新細明體" panose="02020500000000000000" pitchFamily="18" charset="-120"/>
              </a:rPr>
              <a:t>組成</a:t>
            </a:r>
            <a:endParaRPr lang="en-US" altLang="zh-HK" sz="24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eaLnBrk="1" hangingPunct="1"/>
            <a:endParaRPr lang="en-US" altLang="zh-HK" sz="26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600">
                <a:latin typeface="Garamond" panose="02020404030301010803" pitchFamily="18" charset="0"/>
                <a:ea typeface="新細明體" panose="02020500000000000000" pitchFamily="18" charset="-120"/>
              </a:rPr>
              <a:t>符號的分類：按照 </a:t>
            </a:r>
            <a:r>
              <a:rPr lang="zh-TW" altLang="en-US" sz="2600" i="1">
                <a:latin typeface="Garamond" panose="02020404030301010803" pitchFamily="18" charset="0"/>
                <a:ea typeface="新細明體" panose="02020500000000000000" pitchFamily="18" charset="-120"/>
              </a:rPr>
              <a:t>形式</a:t>
            </a:r>
            <a:r>
              <a:rPr lang="zh-TW" altLang="en-US" sz="2600">
                <a:latin typeface="Garamond" panose="02020404030301010803" pitchFamily="18" charset="0"/>
                <a:ea typeface="新細明體" panose="02020500000000000000" pitchFamily="18" charset="-120"/>
              </a:rPr>
              <a:t> 和 </a:t>
            </a:r>
            <a:r>
              <a:rPr lang="zh-TW" altLang="en-US" sz="2600" i="1">
                <a:latin typeface="Garamond" panose="02020404030301010803" pitchFamily="18" charset="0"/>
                <a:ea typeface="新細明體" panose="02020500000000000000" pitchFamily="18" charset="-120"/>
              </a:rPr>
              <a:t>意義</a:t>
            </a:r>
            <a:r>
              <a:rPr lang="zh-TW" altLang="en-US" sz="2600">
                <a:latin typeface="Garamond" panose="02020404030301010803" pitchFamily="18" charset="0"/>
                <a:ea typeface="新細明體" panose="02020500000000000000" pitchFamily="18" charset="-120"/>
              </a:rPr>
              <a:t> 的</a:t>
            </a:r>
            <a:r>
              <a:rPr lang="zh-TW" altLang="en-US" sz="2400" u="sng">
                <a:latin typeface="Garamond" panose="02020404030301010803" pitchFamily="18" charset="0"/>
                <a:ea typeface="新細明體" panose="02020500000000000000" pitchFamily="18" charset="-120"/>
              </a:rPr>
              <a:t>相似度</a:t>
            </a:r>
            <a:endParaRPr lang="en-US" altLang="zh-TW" sz="2400" u="sng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 eaLnBrk="1" hangingPunct="1"/>
            <a:r>
              <a:rPr lang="en-US" altLang="zh-HK" sz="2400" u="sng">
                <a:latin typeface="Garamond" panose="02020404030301010803" pitchFamily="18" charset="0"/>
                <a:ea typeface="新細明體" panose="02020500000000000000" pitchFamily="18" charset="-120"/>
              </a:rPr>
              <a:t>Icons</a:t>
            </a:r>
            <a:r>
              <a:rPr lang="zh-TW" altLang="en-US" sz="2400" u="sng">
                <a:latin typeface="Garamond" panose="02020404030301010803" pitchFamily="18" charset="0"/>
                <a:ea typeface="新細明體" panose="02020500000000000000" pitchFamily="18" charset="-120"/>
              </a:rPr>
              <a:t> 圖示</a:t>
            </a:r>
            <a:r>
              <a:rPr lang="en-US" altLang="zh-HK" sz="2400">
                <a:latin typeface="Garamond" panose="02020404030301010803" pitchFamily="18" charset="0"/>
                <a:ea typeface="新細明體" panose="02020500000000000000" pitchFamily="18" charset="-120"/>
              </a:rPr>
              <a:t>: (</a:t>
            </a:r>
            <a:r>
              <a:rPr lang="zh-TW" altLang="en-US" sz="2400">
                <a:latin typeface="Garamond" panose="02020404030301010803" pitchFamily="18" charset="0"/>
                <a:ea typeface="新細明體" panose="02020500000000000000" pitchFamily="18" charset="-120"/>
              </a:rPr>
              <a:t>相似</a:t>
            </a:r>
            <a:r>
              <a:rPr lang="en-US" altLang="zh-TW" sz="2400">
                <a:latin typeface="Garamond" panose="02020404030301010803" pitchFamily="18" charset="0"/>
                <a:ea typeface="新細明體" panose="02020500000000000000" pitchFamily="18" charset="-120"/>
              </a:rPr>
              <a:t>)</a:t>
            </a:r>
            <a:endParaRPr lang="en-US" altLang="zh-HK" sz="24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 eaLnBrk="1" hangingPunct="1"/>
            <a:endParaRPr lang="en-US" altLang="zh-HK" sz="2600" u="sng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 eaLnBrk="1" hangingPunct="1"/>
            <a:endParaRPr lang="en-US" altLang="zh-HK" sz="2600" u="sng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 eaLnBrk="1" hangingPunct="1"/>
            <a:endParaRPr lang="en-US" altLang="zh-HK" sz="2600" u="sng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 eaLnBrk="1" hangingPunct="1"/>
            <a:r>
              <a:rPr lang="en-US" altLang="zh-HK" sz="2400" u="sng">
                <a:latin typeface="Garamond" panose="02020404030301010803" pitchFamily="18" charset="0"/>
                <a:ea typeface="新細明體" panose="02020500000000000000" pitchFamily="18" charset="-120"/>
              </a:rPr>
              <a:t>Symbols</a:t>
            </a:r>
            <a:r>
              <a:rPr lang="zh-TW" altLang="en-US" sz="2400" u="sng">
                <a:latin typeface="Garamond" panose="02020404030301010803" pitchFamily="18" charset="0"/>
                <a:ea typeface="新細明體" panose="02020500000000000000" pitchFamily="18" charset="-120"/>
              </a:rPr>
              <a:t> 象徵符號</a:t>
            </a:r>
            <a:r>
              <a:rPr lang="en-US" altLang="zh-HK" sz="2400">
                <a:latin typeface="Garamond" panose="02020404030301010803" pitchFamily="18" charset="0"/>
                <a:ea typeface="新細明體" panose="02020500000000000000" pitchFamily="18" charset="-120"/>
              </a:rPr>
              <a:t>: </a:t>
            </a:r>
            <a:r>
              <a:rPr lang="en-US" altLang="zh-TW" sz="2400">
                <a:latin typeface="Garamond" panose="02020404030301010803" pitchFamily="18" charset="0"/>
                <a:ea typeface="新細明體" panose="02020500000000000000" pitchFamily="18" charset="-120"/>
              </a:rPr>
              <a:t>(</a:t>
            </a:r>
            <a:r>
              <a:rPr lang="zh-TW" altLang="en-US" sz="2400">
                <a:latin typeface="Garamond" panose="02020404030301010803" pitchFamily="18" charset="0"/>
                <a:ea typeface="新細明體" panose="02020500000000000000" pitchFamily="18" charset="-120"/>
              </a:rPr>
              <a:t>隨意配搭</a:t>
            </a:r>
            <a:r>
              <a:rPr lang="en-US" altLang="zh-TW" sz="2400">
                <a:latin typeface="Garamond" panose="02020404030301010803" pitchFamily="18" charset="0"/>
                <a:ea typeface="新細明體" panose="02020500000000000000" pitchFamily="18" charset="-120"/>
              </a:rPr>
              <a:t>)</a:t>
            </a:r>
            <a:endParaRPr lang="en-US" altLang="zh-HK" sz="15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zh-HK" altLang="en-US">
              <a:latin typeface="Garamond" panose="02020404030301010803" pitchFamily="18" charset="0"/>
            </a:endParaRPr>
          </a:p>
        </p:txBody>
      </p:sp>
      <p:sp>
        <p:nvSpPr>
          <p:cNvPr id="5222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D8A624-D254-4963-8B29-182196EE4A4A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263" y="3668713"/>
            <a:ext cx="1116012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25" y="3673475"/>
            <a:ext cx="112712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8" y="5575300"/>
            <a:ext cx="83185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188" y="5594350"/>
            <a:ext cx="815975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溝通系統的重要元素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17638"/>
            <a:ext cx="7791450" cy="5287962"/>
          </a:xfrm>
        </p:spPr>
        <p:txBody>
          <a:bodyPr>
            <a:normAutofit fontScale="40000" lnSpcReduction="20000"/>
          </a:bodyPr>
          <a:lstStyle/>
          <a:p>
            <a:pPr marL="274320" indent="-274320" eaLnBrk="1" fontAlgn="auto" hangingPunct="1">
              <a:lnSpc>
                <a:spcPct val="116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zh-TW" altLang="en-US" sz="6500" dirty="0">
                <a:latin typeface="Garamond" panose="02020404030301010803" pitchFamily="18" charset="0"/>
                <a:ea typeface="PMingLiU" panose="02020500000000000000" pitchFamily="18" charset="-120"/>
              </a:rPr>
              <a:t>形式 </a:t>
            </a:r>
            <a:r>
              <a:rPr lang="en-US" altLang="zh-HK" sz="6500" dirty="0">
                <a:latin typeface="Garamond" panose="02020404030301010803" pitchFamily="18" charset="0"/>
                <a:ea typeface="PMingLiU" panose="02020500000000000000" pitchFamily="18" charset="-120"/>
              </a:rPr>
              <a:t>Forms: </a:t>
            </a:r>
          </a:p>
          <a:p>
            <a:pPr marL="548640" lvl="1" eaLnBrk="1" fontAlgn="auto" hangingPunct="1">
              <a:lnSpc>
                <a:spcPct val="116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化學物質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(c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hemical signals, including smell)</a:t>
            </a: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、觸碰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(t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ouch)</a:t>
            </a: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、移動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(m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ovement)</a:t>
            </a: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、姿勢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(p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osture)</a:t>
            </a: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、臉部表情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(f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acial gestures )</a:t>
            </a: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、視覺信號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(v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isual signals)</a:t>
            </a: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、聲音 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(sound)</a:t>
            </a:r>
          </a:p>
          <a:p>
            <a:pPr marL="274320" indent="-274320" eaLnBrk="1" fontAlgn="auto" hangingPunct="1">
              <a:lnSpc>
                <a:spcPct val="116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altLang="zh-TW" sz="55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marL="274320" indent="-274320" eaLnBrk="1" fontAlgn="auto" hangingPunct="1">
              <a:lnSpc>
                <a:spcPct val="116000"/>
              </a:lnSpc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zh-TW" altLang="en-US" sz="6500" dirty="0">
                <a:latin typeface="Garamond" panose="02020404030301010803" pitchFamily="18" charset="0"/>
                <a:ea typeface="PMingLiU" panose="02020500000000000000" pitchFamily="18" charset="-120"/>
              </a:rPr>
              <a:t>功能 </a:t>
            </a:r>
            <a:r>
              <a:rPr lang="en-US" altLang="zh-HK" sz="6500" dirty="0">
                <a:latin typeface="Garamond" panose="02020404030301010803" pitchFamily="18" charset="0"/>
                <a:ea typeface="PMingLiU" panose="02020500000000000000" pitchFamily="18" charset="-120"/>
              </a:rPr>
              <a:t>Functions:</a:t>
            </a:r>
          </a:p>
          <a:p>
            <a:pPr marL="548640" lvl="1" eaLnBrk="1" fontAlgn="auto" hangingPunct="1">
              <a:lnSpc>
                <a:spcPct val="116000"/>
              </a:lnSpc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吸引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(to 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attract)</a:t>
            </a: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、驅趕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(to 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repel)</a:t>
            </a: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、表示敵意或降伏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(to 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signal aggression or submission)</a:t>
            </a: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、警告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(to 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warn of predators)</a:t>
            </a:r>
            <a:r>
              <a:rPr lang="zh-TW" altLang="en-US" sz="6000" dirty="0">
                <a:latin typeface="Garamond" panose="02020404030301010803" pitchFamily="18" charset="0"/>
                <a:ea typeface="PMingLiU" panose="02020500000000000000" pitchFamily="18" charset="-120"/>
              </a:rPr>
              <a:t>、傳達關於環境或食物的消息 </a:t>
            </a:r>
            <a:r>
              <a:rPr lang="en-US" altLang="zh-TW" sz="6000" dirty="0">
                <a:latin typeface="Garamond" panose="02020404030301010803" pitchFamily="18" charset="0"/>
                <a:ea typeface="PMingLiU" panose="02020500000000000000" pitchFamily="18" charset="-120"/>
              </a:rPr>
              <a:t>(to </a:t>
            </a:r>
            <a:r>
              <a:rPr lang="en-US" altLang="zh-HK" sz="6000" dirty="0">
                <a:latin typeface="Garamond" panose="02020404030301010803" pitchFamily="18" charset="0"/>
                <a:ea typeface="PMingLiU" panose="02020500000000000000" pitchFamily="18" charset="-120"/>
              </a:rPr>
              <a:t>communicate about the environment or the availability of food)</a:t>
            </a:r>
          </a:p>
          <a:p>
            <a:pPr marL="312102" lvl="1" indent="0" eaLnBrk="1" fontAlgn="auto" hangingPunct="1">
              <a:spcBef>
                <a:spcPts val="370"/>
              </a:spcBef>
              <a:spcAft>
                <a:spcPts val="0"/>
              </a:spcAft>
              <a:buFont typeface="Verdana" panose="020B0604030504040204" pitchFamily="34" charset="0"/>
              <a:buNone/>
              <a:defRPr/>
            </a:pPr>
            <a:endParaRPr lang="en-US" altLang="zh-HK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marL="312102" lvl="1" indent="0" eaLnBrk="1" fontAlgn="auto" hangingPunct="1">
              <a:spcBef>
                <a:spcPts val="370"/>
              </a:spcBef>
              <a:spcAft>
                <a:spcPts val="0"/>
              </a:spcAft>
              <a:buFont typeface="Verdana" panose="020B0604030504040204" pitchFamily="34" charset="0"/>
              <a:buNone/>
              <a:defRPr/>
            </a:pPr>
            <a:r>
              <a:rPr lang="en-US" altLang="zh-HK" sz="40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source: </a:t>
            </a:r>
            <a:r>
              <a:rPr lang="en-US" altLang="zh-HK" sz="4000" dirty="0" err="1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Mannell</a:t>
            </a:r>
            <a:r>
              <a:rPr lang="en-US" altLang="zh-HK" sz="40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, R. (1999). Animal communication and language. </a:t>
            </a:r>
            <a:r>
              <a:rPr lang="en-US" altLang="zh-HK" sz="40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  <a:hlinkClick r:id="rId2"/>
              </a:rPr>
              <a:t>http://clas.mq.edu.au/animal_communication/index.html</a:t>
            </a:r>
            <a:endParaRPr lang="zh-HK" altLang="en-US" sz="4000" dirty="0">
              <a:solidFill>
                <a:srgbClr val="002060"/>
              </a:solidFill>
              <a:latin typeface="Garamond" panose="02020404030301010803" pitchFamily="18" charset="0"/>
              <a:ea typeface="PMingLiU" panose="02020500000000000000" pitchFamily="18" charset="-120"/>
            </a:endParaRPr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3E56E8-B36D-44AF-A831-E07DC1DB0163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動物溝通系統</a:t>
            </a:r>
            <a:r>
              <a:rPr lang="en-US" altLang="zh-TW" sz="3800" u="sng" dirty="0">
                <a:latin typeface="PMingLiU" panose="02020500000000000000" pitchFamily="18" charset="-120"/>
                <a:ea typeface="PMingLiU" panose="02020500000000000000" pitchFamily="18" charset="-120"/>
              </a:rPr>
              <a:t>—</a:t>
            </a:r>
            <a:r>
              <a:rPr lang="zh-TW" altLang="en-US" sz="3800" u="sng" dirty="0">
                <a:latin typeface="Garamond" panose="02020404030301010803" pitchFamily="18" charset="0"/>
              </a:rPr>
              <a:t>形式與功能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動物溝通系統</a:t>
            </a:r>
            <a:r>
              <a:rPr lang="en-US" altLang="zh-TW" sz="3800" u="sng" dirty="0">
                <a:latin typeface="PMingLiU" panose="02020500000000000000" pitchFamily="18" charset="-120"/>
                <a:ea typeface="PMingLiU" panose="02020500000000000000" pitchFamily="18" charset="-120"/>
              </a:rPr>
              <a:t>—</a:t>
            </a:r>
            <a:r>
              <a:rPr lang="zh-TW" altLang="en-US" sz="3800" u="sng" dirty="0">
                <a:latin typeface="Garamond" panose="02020404030301010803" pitchFamily="18" charset="0"/>
              </a:rPr>
              <a:t>例子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441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600" dirty="0">
                <a:latin typeface="Garamond" panose="02020404030301010803" pitchFamily="18" charset="0"/>
                <a:ea typeface="PMingLiU" panose="02020500000000000000" pitchFamily="18" charset="-120"/>
              </a:rPr>
              <a:t>dolphins 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</a:rPr>
              <a:t>海豚</a:t>
            </a:r>
            <a:endParaRPr lang="en-US" altLang="zh-TW" sz="26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lvl="1">
              <a:defRPr/>
            </a:pPr>
            <a:r>
              <a:rPr lang="en-US" altLang="zh-TW" sz="2000" dirty="0">
                <a:latin typeface="Garamond" panose="02020404030301010803" pitchFamily="18" charset="0"/>
                <a:ea typeface="PMingLiU" panose="02020500000000000000" pitchFamily="18" charset="-120"/>
                <a:hlinkClick r:id="rId2"/>
              </a:rPr>
              <a:t>http://www.youtube.com/watch?v=D0HeEgKq1o0</a:t>
            </a:r>
            <a:endParaRPr lang="en-US" altLang="zh-TW" sz="20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lvl="1">
              <a:defRPr/>
            </a:pPr>
            <a:r>
              <a:rPr lang="en-US" sz="2000" dirty="0">
                <a:latin typeface="Garamond" panose="02020404030301010803" pitchFamily="18" charset="0"/>
                <a:ea typeface="PMingLiU" panose="02020500000000000000" pitchFamily="18" charset="-120"/>
                <a:hlinkClick r:id="rId3"/>
              </a:rPr>
              <a:t>http://www.youtube.com/watch?v=RpokpdM7PeI</a:t>
            </a:r>
            <a:endParaRPr lang="en-US" altLang="zh-TW" sz="20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lvl="1">
              <a:defRPr/>
            </a:pPr>
            <a:r>
              <a:rPr lang="en-US" altLang="zh-TW" sz="2600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body movement,</a:t>
            </a:r>
            <a:r>
              <a:rPr lang="zh-TW" altLang="en-US" sz="2600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 </a:t>
            </a:r>
            <a:r>
              <a:rPr lang="en-US" altLang="zh-TW" sz="2600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touch &amp; sound</a:t>
            </a:r>
          </a:p>
          <a:p>
            <a:pPr marL="82550" indent="0">
              <a:buFont typeface="Wingdings 2" panose="05020102010507070707" pitchFamily="18" charset="2"/>
              <a:buNone/>
              <a:defRPr/>
            </a:pPr>
            <a:endParaRPr lang="en-US" altLang="zh-TW" sz="26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</a:rPr>
              <a:t>ants 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</a:rPr>
              <a:t>螞蟻</a:t>
            </a:r>
            <a:endParaRPr lang="en-US" altLang="zh-TW" sz="26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lvl="1">
              <a:defRPr/>
            </a:pPr>
            <a:r>
              <a:rPr lang="en-US" altLang="zh-HK" sz="2000" dirty="0">
                <a:latin typeface="Garamond" panose="02020404030301010803" pitchFamily="18" charset="0"/>
                <a:ea typeface="PMingLiU" panose="02020500000000000000" pitchFamily="18" charset="-120"/>
                <a:hlinkClick r:id="rId4"/>
              </a:rPr>
              <a:t>http://www.youtube.com/watch?v=tAe3PQdSqzg </a:t>
            </a:r>
            <a:endParaRPr lang="en-US" altLang="zh-TW" sz="20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lvl="1">
              <a:defRPr/>
            </a:pPr>
            <a:r>
              <a:rPr lang="en-US" altLang="zh-TW" sz="2600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chemicals (pheromones </a:t>
            </a:r>
            <a:r>
              <a:rPr lang="zh-TW" altLang="en-US" sz="2600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信息素</a:t>
            </a:r>
            <a:r>
              <a:rPr lang="en-US" altLang="zh-TW" sz="2600" dirty="0">
                <a:solidFill>
                  <a:srgbClr val="7030A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)</a:t>
            </a:r>
            <a:endParaRPr lang="en-US" altLang="zh-TW" sz="26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defRPr/>
            </a:pPr>
            <a:endParaRPr lang="en-US" altLang="zh-HK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defRPr/>
            </a:pPr>
            <a:endParaRPr lang="zh-HK" altLang="en-US" dirty="0">
              <a:latin typeface="Garamond" panose="02020404030301010803" pitchFamily="18" charset="0"/>
              <a:ea typeface="PMingLiU" panose="02020500000000000000" pitchFamily="18" charset="-12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76FD73-5D87-4FB4-9D57-B39B7A0EBAF2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447800" y="1371600"/>
            <a:ext cx="7499350" cy="5257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000" dirty="0" err="1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Hockett</a:t>
            </a:r>
            <a:r>
              <a:rPr lang="zh-TW" altLang="en-US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(1960)</a:t>
            </a:r>
            <a:r>
              <a:rPr lang="zh-TW" altLang="en-US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列舉了</a:t>
            </a:r>
            <a:r>
              <a:rPr lang="en-US" altLang="zh-TW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13</a:t>
            </a:r>
            <a:r>
              <a:rPr lang="zh-TW" altLang="en-US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個人類語言的普遍特徵 </a:t>
            </a:r>
            <a:r>
              <a:rPr lang="en-US" altLang="zh-TW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(</a:t>
            </a: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design features of human language</a:t>
            </a:r>
            <a:r>
              <a:rPr lang="en-US" altLang="zh-TW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)</a:t>
            </a:r>
            <a:r>
              <a:rPr lang="zh-TW" altLang="en-US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，包括：</a:t>
            </a:r>
            <a:endParaRPr lang="en-US" altLang="zh-TW" sz="30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787400" lvl="1" indent="-514350" eaLnBrk="1" hangingPunct="1">
              <a:buFont typeface="Franklin Gothic Book" pitchFamily="34" charset="0"/>
              <a:buAutoNum type="arabicPeriod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arbitrariness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任意性</a:t>
            </a:r>
            <a:endParaRPr lang="en-US" altLang="zh-HK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787400" lvl="1" indent="-514350" eaLnBrk="1" hangingPunct="1">
              <a:buFont typeface="Franklin Gothic Book" pitchFamily="34" charset="0"/>
              <a:buAutoNum type="arabicPeriod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displacement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置換性</a:t>
            </a:r>
            <a:endParaRPr lang="en-US" altLang="zh-HK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787400" lvl="1" indent="-514350" eaLnBrk="1" hangingPunct="1">
              <a:buFont typeface="Franklin Gothic Book" pitchFamily="34" charset="0"/>
              <a:buAutoNum type="arabicPeriod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duality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雙重性</a:t>
            </a:r>
            <a:endParaRPr lang="en-US" altLang="zh-HK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787400" lvl="1" indent="-514350" eaLnBrk="1" hangingPunct="1">
              <a:buFont typeface="Franklin Gothic Book" pitchFamily="34" charset="0"/>
              <a:buAutoNum type="arabicPeriod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productivity 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創造性 </a:t>
            </a:r>
            <a:endParaRPr lang="en-US" altLang="zh-HK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787400" lvl="1" indent="-514350" eaLnBrk="1" hangingPunct="1">
              <a:buFont typeface="Franklin Gothic Book" pitchFamily="34" charset="0"/>
              <a:buAutoNum type="arabicPeriod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cultural transmission 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文化傳播性</a:t>
            </a:r>
            <a:endParaRPr lang="en-US" altLang="zh-TW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273050" lvl="1" indent="0" eaLnBrk="1" hangingPunct="1">
              <a:buFont typeface="Verdana" panose="020B0604030504040204" pitchFamily="34" charset="0"/>
              <a:buNone/>
              <a:defRPr/>
            </a:pPr>
            <a:endParaRPr lang="en-US" altLang="zh-HK" sz="26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marL="273050" lvl="1" indent="0" eaLnBrk="1" hangingPunct="1">
              <a:buFont typeface="Verdana" panose="020B0604030504040204" pitchFamily="34" charset="0"/>
              <a:buNone/>
              <a:defRPr/>
            </a:pPr>
            <a:r>
              <a:rPr lang="en-US" altLang="zh-HK" sz="1600" dirty="0" err="1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Hockett</a:t>
            </a:r>
            <a:r>
              <a:rPr lang="en-US" altLang="zh-HK" sz="16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, C.F. (1960). The origin of speech. </a:t>
            </a:r>
            <a:r>
              <a:rPr lang="en-US" altLang="zh-HK" sz="1600" i="1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Scientific American, 203,</a:t>
            </a:r>
            <a:r>
              <a:rPr lang="en-US" altLang="zh-HK" sz="16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 89–97. (</a:t>
            </a:r>
            <a:r>
              <a:rPr lang="en-US" altLang="zh-HK" sz="16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  <a:hlinkClick r:id="rId2"/>
              </a:rPr>
              <a:t>http://www.columbia.edu/~rmk7/HC/HC_Readings/Hockett.pdf</a:t>
            </a:r>
            <a:r>
              <a:rPr lang="en-US" altLang="zh-HK" sz="16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)</a:t>
            </a:r>
          </a:p>
          <a:p>
            <a:pPr>
              <a:defRPr/>
            </a:pPr>
            <a:endParaRPr lang="en-US" altLang="zh-HK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defRPr/>
            </a:pPr>
            <a:endParaRPr lang="zh-HK" altLang="en-US" dirty="0">
              <a:latin typeface="Garamond" panose="02020404030301010803" pitchFamily="18" charset="0"/>
              <a:ea typeface="PMingLiU" panose="02020500000000000000" pitchFamily="18" charset="-120"/>
            </a:endParaRPr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027B7C-AD4B-4189-8626-93C6A47127A1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人類語言的特徵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1371600"/>
            <a:ext cx="7715250" cy="5334000"/>
          </a:xfrm>
        </p:spPr>
        <p:txBody>
          <a:bodyPr/>
          <a:lstStyle/>
          <a:p>
            <a:pPr eaLnBrk="1" hangingPunct="1"/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語言符號的形式與意義之間，沒有自然的關係，沒有邏輯關係</a:t>
            </a:r>
            <a:b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US" altLang="zh-TW" sz="2800" i="1" dirty="0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there is </a:t>
            </a:r>
            <a:r>
              <a:rPr lang="en-GB" altLang="zh-HK" sz="2800" i="1" dirty="0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no natural connection between the linguistic form and its meaning</a:t>
            </a:r>
          </a:p>
          <a:p>
            <a:pPr eaLnBrk="1" hangingPunct="1"/>
            <a:endParaRPr lang="en-US" altLang="zh-TW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音與義的關係</a:t>
            </a:r>
            <a:endParaRPr lang="en-US" altLang="zh-CN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 eaLnBrk="1" hangingPunct="1"/>
            <a:r>
              <a:rPr lang="en-GB" altLang="zh-HK" sz="2400" i="1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nada</a:t>
            </a:r>
            <a:r>
              <a:rPr lang="en-GB" altLang="zh-HK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: 	Spanish 	“nothing”,</a:t>
            </a:r>
            <a:br>
              <a:rPr lang="en-GB" altLang="zh-HK" sz="2400" dirty="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GB" altLang="zh-HK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		Croatian 	“hope”</a:t>
            </a:r>
          </a:p>
          <a:p>
            <a:pPr lvl="1" eaLnBrk="1" hangingPunct="1"/>
            <a:endParaRPr lang="en-GB" altLang="zh-HK" sz="24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 eaLnBrk="1" hangingPunct="1"/>
            <a:r>
              <a:rPr lang="en-GB" altLang="zh-HK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“house”:</a:t>
            </a:r>
            <a:r>
              <a:rPr lang="en-US" altLang="zh-HK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	</a:t>
            </a:r>
            <a:r>
              <a:rPr lang="en-US" altLang="zh-TW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Chinese 	“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房子</a:t>
            </a:r>
            <a:r>
              <a:rPr lang="en-US" altLang="zh-TW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”</a:t>
            </a:r>
            <a:br>
              <a:rPr lang="en-US" altLang="zh-TW" sz="2400" dirty="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US" altLang="zh-TW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		Japanese 	“</a:t>
            </a:r>
            <a:r>
              <a:rPr lang="en-US" altLang="zh-TW" sz="2400" dirty="0" err="1">
                <a:latin typeface="Garamond" panose="02020404030301010803" pitchFamily="18" charset="0"/>
                <a:ea typeface="新細明體" panose="02020500000000000000" pitchFamily="18" charset="-120"/>
              </a:rPr>
              <a:t>uchi</a:t>
            </a:r>
            <a:r>
              <a:rPr lang="en-US" altLang="zh-TW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”</a:t>
            </a:r>
            <a:br>
              <a:rPr lang="en-US" altLang="zh-TW" sz="2400" dirty="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US" altLang="zh-TW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		French 		“</a:t>
            </a:r>
            <a:r>
              <a:rPr lang="en-US" altLang="zh-TW" sz="2400" dirty="0" err="1">
                <a:latin typeface="Garamond" panose="02020404030301010803" pitchFamily="18" charset="0"/>
                <a:ea typeface="新細明體" panose="02020500000000000000" pitchFamily="18" charset="-120"/>
              </a:rPr>
              <a:t>maison</a:t>
            </a:r>
            <a:r>
              <a:rPr lang="en-US" altLang="zh-TW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”</a:t>
            </a:r>
            <a:endParaRPr lang="en-GB" altLang="zh-HK" sz="24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58371" name="Title 1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(</a:t>
            </a:r>
            <a:r>
              <a:rPr lang="en-US" altLang="zh-TW" sz="3200" i="1" u="sng" dirty="0" err="1">
                <a:effectLst/>
                <a:latin typeface="Garamond" panose="02020404030301010803" pitchFamily="18" charset="0"/>
              </a:rPr>
              <a:t>i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) </a:t>
            </a:r>
            <a:r>
              <a:rPr lang="zh-TW" altLang="en-US" sz="3200" i="1" u="sng" dirty="0">
                <a:effectLst/>
                <a:latin typeface="Garamond" panose="02020404030301010803" pitchFamily="18" charset="0"/>
              </a:rPr>
              <a:t>任意性 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Arbitrariness (1/2)</a:t>
            </a:r>
            <a:endParaRPr lang="zh-HK" altLang="en-US" sz="3200" i="1" u="sng" dirty="0">
              <a:effectLst/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257800"/>
          </a:xfrm>
        </p:spPr>
        <p:txBody>
          <a:bodyPr/>
          <a:lstStyle/>
          <a:p>
            <a:r>
              <a:rPr lang="zh-TW" altLang="en-US" sz="2800" dirty="0">
                <a:solidFill>
                  <a:srgbClr val="00206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試舉一些語音與意義之關係</a:t>
            </a:r>
            <a:r>
              <a:rPr lang="zh-TW" altLang="en-US" sz="2800" u="sng" dirty="0">
                <a:solidFill>
                  <a:srgbClr val="00206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不是任意</a:t>
            </a:r>
            <a:r>
              <a:rPr lang="zh-TW" altLang="en-US" sz="2800" dirty="0">
                <a:solidFill>
                  <a:srgbClr val="00206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的例子</a:t>
            </a:r>
            <a:endParaRPr lang="en-US" altLang="zh-TW" sz="2800" dirty="0">
              <a:solidFill>
                <a:srgbClr val="00206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endParaRPr lang="en-US" altLang="zh-HK" sz="2800" dirty="0"/>
          </a:p>
          <a:p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English “bang”, “crash”</a:t>
            </a:r>
          </a:p>
          <a:p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Chinese “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嘩啦啦</a:t>
            </a:r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”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、</a:t>
            </a:r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 “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噼啪</a:t>
            </a:r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”</a:t>
            </a:r>
          </a:p>
          <a:p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onomatopoeia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/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 </a:t>
            </a:r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onomatopoeic words</a:t>
            </a:r>
          </a:p>
          <a:p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擬聲詞 </a:t>
            </a:r>
            <a: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/</a:t>
            </a: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 象聲詞</a:t>
            </a:r>
            <a:endParaRPr lang="en-US" altLang="zh-HK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動物溝通系統</a:t>
            </a:r>
            <a:endParaRPr lang="en-US" altLang="zh-TW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/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欠缺任意性</a:t>
            </a:r>
            <a:endParaRPr lang="en-US" altLang="zh-TW" sz="24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/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符號與其代表的意義，大多數存在明顯的聯繫</a:t>
            </a:r>
          </a:p>
          <a:p>
            <a:endParaRPr lang="zh-HK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041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1D2ACE-BB1B-4906-A53E-B215C0554550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0420" name="Title 1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(</a:t>
            </a:r>
            <a:r>
              <a:rPr lang="en-US" altLang="zh-TW" sz="3200" i="1" u="sng" dirty="0" err="1">
                <a:effectLst/>
                <a:latin typeface="Garamond" panose="02020404030301010803" pitchFamily="18" charset="0"/>
              </a:rPr>
              <a:t>i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) </a:t>
            </a:r>
            <a:r>
              <a:rPr lang="zh-TW" altLang="en-US" sz="3200" i="1" u="sng" dirty="0">
                <a:effectLst/>
                <a:latin typeface="Garamond" panose="02020404030301010803" pitchFamily="18" charset="0"/>
              </a:rPr>
              <a:t>任意性 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Arbitrariness (2/2)</a:t>
            </a:r>
            <a:endParaRPr lang="zh-HK" altLang="en-US" sz="3200" i="1" u="sng" dirty="0">
              <a:effectLst/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Content Placeholder 2"/>
          <p:cNvSpPr>
            <a:spLocks noGrp="1"/>
          </p:cNvSpPr>
          <p:nvPr>
            <p:ph sz="quarter" idx="1"/>
          </p:nvPr>
        </p:nvSpPr>
        <p:spPr>
          <a:xfrm>
            <a:off x="1371600" y="1447800"/>
            <a:ext cx="7315200" cy="4724400"/>
          </a:xfrm>
        </p:spPr>
        <p:txBody>
          <a:bodyPr/>
          <a:lstStyle/>
          <a:p>
            <a:pPr marL="273050" indent="-273050" eaLnBrk="1" hangingPunct="1">
              <a:spcBef>
                <a:spcPts val="575"/>
              </a:spcBef>
            </a:pPr>
            <a:endParaRPr lang="en-US" altLang="zh-TW" sz="28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marL="273050" indent="-273050" eaLnBrk="1" hangingPunct="1">
              <a:spcBef>
                <a:spcPts val="575"/>
              </a:spcBef>
            </a:pPr>
            <a:r>
              <a:rPr lang="zh-TW" altLang="en-US" sz="2800">
                <a:latin typeface="Garamond" panose="02020404030301010803" pitchFamily="18" charset="0"/>
                <a:ea typeface="新細明體" panose="02020500000000000000" pitchFamily="18" charset="-120"/>
              </a:rPr>
              <a:t>人類能用語言來溝通說話人直接環境以外的語境（過去的事、未來的事、不同地點等）</a:t>
            </a:r>
            <a:br>
              <a:rPr lang="en-GB" altLang="zh-HK" sz="280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GB" altLang="zh-HK" sz="2800" i="1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humans can refer to the past and the future and to other locations</a:t>
            </a:r>
          </a:p>
          <a:p>
            <a:pPr marL="273050" indent="-273050" eaLnBrk="1" hangingPunct="1">
              <a:spcBef>
                <a:spcPts val="575"/>
              </a:spcBef>
            </a:pPr>
            <a:endParaRPr lang="en-GB" altLang="zh-HK" sz="2800"/>
          </a:p>
        </p:txBody>
      </p:sp>
      <p:sp>
        <p:nvSpPr>
          <p:cNvPr id="61443" name="Title 1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(ii) </a:t>
            </a:r>
            <a:r>
              <a:rPr lang="zh-TW" altLang="en-US" sz="3200" i="1" u="sng" dirty="0">
                <a:effectLst/>
                <a:latin typeface="Garamond" panose="02020404030301010803" pitchFamily="18" charset="0"/>
              </a:rPr>
              <a:t>置換性 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Displacement (1/4)</a:t>
            </a:r>
            <a:endParaRPr lang="zh-HK" altLang="en-US" sz="3200" i="1" u="sng" dirty="0">
              <a:effectLst/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zh-TW" altLang="en-US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動物：當下的環境和事情</a:t>
            </a:r>
            <a:r>
              <a:rPr lang="en-GB" altLang="zh-HK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here and now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e.g., 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黑猩猩的叫喊聲 </a:t>
            </a: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chimpanzee’s calls:</a:t>
            </a:r>
          </a:p>
          <a:p>
            <a:pPr marL="823277" lvl="2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HK" dirty="0">
                <a:latin typeface="Garamond" panose="02020404030301010803" pitchFamily="18" charset="0"/>
                <a:ea typeface="PMingLiU" panose="02020500000000000000" pitchFamily="18" charset="-120"/>
              </a:rPr>
              <a:t>a low, rumbling noise as a warning signal</a:t>
            </a:r>
          </a:p>
          <a:p>
            <a:pPr marL="823277" lvl="2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zh-HK" dirty="0">
                <a:latin typeface="Garamond" panose="02020404030301010803" pitchFamily="18" charset="0"/>
                <a:ea typeface="PMingLiU" panose="02020500000000000000" pitchFamily="18" charset="-120"/>
              </a:rPr>
              <a:t>entirely related to an observable event in the immediate environment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altLang="zh-HK" sz="2800" u="sng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GB" altLang="zh-HK" sz="2800" u="sng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zh-TW" altLang="en-US" sz="28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例外例子：蜜蜂的傳訊系統</a:t>
            </a:r>
            <a:endParaRPr lang="en-US" altLang="zh-TW" sz="28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548958" lvl="1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zh-TW" altLang="en-US" sz="24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舞動的形式能表示花蜜的方向</a:t>
            </a:r>
            <a:r>
              <a:rPr lang="en-US" altLang="zh-HK" sz="24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direction</a:t>
            </a:r>
            <a:r>
              <a:rPr lang="zh-TW" altLang="en-US" sz="24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、距離</a:t>
            </a:r>
            <a:r>
              <a:rPr lang="en-US" altLang="zh-HK" sz="24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distance</a:t>
            </a:r>
            <a:r>
              <a:rPr lang="zh-TW" altLang="en-US" sz="24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和品質</a:t>
            </a:r>
            <a:r>
              <a:rPr lang="en-US" altLang="zh-HK" sz="24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quality</a:t>
            </a:r>
            <a:endParaRPr lang="zh-HK" altLang="en-US" sz="24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zh-TW" altLang="en-US" sz="2800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defRPr/>
            </a:pPr>
            <a:endParaRPr lang="zh-HK" altLang="en-US" dirty="0">
              <a:latin typeface="Garamond" panose="02020404030301010803" pitchFamily="18" charset="0"/>
              <a:ea typeface="PMingLiU" panose="02020500000000000000" pitchFamily="18" charset="-120"/>
            </a:endParaRPr>
          </a:p>
        </p:txBody>
      </p:sp>
      <p:sp>
        <p:nvSpPr>
          <p:cNvPr id="6349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3E9E4C-D1A2-4B3B-9F56-38ED698D9169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3492" name="Title 1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(ii) </a:t>
            </a:r>
            <a:r>
              <a:rPr lang="zh-TW" altLang="en-US" sz="3200" i="1" u="sng" dirty="0">
                <a:effectLst/>
                <a:latin typeface="Garamond" panose="02020404030301010803" pitchFamily="18" charset="0"/>
              </a:rPr>
              <a:t>置換性 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Displacement (2/4)</a:t>
            </a:r>
            <a:endParaRPr lang="zh-HK" altLang="en-US" sz="3200" i="1" u="sng" dirty="0">
              <a:effectLst/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Content Placeholder 2"/>
          <p:cNvSpPr>
            <a:spLocks noGrp="1"/>
          </p:cNvSpPr>
          <p:nvPr>
            <p:ph idx="1"/>
          </p:nvPr>
        </p:nvSpPr>
        <p:spPr>
          <a:xfrm>
            <a:off x="1143000" y="1371600"/>
            <a:ext cx="7772400" cy="5257800"/>
          </a:xfrm>
        </p:spPr>
        <p:txBody>
          <a:bodyPr/>
          <a:lstStyle/>
          <a:p>
            <a:r>
              <a:rPr lang="zh-TW" altLang="en-US" sz="2600">
                <a:latin typeface="Garamond" panose="02020404030301010803" pitchFamily="18" charset="0"/>
                <a:ea typeface="新細明體" panose="02020500000000000000" pitchFamily="18" charset="-120"/>
              </a:rPr>
              <a:t>蜜蜂搖尾舞動 </a:t>
            </a:r>
            <a:r>
              <a:rPr lang="en-US" altLang="zh-TW" sz="2600">
                <a:latin typeface="Garamond" panose="02020404030301010803" pitchFamily="18" charset="0"/>
                <a:ea typeface="新細明體" panose="02020500000000000000" pitchFamily="18" charset="-120"/>
              </a:rPr>
              <a:t>honeybee’s tail-wagging dance</a:t>
            </a:r>
          </a:p>
          <a:p>
            <a:endParaRPr lang="en-US" altLang="zh-HK" sz="26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sz="26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sz="26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sz="26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sz="26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sz="26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sz="26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sz="26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en-US" altLang="zh-HK" sz="2400">
                <a:latin typeface="Garamond" panose="02020404030301010803" pitchFamily="18" charset="0"/>
                <a:ea typeface="新細明體" panose="02020500000000000000" pitchFamily="18" charset="-120"/>
              </a:rPr>
              <a:t>Bee Dance (Waggle Dance)</a:t>
            </a:r>
            <a:br>
              <a:rPr lang="en-US" altLang="zh-TW" sz="240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US" altLang="zh-TW" sz="1600">
                <a:latin typeface="Garamond" panose="02020404030301010803" pitchFamily="18" charset="0"/>
                <a:ea typeface="新細明體" panose="02020500000000000000" pitchFamily="18" charset="-120"/>
                <a:hlinkClick r:id="rId2"/>
              </a:rPr>
              <a:t>http://www.youtube.com/watch?v=-7ijI-g4jHg</a:t>
            </a:r>
            <a:br>
              <a:rPr lang="en-US" altLang="zh-TW" sz="160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US" altLang="zh-HK" sz="1600">
                <a:latin typeface="Garamond" panose="02020404030301010803" pitchFamily="18" charset="0"/>
                <a:ea typeface="新細明體" panose="02020500000000000000" pitchFamily="18" charset="-120"/>
                <a:hlinkClick r:id="rId3"/>
              </a:rPr>
              <a:t>https://www.youtube.com/watch?v=bFDGPgXtK-U</a:t>
            </a:r>
            <a:endParaRPr lang="en-US" altLang="zh-TW" sz="16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zh-HK" sz="240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zh-HK" altLang="en-US" sz="260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BE1E68-1869-4478-B39E-9137D1F3F123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pic>
        <p:nvPicPr>
          <p:cNvPr id="64516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2008188"/>
            <a:ext cx="4165600" cy="340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43200"/>
            <a:ext cx="3276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Box 2"/>
          <p:cNvSpPr txBox="1">
            <a:spLocks noChangeArrowheads="1"/>
          </p:cNvSpPr>
          <p:nvPr/>
        </p:nvSpPr>
        <p:spPr bwMode="auto">
          <a:xfrm>
            <a:off x="1295400" y="3819525"/>
            <a:ext cx="148590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HK" sz="2000">
                <a:latin typeface="Garamond" panose="02020404030301010803" pitchFamily="18" charset="0"/>
                <a:ea typeface="新細明體" panose="02020500000000000000" pitchFamily="18" charset="-120"/>
              </a:rPr>
              <a:t>food source 50-75m: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HK" sz="1800">
                <a:latin typeface="Garamond" panose="02020404030301010803" pitchFamily="18" charset="0"/>
                <a:ea typeface="新細明體" panose="02020500000000000000" pitchFamily="18" charset="-120"/>
              </a:rPr>
              <a:t>round dance</a:t>
            </a:r>
          </a:p>
        </p:txBody>
      </p:sp>
      <p:sp>
        <p:nvSpPr>
          <p:cNvPr id="64519" name="TextBox 7"/>
          <p:cNvSpPr txBox="1">
            <a:spLocks noChangeArrowheads="1"/>
          </p:cNvSpPr>
          <p:nvPr/>
        </p:nvSpPr>
        <p:spPr bwMode="auto">
          <a:xfrm>
            <a:off x="3048000" y="3819525"/>
            <a:ext cx="182880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HK" sz="2000">
                <a:latin typeface="Garamond" panose="02020404030301010803" pitchFamily="18" charset="0"/>
                <a:ea typeface="新細明體" panose="02020500000000000000" pitchFamily="18" charset="-120"/>
              </a:rPr>
              <a:t>food source &gt;75m: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HK" sz="1800">
                <a:latin typeface="Garamond" panose="02020404030301010803" pitchFamily="18" charset="0"/>
                <a:ea typeface="新細明體" panose="02020500000000000000" pitchFamily="18" charset="-120"/>
              </a:rPr>
              <a:t>tail-wagging dance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62800" y="5410200"/>
            <a:ext cx="1828800" cy="1219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zh-HK" sz="1600" dirty="0">
                <a:ea typeface="新細明體" pitchFamily="18" charset="-120"/>
              </a:rPr>
              <a:t>sun: solar compass +</a:t>
            </a:r>
          </a:p>
          <a:p>
            <a:pPr eaLnBrk="1" hangingPunct="1">
              <a:defRPr/>
            </a:pPr>
            <a:r>
              <a:rPr lang="en-US" altLang="zh-HK" sz="1600" dirty="0">
                <a:ea typeface="新細明體" pitchFamily="18" charset="-120"/>
              </a:rPr>
              <a:t>internal clock</a:t>
            </a:r>
          </a:p>
          <a:p>
            <a:pPr eaLnBrk="1" hangingPunct="1">
              <a:defRPr/>
            </a:pPr>
            <a:endParaRPr lang="en-US" altLang="zh-HK" sz="1600" dirty="0">
              <a:ea typeface="新細明體" pitchFamily="18" charset="-120"/>
            </a:endParaRPr>
          </a:p>
          <a:p>
            <a:pPr eaLnBrk="1" hangingPunct="1">
              <a:defRPr/>
            </a:pPr>
            <a:r>
              <a:rPr lang="en-US" altLang="zh-HK" sz="1600" dirty="0">
                <a:ea typeface="新細明體" pitchFamily="18" charset="-120"/>
              </a:rPr>
              <a:t>gravity</a:t>
            </a:r>
          </a:p>
        </p:txBody>
      </p:sp>
      <p:sp>
        <p:nvSpPr>
          <p:cNvPr id="64521" name="Title 1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(ii) </a:t>
            </a:r>
            <a:r>
              <a:rPr lang="zh-TW" altLang="en-US" sz="3200" i="1" u="sng" dirty="0">
                <a:effectLst/>
                <a:latin typeface="Garamond" panose="02020404030301010803" pitchFamily="18" charset="0"/>
              </a:rPr>
              <a:t>置換性 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Displacement (3/4)</a:t>
            </a:r>
            <a:endParaRPr lang="zh-HK" altLang="en-US" sz="3200" i="1" u="sng" dirty="0">
              <a:effectLst/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編號版面配置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E12393-210F-44C6-9DE5-A1519454C114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5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435100" y="1447800"/>
            <a:ext cx="7499350" cy="5257800"/>
          </a:xfrm>
        </p:spPr>
        <p:txBody>
          <a:bodyPr/>
          <a:lstStyle/>
          <a:p>
            <a:pPr lvl="1" eaLnBrk="1" hangingPunct="1"/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這種蜜蜂舞動的限制－不能傳達新的信息：</a:t>
            </a: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2" eaLnBrk="1" hangingPunct="1"/>
            <a:r>
              <a:rPr lang="en-GB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experiment</a:t>
            </a:r>
          </a:p>
          <a:p>
            <a:pPr lvl="3" eaLnBrk="1" hangingPunct="1"/>
            <a:r>
              <a:rPr lang="en-GB" altLang="zh-TW" sz="2600" u="sng" dirty="0">
                <a:latin typeface="Garamond" panose="02020404030301010803" pitchFamily="18" charset="0"/>
                <a:ea typeface="新細明體" panose="02020500000000000000" pitchFamily="18" charset="-120"/>
              </a:rPr>
              <a:t>a bowl of sugar and water</a:t>
            </a:r>
            <a:r>
              <a:rPr lang="en-GB" altLang="zh-TW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, placed </a:t>
            </a:r>
            <a:r>
              <a:rPr lang="en-GB" altLang="zh-TW" sz="2600" u="sng" dirty="0">
                <a:latin typeface="Garamond" panose="02020404030301010803" pitchFamily="18" charset="0"/>
                <a:ea typeface="新細明體" panose="02020500000000000000" pitchFamily="18" charset="-120"/>
              </a:rPr>
              <a:t>on top of a pole twenty feet high</a:t>
            </a:r>
            <a:r>
              <a:rPr lang="en-GB" altLang="zh-TW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, much higher than the </a:t>
            </a:r>
            <a:r>
              <a:rPr lang="en-US" altLang="zh-TW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usual nectar source</a:t>
            </a:r>
          </a:p>
          <a:p>
            <a:pPr lvl="3" eaLnBrk="1" hangingPunct="1"/>
            <a:r>
              <a:rPr lang="en-US" altLang="zh-TW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the </a:t>
            </a:r>
            <a:r>
              <a:rPr lang="en-GB" altLang="zh-TW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bees returned to the hive and </a:t>
            </a:r>
            <a:r>
              <a:rPr lang="en-GB" altLang="zh-TW" sz="2600" u="sng" dirty="0">
                <a:latin typeface="Garamond" panose="02020404030301010803" pitchFamily="18" charset="0"/>
                <a:ea typeface="新細明體" panose="02020500000000000000" pitchFamily="18" charset="-120"/>
              </a:rPr>
              <a:t>performed the usual dance</a:t>
            </a:r>
          </a:p>
          <a:p>
            <a:pPr lvl="3" eaLnBrk="1" hangingPunct="1"/>
            <a:r>
              <a:rPr lang="en-GB" altLang="zh-TW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the other bees arrived at the pole, but could not find the food</a:t>
            </a:r>
          </a:p>
          <a:p>
            <a:pPr lvl="3" eaLnBrk="1" hangingPunct="1"/>
            <a:r>
              <a:rPr lang="en-GB" altLang="zh-TW" sz="2600" u="sng" dirty="0">
                <a:latin typeface="Garamond" panose="02020404030301010803" pitchFamily="18" charset="0"/>
                <a:ea typeface="新細明體" panose="02020500000000000000" pitchFamily="18" charset="-120"/>
              </a:rPr>
              <a:t>the new information could not be conveyed</a:t>
            </a:r>
          </a:p>
          <a:p>
            <a:pPr eaLnBrk="1" hangingPunct="1"/>
            <a:endParaRPr lang="en-GB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65540" name="Title 1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(ii) </a:t>
            </a:r>
            <a:r>
              <a:rPr lang="zh-TW" altLang="en-US" sz="3200" i="1" u="sng" dirty="0">
                <a:effectLst/>
                <a:latin typeface="Garamond" panose="02020404030301010803" pitchFamily="18" charset="0"/>
              </a:rPr>
              <a:t>置換性 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Displacement (4/4)</a:t>
            </a:r>
            <a:endParaRPr lang="zh-HK" altLang="en-US" sz="3200" i="1" u="sng" dirty="0">
              <a:effectLst/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447800"/>
            <a:ext cx="7639050" cy="5105400"/>
          </a:xfrm>
        </p:spPr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語言由兩層結構組成</a:t>
            </a:r>
            <a:b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GB" altLang="zh-HK" sz="2800" i="1" dirty="0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the use of a small number of meaningless elements in combination to produce a large number of meaningful elements.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低層：不具意義、小量：</a:t>
            </a:r>
            <a: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  <a:t>	</a:t>
            </a:r>
            <a:r>
              <a:rPr lang="zh-TW" altLang="en-US" dirty="0">
                <a:solidFill>
                  <a:srgbClr val="B51757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語音</a:t>
            </a:r>
            <a:endParaRPr lang="en-US" altLang="zh-TW" dirty="0">
              <a:solidFill>
                <a:srgbClr val="B51757"/>
              </a:solidFill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  <a:buFont typeface="Verdana" panose="020B0604030504040204" pitchFamily="34" charset="0"/>
              <a:buNone/>
            </a:pPr>
            <a: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  <a:t>			</a:t>
            </a:r>
            <a:r>
              <a:rPr lang="zh-TW" altLang="en-US" dirty="0">
                <a:solidFill>
                  <a:srgbClr val="7030A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組合成</a:t>
            </a:r>
            <a:endParaRPr lang="en-US" altLang="zh-TW" dirty="0">
              <a:solidFill>
                <a:srgbClr val="7030A0"/>
              </a:solidFill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高層：帶意義、大量：</a:t>
            </a:r>
            <a: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  <a:t>	</a:t>
            </a:r>
            <a:r>
              <a:rPr lang="zh-TW" altLang="en-US" dirty="0">
                <a:solidFill>
                  <a:srgbClr val="0070C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詞語</a:t>
            </a:r>
            <a:endParaRPr lang="en-US" altLang="zh-TW" dirty="0">
              <a:solidFill>
                <a:srgbClr val="0070C0"/>
              </a:solidFill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例子：</a:t>
            </a: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英語</a:t>
            </a:r>
            <a:r>
              <a:rPr lang="en-GB" altLang="zh-HK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  </a:t>
            </a:r>
            <a:r>
              <a:rPr lang="en-GB" altLang="zh-HK" sz="2600" b="1" i="1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p</a:t>
            </a:r>
            <a:r>
              <a:rPr lang="en-GB" altLang="zh-HK" sz="2600" i="1" dirty="0">
                <a:latin typeface="Garamond" panose="02020404030301010803" pitchFamily="18" charset="0"/>
                <a:ea typeface="新細明體" panose="02020500000000000000" pitchFamily="18" charset="-120"/>
              </a:rPr>
              <a:t>, </a:t>
            </a:r>
            <a:r>
              <a:rPr lang="en-GB" altLang="zh-HK" sz="2600" b="1" i="1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t</a:t>
            </a:r>
            <a:r>
              <a:rPr lang="en-GB" altLang="zh-HK" sz="2600" i="1" dirty="0">
                <a:latin typeface="Garamond" panose="02020404030301010803" pitchFamily="18" charset="0"/>
                <a:ea typeface="新細明體" panose="02020500000000000000" pitchFamily="18" charset="-120"/>
              </a:rPr>
              <a:t>, </a:t>
            </a:r>
            <a:r>
              <a:rPr lang="en-GB" altLang="zh-HK" sz="2600" b="1" i="1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ɒ</a:t>
            </a:r>
            <a:r>
              <a:rPr lang="zh-TW" altLang="en-US" sz="2600" i="1" dirty="0">
                <a:latin typeface="Garamond" panose="02020404030301010803" pitchFamily="18" charset="0"/>
                <a:ea typeface="新細明體" panose="02020500000000000000" pitchFamily="18" charset="-120"/>
              </a:rPr>
              <a:t>  </a:t>
            </a:r>
            <a:r>
              <a:rPr lang="en-US" altLang="zh-TW" sz="2600" i="1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</a:t>
            </a:r>
            <a:r>
              <a:rPr lang="zh-TW" altLang="en-US" sz="2600" i="1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 </a:t>
            </a:r>
            <a:r>
              <a:rPr lang="en-GB" altLang="zh-HK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  </a:t>
            </a:r>
            <a:r>
              <a:rPr lang="en-GB" altLang="zh-HK" sz="2600" i="1" dirty="0">
                <a:latin typeface="Garamond" panose="02020404030301010803" pitchFamily="18" charset="0"/>
                <a:ea typeface="新細明體" panose="02020500000000000000" pitchFamily="18" charset="-120"/>
              </a:rPr>
              <a:t>pot, top, opt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solidFill>
                  <a:srgbClr val="00206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你可以想到粵語或普通話的例子嗎？</a:t>
            </a: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6656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621C25-6D80-4837-B7D9-F5D8D2C3BDFF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6564" name="Title 1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(iii) </a:t>
            </a:r>
            <a:r>
              <a:rPr lang="zh-TW" altLang="en-US" sz="3200" i="1" u="sng" dirty="0">
                <a:effectLst/>
                <a:latin typeface="Garamond" panose="02020404030301010803" pitchFamily="18" charset="0"/>
              </a:rPr>
              <a:t>雙重性 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Duality (1/2)</a:t>
            </a:r>
            <a:endParaRPr lang="zh-HK" altLang="en-US" sz="3200" i="1" u="sng" dirty="0">
              <a:effectLst/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動物的訊息系統裏，每個訊號都是固定的，不能再細分</a:t>
            </a:r>
            <a:endParaRPr lang="en-US" altLang="zh-TW" sz="28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altLang="zh-HK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譬如：狗的叫聲</a:t>
            </a:r>
            <a:r>
              <a:rPr lang="en-US" altLang="zh-HK" sz="2800" dirty="0">
                <a:latin typeface="Garamond" panose="02020404030301010803" pitchFamily="18" charset="0"/>
                <a:ea typeface="新細明體" panose="02020500000000000000" pitchFamily="18" charset="-120"/>
              </a:rPr>
              <a:t>woof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一個整體，不是由 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“w-</a:t>
            </a:r>
            <a:r>
              <a:rPr lang="en-US" altLang="zh-HK" dirty="0" err="1">
                <a:latin typeface="Garamond" panose="02020404030301010803" pitchFamily="18" charset="0"/>
                <a:ea typeface="新細明體" panose="02020500000000000000" pitchFamily="18" charset="-120"/>
              </a:rPr>
              <a:t>oo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-f” </a:t>
            </a: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組成，也不會重新組合成  </a:t>
            </a:r>
            <a: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  <a:t>“</a:t>
            </a:r>
            <a:r>
              <a:rPr lang="en-US" altLang="zh-TW" dirty="0" err="1">
                <a:latin typeface="Garamond" panose="02020404030301010803" pitchFamily="18" charset="0"/>
                <a:ea typeface="新細明體" panose="02020500000000000000" pitchFamily="18" charset="-120"/>
              </a:rPr>
              <a:t>oo</a:t>
            </a:r>
            <a: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  <a:t>-w-f” </a:t>
            </a:r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或者 </a:t>
            </a:r>
            <a: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  <a:t>“f-</a:t>
            </a:r>
            <a:r>
              <a:rPr lang="en-US" altLang="zh-TW" dirty="0" err="1">
                <a:latin typeface="Garamond" panose="02020404030301010803" pitchFamily="18" charset="0"/>
                <a:ea typeface="新細明體" panose="02020500000000000000" pitchFamily="18" charset="-120"/>
              </a:rPr>
              <a:t>oo</a:t>
            </a:r>
            <a: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  <a:t>-w”</a:t>
            </a:r>
            <a:endParaRPr lang="en-US" altLang="zh-HK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zh-HK" altLang="en-US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BE619E-BE1B-46B4-9DB6-66A07AE3D3A9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7588" name="Title 1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(iii) </a:t>
            </a:r>
            <a:r>
              <a:rPr lang="zh-TW" altLang="en-US" sz="3200" i="1" u="sng" dirty="0">
                <a:effectLst/>
                <a:latin typeface="Garamond" panose="02020404030301010803" pitchFamily="18" charset="0"/>
              </a:rPr>
              <a:t>雙重性 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Duality (2/2)</a:t>
            </a:r>
            <a:endParaRPr lang="zh-HK" altLang="en-US" sz="3200" i="1" u="sng" dirty="0">
              <a:effectLst/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1143000" y="1295400"/>
            <a:ext cx="7696200" cy="5410200"/>
          </a:xfrm>
        </p:spPr>
        <p:txBody>
          <a:bodyPr/>
          <a:lstStyle/>
          <a:p>
            <a:pPr eaLnBrk="1" hangingPunct="1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</a:pPr>
            <a:r>
              <a:rPr lang="zh-CN" altLang="en-US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人</a:t>
            </a: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類</a:t>
            </a:r>
            <a:r>
              <a:rPr lang="zh-CN" altLang="en-US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能</a:t>
            </a: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夠運</a:t>
            </a:r>
            <a:r>
              <a:rPr lang="zh-CN" altLang="en-US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用</a:t>
            </a: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語言裏的規則，來建立並理解從未使用過、聽過的句子（語言是開放系統</a:t>
            </a:r>
            <a:r>
              <a:rPr lang="en-US" altLang="zh-TW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 open-ended</a:t>
            </a: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）</a:t>
            </a:r>
            <a:br>
              <a:rPr lang="en-US" altLang="zh-TW" sz="2800" dirty="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GB" altLang="zh-HK" sz="2800" i="1" dirty="0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the ability to use language to say anything, including lots of things we have never said or heard before</a:t>
            </a:r>
          </a:p>
          <a:p>
            <a:pPr eaLnBrk="1" hangingPunct="1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TW" sz="2600" dirty="0">
              <a:latin typeface="Garamond" panose="02020404030301010803" pitchFamily="18" charset="0"/>
              <a:ea typeface="新細明體" panose="02020500000000000000" pitchFamily="18" charset="-120"/>
              <a:sym typeface="Wingdings" panose="05000000000000000000" pitchFamily="2" charset="2"/>
            </a:endParaRPr>
          </a:p>
          <a:p>
            <a:pPr eaLnBrk="1" hangingPunct="1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</a:pPr>
            <a:r>
              <a:rPr lang="zh-TW" altLang="en-US" sz="2600" dirty="0">
                <a:solidFill>
                  <a:srgbClr val="002060"/>
                </a:solidFill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為甚麼人類語言能有這種創造性？</a:t>
            </a:r>
            <a:endParaRPr lang="en-US" altLang="zh-TW" sz="2600" dirty="0">
              <a:solidFill>
                <a:srgbClr val="002060"/>
              </a:solidFill>
              <a:latin typeface="Garamond" panose="02020404030301010803" pitchFamily="18" charset="0"/>
              <a:ea typeface="新細明體" panose="02020500000000000000" pitchFamily="18" charset="-120"/>
              <a:sym typeface="Wingdings" panose="05000000000000000000" pitchFamily="2" charset="2"/>
            </a:endParaRPr>
          </a:p>
          <a:p>
            <a:pPr eaLnBrk="1" hangingPunct="1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TW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duality</a:t>
            </a: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 雙重性</a:t>
            </a:r>
            <a:endParaRPr lang="en-US" altLang="zh-TW" sz="2600" dirty="0">
              <a:latin typeface="Garamond" panose="02020404030301010803" pitchFamily="18" charset="0"/>
              <a:ea typeface="新細明體" panose="02020500000000000000" pitchFamily="18" charset="-120"/>
              <a:sym typeface="Wingdings" panose="05000000000000000000" pitchFamily="2" charset="2"/>
            </a:endParaRPr>
          </a:p>
          <a:p>
            <a:pPr eaLnBrk="1" hangingPunct="1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</a:pPr>
            <a:endParaRPr lang="en-GB" altLang="zh-HK" dirty="0">
              <a:latin typeface="Garamond" panose="02020404030301010803" pitchFamily="18" charset="0"/>
              <a:ea typeface="新細明體" panose="02020500000000000000" pitchFamily="18" charset="-120"/>
              <a:sym typeface="Wingdings" panose="05000000000000000000" pitchFamily="2" charset="2"/>
            </a:endParaRPr>
          </a:p>
          <a:p>
            <a:pPr eaLnBrk="1" hangingPunct="1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</a:pPr>
            <a:r>
              <a:rPr lang="zh-TW" altLang="en-US" sz="28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動物：</a:t>
            </a:r>
            <a:endParaRPr lang="en-GB" altLang="zh-HK" sz="2800" dirty="0">
              <a:latin typeface="Garamond" panose="02020404030301010803" pitchFamily="18" charset="0"/>
              <a:ea typeface="新細明體" panose="02020500000000000000" pitchFamily="18" charset="-120"/>
              <a:sym typeface="Wingdings" panose="05000000000000000000" pitchFamily="2" charset="2"/>
            </a:endParaRPr>
          </a:p>
          <a:p>
            <a:pPr lvl="1" eaLnBrk="1" hangingPunct="1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</a:pP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封閉系統 </a:t>
            </a:r>
            <a:r>
              <a:rPr lang="en-GB" altLang="zh-HK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closed: </a:t>
            </a: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訊息符號的數量固定了，不能增加 </a:t>
            </a:r>
            <a:r>
              <a:rPr lang="en-GB" altLang="zh-HK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the number of signs is fixed</a:t>
            </a:r>
            <a:endParaRPr lang="zh-HK" altLang="en-US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68611" name="Title 1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(iv) </a:t>
            </a:r>
            <a:r>
              <a:rPr lang="zh-TW" altLang="en-US" sz="3200" i="1" u="sng" dirty="0">
                <a:effectLst/>
                <a:latin typeface="Garamond" panose="02020404030301010803" pitchFamily="18" charset="0"/>
              </a:rPr>
              <a:t>創造性 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Productivity</a:t>
            </a:r>
            <a:endParaRPr lang="zh-HK" altLang="en-US" sz="3200" i="1" u="sng" dirty="0">
              <a:effectLst/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Content Placeholder 2"/>
          <p:cNvSpPr>
            <a:spLocks noGrp="1"/>
          </p:cNvSpPr>
          <p:nvPr>
            <p:ph sz="quarter" idx="1"/>
          </p:nvPr>
        </p:nvSpPr>
        <p:spPr>
          <a:xfrm>
            <a:off x="1295400" y="1371600"/>
            <a:ext cx="7696200" cy="5334000"/>
          </a:xfrm>
        </p:spPr>
        <p:txBody>
          <a:bodyPr/>
          <a:lstStyle/>
          <a:p>
            <a:pPr eaLnBrk="1" hangingPunct="1">
              <a:spcBef>
                <a:spcPts val="200"/>
              </a:spcBef>
              <a:spcAft>
                <a:spcPts val="200"/>
              </a:spcAft>
            </a:pP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人類生來便有學習語言的能力</a:t>
            </a:r>
            <a:br>
              <a:rPr lang="en-US" altLang="zh-TW" sz="2600" dirty="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GB" altLang="zh-HK" sz="2600" i="1" dirty="0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humans are born with language ability</a:t>
            </a:r>
          </a:p>
          <a:p>
            <a:pPr eaLnBrk="1" hangingPunct="1">
              <a:spcBef>
                <a:spcPts val="200"/>
              </a:spcBef>
              <a:spcAft>
                <a:spcPts val="200"/>
              </a:spcAft>
            </a:pP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</a:rPr>
              <a:t>但人必須從其他人那裏學習語言</a:t>
            </a:r>
            <a:br>
              <a:rPr lang="en-US" altLang="zh-TW" sz="2600" dirty="0">
                <a:latin typeface="Garamond" panose="02020404030301010803" pitchFamily="18" charset="0"/>
                <a:ea typeface="新細明體" panose="02020500000000000000" pitchFamily="18" charset="-120"/>
              </a:rPr>
            </a:br>
            <a:r>
              <a:rPr lang="en-GB" altLang="zh-HK" sz="2600" i="1" dirty="0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but humans acquire language from other speakers</a:t>
            </a:r>
            <a:endParaRPr lang="en-GB" altLang="zh-HK" sz="2600" i="1" dirty="0">
              <a:solidFill>
                <a:srgbClr val="00B050"/>
              </a:solidFill>
              <a:latin typeface="Garamond" panose="02020404030301010803" pitchFamily="18" charset="0"/>
              <a:ea typeface="新細明體" panose="02020500000000000000" pitchFamily="18" charset="-120"/>
              <a:sym typeface="Wingdings" panose="05000000000000000000" pitchFamily="2" charset="2"/>
            </a:endParaRPr>
          </a:p>
          <a:p>
            <a:pPr eaLnBrk="1" hangingPunct="1">
              <a:spcBef>
                <a:spcPts val="200"/>
              </a:spcBef>
              <a:spcAft>
                <a:spcPts val="200"/>
              </a:spcAft>
            </a:pP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人類長大後學到的語言，不是由基因決定，而是由他們所在的</a:t>
            </a:r>
            <a:r>
              <a:rPr lang="zh-TW" altLang="en-US" sz="2600" dirty="0">
                <a:solidFill>
                  <a:srgbClr val="C00000"/>
                </a:solidFill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語言文化環境</a:t>
            </a: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決定</a:t>
            </a:r>
            <a:br>
              <a:rPr lang="en-GB" altLang="zh-HK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</a:br>
            <a:r>
              <a:rPr lang="en-GB" altLang="zh-HK" sz="2600" i="1" dirty="0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language is passed on from one generation to the next</a:t>
            </a:r>
            <a:br>
              <a:rPr lang="en-GB" altLang="zh-HK" sz="2600" i="1" dirty="0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</a:br>
            <a:r>
              <a:rPr lang="zh-TW" altLang="en-US" sz="2600" i="1" dirty="0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 </a:t>
            </a:r>
            <a:r>
              <a:rPr lang="en-GB" altLang="zh-HK" sz="2600" i="1" dirty="0">
                <a:solidFill>
                  <a:srgbClr val="00B050"/>
                </a:solidFill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 not from parental genes</a:t>
            </a:r>
          </a:p>
          <a:p>
            <a:pPr eaLnBrk="1" hangingPunct="1">
              <a:spcBef>
                <a:spcPts val="200"/>
              </a:spcBef>
              <a:spcAft>
                <a:spcPts val="200"/>
              </a:spcAft>
            </a:pPr>
            <a:endParaRPr lang="en-GB" altLang="zh-HK" sz="2600" dirty="0">
              <a:latin typeface="Garamond" panose="02020404030301010803" pitchFamily="18" charset="0"/>
              <a:ea typeface="新細明體" panose="02020500000000000000" pitchFamily="18" charset="-120"/>
              <a:sym typeface="Wingdings" panose="05000000000000000000" pitchFamily="2" charset="2"/>
            </a:endParaRPr>
          </a:p>
          <a:p>
            <a:pPr eaLnBrk="1" hangingPunct="1">
              <a:spcBef>
                <a:spcPts val="200"/>
              </a:spcBef>
              <a:spcAft>
                <a:spcPts val="200"/>
              </a:spcAft>
            </a:pP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動物的溝通系統</a:t>
            </a:r>
            <a:r>
              <a:rPr lang="en-GB" altLang="zh-HK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:</a:t>
            </a:r>
          </a:p>
          <a:p>
            <a:pPr lvl="1" eaLnBrk="1" hangingPunct="1">
              <a:spcBef>
                <a:spcPts val="200"/>
              </a:spcBef>
              <a:spcAft>
                <a:spcPts val="200"/>
              </a:spcAft>
            </a:pPr>
            <a:r>
              <a:rPr lang="zh-TW" altLang="en-US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牠們的訊息符號是與生俱來的，不是從學習而得的 </a:t>
            </a:r>
            <a:r>
              <a:rPr lang="en-GB" altLang="zh-HK" sz="2600" dirty="0">
                <a:latin typeface="Garamond" panose="02020404030301010803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the signals are instinctive and not learned</a:t>
            </a:r>
            <a:endParaRPr lang="zh-HK" altLang="en-US" sz="26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69635" name="Title 1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(v) </a:t>
            </a:r>
            <a:r>
              <a:rPr lang="zh-TW" altLang="en-US" sz="3200" i="1" u="sng" dirty="0">
                <a:effectLst/>
                <a:latin typeface="Garamond" panose="02020404030301010803" pitchFamily="18" charset="0"/>
              </a:rPr>
              <a:t>文化傳播性 </a:t>
            </a:r>
            <a:r>
              <a:rPr lang="en-US" altLang="zh-TW" sz="3200" i="1" u="sng" dirty="0">
                <a:effectLst/>
                <a:latin typeface="Garamond" panose="02020404030301010803" pitchFamily="18" charset="0"/>
              </a:rPr>
              <a:t>Cultural transmission</a:t>
            </a:r>
            <a:endParaRPr lang="zh-HK" altLang="en-US" sz="3200" i="1" u="sng" dirty="0">
              <a:effectLst/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447800" y="1371600"/>
            <a:ext cx="7499350" cy="5257800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我們介紹了以下幾種特徵：</a:t>
            </a:r>
            <a:endParaRPr lang="en-US" altLang="zh-TW" sz="30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787400" lvl="1" indent="-514350" eaLnBrk="1" hangingPunct="1">
              <a:buFont typeface="Franklin Gothic Book" pitchFamily="34" charset="0"/>
              <a:buAutoNum type="arabicPeriod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arbitrariness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任意性</a:t>
            </a:r>
            <a:endParaRPr lang="en-US" altLang="zh-HK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787400" lvl="1" indent="-514350" eaLnBrk="1" hangingPunct="1">
              <a:buFont typeface="Franklin Gothic Book" pitchFamily="34" charset="0"/>
              <a:buAutoNum type="arabicPeriod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displacement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置換性</a:t>
            </a:r>
            <a:endParaRPr lang="en-US" altLang="zh-HK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787400" lvl="1" indent="-514350" eaLnBrk="1" hangingPunct="1">
              <a:buFont typeface="Franklin Gothic Book" pitchFamily="34" charset="0"/>
              <a:buAutoNum type="arabicPeriod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duality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雙重性</a:t>
            </a:r>
            <a:endParaRPr lang="en-US" altLang="zh-HK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787400" lvl="1" indent="-514350" eaLnBrk="1" hangingPunct="1">
              <a:buFont typeface="Franklin Gothic Book" pitchFamily="34" charset="0"/>
              <a:buAutoNum type="arabicPeriod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productivity 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創造性 </a:t>
            </a:r>
            <a:endParaRPr lang="en-US" altLang="zh-HK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787400" lvl="1" indent="-514350" eaLnBrk="1" hangingPunct="1">
              <a:buFont typeface="Franklin Gothic Book" pitchFamily="34" charset="0"/>
              <a:buAutoNum type="arabicPeriod"/>
              <a:defRPr/>
            </a:pPr>
            <a:r>
              <a:rPr lang="en-US" altLang="zh-HK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cultural transmission </a:t>
            </a:r>
            <a:r>
              <a:rPr lang="zh-TW" altLang="en-US" sz="26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文化傳播性</a:t>
            </a:r>
            <a:endParaRPr lang="en-US" altLang="zh-TW" sz="26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360363" indent="-269875" eaLnBrk="1" hangingPunct="1">
              <a:defRPr/>
            </a:pPr>
            <a:endParaRPr lang="en-US" altLang="zh-TW" sz="30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360363" indent="-269875" eaLnBrk="1" hangingPunct="1">
              <a:defRPr/>
            </a:pPr>
            <a:r>
              <a:rPr lang="zh-TW" altLang="en-US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請參看 </a:t>
            </a:r>
            <a:r>
              <a:rPr lang="en-US" altLang="zh-TW" sz="3000" dirty="0" err="1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Hockett</a:t>
            </a:r>
            <a:r>
              <a:rPr lang="zh-TW" altLang="en-US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(1960)</a:t>
            </a:r>
            <a:r>
              <a:rPr lang="zh-TW" altLang="en-US" sz="3000" dirty="0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 去認識其他特徵</a:t>
            </a:r>
            <a:endParaRPr lang="en-US" altLang="zh-HK" sz="3000" dirty="0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marL="273050" lvl="1" indent="0" eaLnBrk="1" hangingPunct="1">
              <a:buFont typeface="Verdana" panose="020B0604030504040204" pitchFamily="34" charset="0"/>
              <a:buNone/>
              <a:defRPr/>
            </a:pPr>
            <a:r>
              <a:rPr lang="en-US" altLang="zh-HK" sz="1600" dirty="0" err="1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Hockett</a:t>
            </a:r>
            <a:r>
              <a:rPr lang="en-US" altLang="zh-HK" sz="16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, C.F. (1960). The origin of speech. </a:t>
            </a:r>
            <a:r>
              <a:rPr lang="en-US" altLang="zh-HK" sz="1600" i="1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Scientific American, 203,</a:t>
            </a:r>
            <a:r>
              <a:rPr lang="en-US" altLang="zh-HK" sz="16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 89–97. (</a:t>
            </a:r>
            <a:r>
              <a:rPr lang="en-US" altLang="zh-HK" sz="16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  <a:hlinkClick r:id="rId2"/>
              </a:rPr>
              <a:t>http://www.columbia.edu/~rmk7/HC/HC_Readings/Hockett.pdf</a:t>
            </a:r>
            <a:r>
              <a:rPr lang="en-US" altLang="zh-HK" sz="1600" dirty="0">
                <a:solidFill>
                  <a:srgbClr val="002060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)</a:t>
            </a:r>
          </a:p>
          <a:p>
            <a:pPr>
              <a:defRPr/>
            </a:pPr>
            <a:endParaRPr lang="en-US" altLang="zh-HK" dirty="0">
              <a:latin typeface="Garamond" panose="02020404030301010803" pitchFamily="18" charset="0"/>
              <a:ea typeface="PMingLiU" panose="02020500000000000000" pitchFamily="18" charset="-120"/>
            </a:endParaRPr>
          </a:p>
          <a:p>
            <a:pPr>
              <a:defRPr/>
            </a:pPr>
            <a:endParaRPr lang="zh-HK" altLang="en-US" dirty="0">
              <a:latin typeface="Garamond" panose="02020404030301010803" pitchFamily="18" charset="0"/>
              <a:ea typeface="PMingLiU" panose="02020500000000000000" pitchFamily="18" charset="-120"/>
            </a:endParaRPr>
          </a:p>
        </p:txBody>
      </p:sp>
      <p:sp>
        <p:nvSpPr>
          <p:cNvPr id="7065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9BE886-70AC-4E59-AF14-0F77D3D12A01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人類語言的特徵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632700" cy="5257800"/>
          </a:xfrm>
        </p:spPr>
        <p:txBody>
          <a:bodyPr/>
          <a:lstStyle/>
          <a:p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dirty="0">
                <a:solidFill>
                  <a:srgbClr val="00206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你認為鸚鵡會說話嗎？</a:t>
            </a:r>
            <a:endParaRPr lang="en-US" altLang="zh-TW" dirty="0">
              <a:solidFill>
                <a:srgbClr val="002060"/>
              </a:solidFill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sz="2400" dirty="0">
                <a:solidFill>
                  <a:srgbClr val="B51757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語音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？牠們知道 </a:t>
            </a:r>
            <a:r>
              <a:rPr lang="en-US" altLang="zh-TW" sz="2400" i="1" dirty="0">
                <a:solidFill>
                  <a:srgbClr val="0070C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show 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和 </a:t>
            </a:r>
            <a:r>
              <a:rPr lang="en-US" altLang="zh-TW" sz="2400" i="1" dirty="0">
                <a:solidFill>
                  <a:srgbClr val="0070C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shoe 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開始的語音相同嗎？知道</a:t>
            </a:r>
            <a:r>
              <a:rPr lang="zh-TW" altLang="en-US" sz="2400" i="1" dirty="0">
                <a:solidFill>
                  <a:srgbClr val="0070C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爸 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和</a:t>
            </a:r>
            <a:r>
              <a:rPr lang="zh-TW" altLang="en-US" sz="2400" i="1" dirty="0">
                <a:solidFill>
                  <a:srgbClr val="0070C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媽 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後面的語音相同嗎？</a:t>
            </a:r>
            <a:endParaRPr lang="en-US" altLang="zh-TW" sz="24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sz="2400" dirty="0">
                <a:solidFill>
                  <a:srgbClr val="B51757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詞彙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？牠們知道</a:t>
            </a:r>
            <a:r>
              <a:rPr lang="en-US" altLang="zh-TW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i="1" dirty="0">
                <a:solidFill>
                  <a:srgbClr val="0070C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nobody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、</a:t>
            </a:r>
            <a:r>
              <a:rPr lang="en-US" altLang="zh-TW" sz="2400" i="1" dirty="0">
                <a:solidFill>
                  <a:srgbClr val="0070C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yellow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、</a:t>
            </a:r>
            <a:r>
              <a:rPr lang="en-US" altLang="zh-TW" sz="2400" i="1" dirty="0">
                <a:solidFill>
                  <a:srgbClr val="0070C0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great 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的意思嗎？</a:t>
            </a:r>
            <a:endParaRPr lang="en-US" altLang="zh-TW" sz="24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sz="2400" dirty="0">
                <a:solidFill>
                  <a:srgbClr val="B51757"/>
                </a:solidFill>
                <a:latin typeface="Garamond" panose="02020404030301010803" pitchFamily="18" charset="0"/>
                <a:ea typeface="新細明體" panose="02020500000000000000" pitchFamily="18" charset="-120"/>
              </a:rPr>
              <a:t>語法</a:t>
            </a:r>
            <a:r>
              <a:rPr lang="zh-TW" altLang="en-US" sz="2400" dirty="0">
                <a:latin typeface="Garamond" panose="02020404030301010803" pitchFamily="18" charset="0"/>
                <a:ea typeface="新細明體" panose="02020500000000000000" pitchFamily="18" charset="-120"/>
              </a:rPr>
              <a:t>？牠們能把句子分成不同的詞語，把不同詞語組合新的句子嗎？</a:t>
            </a:r>
            <a:endParaRPr lang="zh-HK" altLang="en-US" sz="2400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B4154D-D3BD-4BF8-B59F-A6C80CBA3389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>
                <a:latin typeface="Garamond" panose="02020404030301010803" pitchFamily="18" charset="0"/>
              </a:rPr>
              <a:t>動物能學會人類語言嗎？</a:t>
            </a:r>
            <a:endParaRPr lang="zh-HK" altLang="en-US" sz="3800" u="sng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HK" sz="3800" u="sng" dirty="0">
                <a:latin typeface="Garamond" panose="02020404030301010803" pitchFamily="18" charset="0"/>
              </a:rPr>
              <a:t>L1 lecture</a:t>
            </a:r>
            <a:endParaRPr lang="en-US" sz="3800" u="sng" dirty="0">
              <a:latin typeface="Garamond" panose="02020404030301010803" pitchFamily="18" charset="0"/>
            </a:endParaRPr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334000"/>
          </a:xfrm>
        </p:spPr>
        <p:txBody>
          <a:bodyPr/>
          <a:lstStyle/>
          <a:p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介紹：</a:t>
            </a:r>
            <a:endParaRPr lang="en-US" altLang="zh-TW" sz="2800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/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一些術語（「語言」、「語言學」、「語言學家」等等）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/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語言的基本要素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/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「言語鏈」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/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語言學的主要分支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/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溝通系統的重要元素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/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動物溝通系統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—</a:t>
            </a:r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形式與功能</a:t>
            </a:r>
            <a:endParaRPr lang="en-US" altLang="zh-TW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lvl="1"/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人類語言的特徵</a:t>
            </a:r>
            <a:endParaRPr lang="en-US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AA4F85-B030-402C-974A-665B7C595C2C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zh-TW" sz="3800" u="sng" dirty="0">
                <a:latin typeface="Garamond" panose="02020404030301010803" pitchFamily="18" charset="0"/>
              </a:rPr>
              <a:t>key words</a:t>
            </a:r>
            <a:r>
              <a:rPr lang="zh-TW" altLang="en-US" sz="3800" u="sng" dirty="0">
                <a:latin typeface="Garamond" panose="02020404030301010803" pitchFamily="18" charset="0"/>
              </a:rPr>
              <a:t> </a:t>
            </a:r>
            <a:r>
              <a:rPr lang="en-US" altLang="zh-TW" sz="3800" u="sng" dirty="0">
                <a:latin typeface="Garamond" panose="02020404030301010803" pitchFamily="18" charset="0"/>
              </a:rPr>
              <a:t>(1)</a:t>
            </a:r>
            <a:endParaRPr lang="en-US" altLang="zh-HK" sz="3800" u="sng" dirty="0">
              <a:latin typeface="Garamond" panose="02020404030301010803" pitchFamily="18" charset="0"/>
            </a:endParaRP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溝通系統</a:t>
            </a:r>
            <a:endParaRPr lang="en-US" altLang="en-US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動物溝通系統的例子</a:t>
            </a:r>
            <a:endParaRPr lang="en-US" altLang="en-US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人類語言的特性舉例</a:t>
            </a:r>
            <a:endParaRPr lang="en-US" altLang="en-US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/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任意性 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arbitrariness </a:t>
            </a:r>
          </a:p>
          <a:p>
            <a:pPr lvl="1"/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置換性 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displacement </a:t>
            </a:r>
          </a:p>
          <a:p>
            <a:pPr lvl="1"/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雙重性 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duality </a:t>
            </a:r>
          </a:p>
          <a:p>
            <a:pPr lvl="1"/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創造性 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productivity</a:t>
            </a:r>
          </a:p>
          <a:p>
            <a:pPr lvl="1"/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文化傳播性 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cultural transmission</a:t>
            </a:r>
          </a:p>
          <a:p>
            <a:endParaRPr lang="en-US" altLang="en-US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785555-200E-4DB0-A419-7B6004C54104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zh-TW" sz="3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</a:rPr>
              <a:t>key words</a:t>
            </a:r>
            <a:r>
              <a:rPr lang="zh-TW" altLang="en-US" sz="3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</a:rPr>
              <a:t> </a:t>
            </a:r>
            <a:r>
              <a:rPr lang="en-US" altLang="zh-TW" sz="3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</a:rPr>
              <a:t>(2)</a:t>
            </a:r>
            <a:endParaRPr lang="en-US" altLang="zh-HK" u="sng" dirty="0">
              <a:effectLst>
                <a:outerShdw blurRad="38100" dist="38100" dir="2700000" algn="tl">
                  <a:srgbClr val="C0C0C0"/>
                </a:outerShdw>
              </a:effectLst>
              <a:latin typeface="Garamond" panose="02020404030301010803" pitchFamily="18" charset="0"/>
              <a:ea typeface="新細明體" pitchFamily="18" charset="-120"/>
            </a:endParaRPr>
          </a:p>
        </p:txBody>
      </p:sp>
      <p:sp>
        <p:nvSpPr>
          <p:cNvPr id="84995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105400"/>
          </a:xfrm>
        </p:spPr>
        <p:txBody>
          <a:bodyPr/>
          <a:lstStyle/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語言的基本要素</a:t>
            </a:r>
            <a:endParaRPr lang="en-US" altLang="en-US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pPr lvl="1"/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語音 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speech sounds</a:t>
            </a:r>
          </a:p>
          <a:p>
            <a:pPr lvl="1"/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詞匯 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lexicon</a:t>
            </a:r>
          </a:p>
          <a:p>
            <a:pPr lvl="1"/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語法 </a:t>
            </a:r>
            <a:r>
              <a:rPr lang="en-US" altLang="zh-HK" dirty="0">
                <a:latin typeface="Garamond" panose="02020404030301010803" pitchFamily="18" charset="0"/>
                <a:ea typeface="新細明體" panose="02020500000000000000" pitchFamily="18" charset="-120"/>
              </a:rPr>
              <a:t>grammar</a:t>
            </a:r>
          </a:p>
          <a:p>
            <a:pPr lvl="1"/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意義 </a:t>
            </a:r>
            <a: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  <a:t>meaning</a:t>
            </a:r>
            <a:endParaRPr lang="en-US" altLang="zh-HK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語言學的主要分支</a:t>
            </a:r>
            <a:endParaRPr lang="en-US" altLang="en-US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動物與語言</a:t>
            </a:r>
            <a:endParaRPr lang="en-US" altLang="zh-TW" dirty="0">
              <a:latin typeface="Garamond" panose="02020404030301010803" pitchFamily="18" charset="0"/>
              <a:ea typeface="新細明體" panose="02020500000000000000" pitchFamily="18" charset="-120"/>
            </a:endParaRPr>
          </a:p>
          <a:p>
            <a:endParaRPr lang="en-US" altLang="en-US" dirty="0">
              <a:latin typeface="Garamond" panose="02020404030301010803" pitchFamily="18" charset="0"/>
              <a:ea typeface="新細明體" panose="02020500000000000000" pitchFamily="18" charset="-120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105075-A0BC-4883-A4F4-14F430DC8F05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3800" u="sng" dirty="0"/>
              <a:t>下一課</a:t>
            </a:r>
            <a:endParaRPr lang="zh-HK" altLang="en-US" sz="3800" u="sng" dirty="0"/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Garamond" panose="02020404030301010803" pitchFamily="18" charset="0"/>
                <a:ea typeface="新細明體" panose="02020500000000000000" pitchFamily="18" charset="-120"/>
              </a:rPr>
              <a:t>兒童語言習得 </a:t>
            </a:r>
            <a:r>
              <a:rPr lang="en-US" altLang="zh-TW" dirty="0">
                <a:latin typeface="Garamond" panose="02020404030301010803" pitchFamily="18" charset="0"/>
                <a:ea typeface="新細明體" panose="02020500000000000000" pitchFamily="18" charset="-120"/>
              </a:rPr>
              <a:t>language acquisition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HK" altLang="en-US" dirty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B1E54F-BDDF-4D95-B0B6-097ADB1ED8C0}" type="slidenum">
              <a:rPr lang="zh-TW" altLang="en-GB" sz="1200" smtClean="0">
                <a:solidFill>
                  <a:srgbClr val="B5A788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GB" altLang="zh-TW" sz="1200">
              <a:solidFill>
                <a:srgbClr val="B5A788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4876</TotalTime>
  <Words>2503</Words>
  <PresentationFormat>On-screen Show (4:3)</PresentationFormat>
  <Paragraphs>394</Paragraphs>
  <Slides>41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Calibri</vt:lpstr>
      <vt:lpstr>PMingLiU</vt:lpstr>
      <vt:lpstr>Wingdings 2</vt:lpstr>
      <vt:lpstr>Gill Sans MT</vt:lpstr>
      <vt:lpstr>Arial</vt:lpstr>
      <vt:lpstr>Garamond</vt:lpstr>
      <vt:lpstr>Times New Roman</vt:lpstr>
      <vt:lpstr>Franklin Gothic Book</vt:lpstr>
      <vt:lpstr>PMingLiU</vt:lpstr>
      <vt:lpstr>Verdana</vt:lpstr>
      <vt:lpstr>Wingdings</vt:lpstr>
      <vt:lpstr>KaiTi</vt:lpstr>
      <vt:lpstr>Solstice</vt:lpstr>
      <vt:lpstr> Fun with Language CBS1A01P </vt:lpstr>
      <vt:lpstr>本課程討論的題目</vt:lpstr>
      <vt:lpstr>PowerPoint Presentation</vt:lpstr>
      <vt:lpstr>CBS1A01P Fun with Language</vt:lpstr>
      <vt:lpstr>Cluster Areas Requirements (CAR)</vt:lpstr>
      <vt:lpstr>CR/CW</vt:lpstr>
      <vt:lpstr>CR/CW</vt:lpstr>
      <vt:lpstr>CR/CW</vt:lpstr>
      <vt:lpstr>提醒</vt:lpstr>
      <vt:lpstr>L1</vt:lpstr>
      <vt:lpstr>L1</vt:lpstr>
      <vt:lpstr>先介紹一些術語 (1/3)</vt:lpstr>
      <vt:lpstr>先介紹一些術語 (2/3)</vt:lpstr>
      <vt:lpstr>先介紹一些術語 (3/3)</vt:lpstr>
      <vt:lpstr>語言的基本要素 (1/5)</vt:lpstr>
      <vt:lpstr>語言的基本要素 (2/5)</vt:lpstr>
      <vt:lpstr>語言的基本要素 (3/5)</vt:lpstr>
      <vt:lpstr>語言的基本要素 (4/5)</vt:lpstr>
      <vt:lpstr>語言的基本要素 (5/5)</vt:lpstr>
      <vt:lpstr>言語鏈</vt:lpstr>
      <vt:lpstr>語言學的主要分支</vt:lpstr>
      <vt:lpstr>溝通系統的重要元素</vt:lpstr>
      <vt:lpstr>動物溝通系統—形式與功能</vt:lpstr>
      <vt:lpstr>動物溝通系統—例子</vt:lpstr>
      <vt:lpstr>人類語言的特徵</vt:lpstr>
      <vt:lpstr>(i) 任意性 Arbitrariness (1/2)</vt:lpstr>
      <vt:lpstr>(i) 任意性 Arbitrariness (2/2)</vt:lpstr>
      <vt:lpstr>(ii) 置換性 Displacement (1/4)</vt:lpstr>
      <vt:lpstr>(ii) 置換性 Displacement (2/4)</vt:lpstr>
      <vt:lpstr>(ii) 置換性 Displacement (3/4)</vt:lpstr>
      <vt:lpstr>(ii) 置換性 Displacement (4/4)</vt:lpstr>
      <vt:lpstr>(iii) 雙重性 Duality (1/2)</vt:lpstr>
      <vt:lpstr>(iii) 雙重性 Duality (2/2)</vt:lpstr>
      <vt:lpstr>(iv) 創造性 Productivity</vt:lpstr>
      <vt:lpstr>(v) 文化傳播性 Cultural transmission</vt:lpstr>
      <vt:lpstr>人類語言的特徵</vt:lpstr>
      <vt:lpstr>動物能學會人類語言嗎？</vt:lpstr>
      <vt:lpstr>L1 lecture</vt:lpstr>
      <vt:lpstr>key words (1)</vt:lpstr>
      <vt:lpstr>key words (2)</vt:lpstr>
      <vt:lpstr>下一課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WU, Wing Li [LST]</cp:lastModifiedBy>
  <dcterms:created xsi:type="dcterms:W3CDTF">2006-01-23T02:36:42Z</dcterms:created>
  <dcterms:modified xsi:type="dcterms:W3CDTF">2026-05-22T04:42:24Z</dcterms:modified>
</cp:coreProperties>
</file>
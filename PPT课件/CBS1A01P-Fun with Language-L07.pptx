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996" r:id="rId1"/>
  </p:sldMasterIdLst>
  <p:notesMasterIdLst>
    <p:notesMasterId r:id="rId46"/>
  </p:notesMasterIdLst>
  <p:sldIdLst>
    <p:sldId id="583" r:id="rId2"/>
    <p:sldId id="391" r:id="rId3"/>
    <p:sldId id="582" r:id="rId4"/>
    <p:sldId id="392" r:id="rId5"/>
    <p:sldId id="588" r:id="rId6"/>
    <p:sldId id="461" r:id="rId7"/>
    <p:sldId id="503" r:id="rId8"/>
    <p:sldId id="505" r:id="rId9"/>
    <p:sldId id="589" r:id="rId10"/>
    <p:sldId id="510" r:id="rId11"/>
    <p:sldId id="516" r:id="rId12"/>
    <p:sldId id="539" r:id="rId13"/>
    <p:sldId id="546" r:id="rId14"/>
    <p:sldId id="511" r:id="rId15"/>
    <p:sldId id="488" r:id="rId16"/>
    <p:sldId id="518" r:id="rId17"/>
    <p:sldId id="519" r:id="rId18"/>
    <p:sldId id="529" r:id="rId19"/>
    <p:sldId id="476" r:id="rId20"/>
    <p:sldId id="465" r:id="rId21"/>
    <p:sldId id="538" r:id="rId22"/>
    <p:sldId id="605" r:id="rId23"/>
    <p:sldId id="466" r:id="rId24"/>
    <p:sldId id="467" r:id="rId25"/>
    <p:sldId id="468" r:id="rId26"/>
    <p:sldId id="469" r:id="rId27"/>
    <p:sldId id="551" r:id="rId28"/>
    <p:sldId id="594" r:id="rId29"/>
    <p:sldId id="606" r:id="rId30"/>
    <p:sldId id="607" r:id="rId31"/>
    <p:sldId id="579" r:id="rId32"/>
    <p:sldId id="450" r:id="rId33"/>
    <p:sldId id="548" r:id="rId34"/>
    <p:sldId id="451" r:id="rId35"/>
    <p:sldId id="452" r:id="rId36"/>
    <p:sldId id="453" r:id="rId37"/>
    <p:sldId id="530" r:id="rId38"/>
    <p:sldId id="534" r:id="rId39"/>
    <p:sldId id="531" r:id="rId40"/>
    <p:sldId id="532" r:id="rId41"/>
    <p:sldId id="533" r:id="rId42"/>
    <p:sldId id="601" r:id="rId43"/>
    <p:sldId id="602" r:id="rId44"/>
    <p:sldId id="603" r:id="rId45"/>
  </p:sldIdLst>
  <p:sldSz cx="9144000" cy="6858000" type="screen4x3"/>
  <p:notesSz cx="6858000" cy="9144000"/>
  <p:embeddedFontLst>
    <p:embeddedFont>
      <p:font typeface="PMingLiU" panose="02020500000000000000" pitchFamily="18" charset="-120"/>
      <p:regular r:id="rId47"/>
    </p:embeddedFont>
    <p:embeddedFont>
      <p:font typeface="PMingLiU" panose="02020500000000000000" pitchFamily="18" charset="-120"/>
      <p:regular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Doulos SIL" panose="02000500070000020004" pitchFamily="2" charset="0"/>
      <p:regular r:id="rId52"/>
    </p:embeddedFont>
    <p:embeddedFont>
      <p:font typeface="Lucida Sans Unicode" panose="020B0602030504020204" pitchFamily="3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04" autoAdjust="0"/>
    <p:restoredTop sz="89888" autoAdjust="0"/>
  </p:normalViewPr>
  <p:slideViewPr>
    <p:cSldViewPr>
      <p:cViewPr varScale="1">
        <p:scale>
          <a:sx n="89" d="100"/>
          <a:sy n="89" d="100"/>
        </p:scale>
        <p:origin x="1244" y="7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868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DC586-2683-46C2-BCAC-305DA05B874A}" type="datetimeFigureOut">
              <a:rPr lang="zh-HK" altLang="en-US" smtClean="0"/>
              <a:pPr/>
              <a:t>13/6/2024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54351-3776-481E-98A1-CBCB02763DC8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720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CD6A-74F1-4F22-B6F5-07549CF96A10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F3498-A3B5-4CDA-B7CD-65EF8DE2BFCA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A29E-1237-4426-90DD-8FEB1EA11AC1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0977-DCE4-4712-8342-1108AFD3DD7D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248F-DE44-48E8-A0BA-13C16FDF70AD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E842-FB3A-40C3-8D70-08C340E73227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7697-9822-4E75-A00A-2109507570C0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AA8-3C28-4C0B-9535-4BC30EEC93E0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07A80-C311-4876-B9F6-0A9808E2505D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619-26AC-462D-80D0-5D74841BD9BF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A54F-D469-46D8-8E43-EB8DED353477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E03CCBD-FA08-49C8-9B8E-2C21BB0A64AA}" type="datetime1">
              <a:rPr lang="en-US" altLang="zh-HK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glishclub.com/english-language-history.htm" TargetMode="Externa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oald8.oxfordlearnersdictionarie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oald8.oxfordlearnersdictionaries.com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1752600"/>
            <a:ext cx="5334000" cy="1343028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CBS1A01P</a:t>
            </a:r>
            <a:br>
              <a:rPr lang="en-US" altLang="zh-HK" dirty="0"/>
            </a:br>
            <a:r>
              <a:rPr lang="en-US" altLang="zh-HK" sz="4000" dirty="0"/>
              <a:t>Fun with Language</a:t>
            </a:r>
            <a:endParaRPr lang="zh-HK" alt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94760" y="3721473"/>
            <a:ext cx="5120640" cy="1581150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Lecture 7</a:t>
            </a:r>
          </a:p>
          <a:p>
            <a:r>
              <a:rPr lang="zh-TW" altLang="en-US" sz="3600" dirty="0"/>
              <a:t>語義學 </a:t>
            </a:r>
            <a:r>
              <a:rPr lang="en-US" altLang="zh-TW" sz="3600"/>
              <a:t>semantics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26745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上一個題目「構詞學」的重點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524000"/>
            <a:ext cx="8595360" cy="51816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/>
              <a:t>詞語</a:t>
            </a:r>
            <a:r>
              <a:rPr lang="en-US" altLang="zh-TW" sz="2800" dirty="0"/>
              <a:t> words </a:t>
            </a:r>
            <a:r>
              <a:rPr lang="zh-TW" altLang="en-US" sz="2800" dirty="0"/>
              <a:t>和 詞素</a:t>
            </a:r>
            <a:r>
              <a:rPr lang="en-US" altLang="zh-TW" sz="2800" dirty="0"/>
              <a:t> morphemes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/>
              <a:t>單純詞</a:t>
            </a:r>
            <a:r>
              <a:rPr lang="en-US" altLang="zh-TW" sz="2800" dirty="0"/>
              <a:t> simple words	</a:t>
            </a:r>
            <a:r>
              <a:rPr lang="zh-TW" altLang="en-US" sz="2800" dirty="0"/>
              <a:t>合成詞</a:t>
            </a:r>
            <a:r>
              <a:rPr lang="en-US" altLang="zh-TW" sz="2800" dirty="0"/>
              <a:t> complex words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altLang="zh-TW" sz="28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/>
              <a:t>詞素的分類</a:t>
            </a:r>
            <a:endParaRPr lang="en-US" altLang="zh-TW" sz="2800" dirty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/>
              <a:t>自由</a:t>
            </a:r>
            <a:r>
              <a:rPr lang="en-US" altLang="zh-TW" sz="2800" dirty="0"/>
              <a:t>free</a:t>
            </a:r>
            <a:r>
              <a:rPr lang="zh-TW" altLang="en-US" sz="2800" dirty="0"/>
              <a:t>詞素</a:t>
            </a:r>
            <a:r>
              <a:rPr lang="en-US" altLang="zh-TW" sz="2800" dirty="0"/>
              <a:t> </a:t>
            </a:r>
            <a:r>
              <a:rPr lang="zh-TW" altLang="en-US" sz="2800" dirty="0"/>
              <a:t>、依存</a:t>
            </a:r>
            <a:r>
              <a:rPr lang="en-US" altLang="zh-TW" sz="2800" dirty="0"/>
              <a:t>bound</a:t>
            </a:r>
            <a:r>
              <a:rPr lang="zh-TW" altLang="en-US" sz="2800" dirty="0"/>
              <a:t>詞素</a:t>
            </a:r>
            <a:endParaRPr lang="en-US" altLang="zh-TW" sz="2800" dirty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/>
              <a:t>前綴</a:t>
            </a:r>
            <a:r>
              <a:rPr lang="en-US" altLang="zh-TW" sz="2800" dirty="0"/>
              <a:t> prefixes</a:t>
            </a:r>
            <a:r>
              <a:rPr lang="zh-TW" altLang="en-US" sz="2800" dirty="0"/>
              <a:t>、後綴</a:t>
            </a:r>
            <a:r>
              <a:rPr lang="en-US" altLang="zh-TW" sz="2800" dirty="0"/>
              <a:t> suffixes</a:t>
            </a:r>
            <a:r>
              <a:rPr lang="zh-TW" altLang="en-US" sz="2800" dirty="0"/>
              <a:t> 等等</a:t>
            </a:r>
            <a:endParaRPr lang="en-US" altLang="zh-TW" sz="2800" dirty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/>
              <a:t>語法詞素</a:t>
            </a:r>
            <a:r>
              <a:rPr lang="en-US" altLang="zh-TW" sz="2800" dirty="0"/>
              <a:t> inflectional morphemes</a:t>
            </a:r>
            <a:r>
              <a:rPr lang="zh-TW" altLang="en-US" sz="2800" dirty="0"/>
              <a:t>、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zh-TW" altLang="en-US" sz="2800" dirty="0"/>
              <a:t>詞變詞素</a:t>
            </a:r>
            <a:r>
              <a:rPr lang="en-US" altLang="zh-TW" sz="2800" dirty="0"/>
              <a:t> derivational morphemes</a:t>
            </a:r>
            <a:endParaRPr lang="en-US" altLang="zh-HK" sz="28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altLang="zh-TW" sz="28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/>
              <a:t>構詞方法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9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274320" y="1298448"/>
            <a:ext cx="8595360" cy="493776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7188" indent="-357188"/>
            <a:r>
              <a:rPr lang="en-US" sz="3600" dirty="0"/>
              <a:t>the word “minibus”</a:t>
            </a:r>
            <a:endParaRPr lang="en-GB" sz="4000" dirty="0"/>
          </a:p>
        </p:txBody>
      </p:sp>
      <p:pic>
        <p:nvPicPr>
          <p:cNvPr id="1026" name="Picture 2" descr="C:\Users\CBS\Desktop\OALD-minibu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000373"/>
            <a:ext cx="6400800" cy="455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1143000" y="3733800"/>
            <a:ext cx="1447800" cy="5334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219200" y="5969508"/>
            <a:ext cx="5791200" cy="5334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762000" y="4267200"/>
            <a:ext cx="914400" cy="8382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2"/>
          </p:cNvCxnSpPr>
          <p:nvPr/>
        </p:nvCxnSpPr>
        <p:spPr>
          <a:xfrm flipH="1" flipV="1">
            <a:off x="762000" y="5105400"/>
            <a:ext cx="457200" cy="11308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71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語義學 </a:t>
            </a:r>
            <a:r>
              <a:rPr lang="en-US" altLang="zh-HK" sz="3000" dirty="0"/>
              <a:t>Semantics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>
                <a:ea typeface="新細明體" charset="-120"/>
              </a:rPr>
              <a:t>The study of </a:t>
            </a:r>
            <a:r>
              <a:rPr lang="en-US" altLang="zh-HK" sz="3000" dirty="0">
                <a:solidFill>
                  <a:schemeClr val="tx2"/>
                </a:solidFill>
                <a:ea typeface="新細明體" charset="-120"/>
              </a:rPr>
              <a:t>meaning</a:t>
            </a:r>
            <a:r>
              <a:rPr lang="en-US" altLang="zh-HK" sz="3000" dirty="0">
                <a:ea typeface="新細明體" charset="-120"/>
              </a:rPr>
              <a:t> in language.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>
                <a:ea typeface="新細明體" charset="-120"/>
              </a:rPr>
              <a:t>It deals with the </a:t>
            </a:r>
            <a:r>
              <a:rPr lang="en-US" altLang="zh-HK" sz="3000" dirty="0">
                <a:solidFill>
                  <a:schemeClr val="tx2"/>
                </a:solidFill>
                <a:ea typeface="新細明體" charset="-120"/>
              </a:rPr>
              <a:t>meaning</a:t>
            </a:r>
            <a:r>
              <a:rPr lang="en-US" altLang="zh-HK" sz="3000" dirty="0">
                <a:ea typeface="新細明體" charset="-120"/>
              </a:rPr>
              <a:t> of words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>
                <a:ea typeface="新細明體" charset="-120"/>
              </a:rPr>
              <a:t>and how </a:t>
            </a:r>
            <a:r>
              <a:rPr lang="en-US" altLang="zh-HK" sz="3000" dirty="0">
                <a:solidFill>
                  <a:schemeClr val="tx2"/>
                </a:solidFill>
                <a:ea typeface="新細明體" charset="-120"/>
              </a:rPr>
              <a:t>meaning</a:t>
            </a:r>
            <a:r>
              <a:rPr lang="en-US" altLang="zh-HK" sz="3000" dirty="0">
                <a:ea typeface="新細明體" charset="-120"/>
              </a:rPr>
              <a:t> of sentences is derived from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6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語義學 </a:t>
            </a:r>
            <a:r>
              <a:rPr lang="en-US" altLang="zh-HK" sz="3000" dirty="0"/>
              <a:t>Semantics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000"/>
              <a:t>詞彙語義</a:t>
            </a:r>
            <a:r>
              <a:rPr lang="zh-TW" altLang="en-US" sz="3000" dirty="0"/>
              <a:t>學 </a:t>
            </a:r>
            <a:r>
              <a:rPr lang="en-US" altLang="zh-TW" sz="3000" dirty="0"/>
              <a:t>lexical semantics</a:t>
            </a:r>
            <a:r>
              <a:rPr lang="zh-TW" altLang="en-US" sz="3000" dirty="0"/>
              <a:t>：</a:t>
            </a:r>
            <a:r>
              <a:rPr lang="en-US" altLang="zh-TW" sz="3000" dirty="0"/>
              <a:t/>
            </a:r>
            <a:br>
              <a:rPr lang="en-US" altLang="zh-TW" sz="3000" dirty="0"/>
            </a:br>
            <a:r>
              <a:rPr lang="zh-TW" altLang="en-US" sz="3000" dirty="0"/>
              <a:t>詞語的語義</a:t>
            </a:r>
            <a:endParaRPr lang="en-US" altLang="zh-TW" sz="3000" dirty="0"/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altLang="zh-TW" sz="30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句法語義學 </a:t>
            </a:r>
            <a:r>
              <a:rPr lang="en-US" altLang="zh-TW" sz="3000" dirty="0"/>
              <a:t>syntactic semantics</a:t>
            </a:r>
            <a:r>
              <a:rPr lang="zh-TW" altLang="en-US" sz="3000" dirty="0"/>
              <a:t>：</a:t>
            </a:r>
            <a:r>
              <a:rPr lang="en-US" altLang="zh-TW" sz="3000" dirty="0"/>
              <a:t/>
            </a:r>
            <a:br>
              <a:rPr lang="en-US" altLang="zh-TW" sz="3000" dirty="0"/>
            </a:br>
            <a:r>
              <a:rPr lang="zh-TW" altLang="en-US" sz="3000" dirty="0"/>
              <a:t>句子的語義</a:t>
            </a:r>
            <a:r>
              <a:rPr lang="en-US" altLang="zh-TW" sz="3000" dirty="0"/>
              <a:t/>
            </a:r>
            <a:br>
              <a:rPr lang="en-US" altLang="zh-TW" sz="3000" dirty="0"/>
            </a:br>
            <a:r>
              <a:rPr lang="zh-TW" altLang="en-US" sz="3000" dirty="0"/>
              <a:t>留待下一課與句法學 </a:t>
            </a:r>
            <a:r>
              <a:rPr lang="en-US" altLang="zh-TW" sz="3000" dirty="0"/>
              <a:t>syntax </a:t>
            </a:r>
            <a:r>
              <a:rPr lang="zh-TW" altLang="en-US" sz="3000" dirty="0"/>
              <a:t>一同討論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85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38200"/>
          </a:xfrm>
        </p:spPr>
        <p:txBody>
          <a:bodyPr/>
          <a:lstStyle/>
          <a:p>
            <a:r>
              <a:rPr lang="zh-TW" altLang="en-US" dirty="0"/>
              <a:t>本課題目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495800"/>
          </a:xfrm>
        </p:spPr>
        <p:txBody>
          <a:bodyPr>
            <a:no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兩個關於「意義」的理論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詞語的關係 </a:t>
            </a:r>
            <a:r>
              <a:rPr lang="en-US" altLang="zh-TW" sz="3000" dirty="0"/>
              <a:t>semantic relations / lexical relations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語義角色</a:t>
            </a:r>
            <a:r>
              <a:rPr lang="en-US" altLang="zh-TW" sz="3000" dirty="0"/>
              <a:t> semantic roles</a:t>
            </a:r>
            <a:endParaRPr lang="zh-HK" alt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79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語言溝通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溝通，訊息傳遞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詞語：</a:t>
            </a:r>
            <a:r>
              <a:rPr lang="zh-TW" altLang="en-US" sz="3000" dirty="0">
                <a:solidFill>
                  <a:srgbClr val="C00000"/>
                </a:solidFill>
              </a:rPr>
              <a:t>形式</a:t>
            </a:r>
            <a:r>
              <a:rPr lang="zh-TW" altLang="en-US" sz="3000" dirty="0"/>
              <a:t>和</a:t>
            </a:r>
            <a:r>
              <a:rPr lang="zh-TW" altLang="en-US" sz="3000" dirty="0">
                <a:solidFill>
                  <a:srgbClr val="C00000"/>
                </a:solidFill>
              </a:rPr>
              <a:t>意義</a:t>
            </a:r>
            <a:r>
              <a:rPr lang="zh-TW" altLang="en-US" sz="3000" dirty="0"/>
              <a:t>的結合體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形式：語音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語音和噪音的分別：意義</a:t>
            </a:r>
            <a:endParaRPr lang="en-US" altLang="zh-TW" sz="30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詞素 </a:t>
            </a:r>
            <a:r>
              <a:rPr lang="en-US" altLang="zh-TW" sz="3000" dirty="0"/>
              <a:t>morpheme (</a:t>
            </a:r>
            <a:r>
              <a:rPr lang="zh-TW" altLang="en-US" sz="3000" dirty="0"/>
              <a:t>讀音</a:t>
            </a:r>
            <a:r>
              <a:rPr lang="en-US" altLang="zh-TW" sz="3000" dirty="0"/>
              <a:t> /</a:t>
            </a:r>
            <a:r>
              <a:rPr lang="en-US" sz="3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ˈ</a:t>
            </a:r>
            <a:r>
              <a:rPr lang="en-US" sz="30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mɔːfiːm</a:t>
            </a:r>
            <a:r>
              <a:rPr lang="en-US" altLang="zh-TW" sz="3000" dirty="0"/>
              <a:t>/)</a:t>
            </a:r>
            <a:r>
              <a:rPr lang="zh-TW" altLang="en-US" sz="3000" dirty="0"/>
              <a:t>：</a:t>
            </a:r>
            <a:endParaRPr lang="en-US" altLang="zh-TW" sz="30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構詞的最基本單位，構詞中最小的結構體，具有獨立的語義或具有語法功能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2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語義的本質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關於語義本質的兩種研究方向：</a:t>
            </a:r>
            <a:endParaRPr lang="en-US" altLang="zh-TW" sz="34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altLang="zh-TW" sz="34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一：認為語義是個實體 </a:t>
            </a:r>
            <a:r>
              <a:rPr lang="en-US" altLang="zh-TW" sz="34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entity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endParaRPr lang="en-US" altLang="zh-TW" sz="34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二：認為語義並非實體，而是社會文化之中用以溝通的應用，語義取決於場所</a:t>
            </a:r>
            <a:r>
              <a:rPr lang="en-US" altLang="zh-TW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/</a:t>
            </a:r>
            <a:r>
              <a:rPr lang="zh-TW" altLang="en-US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情境（這是現代語言學之語用學的領域）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6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/>
              <a:t>介紹對於語義是個實體的兩個看法：</a:t>
            </a:r>
            <a:endParaRPr lang="en-US" altLang="zh-TW" sz="3200" dirty="0"/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altLang="zh-TW" sz="32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/>
              <a:t>指涉說</a:t>
            </a:r>
            <a:r>
              <a:rPr lang="en-US" altLang="zh-TW" sz="3200" dirty="0"/>
              <a:t> reference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/>
              <a:t>組合說</a:t>
            </a:r>
            <a:r>
              <a:rPr lang="en-US" altLang="zh-TW" sz="3200" dirty="0"/>
              <a:t> 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7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(1) </a:t>
            </a:r>
            <a:r>
              <a:rPr lang="zh-TW" altLang="en-US" dirty="0"/>
              <a:t>指涉說</a:t>
            </a:r>
            <a:r>
              <a:rPr lang="en-US" altLang="zh-TW" dirty="0"/>
              <a:t>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認為語言的每個詞語或語句都有它固定的指涉對象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例：桌子、蘋果、跑步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由於詞語和指涉對象之間的關係並非絕對相同，人們把「指涉對象」再細分為</a:t>
            </a:r>
            <a:r>
              <a:rPr lang="zh-TW" altLang="en-US" sz="3000" i="1" dirty="0"/>
              <a:t>（見下一頁）</a:t>
            </a:r>
            <a:endParaRPr lang="en-US" altLang="zh-TW" sz="3000" i="1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外指涉</a:t>
            </a:r>
            <a:r>
              <a:rPr lang="en-US" altLang="zh-TW" sz="3000" dirty="0"/>
              <a:t> extension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內指涉</a:t>
            </a:r>
            <a:r>
              <a:rPr lang="en-US" altLang="zh-TW" sz="3000" dirty="0"/>
              <a:t> intension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2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(1) </a:t>
            </a:r>
            <a:r>
              <a:rPr lang="zh-TW" altLang="en-US" dirty="0"/>
              <a:t>指涉說</a:t>
            </a:r>
            <a:r>
              <a:rPr lang="en-US" altLang="zh-TW" dirty="0"/>
              <a:t> reference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外指涉</a:t>
            </a:r>
            <a:r>
              <a:rPr lang="en-US" altLang="zh-TW" sz="3000" dirty="0"/>
              <a:t> extension</a:t>
            </a:r>
            <a:r>
              <a:rPr lang="zh-TW" altLang="en-US" sz="3000" dirty="0"/>
              <a:t>：所有詞語所指涉的集合，又簡稱為指涉 </a:t>
            </a:r>
            <a:r>
              <a:rPr lang="en-US" altLang="zh-TW" sz="3000" dirty="0"/>
              <a:t>(</a:t>
            </a:r>
            <a:r>
              <a:rPr lang="en-US" altLang="zh-TW" sz="3000" dirty="0">
                <a:solidFill>
                  <a:srgbClr val="FF0000"/>
                </a:solidFill>
              </a:rPr>
              <a:t>reference</a:t>
            </a:r>
            <a:r>
              <a:rPr lang="en-US" altLang="zh-TW" sz="3000" dirty="0"/>
              <a:t>)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內指涉</a:t>
            </a:r>
            <a:r>
              <a:rPr lang="en-US" altLang="zh-TW" sz="3000" dirty="0"/>
              <a:t> intension</a:t>
            </a:r>
            <a:r>
              <a:rPr lang="zh-TW" altLang="en-US" sz="3000" dirty="0"/>
              <a:t>：詞語本身的語義，又稱為「理義」</a:t>
            </a:r>
            <a:r>
              <a:rPr lang="en-US" altLang="zh-TW" sz="3000" dirty="0"/>
              <a:t>(</a:t>
            </a:r>
            <a:r>
              <a:rPr lang="en-US" altLang="zh-TW" sz="3000" dirty="0">
                <a:solidFill>
                  <a:srgbClr val="FF0000"/>
                </a:solidFill>
              </a:rPr>
              <a:t>sense</a:t>
            </a:r>
            <a:r>
              <a:rPr lang="en-US" altLang="zh-TW" sz="3000" dirty="0"/>
              <a:t>)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8" name="Picture 4" descr="C:\Wingli\Files\Windows 7\Desktop\Ogden_Richard_triangle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733800"/>
            <a:ext cx="4419600" cy="290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3199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14400"/>
          </a:xfrm>
        </p:spPr>
        <p:txBody>
          <a:bodyPr/>
          <a:lstStyle/>
          <a:p>
            <a:r>
              <a:rPr lang="en-US" altLang="zh-TW" dirty="0"/>
              <a:t>(1) </a:t>
            </a:r>
            <a:r>
              <a:rPr lang="zh-TW" altLang="en-US" dirty="0"/>
              <a:t>指涉說</a:t>
            </a:r>
            <a:r>
              <a:rPr lang="en-US" altLang="zh-TW" dirty="0"/>
              <a:t>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610600" cy="5257800"/>
          </a:xfrm>
        </p:spPr>
        <p:txBody>
          <a:bodyPr>
            <a:no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指涉說不足之處？ </a:t>
            </a:r>
            <a:r>
              <a:rPr lang="en-US" altLang="zh-HK" sz="3000" dirty="0"/>
              <a:t>Why is reference not enough?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(1) some words do not have references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1073150" lvl="2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虛構的東西</a:t>
            </a:r>
            <a:endParaRPr lang="en-US" altLang="zh-HK" sz="3000" dirty="0"/>
          </a:p>
          <a:p>
            <a:pPr marL="1431925" lvl="3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e.g., </a:t>
            </a:r>
            <a:r>
              <a:rPr lang="en-US" altLang="zh-HK" sz="3000" dirty="0">
                <a:solidFill>
                  <a:srgbClr val="0070C0"/>
                </a:solidFill>
              </a:rPr>
              <a:t>unicorn</a:t>
            </a:r>
            <a:r>
              <a:rPr lang="en-US" altLang="zh-HK" sz="3000" dirty="0"/>
              <a:t> </a:t>
            </a:r>
            <a:r>
              <a:rPr lang="zh-TW" altLang="en-US" sz="3000" dirty="0"/>
              <a:t>獨角獸</a:t>
            </a:r>
            <a:r>
              <a:rPr lang="zh-HK" altLang="en-US" sz="3000" dirty="0"/>
              <a:t> </a:t>
            </a:r>
          </a:p>
          <a:p>
            <a:pPr marL="1789113" lvl="4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non-existent in the actual world: no </a:t>
            </a:r>
            <a:r>
              <a:rPr lang="en-US" altLang="zh-HK" sz="2800" dirty="0">
                <a:solidFill>
                  <a:srgbClr val="C00000"/>
                </a:solidFill>
              </a:rPr>
              <a:t>reference</a:t>
            </a:r>
          </a:p>
          <a:p>
            <a:pPr marL="1789113" lvl="4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existent in the lexicon, i.e., “an animal with a single horn”: has a </a:t>
            </a:r>
            <a:r>
              <a:rPr lang="en-US" altLang="zh-HK" sz="3000" dirty="0">
                <a:solidFill>
                  <a:srgbClr val="00B050"/>
                </a:solidFill>
              </a:rPr>
              <a:t>sense</a:t>
            </a:r>
          </a:p>
          <a:p>
            <a:pPr marL="1073150" lvl="2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很多虛詞、抽象詞沒有很明確的指涉對象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8" name="Picture 4" descr="C:\Users\CBS\Dropbox\Work\PolyU-CBS1A01P-Fun with Language\CBS1A01P-WingLi-2012-2013-Sem3\L07-Semantics\unicorn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1" y="2546972"/>
            <a:ext cx="2667000" cy="172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47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(1) </a:t>
            </a:r>
            <a:r>
              <a:rPr lang="zh-TW" altLang="en-US" dirty="0"/>
              <a:t>指涉說</a:t>
            </a:r>
            <a:r>
              <a:rPr lang="en-US" altLang="zh-TW" dirty="0"/>
              <a:t> reference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(2) some words or phrases may have the </a:t>
            </a:r>
            <a:r>
              <a:rPr lang="en-US" altLang="zh-HK" sz="3000" dirty="0">
                <a:solidFill>
                  <a:srgbClr val="C00000"/>
                </a:solidFill>
              </a:rPr>
              <a:t>same references</a:t>
            </a:r>
            <a:r>
              <a:rPr lang="en-US" altLang="zh-HK" sz="3000" dirty="0"/>
              <a:t> but </a:t>
            </a:r>
            <a:r>
              <a:rPr lang="en-US" altLang="zh-HK" sz="3000" dirty="0">
                <a:solidFill>
                  <a:srgbClr val="7030A0"/>
                </a:solidFill>
              </a:rPr>
              <a:t>different meanings</a:t>
            </a:r>
            <a:r>
              <a:rPr lang="en-US" altLang="zh-HK" sz="3000" dirty="0"/>
              <a:t/>
            </a:r>
            <a:br>
              <a:rPr lang="en-US" altLang="zh-HK" sz="3000" dirty="0"/>
            </a:br>
            <a:r>
              <a:rPr lang="zh-TW" altLang="en-US" sz="3000" dirty="0"/>
              <a:t>不同名詞有時候會有相同的指涉對象</a:t>
            </a:r>
            <a:endParaRPr lang="en-HK" altLang="zh-TW" sz="3000" dirty="0"/>
          </a:p>
          <a:p>
            <a:pPr marL="1073150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e.g., </a:t>
            </a:r>
            <a:r>
              <a:rPr lang="en-US" altLang="zh-HK" sz="3000" dirty="0">
                <a:solidFill>
                  <a:srgbClr val="0070C0"/>
                </a:solidFill>
              </a:rPr>
              <a:t>Joe Biden</a:t>
            </a:r>
            <a:r>
              <a:rPr lang="en-US" altLang="zh-HK" sz="3000" dirty="0"/>
              <a:t> vs. </a:t>
            </a:r>
            <a:r>
              <a:rPr lang="en-US" altLang="zh-HK" sz="3000" dirty="0">
                <a:solidFill>
                  <a:srgbClr val="0070C0"/>
                </a:solidFill>
              </a:rPr>
              <a:t>the US President</a:t>
            </a:r>
            <a:endParaRPr lang="zh-HK" altLang="en-US" sz="3000" dirty="0">
              <a:solidFill>
                <a:srgbClr val="0070C0"/>
              </a:solidFill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zh-HK" alt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3" name="Picture 5" descr="C:\Users\CBS\Desktop\the US Presiden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345133"/>
            <a:ext cx="4000500" cy="147204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" y="3810000"/>
            <a:ext cx="3257550" cy="2819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867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(2) </a:t>
            </a:r>
            <a:r>
              <a:rPr lang="zh-TW" altLang="en-US" dirty="0"/>
              <a:t>組合說</a:t>
            </a:r>
            <a:r>
              <a:rPr lang="en-US" altLang="zh-TW" dirty="0"/>
              <a:t>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認為語義是由很多更細小的結構單位組成的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意味着任何一個語義單位</a:t>
            </a:r>
            <a:r>
              <a:rPr lang="en-US" altLang="zh-TW" sz="3000" dirty="0"/>
              <a:t> semantic unit</a:t>
            </a:r>
            <a:r>
              <a:rPr lang="zh-TW" altLang="en-US" sz="3000" dirty="0"/>
              <a:t> 都可以再細加分類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這種最小單位稱為 </a:t>
            </a:r>
            <a:r>
              <a:rPr lang="zh-TW" altLang="en-US" sz="3000" dirty="0">
                <a:solidFill>
                  <a:srgbClr val="C00000"/>
                </a:solidFill>
              </a:rPr>
              <a:t>語義徵性</a:t>
            </a:r>
            <a:r>
              <a:rPr lang="en-US" altLang="zh-TW" sz="3000" dirty="0">
                <a:solidFill>
                  <a:srgbClr val="C00000"/>
                </a:solidFill>
              </a:rPr>
              <a:t> semantic features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>
                <a:ea typeface="新細明體" charset="-120"/>
              </a:rPr>
              <a:t>每種徵性都具有正 </a:t>
            </a:r>
            <a:r>
              <a:rPr lang="en-US" altLang="zh-TW" sz="3000" dirty="0">
                <a:ea typeface="新細明體" charset="-120"/>
              </a:rPr>
              <a:t>(+) </a:t>
            </a:r>
            <a:r>
              <a:rPr lang="zh-TW" altLang="en-US" sz="3000" dirty="0">
                <a:ea typeface="新細明體" charset="-120"/>
              </a:rPr>
              <a:t>或負 </a:t>
            </a:r>
            <a:r>
              <a:rPr lang="en-US" altLang="zh-TW" sz="3000" dirty="0">
                <a:ea typeface="新細明體" charset="-120"/>
              </a:rPr>
              <a:t>(−) </a:t>
            </a:r>
            <a:r>
              <a:rPr lang="zh-TW" altLang="en-US" sz="3000" dirty="0">
                <a:ea typeface="新細明體" charset="-120"/>
              </a:rPr>
              <a:t>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(2) </a:t>
            </a:r>
            <a:r>
              <a:rPr lang="zh-TW" altLang="en-US" dirty="0"/>
              <a:t>組合說</a:t>
            </a:r>
            <a:r>
              <a:rPr lang="en-US" altLang="zh-TW" dirty="0"/>
              <a:t> composition</a:t>
            </a:r>
            <a:endParaRPr lang="en-US" altLang="zh-HK" dirty="0">
              <a:ea typeface="新細明體" charset="-120"/>
            </a:endParaRPr>
          </a:p>
        </p:txBody>
      </p:sp>
      <p:sp>
        <p:nvSpPr>
          <p:cNvPr id="24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pPr marL="357188" indent="-357188">
              <a:lnSpc>
                <a:spcPct val="90000"/>
              </a:lnSpc>
            </a:pPr>
            <a:r>
              <a:rPr lang="zh-TW" altLang="en-US" dirty="0"/>
              <a:t>例子：構詞徵性表</a:t>
            </a:r>
            <a:endParaRPr lang="en-US" altLang="zh-HK" dirty="0"/>
          </a:p>
          <a:p>
            <a:pPr marL="357188" indent="-357188">
              <a:lnSpc>
                <a:spcPct val="90000"/>
              </a:lnSpc>
            </a:pPr>
            <a:endParaRPr lang="en-US" altLang="zh-HK" i="1" dirty="0">
              <a:ea typeface="新細明體" charset="-120"/>
            </a:endParaRPr>
          </a:p>
          <a:p>
            <a:pPr marL="357188" indent="-357188">
              <a:lnSpc>
                <a:spcPct val="90000"/>
              </a:lnSpc>
            </a:pPr>
            <a:r>
              <a:rPr lang="en-US" altLang="zh-HK" i="1" dirty="0">
                <a:solidFill>
                  <a:srgbClr val="0070C0"/>
                </a:solidFill>
                <a:ea typeface="新細明體" charset="-120"/>
              </a:rPr>
              <a:t>woman</a:t>
            </a:r>
            <a:r>
              <a:rPr lang="en-US" altLang="zh-HK" dirty="0">
                <a:ea typeface="新細明體" charset="-120"/>
              </a:rPr>
              <a:t>:</a:t>
            </a:r>
          </a:p>
          <a:p>
            <a:pPr marL="357188" lvl="1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sz="2800" dirty="0">
                <a:ea typeface="新細明體" charset="-120"/>
              </a:rPr>
              <a:t>	[+ human]</a:t>
            </a:r>
          </a:p>
          <a:p>
            <a:pPr marL="357188" lvl="1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sz="2800" dirty="0">
                <a:ea typeface="新細明體" charset="-120"/>
              </a:rPr>
              <a:t>	[+ female]</a:t>
            </a:r>
          </a:p>
          <a:p>
            <a:pPr marL="357188" lvl="1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sz="2800" dirty="0">
                <a:ea typeface="新細明體" charset="-120"/>
              </a:rPr>
              <a:t>	[+ adult]</a:t>
            </a:r>
          </a:p>
          <a:p>
            <a:pPr marL="357188" lvl="1" indent="-357188">
              <a:lnSpc>
                <a:spcPct val="90000"/>
              </a:lnSpc>
              <a:buFont typeface="Wingdings" pitchFamily="2" charset="2"/>
              <a:buNone/>
            </a:pPr>
            <a:endParaRPr lang="en-US" altLang="zh-HK" sz="2800" dirty="0">
              <a:ea typeface="新細明體" charset="-120"/>
            </a:endParaRPr>
          </a:p>
          <a:p>
            <a:pPr marL="357188" indent="-357188">
              <a:lnSpc>
                <a:spcPct val="90000"/>
              </a:lnSpc>
            </a:pPr>
            <a:r>
              <a:rPr lang="en-US" altLang="zh-HK" i="1" dirty="0">
                <a:solidFill>
                  <a:srgbClr val="0070C0"/>
                </a:solidFill>
                <a:ea typeface="新細明體" charset="-120"/>
              </a:rPr>
              <a:t>man</a:t>
            </a:r>
            <a:r>
              <a:rPr lang="en-US" altLang="zh-HK" dirty="0">
                <a:ea typeface="新細明體" charset="-120"/>
              </a:rPr>
              <a:t>: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[+ human]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[− female]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[+ adult]</a:t>
            </a:r>
          </a:p>
          <a:p>
            <a:pPr>
              <a:lnSpc>
                <a:spcPct val="90000"/>
              </a:lnSpc>
            </a:pPr>
            <a:endParaRPr lang="en-US" altLang="zh-HK" sz="2000" dirty="0">
              <a:ea typeface="新細明體" charset="-120"/>
            </a:endParaRPr>
          </a:p>
        </p:txBody>
      </p:sp>
      <p:sp>
        <p:nvSpPr>
          <p:cNvPr id="24580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73352"/>
            <a:ext cx="4038600" cy="495604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altLang="zh-HK" i="1" dirty="0">
              <a:ea typeface="新細明體" charset="-120"/>
            </a:endParaRPr>
          </a:p>
          <a:p>
            <a:pPr>
              <a:lnSpc>
                <a:spcPct val="90000"/>
              </a:lnSpc>
            </a:pPr>
            <a:endParaRPr lang="en-US" altLang="zh-HK" i="1" dirty="0">
              <a:ea typeface="新細明體" charset="-120"/>
            </a:endParaRPr>
          </a:p>
          <a:p>
            <a:pPr marL="357188" indent="-357188">
              <a:lnSpc>
                <a:spcPct val="90000"/>
              </a:lnSpc>
            </a:pPr>
            <a:r>
              <a:rPr lang="en-US" altLang="zh-HK" i="1" dirty="0">
                <a:solidFill>
                  <a:srgbClr val="0070C0"/>
                </a:solidFill>
                <a:ea typeface="新細明體" charset="-120"/>
              </a:rPr>
              <a:t>girl</a:t>
            </a:r>
            <a:r>
              <a:rPr lang="en-US" altLang="zh-HK" dirty="0">
                <a:ea typeface="新細明體" charset="-120"/>
              </a:rPr>
              <a:t>: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[+ human]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[+ female]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[− adult]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endParaRPr lang="en-US" altLang="zh-HK" dirty="0">
              <a:ea typeface="新細明體" charset="-120"/>
            </a:endParaRPr>
          </a:p>
          <a:p>
            <a:pPr marL="357188" indent="-357188">
              <a:lnSpc>
                <a:spcPct val="90000"/>
              </a:lnSpc>
            </a:pPr>
            <a:r>
              <a:rPr lang="en-US" altLang="zh-HK" i="1" dirty="0">
                <a:solidFill>
                  <a:srgbClr val="0070C0"/>
                </a:solidFill>
                <a:ea typeface="新細明體" charset="-120"/>
              </a:rPr>
              <a:t>boy</a:t>
            </a:r>
            <a:r>
              <a:rPr lang="en-US" altLang="zh-HK" dirty="0">
                <a:ea typeface="新細明體" charset="-120"/>
              </a:rPr>
              <a:t>: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[+ human]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[− female]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lang="en-US" altLang="zh-HK" dirty="0">
                <a:ea typeface="新細明體" charset="-120"/>
              </a:rPr>
              <a:t>	[− adult]</a:t>
            </a:r>
          </a:p>
        </p:txBody>
      </p:sp>
    </p:spTree>
    <p:extLst>
      <p:ext uri="{BB962C8B-B14F-4D97-AF65-F5344CB8AC3E}">
        <p14:creationId xmlns:p14="http://schemas.microsoft.com/office/powerpoint/2010/main" val="33694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(2) </a:t>
            </a:r>
            <a:r>
              <a:rPr lang="zh-TW" altLang="en-US" dirty="0"/>
              <a:t>組合說</a:t>
            </a:r>
            <a:r>
              <a:rPr lang="en-US" altLang="zh-TW" dirty="0"/>
              <a:t> composition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marL="357188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r>
              <a:rPr lang="zh-TW" altLang="en-US" sz="3000" dirty="0"/>
              <a:t>你懂得以下句子的意思嗎？</a:t>
            </a:r>
            <a:r>
              <a:rPr lang="en-US" altLang="zh-TW" sz="3000" dirty="0"/>
              <a:t/>
            </a:r>
            <a:br>
              <a:rPr lang="en-US" altLang="zh-TW" sz="3000" dirty="0"/>
            </a:br>
            <a:r>
              <a:rPr lang="en-US" altLang="zh-HK" sz="3000" dirty="0" err="1">
                <a:solidFill>
                  <a:srgbClr val="0070C0"/>
                </a:solidFill>
              </a:rPr>
              <a:t>colourless</a:t>
            </a:r>
            <a:r>
              <a:rPr lang="en-US" altLang="zh-HK" sz="3000" dirty="0">
                <a:solidFill>
                  <a:srgbClr val="0070C0"/>
                </a:solidFill>
              </a:rPr>
              <a:t> green ideas sleep furiously</a:t>
            </a:r>
          </a:p>
          <a:p>
            <a:pPr marL="357188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HK" sz="3000" dirty="0"/>
          </a:p>
          <a:p>
            <a:pPr marL="357188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HK" sz="3000" dirty="0"/>
              <a:t>[+animate]: human or animal, capable of intentional action</a:t>
            </a:r>
          </a:p>
          <a:p>
            <a:pPr marL="357188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HK" sz="3000" dirty="0"/>
          </a:p>
          <a:p>
            <a:pPr marL="357188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r>
              <a:rPr lang="zh-TW" altLang="en-US" sz="3200" dirty="0"/>
              <a:t>構詞徵性衝突 </a:t>
            </a:r>
            <a:r>
              <a:rPr lang="en-US" altLang="zh-HK" sz="3000" dirty="0"/>
              <a:t>clash of features:</a:t>
            </a:r>
          </a:p>
          <a:p>
            <a:pPr marL="715963" lvl="1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HK" sz="3000" dirty="0"/>
              <a:t>sleep: subject must be [+animate]</a:t>
            </a:r>
          </a:p>
          <a:p>
            <a:pPr marL="715963" lvl="1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HK" sz="3000" dirty="0"/>
              <a:t>ideas: [−animate]</a:t>
            </a:r>
          </a:p>
          <a:p>
            <a:pPr marL="357188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HK" sz="3000" dirty="0"/>
          </a:p>
          <a:p>
            <a:pPr marL="357188" indent="-357188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</a:pPr>
            <a:r>
              <a:rPr lang="zh-TW" altLang="en-US" sz="3000" dirty="0"/>
              <a:t>合乎語法，但沒有意義</a:t>
            </a:r>
            <a:r>
              <a:rPr lang="en-US" altLang="zh-TW" sz="3000" dirty="0"/>
              <a:t/>
            </a:r>
            <a:br>
              <a:rPr lang="en-US" altLang="zh-TW" sz="3000" dirty="0"/>
            </a:br>
            <a:r>
              <a:rPr lang="en-US" altLang="zh-HK" sz="3000" dirty="0"/>
              <a:t>grammatical but not meaningful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8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(2) </a:t>
            </a:r>
            <a:r>
              <a:rPr lang="zh-TW" altLang="en-US" dirty="0"/>
              <a:t>組合說</a:t>
            </a:r>
            <a:r>
              <a:rPr lang="en-US" altLang="zh-TW" dirty="0"/>
              <a:t> composition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3200" dirty="0"/>
              <a:t>語義徵性的數目不明確，應用語義徵性不一定能有效地區別詞語之間不同的語義</a:t>
            </a:r>
            <a:endParaRPr lang="en-US" altLang="zh-TW" sz="3200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endParaRPr lang="en-US" altLang="zh-HK" sz="3200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3200" dirty="0"/>
              <a:t>對於一些表達一種概念 </a:t>
            </a:r>
            <a:r>
              <a:rPr lang="en-US" altLang="zh-TW" sz="3200" dirty="0"/>
              <a:t>concept </a:t>
            </a:r>
            <a:r>
              <a:rPr lang="zh-TW" altLang="en-US" sz="3200" dirty="0"/>
              <a:t>的詞，應用語義徵性也不一定能把它們的語義表示清楚</a:t>
            </a:r>
            <a:endParaRPr lang="en-US" altLang="zh-TW" sz="3200" dirty="0"/>
          </a:p>
          <a:p>
            <a:pPr marL="715963" lvl="1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3200" dirty="0"/>
              <a:t>例：</a:t>
            </a:r>
            <a:r>
              <a:rPr lang="zh-TW" altLang="en-US" sz="3200" dirty="0">
                <a:solidFill>
                  <a:srgbClr val="0070C0"/>
                </a:solidFill>
              </a:rPr>
              <a:t>仁慈</a:t>
            </a:r>
            <a:r>
              <a:rPr lang="zh-TW" altLang="en-US" sz="3200" dirty="0"/>
              <a:t>、</a:t>
            </a:r>
            <a:r>
              <a:rPr lang="zh-TW" altLang="en-US" sz="3200" dirty="0">
                <a:solidFill>
                  <a:srgbClr val="0070C0"/>
                </a:solidFill>
              </a:rPr>
              <a:t>可愛</a:t>
            </a:r>
            <a:endParaRPr lang="en-US" altLang="zh-TW" sz="3200" dirty="0">
              <a:solidFill>
                <a:srgbClr val="0070C0"/>
              </a:solidFill>
            </a:endParaRPr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endParaRPr lang="en-US" altLang="zh-TW" sz="3200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3200" dirty="0"/>
              <a:t>一些由兩個以上的詞語組合成的複合詞或短語，它們的語義也常無法由兩個詞語的本義來加以判定</a:t>
            </a:r>
            <a:endParaRPr lang="en-US" altLang="zh-TW" sz="3200" dirty="0"/>
          </a:p>
          <a:p>
            <a:pPr marL="715963" lvl="1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3200" dirty="0"/>
              <a:t>例： </a:t>
            </a:r>
            <a:r>
              <a:rPr lang="en-US" altLang="zh-TW" sz="3200" dirty="0">
                <a:solidFill>
                  <a:srgbClr val="0070C0"/>
                </a:solidFill>
              </a:rPr>
              <a:t>hot dog</a:t>
            </a:r>
            <a:r>
              <a:rPr lang="en-US" altLang="zh-TW" sz="3200" dirty="0"/>
              <a:t>, </a:t>
            </a:r>
            <a:r>
              <a:rPr lang="en-US" altLang="zh-TW" sz="3200" dirty="0">
                <a:solidFill>
                  <a:srgbClr val="0070C0"/>
                </a:solidFill>
              </a:rPr>
              <a:t>pineapple</a:t>
            </a:r>
            <a:r>
              <a:rPr lang="en-US" altLang="zh-TW" sz="3200" dirty="0"/>
              <a:t>, </a:t>
            </a:r>
            <a:r>
              <a:rPr lang="en-US" altLang="zh-TW" sz="3200" dirty="0">
                <a:solidFill>
                  <a:srgbClr val="0070C0"/>
                </a:solidFill>
              </a:rPr>
              <a:t>greenhouse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8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詞語之間的關係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>
            <a:normAutofit/>
          </a:bodyPr>
          <a:lstStyle/>
          <a:p>
            <a:pPr marL="357188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TW" sz="3000" dirty="0">
                <a:ea typeface="新細明體" charset="-120"/>
              </a:rPr>
              <a:t>(1) </a:t>
            </a:r>
            <a:r>
              <a:rPr lang="zh-TW" altLang="en-US" sz="3000" dirty="0">
                <a:ea typeface="新細明體" charset="-120"/>
              </a:rPr>
              <a:t>構詞上的關係</a:t>
            </a:r>
            <a:endParaRPr lang="en-US" altLang="zh-TW" sz="3000" dirty="0">
              <a:ea typeface="新細明體" charset="-120"/>
            </a:endParaRPr>
          </a:p>
          <a:p>
            <a:pPr marL="715963" lvl="1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HK" sz="2600" dirty="0">
                <a:ea typeface="新細明體" charset="-120"/>
              </a:rPr>
              <a:t>e.g., talk   talks   talking   talked   talker</a:t>
            </a:r>
          </a:p>
          <a:p>
            <a:pPr marL="357188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endParaRPr lang="en-US" altLang="zh-HK" sz="3000" dirty="0">
              <a:ea typeface="新細明體" charset="-120"/>
            </a:endParaRPr>
          </a:p>
          <a:p>
            <a:pPr marL="357188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>
                <a:ea typeface="新細明體" charset="-120"/>
              </a:rPr>
              <a:t> </a:t>
            </a:r>
            <a:r>
              <a:rPr lang="en-US" altLang="zh-TW" sz="3000" dirty="0">
                <a:ea typeface="新細明體" charset="-120"/>
              </a:rPr>
              <a:t>(2) </a:t>
            </a:r>
            <a:r>
              <a:rPr lang="zh-TW" altLang="en-US" sz="3000" dirty="0">
                <a:ea typeface="新細明體" charset="-120"/>
              </a:rPr>
              <a:t>句法上的關係</a:t>
            </a:r>
            <a:endParaRPr lang="en-US" altLang="zh-TW" sz="3000" dirty="0">
              <a:ea typeface="新細明體" charset="-120"/>
            </a:endParaRPr>
          </a:p>
          <a:p>
            <a:pPr marL="715963" lvl="1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HK" sz="2600" dirty="0">
                <a:ea typeface="新細明體" charset="-120"/>
              </a:rPr>
              <a:t>e.g., to talk, to take, to get, to walk		</a:t>
            </a:r>
            <a:r>
              <a:rPr lang="zh-TW" altLang="en-US" sz="2600" dirty="0">
                <a:ea typeface="新細明體" charset="-120"/>
              </a:rPr>
              <a:t>動詞</a:t>
            </a:r>
            <a:endParaRPr lang="en-US" altLang="zh-TW" sz="2600" dirty="0">
              <a:ea typeface="新細明體" charset="-120"/>
            </a:endParaRPr>
          </a:p>
          <a:p>
            <a:pPr marL="715963" lvl="1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2600" dirty="0"/>
              <a:t>e.g., to ache, to glow, to yawn		</a:t>
            </a:r>
            <a:r>
              <a:rPr lang="zh-TW" altLang="en-US" sz="2600" dirty="0"/>
              <a:t>不及物動詞</a:t>
            </a:r>
            <a:endParaRPr lang="en-US" altLang="zh-TW" sz="2600" dirty="0"/>
          </a:p>
          <a:p>
            <a:pPr marL="357188" lvl="1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endParaRPr lang="en-US" altLang="zh-HK" sz="3000" dirty="0">
              <a:ea typeface="新細明體" charset="-120"/>
            </a:endParaRPr>
          </a:p>
          <a:p>
            <a:pPr marL="357188" indent="-35718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>
                <a:ea typeface="新細明體" charset="-120"/>
              </a:rPr>
              <a:t> </a:t>
            </a:r>
            <a:r>
              <a:rPr lang="en-US" altLang="zh-TW" sz="3000" dirty="0">
                <a:ea typeface="新細明體" charset="-120"/>
              </a:rPr>
              <a:t>(3) </a:t>
            </a:r>
            <a:r>
              <a:rPr lang="zh-TW" altLang="en-US" sz="3000" dirty="0">
                <a:ea typeface="新細明體" charset="-120"/>
              </a:rPr>
              <a:t>語義上的關係</a:t>
            </a:r>
            <a:endParaRPr lang="en-US" altLang="zh-HK" sz="3000" dirty="0">
              <a:ea typeface="新細明體" charset="-12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4876800"/>
            <a:ext cx="3276600" cy="762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9336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詞和詞之間的關係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HK" dirty="0"/>
              <a:t>semantic relations / lexical relations</a:t>
            </a:r>
            <a:endParaRPr lang="en-US" altLang="zh-TW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endParaRPr lang="en-US" altLang="zh-TW" dirty="0"/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同義 </a:t>
            </a:r>
            <a:r>
              <a:rPr lang="en-US" altLang="zh-TW" dirty="0"/>
              <a:t>synonymy</a:t>
            </a:r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反義 </a:t>
            </a:r>
            <a:r>
              <a:rPr lang="en-US" altLang="zh-TW" dirty="0" err="1"/>
              <a:t>antonymy</a:t>
            </a:r>
            <a:endParaRPr lang="en-US" altLang="zh-TW" dirty="0"/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下位 </a:t>
            </a:r>
            <a:r>
              <a:rPr lang="en-US" altLang="zh-HK" dirty="0"/>
              <a:t>hyponymy</a:t>
            </a:r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上位 </a:t>
            </a:r>
            <a:r>
              <a:rPr lang="en-US" altLang="zh-HK" dirty="0" err="1"/>
              <a:t>hypernymy</a:t>
            </a:r>
            <a:endParaRPr lang="en-US" altLang="zh-HK" dirty="0"/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借代／換喻 </a:t>
            </a:r>
            <a:r>
              <a:rPr lang="en-US" altLang="zh-HK" dirty="0"/>
              <a:t>metonymy</a:t>
            </a:r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一詞多義 </a:t>
            </a:r>
            <a:r>
              <a:rPr lang="en-US" altLang="zh-HK" dirty="0"/>
              <a:t>polysemy</a:t>
            </a:r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同音異義 </a:t>
            </a:r>
            <a:r>
              <a:rPr lang="en-US" altLang="zh-HK" dirty="0"/>
              <a:t>homophony</a:t>
            </a:r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同形同音異義 </a:t>
            </a:r>
            <a:r>
              <a:rPr lang="en-US" altLang="zh-HK" dirty="0"/>
              <a:t>homonymy</a:t>
            </a:r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同形異義 </a:t>
            </a:r>
            <a:r>
              <a:rPr lang="en-US" altLang="zh-HK" dirty="0" err="1"/>
              <a:t>homography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5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(1) </a:t>
            </a:r>
            <a:r>
              <a:rPr lang="zh-TW" altLang="en-US" dirty="0"/>
              <a:t>同義詞 </a:t>
            </a:r>
            <a:r>
              <a:rPr lang="en-US" altLang="zh-HK" dirty="0"/>
              <a:t>synonyms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181600"/>
          </a:xfrm>
        </p:spPr>
        <p:txBody>
          <a:bodyPr>
            <a:normAutofit lnSpcReduction="10000"/>
          </a:bodyPr>
          <a:lstStyle/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2800" dirty="0"/>
              <a:t>相同語義的詞語</a:t>
            </a:r>
            <a:endParaRPr lang="en-US" altLang="zh-TW" sz="2800" dirty="0"/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en-US" altLang="zh-HK" sz="2200" dirty="0"/>
              <a:t>big	/ large</a:t>
            </a:r>
            <a:r>
              <a:rPr lang="zh-TW" altLang="en-US" sz="2200" dirty="0"/>
              <a:t>；</a:t>
            </a:r>
            <a:r>
              <a:rPr lang="en-US" altLang="zh-HK" sz="2200" dirty="0"/>
              <a:t>buy / purchase</a:t>
            </a:r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zh-TW" altLang="en-US" sz="2200" dirty="0"/>
              <a:t>美麗 </a:t>
            </a:r>
            <a:r>
              <a:rPr lang="en-US" altLang="zh-TW" sz="2200" dirty="0"/>
              <a:t>/ </a:t>
            </a:r>
            <a:r>
              <a:rPr lang="zh-TW" altLang="en-US" sz="2200" dirty="0"/>
              <a:t>漂亮；立即</a:t>
            </a:r>
            <a:r>
              <a:rPr lang="en-US" altLang="zh-TW" sz="2200" dirty="0"/>
              <a:t>	/ </a:t>
            </a:r>
            <a:r>
              <a:rPr lang="zh-TW" altLang="en-US" sz="2200" dirty="0"/>
              <a:t>馬上</a:t>
            </a:r>
            <a:endParaRPr lang="en-US" altLang="zh-TW" sz="22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altLang="zh-TW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2800" dirty="0"/>
              <a:t>很多同義詞往往有不同的涵義</a:t>
            </a:r>
            <a:endParaRPr lang="en-US" altLang="zh-TW" sz="2800" dirty="0"/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zh-TW" altLang="en-US" sz="2600" dirty="0"/>
              <a:t>英語：生火爐：</a:t>
            </a:r>
            <a:r>
              <a:rPr lang="en-US" altLang="zh-TW" sz="2600" dirty="0"/>
              <a:t>to start a stove	*to begin a stove</a:t>
            </a:r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zh-TW" altLang="en-US" sz="2600" dirty="0"/>
              <a:t>中文：「幫忙」和「幫助」：</a:t>
            </a:r>
            <a:endParaRPr lang="en-US" altLang="zh-TW" sz="2600" dirty="0"/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2400" dirty="0"/>
              <a:t>需要幫忙／幫助</a:t>
            </a:r>
            <a:endParaRPr lang="en-US" altLang="zh-TW" sz="2400" dirty="0"/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2400" dirty="0"/>
              <a:t>請幫個忙</a:t>
            </a:r>
            <a:endParaRPr lang="en-US" altLang="zh-TW" sz="2400" dirty="0"/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TW" sz="2400" dirty="0">
                <a:solidFill>
                  <a:srgbClr val="7030A0"/>
                </a:solidFill>
              </a:rPr>
              <a:t>*</a:t>
            </a:r>
            <a:r>
              <a:rPr lang="zh-TW" altLang="en-US" sz="2400" dirty="0">
                <a:solidFill>
                  <a:srgbClr val="7030A0"/>
                </a:solidFill>
              </a:rPr>
              <a:t>請幫個助</a:t>
            </a:r>
            <a:endParaRPr lang="en-US" altLang="zh-TW" sz="2400" dirty="0">
              <a:solidFill>
                <a:srgbClr val="7030A0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altLang="zh-TW" sz="2600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2800" dirty="0"/>
              <a:t>同義詞是泛稱：它們的意義和用法</a:t>
            </a:r>
            <a:r>
              <a:rPr lang="zh-TW" altLang="en-US" sz="2800" dirty="0">
                <a:solidFill>
                  <a:srgbClr val="C00000"/>
                </a:solidFill>
              </a:rPr>
              <a:t>不一定完全相同</a:t>
            </a:r>
            <a:endParaRPr lang="zh-HK" altLang="en-US" sz="2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3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zh-TW" altLang="en-US" dirty="0"/>
              <a:t>英語中的同義詞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 fontScale="92500"/>
          </a:bodyPr>
          <a:lstStyle/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HK" sz="2800" dirty="0"/>
              <a:t>synonyms in English often result from lexical borrowing</a:t>
            </a:r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HK" sz="2800" dirty="0"/>
              <a:t>the borrowed word typically belongs to a higher (more formal) </a:t>
            </a:r>
            <a:r>
              <a:rPr lang="en-US" altLang="zh-HK" sz="2800" dirty="0">
                <a:solidFill>
                  <a:srgbClr val="C00000"/>
                </a:solidFill>
              </a:rPr>
              <a:t>register </a:t>
            </a:r>
            <a:r>
              <a:rPr lang="zh-TW" altLang="en-US" sz="2800" dirty="0">
                <a:solidFill>
                  <a:srgbClr val="C00000"/>
                </a:solidFill>
              </a:rPr>
              <a:t>語域</a:t>
            </a:r>
            <a:r>
              <a:rPr lang="zh-TW" altLang="en-US" sz="2800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特定的社交場合或專業領域</a:t>
            </a:r>
            <a:r>
              <a:rPr lang="en-US" altLang="zh-TW" sz="2800" dirty="0"/>
              <a:t>)</a:t>
            </a:r>
            <a:endParaRPr lang="zh-HK" altLang="en-US" sz="2800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endParaRPr lang="en-US" altLang="zh-HK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HK" sz="2600" dirty="0"/>
              <a:t>Germanic origin </a:t>
            </a:r>
            <a:r>
              <a:rPr lang="zh-TW" altLang="en-US" sz="2600" dirty="0"/>
              <a:t>日耳曼</a:t>
            </a:r>
            <a:r>
              <a:rPr lang="en-US" altLang="zh-TW" sz="2600" dirty="0"/>
              <a:t> </a:t>
            </a:r>
            <a:r>
              <a:rPr lang="en-US" altLang="zh-HK" sz="2600" dirty="0"/>
              <a:t>		Latinate origin </a:t>
            </a:r>
            <a:r>
              <a:rPr lang="zh-TW" altLang="en-US" sz="2600" dirty="0"/>
              <a:t>拉丁</a:t>
            </a:r>
            <a:r>
              <a:rPr lang="en-US" altLang="zh-HK" sz="2600" dirty="0"/>
              <a:t/>
            </a:r>
            <a:br>
              <a:rPr lang="en-US" altLang="zh-HK" sz="2600" dirty="0"/>
            </a:br>
            <a:r>
              <a:rPr lang="en-US" altLang="zh-HK" sz="2600" dirty="0">
                <a:solidFill>
                  <a:srgbClr val="C00000"/>
                </a:solidFill>
              </a:rPr>
              <a:t>colloquial</a:t>
            </a:r>
            <a:r>
              <a:rPr lang="en-US" altLang="zh-HK" sz="2600" dirty="0"/>
              <a:t> register </a:t>
            </a:r>
            <a:r>
              <a:rPr lang="zh-TW" altLang="en-US" sz="2600" dirty="0"/>
              <a:t>口語</a:t>
            </a:r>
            <a:r>
              <a:rPr lang="en-US" altLang="zh-HK" sz="2600" dirty="0"/>
              <a:t>		</a:t>
            </a:r>
            <a:r>
              <a:rPr lang="en-US" altLang="zh-HK" sz="2600" dirty="0">
                <a:solidFill>
                  <a:srgbClr val="C00000"/>
                </a:solidFill>
              </a:rPr>
              <a:t>formal</a:t>
            </a:r>
            <a:r>
              <a:rPr lang="en-US" altLang="zh-HK" sz="2600" dirty="0"/>
              <a:t> register </a:t>
            </a:r>
            <a:r>
              <a:rPr lang="zh-TW" altLang="en-US" sz="2600" dirty="0"/>
              <a:t>正式</a:t>
            </a:r>
            <a:endParaRPr lang="en-US" altLang="zh-HK" sz="2600" dirty="0"/>
          </a:p>
          <a:p>
            <a:pPr marL="357188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HK" sz="2600" dirty="0">
                <a:solidFill>
                  <a:srgbClr val="0070C0"/>
                </a:solidFill>
              </a:rPr>
              <a:t>buy					purchase		</a:t>
            </a:r>
          </a:p>
          <a:p>
            <a:pPr marL="357188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HK" sz="2600" dirty="0">
                <a:solidFill>
                  <a:srgbClr val="0070C0"/>
                </a:solidFill>
              </a:rPr>
              <a:t>get					acquire</a:t>
            </a:r>
          </a:p>
          <a:p>
            <a:pPr marL="357188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HK" sz="2600" dirty="0">
                <a:solidFill>
                  <a:srgbClr val="0070C0"/>
                </a:solidFill>
              </a:rPr>
              <a:t>talk about				discuss</a:t>
            </a:r>
          </a:p>
          <a:p>
            <a:pPr marL="357188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HK" sz="2600" dirty="0">
                <a:solidFill>
                  <a:srgbClr val="0070C0"/>
                </a:solidFill>
              </a:rPr>
              <a:t>mad					insane</a:t>
            </a:r>
          </a:p>
          <a:p>
            <a:pPr marL="357188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HK" sz="2600" dirty="0">
                <a:solidFill>
                  <a:srgbClr val="0070C0"/>
                </a:solidFill>
              </a:rPr>
              <a:t>freedom				liberty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1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>
            <a:normAutofit/>
          </a:bodyPr>
          <a:lstStyle/>
          <a:p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4495800" cy="5562600"/>
          </a:xfrm>
          <a:ln>
            <a:solidFill>
              <a:schemeClr val="accent4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357188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600" dirty="0"/>
              <a:t>three Germanic tribes, the </a:t>
            </a:r>
            <a:r>
              <a:rPr lang="en-US" sz="2600" dirty="0">
                <a:solidFill>
                  <a:srgbClr val="C00000"/>
                </a:solidFill>
              </a:rPr>
              <a:t>Angles</a:t>
            </a:r>
            <a:r>
              <a:rPr lang="en-US" sz="2600" dirty="0"/>
              <a:t>, the </a:t>
            </a:r>
            <a:r>
              <a:rPr lang="en-US" sz="2600" dirty="0">
                <a:solidFill>
                  <a:srgbClr val="C00000"/>
                </a:solidFill>
              </a:rPr>
              <a:t>Saxons</a:t>
            </a:r>
            <a:r>
              <a:rPr lang="en-US" sz="2600" dirty="0"/>
              <a:t> and the </a:t>
            </a:r>
            <a:r>
              <a:rPr lang="en-US" sz="2600" dirty="0">
                <a:solidFill>
                  <a:srgbClr val="C00000"/>
                </a:solidFill>
              </a:rPr>
              <a:t>Jutes</a:t>
            </a:r>
            <a:r>
              <a:rPr lang="en-US" sz="2600" dirty="0"/>
              <a:t>, invaded Britain during the 5th century AD</a:t>
            </a:r>
          </a:p>
          <a:p>
            <a:pPr marL="357188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600" dirty="0"/>
              <a:t>at that time the people of Britain spoke a </a:t>
            </a:r>
            <a:r>
              <a:rPr lang="en-US" sz="2600" dirty="0">
                <a:solidFill>
                  <a:srgbClr val="7030A0"/>
                </a:solidFill>
              </a:rPr>
              <a:t>Celtic language</a:t>
            </a:r>
            <a:r>
              <a:rPr lang="en-US" sz="2600" dirty="0"/>
              <a:t>; the Celtic speakers were pushed west and north by the invaders</a:t>
            </a:r>
          </a:p>
          <a:p>
            <a:pPr marL="357188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600" dirty="0"/>
              <a:t>the Angles came from “</a:t>
            </a:r>
            <a:r>
              <a:rPr lang="en-US" sz="2600" dirty="0" err="1"/>
              <a:t>Englaland</a:t>
            </a:r>
            <a:r>
              <a:rPr lang="en-US" sz="2600" dirty="0"/>
              <a:t>” and their language was called “</a:t>
            </a:r>
            <a:r>
              <a:rPr lang="en-US" sz="2600" dirty="0" err="1"/>
              <a:t>Englisc</a:t>
            </a:r>
            <a:r>
              <a:rPr lang="en-US" sz="2600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C:\Users\CBS\Desktop\english-what-map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03845"/>
            <a:ext cx="4215384" cy="343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00600" y="5472440"/>
            <a:ext cx="3801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HK" sz="1400" u="sng" dirty="0">
                <a:hlinkClick r:id="rId3"/>
              </a:rPr>
              <a:t>http://www.englishclub.com/english-language-history.htm</a:t>
            </a:r>
            <a:endParaRPr lang="zh-HK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9332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(2) </a:t>
            </a:r>
            <a:r>
              <a:rPr lang="zh-TW" altLang="en-US" dirty="0"/>
              <a:t>反義詞</a:t>
            </a:r>
            <a:r>
              <a:rPr lang="en-US" altLang="zh-TW" dirty="0"/>
              <a:t> </a:t>
            </a:r>
            <a:r>
              <a:rPr lang="en-US" altLang="zh-HK" dirty="0"/>
              <a:t>antonyms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意義相反的詞語</a:t>
            </a:r>
            <a:endParaRPr lang="en-US" altLang="zh-TW" sz="30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English examples:</a:t>
            </a:r>
            <a:r>
              <a:rPr lang="en-US" altLang="zh-HK" sz="2800" dirty="0">
                <a:solidFill>
                  <a:srgbClr val="0070C0"/>
                </a:solidFill>
              </a:rPr>
              <a:t> light</a:t>
            </a:r>
            <a:r>
              <a:rPr lang="en-US" altLang="zh-HK" sz="2800" dirty="0"/>
              <a:t> / </a:t>
            </a:r>
            <a:r>
              <a:rPr lang="en-US" altLang="zh-HK" sz="2800" dirty="0">
                <a:solidFill>
                  <a:srgbClr val="7030A0"/>
                </a:solidFill>
              </a:rPr>
              <a:t>heavy</a:t>
            </a:r>
            <a:r>
              <a:rPr lang="zh-TW" altLang="en-US" sz="2800" dirty="0"/>
              <a:t>；</a:t>
            </a:r>
            <a:r>
              <a:rPr lang="en-US" altLang="zh-TW" sz="2800" dirty="0">
                <a:solidFill>
                  <a:srgbClr val="0070C0"/>
                </a:solidFill>
              </a:rPr>
              <a:t>high</a:t>
            </a:r>
            <a:r>
              <a:rPr lang="en-US" altLang="zh-TW" sz="2800" dirty="0"/>
              <a:t> / </a:t>
            </a:r>
            <a:r>
              <a:rPr lang="en-US" altLang="zh-TW" sz="2800" dirty="0">
                <a:solidFill>
                  <a:srgbClr val="7030A0"/>
                </a:solidFill>
              </a:rPr>
              <a:t>low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/>
              <a:t>中文例子：</a:t>
            </a:r>
            <a:r>
              <a:rPr lang="zh-TW" altLang="en-US" sz="2800" dirty="0">
                <a:solidFill>
                  <a:srgbClr val="0070C0"/>
                </a:solidFill>
              </a:rPr>
              <a:t>遠</a:t>
            </a:r>
            <a:r>
              <a:rPr lang="en-US" altLang="zh-TW" sz="2800" dirty="0"/>
              <a:t> / </a:t>
            </a:r>
            <a:r>
              <a:rPr lang="zh-TW" altLang="en-US" sz="2800" dirty="0">
                <a:solidFill>
                  <a:srgbClr val="7030A0"/>
                </a:solidFill>
              </a:rPr>
              <a:t>近</a:t>
            </a:r>
            <a:r>
              <a:rPr lang="zh-TW" altLang="en-US" sz="2800" dirty="0"/>
              <a:t>；</a:t>
            </a:r>
            <a:r>
              <a:rPr lang="zh-TW" altLang="en-US" sz="2800" dirty="0">
                <a:solidFill>
                  <a:srgbClr val="0070C0"/>
                </a:solidFill>
              </a:rPr>
              <a:t>富有</a:t>
            </a:r>
            <a:r>
              <a:rPr lang="en-US" altLang="zh-TW" sz="2800" dirty="0"/>
              <a:t> / </a:t>
            </a:r>
            <a:r>
              <a:rPr lang="zh-TW" altLang="en-US" sz="2800" dirty="0">
                <a:solidFill>
                  <a:srgbClr val="7030A0"/>
                </a:solidFill>
              </a:rPr>
              <a:t>貧窮</a:t>
            </a:r>
            <a:endParaRPr lang="en-US" altLang="zh-TW" sz="2800" dirty="0">
              <a:solidFill>
                <a:srgbClr val="7030A0"/>
              </a:solidFill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HK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反義詞多見於形容詞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形容詞的反義詞有兩類：</a:t>
            </a:r>
            <a:endParaRPr lang="en-US" altLang="zh-TW" sz="30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solidFill>
                  <a:srgbClr val="C00000"/>
                </a:solidFill>
              </a:rPr>
              <a:t>絕對的</a:t>
            </a:r>
            <a:r>
              <a:rPr lang="zh-TW" altLang="en-US" sz="2800" dirty="0"/>
              <a:t>相反詞：</a:t>
            </a:r>
            <a:r>
              <a:rPr lang="zh-TW" altLang="en-US" sz="2800" dirty="0">
                <a:solidFill>
                  <a:srgbClr val="0070C0"/>
                </a:solidFill>
              </a:rPr>
              <a:t>生</a:t>
            </a:r>
            <a:r>
              <a:rPr lang="en-US" altLang="zh-TW" sz="2800" dirty="0"/>
              <a:t> / </a:t>
            </a:r>
            <a:r>
              <a:rPr lang="zh-TW" altLang="en-US" sz="2800" dirty="0">
                <a:solidFill>
                  <a:srgbClr val="7030A0"/>
                </a:solidFill>
              </a:rPr>
              <a:t>死</a:t>
            </a:r>
            <a:endParaRPr lang="en-US" altLang="zh-TW" sz="2800" dirty="0">
              <a:solidFill>
                <a:srgbClr val="7030A0"/>
              </a:solidFill>
            </a:endParaRP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solidFill>
                  <a:srgbClr val="C00000"/>
                </a:solidFill>
              </a:rPr>
              <a:t>相對的</a:t>
            </a:r>
            <a:r>
              <a:rPr lang="zh-TW" altLang="en-US" sz="2800" dirty="0"/>
              <a:t>相反詞：</a:t>
            </a:r>
            <a:r>
              <a:rPr lang="zh-TW" altLang="en-US" sz="2800" dirty="0">
                <a:solidFill>
                  <a:srgbClr val="0070C0"/>
                </a:solidFill>
              </a:rPr>
              <a:t>長</a:t>
            </a:r>
            <a:r>
              <a:rPr lang="en-US" altLang="zh-TW" sz="2800" dirty="0"/>
              <a:t> / </a:t>
            </a:r>
            <a:r>
              <a:rPr lang="zh-TW" altLang="en-US" sz="2800" dirty="0">
                <a:solidFill>
                  <a:srgbClr val="7030A0"/>
                </a:solidFill>
              </a:rPr>
              <a:t>短</a:t>
            </a:r>
            <a:r>
              <a:rPr lang="zh-TW" altLang="en-US" sz="2800" dirty="0"/>
              <a:t>；</a:t>
            </a:r>
            <a:r>
              <a:rPr lang="zh-TW" altLang="en-US" sz="2800" dirty="0">
                <a:solidFill>
                  <a:srgbClr val="0070C0"/>
                </a:solidFill>
              </a:rPr>
              <a:t>高</a:t>
            </a:r>
            <a:r>
              <a:rPr lang="en-US" altLang="zh-TW" sz="2800" dirty="0"/>
              <a:t> / </a:t>
            </a:r>
            <a:r>
              <a:rPr lang="zh-TW" altLang="en-US" sz="2800" dirty="0">
                <a:solidFill>
                  <a:srgbClr val="7030A0"/>
                </a:solidFill>
              </a:rPr>
              <a:t>矮</a:t>
            </a:r>
            <a:r>
              <a:rPr lang="zh-TW" altLang="en-US" sz="2800" dirty="0"/>
              <a:t>；</a:t>
            </a:r>
            <a:r>
              <a:rPr lang="zh-TW" altLang="en-US" sz="2800" dirty="0">
                <a:solidFill>
                  <a:srgbClr val="0070C0"/>
                </a:solidFill>
              </a:rPr>
              <a:t>輕</a:t>
            </a:r>
            <a:r>
              <a:rPr lang="en-US" altLang="zh-TW" sz="2800" dirty="0"/>
              <a:t> / </a:t>
            </a:r>
            <a:r>
              <a:rPr lang="zh-TW" altLang="en-US" sz="2800" dirty="0">
                <a:solidFill>
                  <a:srgbClr val="7030A0"/>
                </a:solidFill>
              </a:rPr>
              <a:t>重</a:t>
            </a:r>
            <a:endParaRPr lang="zh-HK" altLang="en-US" sz="2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4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458200" cy="990600"/>
          </a:xfrm>
        </p:spPr>
        <p:txBody>
          <a:bodyPr>
            <a:normAutofit/>
          </a:bodyPr>
          <a:lstStyle/>
          <a:p>
            <a:r>
              <a:rPr lang="en-US" altLang="zh-TW" sz="3400" dirty="0"/>
              <a:t>(3, 4)</a:t>
            </a:r>
            <a:r>
              <a:rPr lang="zh-TW" altLang="en-US" sz="3400" dirty="0"/>
              <a:t> 下位詞</a:t>
            </a:r>
            <a:r>
              <a:rPr lang="en-US" altLang="zh-TW" sz="3400" dirty="0"/>
              <a:t> </a:t>
            </a:r>
            <a:r>
              <a:rPr lang="en-US" altLang="zh-HK" sz="3400" dirty="0"/>
              <a:t>hyponyms</a:t>
            </a:r>
            <a:r>
              <a:rPr lang="zh-TW" altLang="en-US" sz="3400" dirty="0"/>
              <a:t>、上位詞</a:t>
            </a:r>
            <a:r>
              <a:rPr lang="en-US" altLang="zh-TW" sz="3400" dirty="0"/>
              <a:t> </a:t>
            </a:r>
            <a:r>
              <a:rPr lang="en-US" altLang="zh-HK" sz="3400" dirty="0" err="1"/>
              <a:t>hypernyms</a:t>
            </a:r>
            <a:endParaRPr lang="zh-HK" alt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上位詞：範圍較廣、專指性較小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下位詞：範圍較窄、專指性較大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上位詞：</a:t>
            </a:r>
            <a:r>
              <a:rPr lang="en-US" altLang="zh-HK" sz="3000" dirty="0" err="1">
                <a:solidFill>
                  <a:srgbClr val="0070C0"/>
                </a:solidFill>
              </a:rPr>
              <a:t>colour</a:t>
            </a:r>
            <a:endParaRPr lang="en-US" altLang="zh-HK" sz="3000" dirty="0">
              <a:solidFill>
                <a:srgbClr val="0070C0"/>
              </a:solidFill>
            </a:endParaRP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下位詞：</a:t>
            </a:r>
            <a:r>
              <a:rPr lang="en-US" altLang="zh-HK" sz="3000" dirty="0"/>
              <a:t>red, orange, yellow, green, blue…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上位詞：</a:t>
            </a:r>
            <a:r>
              <a:rPr lang="en-US" altLang="zh-HK" sz="3000" dirty="0">
                <a:solidFill>
                  <a:srgbClr val="0070C0"/>
                </a:solidFill>
              </a:rPr>
              <a:t>animal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下位詞：</a:t>
            </a:r>
            <a:r>
              <a:rPr lang="en-US" altLang="zh-HK" sz="3000" dirty="0"/>
              <a:t>cat, dog, rabbit, monkey, lion…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0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(5) </a:t>
            </a:r>
            <a:r>
              <a:rPr lang="zh-TW" altLang="en-US" dirty="0"/>
              <a:t>借代／換喻 </a:t>
            </a:r>
            <a:r>
              <a:rPr lang="en-US" altLang="zh-HK" dirty="0"/>
              <a:t>metonyms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本體有密切關係的事物來借代本體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結髮：元配夫妻</a:t>
            </a:r>
            <a:endParaRPr lang="en-US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糟糠：共患難的妻子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b="1" dirty="0"/>
              <a:t>Grey hair </a:t>
            </a:r>
            <a:r>
              <a:rPr lang="en-US" sz="3000" dirty="0"/>
              <a:t>should be respected. 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u="sng" dirty="0"/>
              <a:t>老年人</a:t>
            </a:r>
            <a:r>
              <a:rPr lang="zh-TW" altLang="en-US" sz="3000" dirty="0"/>
              <a:t>應當受到尊重。 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dirty="0"/>
              <a:t>On May 19, 1993, following a preliminary report by the accounting firm, </a:t>
            </a:r>
            <a:r>
              <a:rPr lang="en-US" sz="3000" b="1" dirty="0"/>
              <a:t>the White House </a:t>
            </a:r>
            <a:r>
              <a:rPr lang="en-US" sz="3000" dirty="0"/>
              <a:t>decided to fire seven employees in the Travel Office.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3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(6) </a:t>
            </a:r>
            <a:r>
              <a:rPr lang="zh-TW" altLang="en-US" dirty="0"/>
              <a:t>多義詞</a:t>
            </a:r>
            <a:r>
              <a:rPr lang="en-US" altLang="zh-TW" dirty="0"/>
              <a:t> </a:t>
            </a:r>
            <a:r>
              <a:rPr lang="en-US" altLang="zh-HK" dirty="0" err="1"/>
              <a:t>polysemes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when a word has multiple meanings that are related conceptually or historically, it is said to be </a:t>
            </a:r>
            <a:r>
              <a:rPr lang="en-US" altLang="zh-HK" sz="3000" dirty="0" err="1"/>
              <a:t>polysemous</a:t>
            </a: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一個詞語蘊涵多種相關而不同的語義</a:t>
            </a: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例：</a:t>
            </a:r>
            <a:r>
              <a:rPr lang="en-US" altLang="zh-HK" sz="3000" i="1" dirty="0">
                <a:solidFill>
                  <a:srgbClr val="0070C0"/>
                </a:solidFill>
              </a:rPr>
              <a:t>head</a:t>
            </a:r>
          </a:p>
          <a:p>
            <a:pPr marL="1073150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600" dirty="0"/>
              <a:t>the part of the body</a:t>
            </a:r>
          </a:p>
          <a:p>
            <a:pPr marL="1073150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600" dirty="0"/>
              <a:t>the person in charge of a group or organization</a:t>
            </a:r>
            <a:endParaRPr lang="zh-HK" alt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(7) </a:t>
            </a:r>
            <a:r>
              <a:rPr lang="zh-TW" altLang="en-US" dirty="0"/>
              <a:t>同音詞 </a:t>
            </a:r>
            <a:r>
              <a:rPr lang="en-US" altLang="zh-HK" dirty="0"/>
              <a:t>homophones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876800"/>
          </a:xfrm>
        </p:spPr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latin typeface="+mj-lt"/>
                <a:cs typeface="Times New Roman" pitchFamily="18" charset="0"/>
              </a:rPr>
              <a:t>1. 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HK" sz="2800" dirty="0" err="1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steə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stair</a:t>
            </a:r>
            <a:r>
              <a:rPr lang="en-US" altLang="zh-HK" sz="2800" dirty="0">
                <a:latin typeface="+mj-lt"/>
                <a:cs typeface="Times New Roman" pitchFamily="18" charset="0"/>
              </a:rPr>
              <a:t>, </a:t>
            </a: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stare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latin typeface="+mj-lt"/>
                <a:cs typeface="Times New Roman" pitchFamily="18" charset="0"/>
              </a:rPr>
              <a:t>2. 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HK" sz="2800" dirty="0" err="1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weɪst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waste</a:t>
            </a:r>
            <a:r>
              <a:rPr lang="en-US" altLang="zh-HK" sz="2800" dirty="0">
                <a:latin typeface="+mj-lt"/>
                <a:cs typeface="Times New Roman" pitchFamily="18" charset="0"/>
              </a:rPr>
              <a:t>, </a:t>
            </a: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waist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latin typeface="+mj-lt"/>
                <a:cs typeface="Times New Roman" pitchFamily="18" charset="0"/>
              </a:rPr>
              <a:t>3. 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HK" sz="2800" dirty="0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ˈ</a:t>
            </a:r>
            <a:r>
              <a:rPr lang="en-US" altLang="zh-HK" sz="2800" dirty="0" err="1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siːlɪŋ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ceiling</a:t>
            </a:r>
            <a:r>
              <a:rPr lang="en-US" altLang="zh-HK" sz="2800" dirty="0">
                <a:latin typeface="+mj-lt"/>
                <a:cs typeface="Times New Roman" pitchFamily="18" charset="0"/>
              </a:rPr>
              <a:t>, </a:t>
            </a: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sealing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latin typeface="+mj-lt"/>
                <a:cs typeface="Times New Roman" pitchFamily="18" charset="0"/>
              </a:rPr>
              <a:t>4. 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HK" sz="2800" dirty="0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sent</a:t>
            </a:r>
            <a:r>
              <a:rPr lang="en-US" altLang="zh-HK" sz="2800" dirty="0">
                <a:latin typeface="Times New Roman" pitchFamily="18" charset="0"/>
                <a:cs typeface="Times New Roman" pitchFamily="18" charset="0"/>
              </a:rPr>
              <a:t>/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sent</a:t>
            </a:r>
            <a:r>
              <a:rPr lang="en-US" altLang="zh-HK" sz="2800" dirty="0">
                <a:latin typeface="+mj-lt"/>
                <a:cs typeface="Times New Roman" pitchFamily="18" charset="0"/>
              </a:rPr>
              <a:t>, </a:t>
            </a: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cent</a:t>
            </a:r>
            <a:r>
              <a:rPr lang="en-US" altLang="zh-HK" sz="2800" dirty="0">
                <a:latin typeface="+mj-lt"/>
                <a:cs typeface="Times New Roman" pitchFamily="18" charset="0"/>
              </a:rPr>
              <a:t>, </a:t>
            </a:r>
            <a:r>
              <a:rPr lang="en-US" altLang="zh-HK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scent</a:t>
            </a:r>
            <a:endParaRPr lang="zh-HK" altLang="en-US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029200" y="1524000"/>
            <a:ext cx="38862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latin typeface="+mj-lt"/>
                <a:cs typeface="Times New Roman" pitchFamily="18" charset="0"/>
              </a:rPr>
              <a:t>1. 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和「分」同音的字</a:t>
            </a:r>
            <a:endParaRPr lang="en-US" altLang="zh-HK" sz="2800" dirty="0">
              <a:latin typeface="+mj-lt"/>
              <a:cs typeface="Times New Roman" pitchFamily="18" charset="0"/>
            </a:endParaRP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latin typeface="+mj-lt"/>
                <a:cs typeface="Times New Roman" pitchFamily="18" charset="0"/>
              </a:rPr>
              <a:t>「</a:t>
            </a:r>
            <a:r>
              <a:rPr lang="zh-TW" altLang="en-US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芬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」「</a:t>
            </a:r>
            <a:r>
              <a:rPr lang="zh-TW" altLang="en-US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氛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」「</a:t>
            </a:r>
            <a:r>
              <a:rPr lang="zh-TW" altLang="en-US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紛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」等</a:t>
            </a:r>
            <a:endParaRPr lang="en-US" altLang="zh-TW" sz="2800" dirty="0">
              <a:latin typeface="+mj-lt"/>
              <a:cs typeface="Times New Roman" pitchFamily="18" charset="0"/>
            </a:endParaRP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TW" sz="2800" dirty="0">
              <a:latin typeface="+mj-lt"/>
              <a:cs typeface="Times New Roman" pitchFamily="18" charset="0"/>
            </a:endParaRP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TW" sz="2800" dirty="0">
                <a:latin typeface="+mj-lt"/>
                <a:cs typeface="Times New Roman" pitchFamily="18" charset="0"/>
              </a:rPr>
              <a:t>2. 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和「書」同音的字</a:t>
            </a:r>
            <a:endParaRPr lang="en-US" altLang="zh-TW" sz="2800" dirty="0">
              <a:latin typeface="+mj-lt"/>
              <a:cs typeface="Times New Roman" pitchFamily="18" charset="0"/>
            </a:endParaRP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latin typeface="+mj-lt"/>
                <a:cs typeface="Times New Roman" pitchFamily="18" charset="0"/>
              </a:rPr>
              <a:t>「</a:t>
            </a:r>
            <a:r>
              <a:rPr lang="zh-TW" altLang="en-US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舒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」「</a:t>
            </a:r>
            <a:r>
              <a:rPr lang="zh-TW" altLang="en-US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輸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」「</a:t>
            </a:r>
            <a:r>
              <a:rPr lang="zh-TW" altLang="en-US" sz="28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樞</a:t>
            </a:r>
            <a:r>
              <a:rPr lang="zh-TW" altLang="en-US" sz="2800" dirty="0">
                <a:latin typeface="+mj-lt"/>
                <a:cs typeface="Times New Roman" pitchFamily="18" charset="0"/>
              </a:rPr>
              <a:t>」等</a:t>
            </a:r>
            <a:endParaRPr lang="zh-HK" altLang="en-US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08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(8)</a:t>
            </a:r>
            <a:r>
              <a:rPr lang="zh-TW" altLang="en-US" dirty="0"/>
              <a:t> 同形同音詞 </a:t>
            </a:r>
            <a:r>
              <a:rPr lang="en-US" altLang="zh-HK" dirty="0"/>
              <a:t>homonyms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70000" lnSpcReduction="20000"/>
          </a:bodyPr>
          <a:lstStyle/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HK" sz="4600" dirty="0"/>
              <a:t>examples:</a:t>
            </a:r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en-US" altLang="zh-HK" sz="4400" dirty="0"/>
              <a:t>1. </a:t>
            </a:r>
            <a:r>
              <a:rPr lang="en-US" altLang="zh-HK" sz="4400" dirty="0">
                <a:solidFill>
                  <a:srgbClr val="0070C0"/>
                </a:solidFill>
              </a:rPr>
              <a:t>club</a:t>
            </a:r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4000" dirty="0"/>
              <a:t>俱樂部</a:t>
            </a:r>
            <a:endParaRPr lang="en-US" altLang="zh-TW" sz="4000" dirty="0"/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4000" dirty="0"/>
              <a:t>棍棒</a:t>
            </a:r>
            <a:endParaRPr lang="en-US" altLang="zh-TW" sz="4000" dirty="0"/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4000" dirty="0"/>
              <a:t>紙牌遊戲的梅花</a:t>
            </a:r>
            <a:endParaRPr lang="en-US" altLang="zh-HK" sz="4000" dirty="0"/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en-US" altLang="zh-HK" sz="4400" dirty="0"/>
              <a:t>2. </a:t>
            </a:r>
            <a:r>
              <a:rPr lang="en-US" altLang="zh-HK" sz="4400" dirty="0">
                <a:solidFill>
                  <a:srgbClr val="0070C0"/>
                </a:solidFill>
              </a:rPr>
              <a:t>bark</a:t>
            </a:r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4000" dirty="0"/>
              <a:t>吠</a:t>
            </a:r>
            <a:endParaRPr lang="en-US" altLang="zh-TW" sz="4000" dirty="0"/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4000" dirty="0"/>
              <a:t>樹皮</a:t>
            </a:r>
            <a:endParaRPr lang="en-US" altLang="zh-TW" sz="4000" dirty="0"/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en-US" altLang="zh-HK" sz="4400" dirty="0"/>
              <a:t>3. </a:t>
            </a:r>
            <a:r>
              <a:rPr lang="en-US" altLang="zh-HK" sz="4400" dirty="0">
                <a:solidFill>
                  <a:srgbClr val="0070C0"/>
                </a:solidFill>
              </a:rPr>
              <a:t>bank</a:t>
            </a:r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4000" dirty="0"/>
              <a:t>銀行</a:t>
            </a:r>
            <a:endParaRPr lang="en-US" altLang="zh-TW" sz="4000" dirty="0"/>
          </a:p>
          <a:p>
            <a:pPr marL="1073150" lvl="2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sz="4000" dirty="0"/>
              <a:t>岸邊</a:t>
            </a:r>
            <a:endParaRPr lang="en-US" altLang="zh-HK" sz="40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HK" dirty="0">
                <a:hlinkClick r:id="rId2"/>
              </a:rPr>
              <a:t>http://oald8.oxfordlearnersdictionaries.com/</a:t>
            </a:r>
            <a:endParaRPr lang="zh-HK" altLang="en-US" dirty="0"/>
          </a:p>
        </p:txBody>
      </p:sp>
      <p:pic>
        <p:nvPicPr>
          <p:cNvPr id="2050" name="Picture 2" descr="C:\Users\CBS\Desktop\golf_clubs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752600"/>
            <a:ext cx="1932943" cy="181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CBS\Desktop\stock-illustration-7110296-club-suit-two-playing-card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143" y="1752600"/>
            <a:ext cx="2270125" cy="1953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CBS\Desktop\HK_Central_Connaught_Road_C_Hang_Seng_Bank_Building_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572000"/>
            <a:ext cx="207010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CBS\Desktop\grassy_river_bank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572000"/>
            <a:ext cx="2003046" cy="150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51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(9) </a:t>
            </a:r>
            <a:r>
              <a:rPr lang="zh-TW" altLang="en-US" dirty="0"/>
              <a:t>同形詞 </a:t>
            </a:r>
            <a:r>
              <a:rPr lang="en-US" altLang="zh-HK" dirty="0"/>
              <a:t>homographs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5410200"/>
          </a:xfrm>
        </p:spPr>
        <p:txBody>
          <a:bodyPr>
            <a:normAutofit lnSpcReduction="10000"/>
          </a:bodyPr>
          <a:lstStyle/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書寫形式相同，語義不同</a:t>
            </a:r>
            <a:endParaRPr lang="en-US" altLang="zh-TW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endParaRPr lang="en-US" altLang="zh-HK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HK" dirty="0"/>
              <a:t>-graph</a:t>
            </a:r>
          </a:p>
          <a:p>
            <a:pPr marL="715963" indent="-357188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from Greek </a:t>
            </a:r>
            <a:r>
              <a:rPr lang="zh-TW" altLang="en-US" dirty="0"/>
              <a:t>希臘語 </a:t>
            </a:r>
            <a:r>
              <a:rPr lang="en-US" i="1" dirty="0"/>
              <a:t>-</a:t>
            </a:r>
            <a:r>
              <a:rPr lang="en-US" i="1" dirty="0" err="1"/>
              <a:t>graphos</a:t>
            </a:r>
            <a:r>
              <a:rPr lang="en-US" i="1" dirty="0"/>
              <a:t> </a:t>
            </a:r>
            <a:r>
              <a:rPr lang="en-US" dirty="0"/>
              <a:t>meaning</a:t>
            </a:r>
            <a:r>
              <a:rPr lang="en-US" i="1" dirty="0"/>
              <a:t> </a:t>
            </a:r>
            <a:r>
              <a:rPr lang="en-US" dirty="0"/>
              <a:t>(something) drawn or written, one who draws or writes</a:t>
            </a:r>
            <a:endParaRPr lang="en-US" altLang="zh-HK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endParaRPr lang="en-US" altLang="zh-HK" dirty="0"/>
          </a:p>
          <a:p>
            <a:pPr marL="357188" indent="-357188">
              <a:spcBef>
                <a:spcPts val="300"/>
              </a:spcBef>
              <a:spcAft>
                <a:spcPts val="300"/>
              </a:spcAft>
            </a:pPr>
            <a:r>
              <a:rPr lang="en-US" altLang="zh-HK" dirty="0"/>
              <a:t>please note: </a:t>
            </a:r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en-US" altLang="zh-HK" sz="2400" dirty="0"/>
              <a:t>some references will use the term “homographs” to refer to words (with different meanings) having the same written form but different spoken forms </a:t>
            </a:r>
            <a:r>
              <a:rPr lang="en-US" altLang="zh-TW" sz="2400" dirty="0"/>
              <a:t>(</a:t>
            </a:r>
            <a:r>
              <a:rPr lang="zh-TW" altLang="en-US" sz="2400" dirty="0"/>
              <a:t>同形異音</a:t>
            </a:r>
            <a:r>
              <a:rPr lang="en-US" altLang="zh-TW" sz="2400" dirty="0"/>
              <a:t>)</a:t>
            </a:r>
          </a:p>
          <a:p>
            <a:pPr marL="715963" lvl="1" indent="-358775">
              <a:spcBef>
                <a:spcPts val="300"/>
              </a:spcBef>
              <a:spcAft>
                <a:spcPts val="300"/>
              </a:spcAft>
            </a:pPr>
            <a:r>
              <a:rPr lang="en-US" altLang="zh-TW" sz="2400" dirty="0"/>
              <a:t>others will use the term to refer to words having the same written form irrespective of whether they have the same spoken form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9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(9) </a:t>
            </a:r>
            <a:r>
              <a:rPr lang="zh-TW" altLang="en-US" dirty="0"/>
              <a:t>同形詞 </a:t>
            </a:r>
            <a:r>
              <a:rPr lang="en-US" altLang="zh-HK" dirty="0"/>
              <a:t>homographs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5410200"/>
          </a:xfrm>
        </p:spPr>
        <p:txBody>
          <a:bodyPr>
            <a:normAutofit fontScale="70000" lnSpcReduction="20000"/>
          </a:bodyPr>
          <a:lstStyle/>
          <a:p>
            <a:pPr marL="357188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3600" dirty="0"/>
              <a:t>以下的例子：書寫形式相同，讀音和語義不同</a:t>
            </a:r>
            <a:endParaRPr lang="en-US" altLang="zh-HK" sz="3600" dirty="0"/>
          </a:p>
          <a:p>
            <a:pPr marL="715963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>
                <a:solidFill>
                  <a:srgbClr val="0070C0"/>
                </a:solidFill>
              </a:rPr>
              <a:t>wind</a:t>
            </a:r>
          </a:p>
          <a:p>
            <a:pPr marL="1073150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/>
              <a:t>/</a:t>
            </a:r>
            <a:r>
              <a:rPr lang="en-US" altLang="zh-HK" sz="3600" dirty="0" err="1"/>
              <a:t>wɪnd</a:t>
            </a:r>
            <a:r>
              <a:rPr lang="en-US" altLang="zh-HK" sz="3600" dirty="0"/>
              <a:t>/	</a:t>
            </a:r>
            <a:r>
              <a:rPr lang="zh-TW" altLang="en-US" sz="3600" dirty="0"/>
              <a:t>風</a:t>
            </a:r>
            <a:endParaRPr lang="en-US" altLang="zh-HK" sz="3600" dirty="0"/>
          </a:p>
          <a:p>
            <a:pPr marL="1073150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/>
              <a:t>/</a:t>
            </a:r>
            <a:r>
              <a:rPr lang="en-US" altLang="zh-HK" sz="3600" dirty="0" err="1"/>
              <a:t>waɪnd</a:t>
            </a:r>
            <a:r>
              <a:rPr lang="en-US" altLang="zh-HK" sz="3600" dirty="0"/>
              <a:t>/	</a:t>
            </a:r>
            <a:r>
              <a:rPr lang="zh-TW" altLang="en-US" sz="3600" dirty="0"/>
              <a:t>纏繞</a:t>
            </a:r>
            <a:endParaRPr lang="en-US" altLang="zh-HK" sz="3600" dirty="0"/>
          </a:p>
          <a:p>
            <a:pPr marL="357188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HK" sz="3600" dirty="0"/>
          </a:p>
          <a:p>
            <a:pPr marL="715963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>
                <a:solidFill>
                  <a:srgbClr val="0070C0"/>
                </a:solidFill>
              </a:rPr>
              <a:t>tear</a:t>
            </a:r>
          </a:p>
          <a:p>
            <a:pPr marL="1073150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/>
              <a:t>/</a:t>
            </a:r>
            <a:r>
              <a:rPr lang="en-US" altLang="zh-HK" sz="3600" dirty="0" err="1"/>
              <a:t>teə</a:t>
            </a:r>
            <a:r>
              <a:rPr lang="en-US" altLang="zh-HK" sz="3600" dirty="0"/>
              <a:t>(r)/	</a:t>
            </a:r>
            <a:r>
              <a:rPr lang="zh-TW" altLang="en-US" sz="3600" dirty="0"/>
              <a:t>撕毁</a:t>
            </a:r>
            <a:endParaRPr lang="en-US" altLang="zh-HK" sz="3600" dirty="0"/>
          </a:p>
          <a:p>
            <a:pPr marL="1073150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/>
              <a:t>/</a:t>
            </a:r>
            <a:r>
              <a:rPr lang="en-US" altLang="zh-HK" sz="3600" dirty="0" err="1"/>
              <a:t>tɪə</a:t>
            </a:r>
            <a:r>
              <a:rPr lang="en-US" altLang="zh-HK" sz="3600" dirty="0"/>
              <a:t>(r)/	</a:t>
            </a:r>
            <a:r>
              <a:rPr lang="zh-TW" altLang="en-US" sz="3600" dirty="0"/>
              <a:t>眼淚</a:t>
            </a:r>
          </a:p>
          <a:p>
            <a:pPr marL="357188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HK" sz="3600" dirty="0"/>
          </a:p>
          <a:p>
            <a:pPr marL="715963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>
                <a:solidFill>
                  <a:srgbClr val="0070C0"/>
                </a:solidFill>
              </a:rPr>
              <a:t>bow</a:t>
            </a:r>
          </a:p>
          <a:p>
            <a:pPr marL="1073150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/>
              <a:t>/</a:t>
            </a:r>
            <a:r>
              <a:rPr lang="en-US" altLang="zh-HK" sz="3600" dirty="0" err="1"/>
              <a:t>baʊ</a:t>
            </a:r>
            <a:r>
              <a:rPr lang="en-US" altLang="zh-HK" sz="3600" dirty="0"/>
              <a:t>/		</a:t>
            </a:r>
            <a:r>
              <a:rPr lang="zh-TW" altLang="en-US" sz="3600" dirty="0"/>
              <a:t>鞠躬</a:t>
            </a:r>
            <a:endParaRPr lang="en-US" altLang="zh-HK" sz="3600" dirty="0"/>
          </a:p>
          <a:p>
            <a:pPr marL="1073150" indent="-35718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3600" dirty="0"/>
              <a:t>/</a:t>
            </a:r>
            <a:r>
              <a:rPr lang="en-US" altLang="zh-HK" sz="3600" dirty="0" err="1"/>
              <a:t>bəʊ</a:t>
            </a:r>
            <a:r>
              <a:rPr lang="en-US" altLang="zh-HK" sz="3600" dirty="0"/>
              <a:t>/		</a:t>
            </a:r>
            <a:r>
              <a:rPr lang="zh-TW" altLang="en-US" sz="3600" dirty="0"/>
              <a:t>弓</a:t>
            </a:r>
            <a:endParaRPr lang="en-US" altLang="zh-HK" sz="3600" dirty="0"/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663" y="3962400"/>
            <a:ext cx="1409700" cy="85725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268" y="2611163"/>
            <a:ext cx="3420237" cy="17798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799" y="4681168"/>
            <a:ext cx="3391706" cy="16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6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詞典 </a:t>
            </a:r>
            <a:r>
              <a:rPr lang="en-US" altLang="zh-TW" dirty="0"/>
              <a:t>l</a:t>
            </a:r>
            <a:r>
              <a:rPr lang="en-US" altLang="zh-HK" dirty="0"/>
              <a:t>exical relations and the dictionary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HK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A dictionary aims to define the sense of a word.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In doing so it implicitly uses lexical relations.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e.g., small, clean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dirty="0">
                <a:hlinkClick r:id="rId2"/>
              </a:rPr>
              <a:t>http://oald8.oxfordlearnersdictionaries.com/</a:t>
            </a:r>
            <a:endParaRPr lang="en-US" altLang="zh-HK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600" dirty="0"/>
              <a:t>“</a:t>
            </a:r>
            <a:r>
              <a:rPr lang="en-US" altLang="zh-HK" sz="2600" i="1" dirty="0">
                <a:solidFill>
                  <a:srgbClr val="0070C0"/>
                </a:solidFill>
              </a:rPr>
              <a:t>small</a:t>
            </a:r>
            <a:r>
              <a:rPr lang="en-US" altLang="zh-HK" sz="2600" dirty="0"/>
              <a:t>: </a:t>
            </a:r>
            <a:r>
              <a:rPr lang="en-US" altLang="zh-HK" sz="2600" dirty="0">
                <a:solidFill>
                  <a:srgbClr val="7030A0"/>
                </a:solidFill>
              </a:rPr>
              <a:t>not large</a:t>
            </a:r>
            <a:r>
              <a:rPr lang="en-US" altLang="zh-HK" sz="2600" dirty="0"/>
              <a:t> in size, number degree, amount, etc.”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600" dirty="0"/>
              <a:t>“</a:t>
            </a:r>
            <a:r>
              <a:rPr lang="en-US" altLang="zh-HK" sz="2600" i="1" dirty="0">
                <a:solidFill>
                  <a:srgbClr val="0070C0"/>
                </a:solidFill>
              </a:rPr>
              <a:t>clean</a:t>
            </a:r>
            <a:r>
              <a:rPr lang="en-US" altLang="zh-HK" sz="2600" dirty="0"/>
              <a:t>: </a:t>
            </a:r>
            <a:r>
              <a:rPr lang="en-US" altLang="zh-HK" sz="2600" dirty="0">
                <a:solidFill>
                  <a:srgbClr val="7030A0"/>
                </a:solidFill>
              </a:rPr>
              <a:t>not dirty</a:t>
            </a:r>
            <a:r>
              <a:rPr lang="en-US" altLang="zh-HK" sz="2600" dirty="0"/>
              <a:t>”</a:t>
            </a:r>
            <a:endParaRPr lang="en-US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5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Semantic roles </a:t>
            </a:r>
            <a:r>
              <a:rPr lang="zh-TW" altLang="en-US" dirty="0"/>
              <a:t>語義角色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u="sng" dirty="0"/>
              <a:t>名詞詞組</a:t>
            </a:r>
            <a:r>
              <a:rPr lang="zh-TW" altLang="en-US" sz="3000" dirty="0"/>
              <a:t> </a:t>
            </a:r>
            <a:r>
              <a:rPr lang="en-US" altLang="zh-TW" sz="3000" dirty="0"/>
              <a:t>(noun phrases) </a:t>
            </a:r>
            <a:r>
              <a:rPr lang="zh-TW" altLang="en-US" sz="3000" dirty="0"/>
              <a:t>在句子裏所扮演的語義關係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「語義角色」可以很清楚地幫助我們釐清各個名詞詞組在句子中的語義關係，我們更能了解傳統語法上的主詞、述詞或及物、不及物動詞等等的分類</a:t>
            </a:r>
            <a:endParaRPr lang="en-US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4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Semantic roles </a:t>
            </a:r>
            <a:r>
              <a:rPr lang="zh-TW" altLang="en-US" dirty="0"/>
              <a:t>語義角色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examples:</a:t>
            </a:r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agent </a:t>
            </a:r>
            <a:r>
              <a:rPr lang="zh-TW" altLang="en-US" sz="2800" dirty="0"/>
              <a:t>主事者／施事者</a:t>
            </a:r>
            <a:endParaRPr lang="en-US" altLang="zh-TW" sz="28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patient</a:t>
            </a:r>
            <a:r>
              <a:rPr lang="zh-TW" altLang="en-US" sz="2800" dirty="0"/>
              <a:t> 受事者</a:t>
            </a:r>
            <a:endParaRPr lang="en-US" altLang="zh-TW" sz="28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experiencer </a:t>
            </a:r>
            <a:r>
              <a:rPr lang="zh-TW" altLang="en-US" sz="2800" dirty="0"/>
              <a:t>經驗者</a:t>
            </a:r>
            <a:endParaRPr lang="en-US" altLang="zh-TW" sz="28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TW" sz="2800" dirty="0"/>
              <a:t>instrument </a:t>
            </a:r>
            <a:r>
              <a:rPr lang="zh-HK" altLang="en-US" sz="2800" dirty="0"/>
              <a:t>工具</a:t>
            </a:r>
            <a:endParaRPr lang="en-US" altLang="zh-HK" sz="28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recipient </a:t>
            </a:r>
            <a:r>
              <a:rPr lang="zh-HK" altLang="en-US" sz="2800" dirty="0"/>
              <a:t>接受者</a:t>
            </a:r>
            <a:endParaRPr lang="en-US" altLang="zh-HK" sz="28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goal </a:t>
            </a:r>
            <a:r>
              <a:rPr lang="zh-HK" altLang="en-US" sz="2800" dirty="0"/>
              <a:t>目標</a:t>
            </a:r>
            <a:endParaRPr lang="en-US" altLang="zh-HK" sz="28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location </a:t>
            </a:r>
            <a:r>
              <a:rPr lang="zh-HK" altLang="en-US" sz="2800" dirty="0"/>
              <a:t>處所</a:t>
            </a:r>
            <a:endParaRPr lang="en-US" altLang="zh-HK" sz="2800" dirty="0"/>
          </a:p>
          <a:p>
            <a:pPr marL="715963" lvl="1" indent="-358775"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/>
              <a:t>source </a:t>
            </a:r>
            <a:r>
              <a:rPr lang="zh-HK" altLang="en-US" sz="2800" dirty="0"/>
              <a:t>來源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2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agent </a:t>
            </a:r>
            <a:r>
              <a:rPr lang="zh-TW" altLang="en-US" dirty="0"/>
              <a:t>主事者／施事者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執行某個動作的人或物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It was designed by </a:t>
            </a:r>
            <a:r>
              <a:rPr lang="en-US" altLang="zh-HK" sz="3000" u="sng" dirty="0"/>
              <a:t>Armani</a:t>
            </a:r>
            <a:r>
              <a:rPr lang="en-US" altLang="zh-HK" sz="3000" dirty="0"/>
              <a:t>.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u="sng" dirty="0"/>
              <a:t>Armani</a:t>
            </a:r>
            <a:r>
              <a:rPr lang="en-US" altLang="zh-HK" sz="3000" dirty="0"/>
              <a:t> designed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3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patient</a:t>
            </a:r>
            <a:r>
              <a:rPr lang="zh-TW" altLang="en-US" dirty="0"/>
              <a:t> 受事者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及物動詞之後，受動詞動作影響的人或物</a:t>
            </a: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The storm devastated </a:t>
            </a:r>
            <a:r>
              <a:rPr lang="en-US" altLang="zh-HK" sz="3000" u="sng" dirty="0"/>
              <a:t>New York</a:t>
            </a:r>
            <a:r>
              <a:rPr lang="en-US" altLang="zh-HK" sz="3000" dirty="0"/>
              <a:t>.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u="sng" dirty="0"/>
              <a:t>New York</a:t>
            </a:r>
            <a:r>
              <a:rPr lang="en-US" altLang="zh-HK" sz="3000" dirty="0"/>
              <a:t> was devastated by the storm.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John was reading </a:t>
            </a:r>
            <a:r>
              <a:rPr lang="en-US" altLang="zh-HK" sz="3000" u="sng" dirty="0"/>
              <a:t>a book</a:t>
            </a:r>
            <a:r>
              <a:rPr lang="en-US" altLang="zh-HK" sz="3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0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experiencer </a:t>
            </a:r>
            <a:r>
              <a:rPr lang="zh-TW" altLang="en-US" dirty="0"/>
              <a:t>經驗者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經驗某種感覺／經驗的人</a:t>
            </a: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u="sng" dirty="0"/>
              <a:t>Amy</a:t>
            </a:r>
            <a:r>
              <a:rPr lang="en-US" altLang="zh-HK" sz="3000" dirty="0"/>
              <a:t> is afraid of dogs 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u="sng" dirty="0"/>
              <a:t>John</a:t>
            </a:r>
            <a:r>
              <a:rPr lang="en-US" altLang="zh-HK" sz="3000" dirty="0"/>
              <a:t> felt sad to see the accident.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altLang="zh-HK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Experiencer: aware but not in control</a:t>
            </a:r>
            <a:endParaRPr lang="zh-HK" alt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2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instrument </a:t>
            </a:r>
            <a:r>
              <a:rPr lang="zh-TW" alt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工具</a:t>
            </a:r>
            <a:endParaRPr lang="en-US" sz="4000" kern="12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/>
            <a:r>
              <a:rPr lang="zh-TW" altLang="en-US" sz="3000" dirty="0"/>
              <a:t>被用以執行某動作的工具</a:t>
            </a:r>
            <a:endParaRPr lang="en-US" altLang="zh-TW" sz="3000" dirty="0"/>
          </a:p>
          <a:p>
            <a:pPr marL="357188" indent="-357188"/>
            <a:endParaRPr lang="en-US" sz="3000" dirty="0"/>
          </a:p>
          <a:p>
            <a:pPr marL="715963" indent="-357188"/>
            <a:r>
              <a:rPr lang="en-US" sz="3000" dirty="0"/>
              <a:t>He wrote that line with </a:t>
            </a:r>
            <a:r>
              <a:rPr lang="en-US" sz="3000" u="sng" dirty="0"/>
              <a:t>a pencil</a:t>
            </a:r>
            <a:r>
              <a:rPr lang="en-US" sz="3000" dirty="0"/>
              <a:t>.</a:t>
            </a:r>
          </a:p>
          <a:p>
            <a:pPr marL="715963" indent="-357188"/>
            <a:endParaRPr lang="en-US" sz="3000" dirty="0"/>
          </a:p>
          <a:p>
            <a:pPr marL="715963" indent="-357188"/>
            <a:r>
              <a:rPr lang="en-US" sz="3000" dirty="0"/>
              <a:t>She opened the door with </a:t>
            </a:r>
            <a:r>
              <a:rPr lang="en-US" sz="3000" u="sng" dirty="0"/>
              <a:t>a key</a:t>
            </a:r>
            <a:r>
              <a:rPr lang="en-US" sz="3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4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recipient</a:t>
            </a:r>
            <a:r>
              <a:rPr lang="en-US" dirty="0"/>
              <a:t> </a:t>
            </a:r>
            <a:r>
              <a:rPr lang="zh-TW" alt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接受者</a:t>
            </a:r>
            <a:endParaRPr lang="en-US" sz="4000" kern="12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en-US" altLang="zh-HK" sz="3000" dirty="0"/>
              <a:t>Recipient: becomes possessor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2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u="sng" dirty="0"/>
              <a:t>Eric</a:t>
            </a:r>
            <a:r>
              <a:rPr lang="en-US" sz="3000" dirty="0"/>
              <a:t> received the letter.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dirty="0"/>
              <a:t>Amy sent </a:t>
            </a:r>
            <a:r>
              <a:rPr lang="en-US" sz="3000" u="sng" dirty="0"/>
              <a:t>Eric</a:t>
            </a:r>
            <a:r>
              <a:rPr lang="en-US" sz="3000" dirty="0"/>
              <a:t> the letter.</a:t>
            </a:r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dirty="0"/>
              <a:t>I’ll email </a:t>
            </a:r>
            <a:r>
              <a:rPr lang="en-US" sz="3000" u="sng" dirty="0"/>
              <a:t>you</a:t>
            </a:r>
            <a:r>
              <a:rPr lang="en-US" sz="3000" dirty="0"/>
              <a:t> the phone number and address.</a:t>
            </a:r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goal </a:t>
            </a:r>
            <a:r>
              <a:rPr lang="zh-TW" alt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目標</a:t>
            </a:r>
            <a:endParaRPr lang="en-US" sz="4000" kern="12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要達到或達成的目標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dirty="0"/>
              <a:t>John went to </a:t>
            </a:r>
            <a:r>
              <a:rPr lang="en-US" sz="3000" u="sng" dirty="0"/>
              <a:t>the stadium</a:t>
            </a:r>
            <a:r>
              <a:rPr lang="en-US" sz="30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1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location </a:t>
            </a:r>
            <a:r>
              <a:rPr lang="zh-TW" alt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處所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地方詞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715963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dirty="0"/>
              <a:t>They were chatting in </a:t>
            </a:r>
            <a:r>
              <a:rPr lang="en-US" sz="3000" u="sng" dirty="0"/>
              <a:t>the garden</a:t>
            </a:r>
            <a:r>
              <a:rPr lang="en-US" sz="3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5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source </a:t>
            </a:r>
            <a:r>
              <a:rPr lang="zh-TW" alt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來源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r>
              <a:rPr lang="zh-TW" altLang="en-US" sz="3000" dirty="0"/>
              <a:t>從</a:t>
            </a:r>
            <a:r>
              <a:rPr lang="en-US" altLang="zh-TW" sz="3000" dirty="0"/>
              <a:t>……</a:t>
            </a:r>
            <a:r>
              <a:rPr lang="zh-TW" altLang="en-US" sz="3000" dirty="0"/>
              <a:t>處得到東西</a:t>
            </a:r>
            <a:endParaRPr lang="en-US" altLang="zh-TW" sz="3000" dirty="0"/>
          </a:p>
          <a:p>
            <a:pPr marL="357188" indent="-357188">
              <a:spcBef>
                <a:spcPts val="400"/>
              </a:spcBef>
              <a:spcAft>
                <a:spcPts val="400"/>
              </a:spcAft>
            </a:pPr>
            <a:endParaRPr lang="en-US" sz="3000" dirty="0"/>
          </a:p>
          <a:p>
            <a:pPr marL="804863" indent="-357188">
              <a:spcBef>
                <a:spcPts val="400"/>
              </a:spcBef>
              <a:spcAft>
                <a:spcPts val="400"/>
              </a:spcAft>
            </a:pPr>
            <a:r>
              <a:rPr lang="en-US" sz="3000" dirty="0"/>
              <a:t>He got the money from </a:t>
            </a:r>
            <a:r>
              <a:rPr lang="en-US" sz="3000" u="sng" dirty="0"/>
              <a:t>his father</a:t>
            </a:r>
            <a:r>
              <a:rPr lang="en-US" sz="3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2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zh-TW" altLang="en-US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歧義 </a:t>
            </a:r>
            <a:r>
              <a:rPr lang="en-US" altLang="zh-TW" sz="4000" kern="12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ambiguity</a:t>
            </a:r>
            <a:endParaRPr lang="en-US" sz="4000" kern="12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320040" lvl="0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一些歧義句例子：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20040" lvl="0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Ø"/>
            </a:pP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74320" lvl="1" indent="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None/>
            </a:pPr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</a:t>
            </a: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當中的</a:t>
            </a:r>
            <a:r>
              <a:rPr lang="zh-TW" altLang="en-US" sz="2800" b="1" u="sng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詞語</a:t>
            </a: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有不同的解釋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868680" lvl="2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l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例：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他</a:t>
            </a:r>
            <a:r>
              <a:rPr lang="zh-TW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走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了兩個小時。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行走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離開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868680" lvl="2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l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例：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這門沒有</a:t>
            </a:r>
            <a:r>
              <a:rPr lang="zh-TW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鎖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名詞的「鎖」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動詞的「鎖」</a:t>
            </a:r>
            <a:endParaRPr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8680" lvl="2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l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例：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她</a:t>
            </a:r>
            <a:r>
              <a:rPr lang="zh-TW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背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着兒子去了很多地方。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瞞着，讀 </a:t>
            </a:r>
            <a:r>
              <a:rPr lang="en-US" altLang="zh-HK" sz="2800" dirty="0" err="1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bèi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用背脊馱，讀 </a:t>
            </a:r>
            <a:r>
              <a:rPr lang="en-US" altLang="zh-HK" sz="2800" dirty="0" err="1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bēi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868680" lvl="2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l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例：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昨天他</a:t>
            </a:r>
            <a:r>
              <a:rPr lang="zh-TW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還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欠款三千元。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仍然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歸還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868680" lvl="2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l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例：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我看過</a:t>
            </a:r>
            <a:r>
              <a:rPr lang="zh-TW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他的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書。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他擁有的書。</a:t>
            </a:r>
            <a:endParaRPr lang="en-US" altLang="zh-TW" sz="28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他寫的書。</a:t>
            </a:r>
            <a:endParaRPr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670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 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語義角色不清楚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868680" lvl="2" indent="-320040">
              <a:spcBef>
                <a:spcPts val="400"/>
              </a:spcBef>
              <a:spcAft>
                <a:spcPts val="400"/>
              </a:spcAft>
              <a:buClr>
                <a:srgbClr val="DD8047"/>
              </a:buClr>
              <a:buSzPct val="60000"/>
              <a:buFont typeface="Wingdings" pitchFamily="2" charset="2"/>
              <a:buChar char="l"/>
            </a:pPr>
            <a:r>
              <a:rPr lang="zh-TW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zh-TW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甲國對乙國的襲擊</a:t>
            </a:r>
            <a:r>
              <a:rPr lang="zh-TW" alt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早有部署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88720" lvl="3" indent="-274320">
              <a:spcBef>
                <a:spcPts val="400"/>
              </a:spcBef>
              <a:spcAft>
                <a:spcPts val="400"/>
              </a:spcAft>
              <a:buClr>
                <a:srgbClr val="94B6D2"/>
              </a:buClr>
              <a:buSzPct val="70000"/>
              <a:buFont typeface="Wingdings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施事者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(agent)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4647</TotalTime>
  <Words>2188</Words>
  <PresentationFormat>On-screen Show (4:3)</PresentationFormat>
  <Paragraphs>389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Times New Roman</vt:lpstr>
      <vt:lpstr>PMingLiU</vt:lpstr>
      <vt:lpstr>PMingLiU</vt:lpstr>
      <vt:lpstr>Arial</vt:lpstr>
      <vt:lpstr>Calibri</vt:lpstr>
      <vt:lpstr>Doulos SIL</vt:lpstr>
      <vt:lpstr>Lucida Sans Unicode</vt:lpstr>
      <vt:lpstr>Wingdings</vt:lpstr>
      <vt:lpstr>Clarity</vt:lpstr>
      <vt:lpstr>CBS1A01P Fun with Language</vt:lpstr>
      <vt:lpstr>上一個題目「構詞學」的重點</vt:lpstr>
      <vt:lpstr>PowerPoint Presentation</vt:lpstr>
      <vt:lpstr>本課題目</vt:lpstr>
      <vt:lpstr>PowerPoint Presentation</vt:lpstr>
      <vt:lpstr>本課題目</vt:lpstr>
      <vt:lpstr>語言溝通</vt:lpstr>
      <vt:lpstr>語義的本質</vt:lpstr>
      <vt:lpstr>PowerPoint Presentation</vt:lpstr>
      <vt:lpstr>(1) 指涉說 reference</vt:lpstr>
      <vt:lpstr>(1) 指涉說 reference</vt:lpstr>
      <vt:lpstr>(1) 指涉說 reference</vt:lpstr>
      <vt:lpstr>(1) 指涉說 reference</vt:lpstr>
      <vt:lpstr>(2) 組合說 composition</vt:lpstr>
      <vt:lpstr>(2) 組合說 composition</vt:lpstr>
      <vt:lpstr>(2) 組合說 composition</vt:lpstr>
      <vt:lpstr>(2) 組合說 composition</vt:lpstr>
      <vt:lpstr>詞語之間的關係</vt:lpstr>
      <vt:lpstr>詞和詞之間的關係</vt:lpstr>
      <vt:lpstr>(1) 同義詞 synonyms</vt:lpstr>
      <vt:lpstr>英語中的同義詞</vt:lpstr>
      <vt:lpstr>English</vt:lpstr>
      <vt:lpstr>(2) 反義詞 antonyms</vt:lpstr>
      <vt:lpstr>(3, 4) 下位詞 hyponyms、上位詞 hypernyms</vt:lpstr>
      <vt:lpstr>(5) 借代／換喻 metonyms</vt:lpstr>
      <vt:lpstr>(6) 多義詞 polysemes</vt:lpstr>
      <vt:lpstr>(7) 同音詞 homophones</vt:lpstr>
      <vt:lpstr>(8) 同形同音詞 homonyms</vt:lpstr>
      <vt:lpstr>(9) 同形詞 homographs</vt:lpstr>
      <vt:lpstr>(9) 同形詞 homographs</vt:lpstr>
      <vt:lpstr>詞典 lexical relations and the dictionary</vt:lpstr>
      <vt:lpstr>Semantic roles 語義角色</vt:lpstr>
      <vt:lpstr>Semantic roles 語義角色</vt:lpstr>
      <vt:lpstr>agent 主事者／施事者</vt:lpstr>
      <vt:lpstr>patient 受事者</vt:lpstr>
      <vt:lpstr>experiencer 經驗者</vt:lpstr>
      <vt:lpstr>instrument 工具</vt:lpstr>
      <vt:lpstr>recipient 接受者</vt:lpstr>
      <vt:lpstr>goal 目標</vt:lpstr>
      <vt:lpstr>location 處所</vt:lpstr>
      <vt:lpstr>source 來源</vt:lpstr>
      <vt:lpstr>歧義 ambiguity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terms:modified xsi:type="dcterms:W3CDTF">2024-06-13T09:52:20Z</dcterms:modified>
</cp:coreProperties>
</file>
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308" r:id="rId1"/>
  </p:sldMasterIdLst>
  <p:notesMasterIdLst>
    <p:notesMasterId r:id="rId32"/>
  </p:notesMasterIdLst>
  <p:handoutMasterIdLst>
    <p:handoutMasterId r:id="rId33"/>
  </p:handoutMasterIdLst>
  <p:sldIdLst>
    <p:sldId id="269" r:id="rId2"/>
    <p:sldId id="270" r:id="rId3"/>
    <p:sldId id="590" r:id="rId4"/>
    <p:sldId id="607" r:id="rId5"/>
    <p:sldId id="608" r:id="rId6"/>
    <p:sldId id="609" r:id="rId7"/>
    <p:sldId id="612" r:id="rId8"/>
    <p:sldId id="613" r:id="rId9"/>
    <p:sldId id="614" r:id="rId10"/>
    <p:sldId id="616" r:id="rId11"/>
    <p:sldId id="617" r:id="rId12"/>
    <p:sldId id="618" r:id="rId13"/>
    <p:sldId id="619" r:id="rId14"/>
    <p:sldId id="620" r:id="rId15"/>
    <p:sldId id="621" r:id="rId16"/>
    <p:sldId id="622" r:id="rId17"/>
    <p:sldId id="623" r:id="rId18"/>
    <p:sldId id="624" r:id="rId19"/>
    <p:sldId id="626" r:id="rId20"/>
    <p:sldId id="627" r:id="rId21"/>
    <p:sldId id="628" r:id="rId22"/>
    <p:sldId id="629" r:id="rId23"/>
    <p:sldId id="630" r:id="rId24"/>
    <p:sldId id="631" r:id="rId25"/>
    <p:sldId id="632" r:id="rId26"/>
    <p:sldId id="633" r:id="rId27"/>
    <p:sldId id="634" r:id="rId28"/>
    <p:sldId id="635" r:id="rId29"/>
    <p:sldId id="644" r:id="rId30"/>
    <p:sldId id="591" r:id="rId3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9E7"/>
    <a:srgbClr val="C0260C"/>
    <a:srgbClr val="B51757"/>
    <a:srgbClr val="F88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9" autoAdjust="0"/>
    <p:restoredTop sz="90941" autoAdjust="0"/>
  </p:normalViewPr>
  <p:slideViewPr>
    <p:cSldViewPr>
      <p:cViewPr varScale="1">
        <p:scale>
          <a:sx n="90" d="100"/>
          <a:sy n="90" d="100"/>
        </p:scale>
        <p:origin x="1217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499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90F1053-6B86-4AE0-AD50-D40900A9127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EB3E01F-BEEE-4807-98B8-EC3A2F9DEFA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6ABB7-346D-44FD-9D34-04DF94195F9D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493707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7D74C-B1D5-4487-AF0D-C77E84B3B31F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67587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70EE3-4A48-4101-AC6F-35EFDBEFB2E6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671052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4CECB-7E10-4826-B58E-1030EFDE5ACD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41735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8C697-74BC-42F9-A081-724B7EEFCEA6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20302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A4C05-20FA-48EC-947C-2D079344F857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34020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77F27-6266-41F8-A86E-E01586298339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28833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FADCB-CE7E-4075-A6A1-839B74E1599E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97569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E8C7D-C9AC-4978-8924-5F01018B8EF3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27254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9F15B-EFF2-41DC-ABFE-E067794AEC26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682774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A1DBF6-4CED-4677-9639-7AB075E765F6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8451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>
              <a:defRPr/>
            </a:pPr>
            <a:endParaRPr lang="en-US" altLang="zh-HK">
              <a:solidFill>
                <a:srgbClr val="FFFFFF"/>
              </a:solidFill>
              <a:latin typeface="Perpetua" panose="02020502060401020303" pitchFamily="18" charset="0"/>
            </a:endParaRPr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K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 altLang="zh-TW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735A7424-49AD-4364-8F0A-81B01034ED8F}" type="slidenum">
              <a:rPr lang="zh-TW" altLang="en-GB"/>
              <a:pPr>
                <a:defRPr/>
              </a:pPr>
              <a:t>‹#›</a:t>
            </a:fld>
            <a:endParaRPr lang="en-GB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68" r:id="rId1"/>
    <p:sldLayoutId id="2147485261" r:id="rId2"/>
    <p:sldLayoutId id="2147485269" r:id="rId3"/>
    <p:sldLayoutId id="2147485262" r:id="rId4"/>
    <p:sldLayoutId id="2147485263" r:id="rId5"/>
    <p:sldLayoutId id="2147485264" r:id="rId6"/>
    <p:sldLayoutId id="2147485265" r:id="rId7"/>
    <p:sldLayoutId id="2147485270" r:id="rId8"/>
    <p:sldLayoutId id="2147485271" r:id="rId9"/>
    <p:sldLayoutId id="2147485266" r:id="rId10"/>
    <p:sldLayoutId id="214748526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 descr="Rectangle: Click to edit Master text styles&#10;Second level&#10;Third level&#10;Fourth level&#10;Fifth level"/>
          <p:cNvSpPr>
            <a:spLocks noGrp="1"/>
          </p:cNvSpPr>
          <p:nvPr>
            <p:ph type="subTitle" idx="1"/>
          </p:nvPr>
        </p:nvSpPr>
        <p:spPr>
          <a:xfrm>
            <a:off x="914400" y="3048000"/>
            <a:ext cx="7543800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3300" dirty="0">
                <a:solidFill>
                  <a:srgbClr val="660033"/>
                </a:solidFill>
                <a:latin typeface="Garamond" panose="02020404030301010803" pitchFamily="18" charset="0"/>
              </a:rPr>
              <a:t/>
            </a:r>
            <a:br>
              <a:rPr lang="en-US" altLang="zh-TW" sz="3300" dirty="0">
                <a:solidFill>
                  <a:srgbClr val="660033"/>
                </a:solidFill>
                <a:latin typeface="Garamond" panose="02020404030301010803" pitchFamily="18" charset="0"/>
              </a:rPr>
            </a:br>
            <a:r>
              <a:rPr lang="en-US" altLang="zh-TW" sz="3300" dirty="0">
                <a:solidFill>
                  <a:srgbClr val="660033"/>
                </a:solidFill>
                <a:latin typeface="Garamond" panose="02020404030301010803" pitchFamily="18" charset="0"/>
              </a:rPr>
              <a:t/>
            </a:r>
            <a:br>
              <a:rPr lang="en-US" altLang="zh-TW" sz="3300" dirty="0">
                <a:solidFill>
                  <a:srgbClr val="660033"/>
                </a:solidFill>
                <a:latin typeface="Garamond" panose="02020404030301010803" pitchFamily="18" charset="0"/>
              </a:rPr>
            </a:br>
            <a:r>
              <a:rPr lang="en-US" altLang="zh-TW" sz="3300" dirty="0">
                <a:solidFill>
                  <a:srgbClr val="660033"/>
                </a:solidFill>
                <a:latin typeface="Garamond" panose="02020404030301010803" pitchFamily="18" charset="0"/>
              </a:rPr>
              <a:t>Lecture </a:t>
            </a:r>
            <a:r>
              <a:rPr lang="en-US" altLang="zh-TW" sz="3300" dirty="0" smtClean="0">
                <a:solidFill>
                  <a:srgbClr val="660033"/>
                </a:solidFill>
                <a:latin typeface="Garamond" panose="02020404030301010803" pitchFamily="18" charset="0"/>
              </a:rPr>
              <a:t>2</a:t>
            </a:r>
            <a:endParaRPr lang="en-US" altLang="zh-TW" sz="3300" dirty="0">
              <a:solidFill>
                <a:srgbClr val="660033"/>
              </a:solidFill>
              <a:latin typeface="Garamond" panose="02020404030301010803" pitchFamily="18" charset="0"/>
            </a:endParaRPr>
          </a:p>
          <a:p>
            <a:pPr marL="0" lvl="1"/>
            <a:r>
              <a:rPr lang="zh-TW" altLang="en-US" sz="3000" dirty="0"/>
              <a:t>兒童語言習得</a:t>
            </a:r>
            <a:endParaRPr lang="en-US" altLang="zh-TW" sz="3000" dirty="0">
              <a:solidFill>
                <a:srgbClr val="660033"/>
              </a:solidFill>
              <a:latin typeface="Garamond" panose="02020404030301010803" pitchFamily="18" charset="0"/>
            </a:endParaRPr>
          </a:p>
          <a:p>
            <a:pPr marL="0" lvl="1"/>
            <a:endParaRPr lang="en-US" altLang="zh-TW" sz="3000" dirty="0"/>
          </a:p>
        </p:txBody>
      </p:sp>
      <p:sp>
        <p:nvSpPr>
          <p:cNvPr id="8195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DC020E-64ED-4CE2-ACD9-EE0854A3C5FB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8077200" cy="19050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TW" altLang="en-US" sz="3300">
                <a:solidFill>
                  <a:srgbClr val="6A6363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/>
            </a:r>
            <a:br>
              <a:rPr lang="zh-TW" altLang="en-US" sz="3300">
                <a:solidFill>
                  <a:srgbClr val="6A6363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</a:br>
            <a:r>
              <a:rPr lang="en-GB" altLang="zh-TW" sz="3300">
                <a:solidFill>
                  <a:srgbClr val="660033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CBS1A01P</a:t>
            </a:r>
            <a:br>
              <a:rPr lang="en-GB" altLang="zh-TW" sz="3300">
                <a:solidFill>
                  <a:srgbClr val="660033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</a:br>
            <a:r>
              <a:rPr altLang="zh-TW" sz="3300">
                <a:solidFill>
                  <a:srgbClr val="660033"/>
                </a:solidFill>
                <a:latin typeface="Garamond" panose="02020404030301010803" pitchFamily="18" charset="0"/>
                <a:ea typeface="PMingLiU" panose="02020500000000000000" pitchFamily="18" charset="-120"/>
              </a:rPr>
              <a:t>Fun with Language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</p:spPr>
        <p:txBody>
          <a:bodyPr/>
          <a:lstStyle/>
          <a:p>
            <a:pPr algn="ctr" eaLnBrk="1" hangingPunct="1"/>
            <a:r>
              <a:rPr lang="zh-TW" altLang="en-US" sz="4600" u="sng">
                <a:ea typeface="PMingLiU" panose="02020500000000000000" pitchFamily="18" charset="-120"/>
              </a:rPr>
              <a:t>上一課</a:t>
            </a:r>
            <a:endParaRPr lang="en-US" altLang="zh-HK" sz="4600" u="sng">
              <a:ea typeface="PMingLiU" panose="02020500000000000000" pitchFamily="18" charset="-120"/>
            </a:endParaRPr>
          </a:p>
        </p:txBody>
      </p:sp>
      <p:sp>
        <p:nvSpPr>
          <p:cNvPr id="9219" name="Slide Number Placeholder 2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CC5020-EE67-42C8-9CC6-6FA25C4FFDC2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9220" name="Content Placeholder 3"/>
          <p:cNvSpPr>
            <a:spLocks noGrp="1"/>
          </p:cNvSpPr>
          <p:nvPr>
            <p:ph sz="quarter" idx="1"/>
          </p:nvPr>
        </p:nvSpPr>
        <p:spPr>
          <a:xfrm>
            <a:off x="801688" y="1684338"/>
            <a:ext cx="7620000" cy="4724400"/>
          </a:xfrm>
        </p:spPr>
        <p:txBody>
          <a:bodyPr/>
          <a:lstStyle/>
          <a:p>
            <a:pPr eaLnBrk="1" hangingPunct="1"/>
            <a:r>
              <a:rPr lang="zh-TW" altLang="en-US" sz="3200"/>
              <a:t> 語言是甚麼</a:t>
            </a:r>
            <a:r>
              <a:rPr lang="en-US" altLang="zh-TW" sz="3200"/>
              <a:t/>
            </a:r>
            <a:br>
              <a:rPr lang="en-US" altLang="zh-TW" sz="3200"/>
            </a:br>
            <a:r>
              <a:rPr lang="zh-TW" altLang="en-US" sz="3200"/>
              <a:t>（「</a:t>
            </a:r>
            <a:r>
              <a:rPr lang="zh-TW" altLang="en-US" sz="3200">
                <a:solidFill>
                  <a:srgbClr val="7030A0"/>
                </a:solidFill>
              </a:rPr>
              <a:t>表達思想的符號系統</a:t>
            </a:r>
            <a:r>
              <a:rPr lang="zh-TW" altLang="en-US" sz="3200"/>
              <a:t>」）</a:t>
            </a:r>
            <a:endParaRPr lang="en-US" altLang="zh-TW" sz="3200"/>
          </a:p>
          <a:p>
            <a:pPr eaLnBrk="1" hangingPunct="1"/>
            <a:endParaRPr lang="en-US" altLang="zh-TW" sz="3200"/>
          </a:p>
          <a:p>
            <a:pPr eaLnBrk="1" hangingPunct="1"/>
            <a:r>
              <a:rPr lang="zh-TW" altLang="en-US" sz="3200"/>
              <a:t> 語言學是甚麼</a:t>
            </a:r>
            <a:r>
              <a:rPr lang="en-US" altLang="zh-TW" sz="3200"/>
              <a:t/>
            </a:r>
            <a:br>
              <a:rPr lang="en-US" altLang="zh-TW" sz="3200"/>
            </a:br>
            <a:r>
              <a:rPr lang="zh-TW" altLang="en-US" sz="3200"/>
              <a:t>（「</a:t>
            </a:r>
            <a:r>
              <a:rPr lang="zh-TW" altLang="en-US" sz="3200">
                <a:solidFill>
                  <a:srgbClr val="C0260C"/>
                </a:solidFill>
              </a:rPr>
              <a:t>研究語言的科學</a:t>
            </a:r>
            <a:r>
              <a:rPr lang="zh-TW" altLang="en-US" sz="3200"/>
              <a:t>」）</a:t>
            </a:r>
            <a:endParaRPr lang="en-US" altLang="zh-TW" sz="3200"/>
          </a:p>
          <a:p>
            <a:pPr eaLnBrk="1" hangingPunct="1"/>
            <a:endParaRPr lang="en-US" altLang="zh-TW" sz="3200"/>
          </a:p>
          <a:p>
            <a:pPr eaLnBrk="1" hangingPunct="1"/>
            <a:r>
              <a:rPr lang="zh-TW" altLang="en-US" sz="3200"/>
              <a:t> 語言與動物溝通系統的重要分別</a:t>
            </a:r>
            <a:r>
              <a:rPr lang="en-US" altLang="zh-TW" sz="3200"/>
              <a:t/>
            </a:r>
            <a:br>
              <a:rPr lang="en-US" altLang="zh-TW" sz="3200"/>
            </a:br>
            <a:r>
              <a:rPr lang="zh-TW" altLang="en-US" sz="3200"/>
              <a:t>（「</a:t>
            </a:r>
            <a:r>
              <a:rPr lang="zh-TW" altLang="en-US" sz="3200">
                <a:solidFill>
                  <a:srgbClr val="0070C0"/>
                </a:solidFill>
              </a:rPr>
              <a:t>語言的設計特徵</a:t>
            </a:r>
            <a:r>
              <a:rPr lang="zh-TW" altLang="en-US" sz="3200"/>
              <a:t>」）</a:t>
            </a:r>
            <a:endParaRPr lang="en-US" altLang="zh-TW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sz="4600" u="sng">
                <a:ea typeface="PMingLiU" panose="02020500000000000000" pitchFamily="18" charset="-120"/>
              </a:rPr>
              <a:t>本課題目</a:t>
            </a:r>
            <a:endParaRPr lang="en-US" altLang="zh-HK" sz="4600" u="sng">
              <a:ea typeface="PMingLiU" panose="02020500000000000000" pitchFamily="18" charset="-12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543800" cy="5135563"/>
          </a:xfrm>
        </p:spPr>
        <p:txBody>
          <a:bodyPr/>
          <a:lstStyle/>
          <a:p>
            <a:pPr lvl="1">
              <a:spcBef>
                <a:spcPts val="400"/>
              </a:spcBef>
              <a:spcAft>
                <a:spcPts val="400"/>
              </a:spcAft>
              <a:defRPr/>
            </a:pPr>
            <a:endParaRPr lang="en-US" altLang="zh-TW" sz="2800" dirty="0"/>
          </a:p>
          <a:p>
            <a:pPr marL="804863" lvl="1" indent="-485775">
              <a:spcBef>
                <a:spcPts val="400"/>
              </a:spcBef>
              <a:spcAft>
                <a:spcPts val="400"/>
              </a:spcAft>
              <a:defRPr/>
            </a:pPr>
            <a:r>
              <a:rPr lang="zh-TW" altLang="en-US" sz="3200" dirty="0"/>
              <a:t>語言習得 </a:t>
            </a:r>
            <a:r>
              <a:rPr lang="en-US" altLang="zh-TW" sz="3200" dirty="0"/>
              <a:t>language acquisition</a:t>
            </a:r>
          </a:p>
          <a:p>
            <a:pPr marL="804863" lvl="1" indent="-485775">
              <a:spcBef>
                <a:spcPts val="400"/>
              </a:spcBef>
              <a:spcAft>
                <a:spcPts val="400"/>
              </a:spcAft>
              <a:defRPr/>
            </a:pPr>
            <a:endParaRPr lang="en-US" altLang="zh-TW" sz="3200" dirty="0"/>
          </a:p>
          <a:p>
            <a:pPr marL="804863" lvl="1" indent="-485775">
              <a:spcBef>
                <a:spcPts val="400"/>
              </a:spcBef>
              <a:spcAft>
                <a:spcPts val="400"/>
              </a:spcAft>
              <a:defRPr/>
            </a:pPr>
            <a:r>
              <a:rPr lang="zh-TW" altLang="en-US" sz="3200" dirty="0"/>
              <a:t>留意：</a:t>
            </a:r>
            <a:endParaRPr lang="en-US" altLang="zh-TW" sz="3200" dirty="0"/>
          </a:p>
          <a:p>
            <a:pPr marL="1073150" lvl="2" indent="-479425">
              <a:spcBef>
                <a:spcPts val="400"/>
              </a:spcBef>
              <a:spcAft>
                <a:spcPts val="400"/>
              </a:spcAft>
              <a:defRPr/>
            </a:pPr>
            <a:r>
              <a:rPr lang="zh-TW" altLang="en-US" sz="3200" dirty="0"/>
              <a:t>習得 </a:t>
            </a:r>
            <a:r>
              <a:rPr lang="en-US" altLang="zh-TW" sz="3200" dirty="0"/>
              <a:t>to acquire (v.) / acquisition (n.)</a:t>
            </a:r>
            <a:r>
              <a:rPr lang="zh-TW" altLang="en-US" sz="3200" dirty="0"/>
              <a:t>：</a:t>
            </a:r>
            <a:r>
              <a:rPr lang="en-US" altLang="zh-TW" sz="3200" dirty="0"/>
              <a:t/>
            </a:r>
            <a:br>
              <a:rPr lang="en-US" altLang="zh-TW" sz="3200" dirty="0"/>
            </a:br>
            <a:r>
              <a:rPr lang="zh-TW" altLang="en-US" sz="3200" dirty="0"/>
              <a:t>從環境中自然地學會語言</a:t>
            </a:r>
            <a:endParaRPr lang="en-US" altLang="zh-TW" sz="3200" dirty="0"/>
          </a:p>
          <a:p>
            <a:pPr marL="1073150" lvl="2" indent="-479425">
              <a:spcBef>
                <a:spcPts val="400"/>
              </a:spcBef>
              <a:spcAft>
                <a:spcPts val="400"/>
              </a:spcAft>
              <a:defRPr/>
            </a:pPr>
            <a:r>
              <a:rPr lang="zh-TW" altLang="en-US" sz="3200" dirty="0"/>
              <a:t>學習 </a:t>
            </a:r>
            <a:r>
              <a:rPr lang="en-US" altLang="zh-TW" sz="3200" dirty="0"/>
              <a:t>to learn / learning</a:t>
            </a:r>
            <a:r>
              <a:rPr lang="zh-TW" altLang="en-US" sz="3200" dirty="0"/>
              <a:t>：</a:t>
            </a:r>
            <a:r>
              <a:rPr lang="en-US" altLang="zh-TW" sz="3200" dirty="0"/>
              <a:t/>
            </a:r>
            <a:br>
              <a:rPr lang="en-US" altLang="zh-TW" sz="3200" dirty="0"/>
            </a:br>
            <a:r>
              <a:rPr lang="zh-TW" altLang="en-US" sz="3200" dirty="0"/>
              <a:t>努力或費力地，透過閱讀、聽講、訓練得途徑學會語言</a:t>
            </a:r>
            <a:endParaRPr lang="en-US" altLang="zh-TW" sz="3200" dirty="0"/>
          </a:p>
          <a:p>
            <a:pPr marL="319088" lvl="1" indent="0">
              <a:buFont typeface="Wingdings 2" panose="05020102010507070707" pitchFamily="18" charset="2"/>
              <a:buNone/>
              <a:defRPr/>
            </a:pPr>
            <a:r>
              <a:rPr lang="zh-TW" altLang="en-US" sz="3200" dirty="0"/>
              <a:t> </a:t>
            </a:r>
            <a:endParaRPr lang="en-US" altLang="zh-TW" sz="3200" dirty="0"/>
          </a:p>
          <a:p>
            <a:pPr lvl="1">
              <a:defRPr/>
            </a:pPr>
            <a:endParaRPr lang="en-US" altLang="zh-TW" sz="3200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HK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E38411-ADE0-4648-A1A5-917B8DDDDE80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TW" altLang="en-US" sz="4600" u="sng" dirty="0">
                <a:latin typeface="+mn-ea"/>
                <a:ea typeface="+mn-ea"/>
                <a:cs typeface="Arial" panose="020B0604020202020204" pitchFamily="34" charset="0"/>
              </a:rPr>
              <a:t>語言習得</a:t>
            </a:r>
            <a:endParaRPr lang="zh-HK" altLang="en-US" sz="4600" u="sng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8305800" cy="4572000"/>
          </a:xfrm>
        </p:spPr>
        <p:txBody>
          <a:bodyPr/>
          <a:lstStyle/>
          <a:p>
            <a:pPr>
              <a:defRPr/>
            </a:pPr>
            <a:endParaRPr lang="en-US" altLang="zh-TW" sz="3000" dirty="0"/>
          </a:p>
          <a:p>
            <a:pPr marL="536575" indent="-536575">
              <a:defRPr/>
            </a:pPr>
            <a:r>
              <a:rPr lang="zh-TW" altLang="en-US" sz="3200" dirty="0"/>
              <a:t>語言習得 </a:t>
            </a:r>
            <a:r>
              <a:rPr lang="en-US" altLang="zh-TW" sz="3200" dirty="0"/>
              <a:t>(language acquisition) </a:t>
            </a:r>
            <a:r>
              <a:rPr lang="zh-TW" altLang="en-US" sz="3200" dirty="0"/>
              <a:t>的理論</a:t>
            </a:r>
            <a:endParaRPr lang="en-US" altLang="zh-TW" sz="3200" dirty="0"/>
          </a:p>
          <a:p>
            <a:pPr marL="536575" indent="-536575">
              <a:defRPr/>
            </a:pPr>
            <a:endParaRPr lang="en-US" altLang="zh-TW" sz="3200" dirty="0"/>
          </a:p>
          <a:p>
            <a:pPr marL="536575" indent="-536575">
              <a:defRPr/>
            </a:pPr>
            <a:r>
              <a:rPr lang="zh-TW" altLang="en-US" sz="3200" dirty="0"/>
              <a:t>關鍵時期 </a:t>
            </a:r>
            <a:r>
              <a:rPr lang="en-US" altLang="zh-TW" sz="3200" dirty="0"/>
              <a:t>(critical period hypothesis)</a:t>
            </a:r>
          </a:p>
          <a:p>
            <a:pPr marL="536575" indent="-536575">
              <a:defRPr/>
            </a:pPr>
            <a:endParaRPr lang="en-US" altLang="zh-TW" sz="3200" dirty="0"/>
          </a:p>
          <a:p>
            <a:pPr marL="536575" indent="-536575">
              <a:defRPr/>
            </a:pPr>
            <a:r>
              <a:rPr lang="zh-TW" altLang="en-US" sz="3200" dirty="0"/>
              <a:t>語言發展階段 </a:t>
            </a:r>
            <a:r>
              <a:rPr lang="en-US" altLang="zh-TW" sz="3200" dirty="0"/>
              <a:t>(stages of language development)</a:t>
            </a:r>
            <a:endParaRPr lang="zh-HK" altLang="en-US" sz="3200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B2A365-EF8F-4A93-B703-983A1483469B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en-US" altLang="zh-HK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724400"/>
          </a:xfrm>
        </p:spPr>
        <p:txBody>
          <a:bodyPr/>
          <a:lstStyle/>
          <a:p>
            <a:pPr>
              <a:defRPr/>
            </a:pPr>
            <a:endParaRPr lang="en-US" altLang="zh-TW" sz="3200" dirty="0"/>
          </a:p>
          <a:p>
            <a:pPr marL="357188" indent="-357188"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3200" dirty="0"/>
              <a:t>觀察：</a:t>
            </a:r>
            <a:endParaRPr lang="en-US" altLang="zh-TW" sz="3200" dirty="0"/>
          </a:p>
          <a:p>
            <a:pPr>
              <a:spcBef>
                <a:spcPts val="200"/>
              </a:spcBef>
              <a:spcAft>
                <a:spcPts val="200"/>
              </a:spcAft>
              <a:defRPr/>
            </a:pPr>
            <a:endParaRPr lang="en-US" altLang="zh-TW" sz="3200" dirty="0"/>
          </a:p>
          <a:p>
            <a:pPr marL="715963" lvl="1" indent="-396875"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3200" dirty="0"/>
              <a:t>孩子</a:t>
            </a:r>
            <a:r>
              <a:rPr lang="zh-TW" altLang="en-US" sz="3200" dirty="0">
                <a:solidFill>
                  <a:srgbClr val="0070C0"/>
                </a:solidFill>
              </a:rPr>
              <a:t>不須刻意練習</a:t>
            </a:r>
            <a:r>
              <a:rPr lang="zh-TW" altLang="en-US" sz="3200" dirty="0"/>
              <a:t>，便自然地漸漸習得了身邊親友所使用的語言，擁有複雜的語言能力</a:t>
            </a:r>
            <a:endParaRPr lang="en-US" altLang="zh-TW" sz="3200" dirty="0"/>
          </a:p>
          <a:p>
            <a:pPr marL="715963" lvl="1" indent="-396875">
              <a:spcBef>
                <a:spcPts val="200"/>
              </a:spcBef>
              <a:spcAft>
                <a:spcPts val="200"/>
              </a:spcAft>
              <a:defRPr/>
            </a:pPr>
            <a:endParaRPr lang="en-US" altLang="zh-TW" sz="3200" dirty="0"/>
          </a:p>
          <a:p>
            <a:pPr marL="715963" lvl="1" indent="-396875">
              <a:spcBef>
                <a:spcPts val="200"/>
              </a:spcBef>
              <a:spcAft>
                <a:spcPts val="200"/>
              </a:spcAft>
              <a:defRPr/>
            </a:pPr>
            <a:r>
              <a:rPr lang="zh-TW" altLang="en-US" sz="3200" dirty="0">
                <a:solidFill>
                  <a:srgbClr val="0070C0"/>
                </a:solidFill>
              </a:rPr>
              <a:t>外在語言的浸潤</a:t>
            </a:r>
            <a:r>
              <a:rPr lang="en-US" altLang="zh-TW" sz="3200" dirty="0">
                <a:solidFill>
                  <a:srgbClr val="0070C0"/>
                </a:solidFill>
              </a:rPr>
              <a:t> </a:t>
            </a:r>
            <a:r>
              <a:rPr lang="en-US" altLang="zh-TW" sz="3200" dirty="0"/>
              <a:t>immersion </a:t>
            </a:r>
            <a:r>
              <a:rPr lang="zh-TW" altLang="en-US" sz="3200" dirty="0"/>
              <a:t>是語言習得過程中必不可缺的條件</a:t>
            </a:r>
            <a:endParaRPr lang="en-US" altLang="zh-HK" sz="3200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149F1D-BDE8-4C0D-8BE7-880E2EC4E187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en-US" altLang="zh-HK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  <a:p>
            <a:pPr marL="357188" indent="-357188">
              <a:defRPr/>
            </a:pPr>
            <a:r>
              <a:rPr lang="zh-TW" altLang="en-US" sz="3200" dirty="0"/>
              <a:t>語言習得的理論可分為兩類：</a:t>
            </a:r>
            <a:endParaRPr lang="en-US" altLang="zh-TW" sz="3200" dirty="0"/>
          </a:p>
          <a:p>
            <a:pPr lvl="1">
              <a:defRPr/>
            </a:pPr>
            <a:endParaRPr lang="en-US" altLang="zh-TW" sz="3200" dirty="0"/>
          </a:p>
          <a:p>
            <a:pPr marL="715963" lvl="1" indent="-358775">
              <a:defRPr/>
            </a:pPr>
            <a:r>
              <a:rPr lang="zh-TW" altLang="en-US" sz="3200" dirty="0"/>
              <a:t>行為主義</a:t>
            </a:r>
            <a:r>
              <a:rPr lang="en-US" altLang="zh-TW" sz="3200" dirty="0"/>
              <a:t/>
            </a:r>
            <a:br>
              <a:rPr lang="en-US" altLang="zh-TW" sz="3200" dirty="0"/>
            </a:br>
            <a:r>
              <a:rPr lang="en-US" altLang="zh-TW" sz="3200" dirty="0" err="1"/>
              <a:t>behaviourism</a:t>
            </a:r>
            <a:endParaRPr lang="en-US" altLang="zh-TW" sz="3200" dirty="0"/>
          </a:p>
          <a:p>
            <a:pPr marL="715963" lvl="1" indent="-358775">
              <a:defRPr/>
            </a:pPr>
            <a:endParaRPr lang="en-US" altLang="zh-TW" sz="3200" dirty="0"/>
          </a:p>
          <a:p>
            <a:pPr marL="715963" lvl="1" indent="-358775">
              <a:defRPr/>
            </a:pPr>
            <a:r>
              <a:rPr lang="zh-TW" altLang="en-US" sz="3200" dirty="0"/>
              <a:t>語法建構理論</a:t>
            </a:r>
            <a:r>
              <a:rPr lang="en-US" altLang="zh-TW" sz="3200" dirty="0"/>
              <a:t/>
            </a:r>
            <a:br>
              <a:rPr lang="en-US" altLang="zh-TW" sz="3200" dirty="0"/>
            </a:br>
            <a:r>
              <a:rPr lang="en-US" altLang="zh-TW" sz="3200" dirty="0"/>
              <a:t>theory of grammar construction</a:t>
            </a:r>
          </a:p>
          <a:p>
            <a:pPr>
              <a:defRPr/>
            </a:pPr>
            <a:endParaRPr lang="en-US" altLang="zh-HK" dirty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6D1D7D-741B-409E-84C5-34C03457B3C1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en-US" altLang="zh-HK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8001000" cy="5105400"/>
          </a:xfrm>
        </p:spPr>
        <p:txBody>
          <a:bodyPr/>
          <a:lstStyle/>
          <a:p>
            <a:r>
              <a:rPr lang="en-US" altLang="zh-TW" sz="3000"/>
              <a:t>(1) </a:t>
            </a:r>
            <a:r>
              <a:rPr lang="zh-TW" altLang="en-US" sz="3000"/>
              <a:t>行為主義心理學</a:t>
            </a:r>
            <a:r>
              <a:rPr lang="en-US" altLang="zh-TW" sz="3000"/>
              <a:t> behaviourism</a:t>
            </a:r>
          </a:p>
          <a:p>
            <a:pPr lvl="1"/>
            <a:endParaRPr lang="en-US" altLang="zh-TW" sz="3000"/>
          </a:p>
          <a:p>
            <a:pPr lvl="1"/>
            <a:r>
              <a:rPr lang="zh-TW" altLang="en-US" sz="3000"/>
              <a:t>「刺激－反應」</a:t>
            </a:r>
            <a:r>
              <a:rPr lang="en-US" altLang="zh-TW" sz="3000"/>
              <a:t>(stimulus-response)</a:t>
            </a:r>
          </a:p>
          <a:p>
            <a:pPr lvl="1"/>
            <a:r>
              <a:rPr lang="zh-TW" altLang="en-US" sz="3000"/>
              <a:t>兒童通過「增強」</a:t>
            </a:r>
            <a:r>
              <a:rPr lang="en-US" altLang="zh-TW" sz="3000"/>
              <a:t>(reinforcement) </a:t>
            </a:r>
            <a:r>
              <a:rPr lang="zh-TW" altLang="en-US" sz="3000"/>
              <a:t>習得語言</a:t>
            </a:r>
            <a:endParaRPr lang="en-US" altLang="zh-TW" sz="3000"/>
          </a:p>
          <a:p>
            <a:pPr lvl="2"/>
            <a:r>
              <a:rPr lang="zh-TW" altLang="en-US" sz="3000">
                <a:solidFill>
                  <a:srgbClr val="0070C0"/>
                </a:solidFill>
              </a:rPr>
              <a:t>正增強 </a:t>
            </a:r>
            <a:r>
              <a:rPr lang="en-US" altLang="zh-TW" sz="3000">
                <a:solidFill>
                  <a:srgbClr val="0070C0"/>
                </a:solidFill>
              </a:rPr>
              <a:t>(positive reinforcement)</a:t>
            </a:r>
            <a:r>
              <a:rPr lang="zh-TW" altLang="en-US" sz="3000"/>
              <a:t>：</a:t>
            </a:r>
            <a:r>
              <a:rPr lang="en-US" altLang="zh-TW" sz="3000"/>
              <a:t/>
            </a:r>
            <a:br>
              <a:rPr lang="en-US" altLang="zh-TW" sz="3000"/>
            </a:br>
            <a:r>
              <a:rPr lang="zh-TW" altLang="en-US" sz="3000"/>
              <a:t>說對了，得到獎勵</a:t>
            </a:r>
            <a:endParaRPr lang="en-US" altLang="zh-TW" sz="3000"/>
          </a:p>
          <a:p>
            <a:pPr lvl="2"/>
            <a:r>
              <a:rPr lang="zh-TW" altLang="en-US" sz="3000">
                <a:solidFill>
                  <a:srgbClr val="0070C0"/>
                </a:solidFill>
              </a:rPr>
              <a:t>負增強 </a:t>
            </a:r>
            <a:r>
              <a:rPr lang="en-US" altLang="zh-TW" sz="3000">
                <a:solidFill>
                  <a:srgbClr val="0070C0"/>
                </a:solidFill>
              </a:rPr>
              <a:t>(negative reinforcement)</a:t>
            </a:r>
            <a:r>
              <a:rPr lang="zh-TW" altLang="en-US" sz="3000"/>
              <a:t>：</a:t>
            </a:r>
            <a:r>
              <a:rPr lang="en-US" altLang="zh-TW" sz="3000"/>
              <a:t/>
            </a:r>
            <a:br>
              <a:rPr lang="en-US" altLang="zh-TW" sz="3000"/>
            </a:br>
            <a:r>
              <a:rPr lang="zh-TW" altLang="en-US" sz="3000"/>
              <a:t>說對了，把不喜歡的東西拿走</a:t>
            </a:r>
            <a:endParaRPr lang="en-US" altLang="zh-TW" sz="3000"/>
          </a:p>
          <a:p>
            <a:pPr lvl="1"/>
            <a:r>
              <a:rPr lang="zh-TW" altLang="en-US" sz="3000"/>
              <a:t>模仿</a:t>
            </a:r>
            <a:r>
              <a:rPr lang="en-US" altLang="zh-TW" sz="3000"/>
              <a:t> (imitation)</a:t>
            </a:r>
            <a:r>
              <a:rPr lang="zh-TW" altLang="en-US" sz="3000"/>
              <a:t> 和堆積</a:t>
            </a:r>
            <a:r>
              <a:rPr lang="en-US" altLang="zh-TW" sz="3000"/>
              <a:t> (accumulation)</a:t>
            </a:r>
            <a:endParaRPr lang="en-US" altLang="zh-HK" sz="300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E46D40-9AB7-4AAF-BAAD-D475F69FB102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3820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en-US" altLang="zh-HK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91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83550" cy="4876800"/>
          </a:xfrm>
        </p:spPr>
        <p:txBody>
          <a:bodyPr/>
          <a:lstStyle/>
          <a:p>
            <a:r>
              <a:rPr lang="en-US" altLang="zh-TW" sz="3000"/>
              <a:t>(2) </a:t>
            </a:r>
            <a:r>
              <a:rPr lang="zh-TW" altLang="en-US" sz="3000"/>
              <a:t>語法建構理論 </a:t>
            </a:r>
            <a:r>
              <a:rPr lang="en-US" altLang="zh-TW" sz="3000"/>
              <a:t>grammar construction</a:t>
            </a:r>
          </a:p>
          <a:p>
            <a:pPr lvl="1"/>
            <a:endParaRPr lang="en-US" altLang="zh-TW" sz="3000"/>
          </a:p>
          <a:p>
            <a:pPr lvl="1"/>
            <a:r>
              <a:rPr lang="zh-TW" altLang="en-US" sz="3000"/>
              <a:t>認為每個人大腦中天生具有一個</a:t>
            </a:r>
            <a:r>
              <a:rPr lang="en-US" altLang="zh-TW" sz="3000"/>
              <a:t/>
            </a:r>
            <a:br>
              <a:rPr lang="en-US" altLang="zh-TW" sz="3000"/>
            </a:br>
            <a:r>
              <a:rPr lang="zh-TW" altLang="en-US" sz="3000" b="1">
                <a:solidFill>
                  <a:srgbClr val="7030A0"/>
                </a:solidFill>
              </a:rPr>
              <a:t>語言習得機制</a:t>
            </a:r>
            <a:r>
              <a:rPr lang="en-US" altLang="zh-TW" sz="3000" b="1"/>
              <a:t> </a:t>
            </a:r>
            <a:r>
              <a:rPr lang="en-US" altLang="zh-TW" sz="3000"/>
              <a:t>(</a:t>
            </a:r>
            <a:r>
              <a:rPr lang="en-US" altLang="zh-TW" sz="3000">
                <a:solidFill>
                  <a:srgbClr val="C00000"/>
                </a:solidFill>
              </a:rPr>
              <a:t>language acquisition device,</a:t>
            </a:r>
            <a:r>
              <a:rPr lang="zh-TW" altLang="en-US" sz="3000">
                <a:solidFill>
                  <a:srgbClr val="C00000"/>
                </a:solidFill>
              </a:rPr>
              <a:t> </a:t>
            </a:r>
            <a:r>
              <a:rPr lang="en-US" altLang="zh-TW" sz="3000">
                <a:solidFill>
                  <a:srgbClr val="C00000"/>
                </a:solidFill>
              </a:rPr>
              <a:t>LAD</a:t>
            </a:r>
            <a:r>
              <a:rPr lang="en-US" altLang="zh-TW" sz="3000"/>
              <a:t>)</a:t>
            </a:r>
          </a:p>
          <a:p>
            <a:pPr lvl="1"/>
            <a:endParaRPr lang="en-US" altLang="zh-TW" sz="3000"/>
          </a:p>
          <a:p>
            <a:pPr lvl="1"/>
            <a:r>
              <a:rPr lang="zh-TW" altLang="en-US" sz="3000"/>
              <a:t>因此一般正常的小孩，只要在一個語言環境中，就能學會說話，因為小孩會從外在的語言之中去</a:t>
            </a:r>
            <a:r>
              <a:rPr lang="zh-TW" altLang="en-US" sz="3000">
                <a:solidFill>
                  <a:srgbClr val="C00000"/>
                </a:solidFill>
              </a:rPr>
              <a:t>內化</a:t>
            </a:r>
            <a:r>
              <a:rPr lang="en-US" altLang="zh-TW" sz="3000">
                <a:solidFill>
                  <a:srgbClr val="C00000"/>
                </a:solidFill>
              </a:rPr>
              <a:t> </a:t>
            </a:r>
            <a:r>
              <a:rPr lang="en-US" altLang="zh-TW" sz="3000"/>
              <a:t>(</a:t>
            </a:r>
            <a:r>
              <a:rPr lang="en-US" altLang="zh-TW" sz="3000">
                <a:solidFill>
                  <a:srgbClr val="C00000"/>
                </a:solidFill>
              </a:rPr>
              <a:t>internalize</a:t>
            </a:r>
            <a:r>
              <a:rPr lang="en-US" altLang="zh-TW" sz="3000"/>
              <a:t>) </a:t>
            </a:r>
            <a:r>
              <a:rPr lang="zh-TW" altLang="en-US" sz="3000"/>
              <a:t>及</a:t>
            </a:r>
            <a:r>
              <a:rPr lang="zh-TW" altLang="en-US" sz="3000">
                <a:solidFill>
                  <a:srgbClr val="C00000"/>
                </a:solidFill>
              </a:rPr>
              <a:t>建構</a:t>
            </a:r>
            <a:r>
              <a:rPr lang="en-US" altLang="zh-TW" sz="3000">
                <a:solidFill>
                  <a:srgbClr val="C00000"/>
                </a:solidFill>
              </a:rPr>
              <a:t> </a:t>
            </a:r>
            <a:r>
              <a:rPr lang="en-US" altLang="zh-TW" sz="3000"/>
              <a:t>(</a:t>
            </a:r>
            <a:r>
              <a:rPr lang="en-US" altLang="zh-TW" sz="3000">
                <a:solidFill>
                  <a:srgbClr val="C00000"/>
                </a:solidFill>
              </a:rPr>
              <a:t>construct</a:t>
            </a:r>
            <a:r>
              <a:rPr lang="en-US" altLang="zh-TW" sz="3000"/>
              <a:t>)</a:t>
            </a:r>
            <a:r>
              <a:rPr lang="en-US" altLang="zh-TW" sz="3000">
                <a:solidFill>
                  <a:srgbClr val="C00000"/>
                </a:solidFill>
              </a:rPr>
              <a:t> </a:t>
            </a:r>
            <a:r>
              <a:rPr lang="zh-TW" altLang="en-US" sz="3000"/>
              <a:t>自己的語法</a:t>
            </a:r>
            <a:endParaRPr lang="en-US" altLang="zh-TW" sz="300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82DD67-D9FE-4FB3-9C49-1363DC1365B7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600" u="sng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1. </a:t>
            </a:r>
            <a:r>
              <a:rPr lang="zh-TW" altLang="en-US" sz="4600" u="sng">
                <a:latin typeface="Garamond" panose="02020404030301010803" pitchFamily="18" charset="0"/>
                <a:ea typeface="PMingLiU" panose="02020500000000000000" pitchFamily="18" charset="-120"/>
                <a:cs typeface="Arial" panose="020B0604020202020204" pitchFamily="34" charset="0"/>
              </a:rPr>
              <a:t>語言習得理論</a:t>
            </a:r>
            <a:endParaRPr lang="en-US" altLang="en-US" sz="4600" u="sng">
              <a:latin typeface="Garamond" panose="02020404030301010803" pitchFamily="18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3050" lvl="1" indent="-273050">
              <a:spcBef>
                <a:spcPct val="0"/>
              </a:spcBef>
              <a:buClr>
                <a:schemeClr val="accent1"/>
              </a:buClr>
            </a:pPr>
            <a:r>
              <a:rPr lang="en-US" altLang="zh-TW" sz="3000"/>
              <a:t>(2) </a:t>
            </a:r>
            <a:r>
              <a:rPr lang="zh-TW" altLang="en-US" sz="3000"/>
              <a:t>語法建構理論 </a:t>
            </a:r>
            <a:r>
              <a:rPr lang="en-US" altLang="zh-TW" sz="3000"/>
              <a:t>grammar construction (</a:t>
            </a:r>
            <a:r>
              <a:rPr lang="zh-TW" altLang="en-US" sz="3000"/>
              <a:t>續</a:t>
            </a:r>
            <a:r>
              <a:rPr lang="en-US" altLang="zh-TW" sz="3000"/>
              <a:t>)</a:t>
            </a:r>
          </a:p>
          <a:p>
            <a:pPr marL="273050" lvl="1" indent="-273050">
              <a:spcBef>
                <a:spcPct val="0"/>
              </a:spcBef>
              <a:buClr>
                <a:schemeClr val="accent1"/>
              </a:buClr>
            </a:pPr>
            <a:endParaRPr lang="en-US" altLang="zh-TW" sz="3000"/>
          </a:p>
          <a:p>
            <a:pPr marL="273050" lvl="1" indent="-273050">
              <a:spcBef>
                <a:spcPct val="0"/>
              </a:spcBef>
              <a:buClr>
                <a:schemeClr val="accent1"/>
              </a:buClr>
            </a:pPr>
            <a:endParaRPr lang="en-US" altLang="zh-TW" sz="3000"/>
          </a:p>
          <a:p>
            <a:pPr marL="273050" lvl="1" indent="-273050">
              <a:spcBef>
                <a:spcPct val="0"/>
              </a:spcBef>
              <a:buClr>
                <a:schemeClr val="accent1"/>
              </a:buClr>
            </a:pPr>
            <a:r>
              <a:rPr lang="zh-TW" altLang="en-US" sz="3000"/>
              <a:t>還認為每個小孩初生之時，大腦中就已經具備了</a:t>
            </a:r>
            <a:r>
              <a:rPr lang="zh-TW" altLang="en-US" sz="3000">
                <a:solidFill>
                  <a:srgbClr val="C00000"/>
                </a:solidFill>
              </a:rPr>
              <a:t>通用語法</a:t>
            </a:r>
            <a:r>
              <a:rPr lang="en-US" altLang="zh-TW" sz="3000">
                <a:solidFill>
                  <a:srgbClr val="C00000"/>
                </a:solidFill>
              </a:rPr>
              <a:t> </a:t>
            </a:r>
            <a:r>
              <a:rPr lang="en-US" altLang="zh-TW" sz="3000"/>
              <a:t>(</a:t>
            </a:r>
            <a:r>
              <a:rPr lang="en-US" altLang="zh-TW" sz="3000">
                <a:solidFill>
                  <a:srgbClr val="C00000"/>
                </a:solidFill>
              </a:rPr>
              <a:t>Universal Grammar</a:t>
            </a:r>
            <a:r>
              <a:rPr lang="en-US" altLang="zh-TW" sz="3000"/>
              <a:t>)</a:t>
            </a:r>
            <a:r>
              <a:rPr lang="zh-TW" altLang="en-US" sz="3000"/>
              <a:t>，這個語法內具備有各種不同語言的共通特性，這就是為甚麼把孩子放在甚麼語言環境裏，他就會說怎樣的語言</a:t>
            </a:r>
            <a:endParaRPr lang="en-US" altLang="zh-HK" sz="3000"/>
          </a:p>
          <a:p>
            <a:pPr>
              <a:spcBef>
                <a:spcPct val="0"/>
              </a:spcBef>
            </a:pPr>
            <a:endParaRPr lang="en-US" altLang="en-US" sz="300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D7D630-650B-42A5-85A5-71F23FC62F01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en-US" altLang="zh-HK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96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/>
          <a:lstStyle/>
          <a:p>
            <a:endParaRPr lang="en-US" altLang="zh-TW"/>
          </a:p>
          <a:p>
            <a:r>
              <a:rPr lang="zh-TW" altLang="en-US" sz="2800">
                <a:solidFill>
                  <a:srgbClr val="7030A0"/>
                </a:solidFill>
              </a:rPr>
              <a:t>哪一理論較優勝？</a:t>
            </a:r>
            <a:r>
              <a:rPr lang="zh-TW" altLang="en-US" sz="2800"/>
              <a:t>從三個層面比較：</a:t>
            </a:r>
            <a:endParaRPr lang="en-US" altLang="zh-TW" sz="2800"/>
          </a:p>
          <a:p>
            <a:endParaRPr lang="en-US" altLang="zh-TW" sz="2800"/>
          </a:p>
          <a:p>
            <a:r>
              <a:rPr lang="zh-TW" altLang="en-US" sz="2800"/>
              <a:t>第一：語言刺激或輸入和語言能力並不相稱</a:t>
            </a:r>
            <a:endParaRPr lang="en-US" altLang="zh-TW" sz="2800"/>
          </a:p>
          <a:p>
            <a:pPr lvl="1"/>
            <a:r>
              <a:rPr lang="zh-TW" altLang="en-US" sz="2800"/>
              <a:t>孩子得到的語言刺激一般都很貧乏 </a:t>
            </a:r>
            <a:r>
              <a:rPr lang="en-US" altLang="zh-TW" sz="2800"/>
              <a:t>(poverty of stimulus)</a:t>
            </a:r>
          </a:p>
          <a:p>
            <a:pPr lvl="2"/>
            <a:r>
              <a:rPr lang="zh-TW" altLang="en-US" sz="2800"/>
              <a:t>一來父母也不會整天對孩子說話，也不會把所有會講的話都教孩子</a:t>
            </a:r>
            <a:endParaRPr lang="en-US" altLang="zh-TW" sz="2800"/>
          </a:p>
          <a:p>
            <a:pPr lvl="2"/>
            <a:r>
              <a:rPr lang="zh-TW" altLang="en-US" sz="2800"/>
              <a:t>二來父母會用簡化的語言與孩子說話</a:t>
            </a:r>
            <a:endParaRPr lang="en-US" altLang="zh-TW" sz="2800"/>
          </a:p>
          <a:p>
            <a:pPr lvl="1"/>
            <a:r>
              <a:rPr lang="zh-TW" altLang="en-US" sz="2800"/>
              <a:t>但孩子的語言能力很強，能講出很多沒聽過的句子</a:t>
            </a:r>
            <a:endParaRPr lang="en-US" altLang="zh-TW" sz="2800"/>
          </a:p>
          <a:p>
            <a:endParaRPr lang="en-US" altLang="zh-HK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F8F113-CD28-42CD-ABE3-B9AB6EF71C74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10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TW" sz="2800"/>
          </a:p>
          <a:p>
            <a:r>
              <a:rPr lang="zh-TW" altLang="en-US" sz="2800"/>
              <a:t>例子：</a:t>
            </a:r>
            <a:endParaRPr lang="en-US" altLang="zh-HK" sz="2800"/>
          </a:p>
          <a:p>
            <a:r>
              <a:rPr lang="en-US" altLang="zh-HK" sz="2800" i="1"/>
              <a:t>Parent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7030A0"/>
                </a:solidFill>
              </a:rPr>
              <a:t>Where did you go this afternoon?</a:t>
            </a:r>
          </a:p>
          <a:p>
            <a:r>
              <a:rPr lang="en-US" altLang="zh-HK" sz="2800" i="1"/>
              <a:t>Child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0070C0"/>
                </a:solidFill>
              </a:rPr>
              <a:t>I </a:t>
            </a:r>
            <a:r>
              <a:rPr lang="en-US" altLang="zh-HK" sz="2800" u="sng">
                <a:solidFill>
                  <a:srgbClr val="0070C0"/>
                </a:solidFill>
              </a:rPr>
              <a:t>goed</a:t>
            </a:r>
            <a:r>
              <a:rPr lang="en-US" altLang="zh-HK" sz="2800">
                <a:solidFill>
                  <a:srgbClr val="0070C0"/>
                </a:solidFill>
              </a:rPr>
              <a:t> to the park.</a:t>
            </a:r>
          </a:p>
          <a:p>
            <a:r>
              <a:rPr lang="en-US" altLang="zh-HK" sz="2800" i="1"/>
              <a:t>Parent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7030A0"/>
                </a:solidFill>
              </a:rPr>
              <a:t>Who took you there?</a:t>
            </a:r>
          </a:p>
          <a:p>
            <a:r>
              <a:rPr lang="en-US" altLang="zh-HK" sz="2800" i="1"/>
              <a:t>Child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0070C0"/>
                </a:solidFill>
              </a:rPr>
              <a:t>Grandy </a:t>
            </a:r>
            <a:r>
              <a:rPr lang="en-US" altLang="zh-HK" sz="2800" u="sng">
                <a:solidFill>
                  <a:srgbClr val="0070C0"/>
                </a:solidFill>
              </a:rPr>
              <a:t>taked</a:t>
            </a:r>
            <a:r>
              <a:rPr lang="en-US" altLang="zh-HK" sz="2800">
                <a:solidFill>
                  <a:srgbClr val="0070C0"/>
                </a:solidFill>
              </a:rPr>
              <a:t> me.</a:t>
            </a:r>
          </a:p>
          <a:p>
            <a:r>
              <a:rPr lang="en-US" altLang="zh-HK" sz="2800" i="1"/>
              <a:t>Parent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7030A0"/>
                </a:solidFill>
              </a:rPr>
              <a:t>You mean Grandy took you to the park?</a:t>
            </a:r>
          </a:p>
          <a:p>
            <a:r>
              <a:rPr lang="en-US" altLang="zh-HK" sz="2800" i="1"/>
              <a:t>Child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0070C0"/>
                </a:solidFill>
              </a:rPr>
              <a:t>Yap. Grandy </a:t>
            </a:r>
            <a:r>
              <a:rPr lang="en-US" altLang="zh-HK" sz="2800" u="sng">
                <a:solidFill>
                  <a:srgbClr val="0070C0"/>
                </a:solidFill>
              </a:rPr>
              <a:t>taked</a:t>
            </a:r>
            <a:r>
              <a:rPr lang="en-US" altLang="zh-HK" sz="2800">
                <a:solidFill>
                  <a:srgbClr val="0070C0"/>
                </a:solidFill>
              </a:rPr>
              <a:t> me.</a:t>
            </a:r>
          </a:p>
          <a:p>
            <a:endParaRPr lang="en-US" altLang="zh-HK"/>
          </a:p>
          <a:p>
            <a:endParaRPr lang="en-US" altLang="zh-HK"/>
          </a:p>
          <a:p>
            <a:endParaRPr lang="zh-HK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F3C9F4-4E25-4E5C-8B6F-CCB2413B6335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01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/>
          <a:lstStyle/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2800"/>
              <a:t>第二，語言習得過程中，父母其實很少會注意孩子語言上的錯誤，因此並不會有增強現象</a:t>
            </a:r>
            <a:endParaRPr lang="en-US" altLang="zh-TW" sz="2800"/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HK" sz="2800"/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2800"/>
              <a:t>例子：</a:t>
            </a:r>
            <a:endParaRPr lang="en-US" altLang="zh-TW" sz="2800"/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2800" i="1"/>
              <a:t>Child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0070C0"/>
                </a:solidFill>
              </a:rPr>
              <a:t>Grandy </a:t>
            </a:r>
            <a:r>
              <a:rPr lang="en-US" altLang="zh-HK" sz="2800" u="sng">
                <a:solidFill>
                  <a:srgbClr val="0070C0"/>
                </a:solidFill>
              </a:rPr>
              <a:t>taked</a:t>
            </a:r>
            <a:r>
              <a:rPr lang="en-US" altLang="zh-HK" sz="2800">
                <a:solidFill>
                  <a:srgbClr val="0070C0"/>
                </a:solidFill>
              </a:rPr>
              <a:t> me out.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HK" sz="2800" i="1"/>
              <a:t>Parent</a:t>
            </a:r>
            <a:r>
              <a:rPr lang="en-US" altLang="zh-HK" sz="2800"/>
              <a:t>: </a:t>
            </a:r>
            <a:r>
              <a:rPr lang="en-US" altLang="zh-HK" sz="2800">
                <a:solidFill>
                  <a:srgbClr val="7030A0"/>
                </a:solidFill>
              </a:rPr>
              <a:t>That</a:t>
            </a:r>
            <a:r>
              <a:rPr lang="en-US" altLang="zh-HK" sz="2800">
                <a:solidFill>
                  <a:srgbClr val="7030A0"/>
                </a:solidFill>
                <a:latin typeface="Arial" panose="020B0604020202020204" pitchFamily="34" charset="0"/>
              </a:rPr>
              <a:t>’</a:t>
            </a:r>
            <a:r>
              <a:rPr lang="en-US" altLang="zh-HK" sz="2800">
                <a:solidFill>
                  <a:srgbClr val="7030A0"/>
                </a:solidFill>
              </a:rPr>
              <a:t>s not true. It is Uncle Charlie that took you out.</a:t>
            </a: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TW" sz="2800" i="1"/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2800" i="1"/>
              <a:t>孩子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0070C0"/>
                </a:solidFill>
              </a:rPr>
              <a:t>蜜</a:t>
            </a:r>
            <a:r>
              <a:rPr lang="zh-TW" altLang="en-US" sz="2800" u="sng">
                <a:solidFill>
                  <a:srgbClr val="0070C0"/>
                </a:solidFill>
              </a:rPr>
              <a:t>分</a:t>
            </a:r>
            <a:r>
              <a:rPr lang="zh-TW" altLang="en-US" sz="2800">
                <a:solidFill>
                  <a:srgbClr val="0070C0"/>
                </a:solidFill>
              </a:rPr>
              <a:t>，有蜜</a:t>
            </a:r>
            <a:r>
              <a:rPr lang="zh-TW" altLang="en-US" sz="2800" u="sng">
                <a:solidFill>
                  <a:srgbClr val="0070C0"/>
                </a:solidFill>
              </a:rPr>
              <a:t>分</a:t>
            </a:r>
            <a:r>
              <a:rPr lang="zh-TW" altLang="en-US" sz="2800">
                <a:solidFill>
                  <a:srgbClr val="0070C0"/>
                </a:solidFill>
              </a:rPr>
              <a:t>。</a:t>
            </a:r>
            <a:endParaRPr lang="en-US" altLang="zh-TW" sz="2800">
              <a:solidFill>
                <a:srgbClr val="0070C0"/>
              </a:solidFill>
            </a:endParaRP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2800" i="1"/>
              <a:t>媽媽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7030A0"/>
                </a:solidFill>
              </a:rPr>
              <a:t>不是蜜蜂啦！是蝴蝶！</a:t>
            </a:r>
            <a:endParaRPr lang="en-US" altLang="zh-TW" sz="2800">
              <a:solidFill>
                <a:srgbClr val="7030A0"/>
              </a:solidFill>
            </a:endParaRPr>
          </a:p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zh-TW" altLang="en-US" sz="2800" i="1"/>
              <a:t>孩子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0070C0"/>
                </a:solidFill>
              </a:rPr>
              <a:t>蜜</a:t>
            </a:r>
            <a:r>
              <a:rPr lang="zh-TW" altLang="en-US" sz="2800" u="sng">
                <a:solidFill>
                  <a:srgbClr val="0070C0"/>
                </a:solidFill>
              </a:rPr>
              <a:t>分</a:t>
            </a:r>
            <a:r>
              <a:rPr lang="zh-TW" altLang="en-US" sz="2800">
                <a:solidFill>
                  <a:srgbClr val="0070C0"/>
                </a:solidFill>
              </a:rPr>
              <a:t>啦！</a:t>
            </a:r>
            <a:endParaRPr lang="en-US" altLang="zh-HK" sz="2800">
              <a:solidFill>
                <a:srgbClr val="0070C0"/>
              </a:solidFill>
            </a:endParaRPr>
          </a:p>
          <a:p>
            <a:endParaRPr lang="zh-HK" alt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BD8E14-35C2-48FB-BCAB-FDBD830EA4A5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3820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03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TW" i="1"/>
          </a:p>
          <a:p>
            <a:r>
              <a:rPr lang="zh-TW" altLang="en-US" sz="2800" i="1"/>
              <a:t>母親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7030A0"/>
                </a:solidFill>
              </a:rPr>
              <a:t>妳有甚麼？</a:t>
            </a:r>
            <a:endParaRPr lang="en-US" altLang="zh-TW" sz="2800">
              <a:solidFill>
                <a:srgbClr val="7030A0"/>
              </a:solidFill>
            </a:endParaRPr>
          </a:p>
          <a:p>
            <a:r>
              <a:rPr lang="zh-TW" altLang="en-US" sz="2800" i="1"/>
              <a:t>孩子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0070C0"/>
                </a:solidFill>
              </a:rPr>
              <a:t>「嘴」彩。</a:t>
            </a:r>
            <a:endParaRPr lang="en-US" altLang="zh-TW" sz="2800">
              <a:solidFill>
                <a:srgbClr val="0070C0"/>
              </a:solidFill>
            </a:endParaRPr>
          </a:p>
          <a:p>
            <a:r>
              <a:rPr lang="zh-TW" altLang="en-US" sz="2800" i="1"/>
              <a:t>母親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7030A0"/>
                </a:solidFill>
              </a:rPr>
              <a:t>妳有「嘴彩」嗎？</a:t>
            </a:r>
            <a:endParaRPr lang="en-US" altLang="zh-TW" sz="2800">
              <a:solidFill>
                <a:srgbClr val="7030A0"/>
              </a:solidFill>
            </a:endParaRPr>
          </a:p>
          <a:p>
            <a:r>
              <a:rPr lang="zh-TW" altLang="en-US" sz="2800" i="1"/>
              <a:t>孩子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0070C0"/>
                </a:solidFill>
              </a:rPr>
              <a:t>不是啦，「嘴彩」。</a:t>
            </a:r>
            <a:endParaRPr lang="en-US" altLang="zh-TW" sz="2800">
              <a:solidFill>
                <a:srgbClr val="0070C0"/>
              </a:solidFill>
            </a:endParaRPr>
          </a:p>
          <a:p>
            <a:r>
              <a:rPr lang="zh-TW" altLang="en-US" sz="2800" i="1"/>
              <a:t>母親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7030A0"/>
                </a:solidFill>
              </a:rPr>
              <a:t>是「水彩」嗎？</a:t>
            </a:r>
            <a:endParaRPr lang="en-US" altLang="zh-TW" sz="2800">
              <a:solidFill>
                <a:srgbClr val="7030A0"/>
              </a:solidFill>
            </a:endParaRPr>
          </a:p>
          <a:p>
            <a:r>
              <a:rPr lang="zh-TW" altLang="en-US" sz="2800" i="1"/>
              <a:t>孩子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0070C0"/>
                </a:solidFill>
              </a:rPr>
              <a:t>對，是「嘴彩」。</a:t>
            </a:r>
            <a:endParaRPr lang="en-US" altLang="zh-TW" sz="2800">
              <a:solidFill>
                <a:srgbClr val="0070C0"/>
              </a:solidFill>
            </a:endParaRPr>
          </a:p>
          <a:p>
            <a:r>
              <a:rPr lang="zh-TW" altLang="en-US" sz="2800" i="1"/>
              <a:t>母親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7030A0"/>
                </a:solidFill>
              </a:rPr>
              <a:t>請說「水彩」，不是「嘴彩」。</a:t>
            </a:r>
            <a:endParaRPr lang="en-US" altLang="zh-TW" sz="2800">
              <a:solidFill>
                <a:srgbClr val="7030A0"/>
              </a:solidFill>
            </a:endParaRPr>
          </a:p>
          <a:p>
            <a:r>
              <a:rPr lang="zh-TW" altLang="en-US" sz="2800" i="1"/>
              <a:t>孩子</a:t>
            </a:r>
            <a:r>
              <a:rPr lang="zh-TW" altLang="en-US" sz="2800"/>
              <a:t>：</a:t>
            </a:r>
            <a:r>
              <a:rPr lang="zh-TW" altLang="en-US" sz="2800">
                <a:solidFill>
                  <a:srgbClr val="0070C0"/>
                </a:solidFill>
              </a:rPr>
              <a:t>好，是「嘴彩」。</a:t>
            </a:r>
            <a:endParaRPr lang="zh-HK" altLang="en-US" sz="2800">
              <a:solidFill>
                <a:srgbClr val="0070C0"/>
              </a:solidFill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22F0DA-8C6B-487B-B7A9-6259269D0554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05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TW"/>
          </a:p>
          <a:p>
            <a:r>
              <a:rPr lang="zh-TW" altLang="en-US" sz="2800"/>
              <a:t>第三，孩子語言的創造力</a:t>
            </a:r>
            <a:endParaRPr lang="en-US" altLang="zh-TW" sz="2800"/>
          </a:p>
          <a:p>
            <a:r>
              <a:rPr lang="zh-TW" altLang="en-US" sz="2800" i="1">
                <a:solidFill>
                  <a:srgbClr val="00B050"/>
                </a:solidFill>
              </a:rPr>
              <a:t>你覺得孩子的說話很有趣嗎？</a:t>
            </a:r>
            <a:endParaRPr lang="en-US" altLang="zh-TW" sz="2800" i="1">
              <a:solidFill>
                <a:srgbClr val="00B050"/>
              </a:solidFill>
            </a:endParaRPr>
          </a:p>
          <a:p>
            <a:endParaRPr lang="en-US" altLang="zh-HK"/>
          </a:p>
          <a:p>
            <a:endParaRPr lang="en-US" altLang="zh-HK"/>
          </a:p>
          <a:p>
            <a:endParaRPr lang="zh-HK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78D4FD-9752-45CF-8C66-00E211FE355F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1.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語言習得理論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TW"/>
          </a:p>
          <a:p>
            <a:r>
              <a:rPr lang="zh-TW" altLang="en-US" sz="2800"/>
              <a:t>結論：</a:t>
            </a:r>
            <a:endParaRPr lang="en-US" altLang="zh-TW" sz="2800"/>
          </a:p>
          <a:p>
            <a:pPr lvl="1"/>
            <a:endParaRPr lang="en-US" altLang="zh-TW" sz="2800"/>
          </a:p>
          <a:p>
            <a:pPr lvl="1"/>
            <a:r>
              <a:rPr lang="zh-TW" altLang="en-US" sz="2800"/>
              <a:t>語言習得過程中，模仿是有一定的功能</a:t>
            </a:r>
            <a:endParaRPr lang="en-US" altLang="zh-TW" sz="2800"/>
          </a:p>
          <a:p>
            <a:pPr lvl="2"/>
            <a:r>
              <a:rPr lang="zh-TW" altLang="en-US" sz="2800"/>
              <a:t>學習語言的動力，親子之間互動</a:t>
            </a:r>
            <a:endParaRPr lang="en-US" altLang="zh-TW" sz="2800"/>
          </a:p>
          <a:p>
            <a:pPr lvl="2"/>
            <a:r>
              <a:rPr lang="zh-TW" altLang="en-US" sz="2800"/>
              <a:t>影響語言使用 </a:t>
            </a:r>
            <a:r>
              <a:rPr lang="en-US" altLang="zh-TW" sz="2800"/>
              <a:t>(pragmatics) </a:t>
            </a:r>
            <a:r>
              <a:rPr lang="zh-TW" altLang="en-US" sz="2800"/>
              <a:t>情形，如用語及語氣</a:t>
            </a:r>
            <a:endParaRPr lang="en-US" altLang="zh-TW" sz="2800"/>
          </a:p>
          <a:p>
            <a:pPr lvl="1"/>
            <a:endParaRPr lang="en-US" altLang="zh-TW" sz="2800"/>
          </a:p>
          <a:p>
            <a:pPr lvl="1"/>
            <a:r>
              <a:rPr lang="zh-TW" altLang="en-US" sz="2800"/>
              <a:t>但語法建構佔更主要的地位</a:t>
            </a:r>
            <a:endParaRPr lang="en-US" altLang="zh-TW" sz="2800"/>
          </a:p>
          <a:p>
            <a:pPr lvl="2"/>
            <a:endParaRPr lang="en-US" altLang="zh-TW"/>
          </a:p>
          <a:p>
            <a:pPr lvl="1"/>
            <a:endParaRPr lang="zh-HK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47AD91-C44C-4BD1-9673-3979E65F7EDA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2.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關鍵時期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13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TW"/>
          </a:p>
          <a:p>
            <a:r>
              <a:rPr lang="zh-TW" altLang="en-US" sz="2800"/>
              <a:t>若語言習得機制是與生俱來的，依理它應該與其他器官一樣有生物性</a:t>
            </a:r>
            <a:endParaRPr lang="en-US" altLang="zh-TW" sz="2800"/>
          </a:p>
          <a:p>
            <a:pPr lvl="2"/>
            <a:r>
              <a:rPr lang="zh-TW" altLang="en-US" sz="2800"/>
              <a:t>會成長、成熟、老化</a:t>
            </a:r>
            <a:endParaRPr lang="en-US" altLang="zh-TW" sz="2800"/>
          </a:p>
          <a:p>
            <a:endParaRPr lang="en-US" altLang="zh-TW" sz="2800"/>
          </a:p>
          <a:p>
            <a:r>
              <a:rPr lang="zh-TW" altLang="en-US" sz="2800" b="1">
                <a:solidFill>
                  <a:srgbClr val="7030A0"/>
                </a:solidFill>
              </a:rPr>
              <a:t>關鍵時期假說 </a:t>
            </a:r>
            <a:r>
              <a:rPr lang="en-US" altLang="zh-TW" sz="2800"/>
              <a:t>(Critical Period Hypothesis)</a:t>
            </a:r>
          </a:p>
          <a:p>
            <a:pPr lvl="1"/>
            <a:r>
              <a:rPr lang="zh-TW" altLang="en-US" sz="2800"/>
              <a:t>如果語言習得機制過了成熟期，則語言習得會有困難</a:t>
            </a:r>
            <a:endParaRPr lang="en-US" altLang="zh-TW" sz="2800"/>
          </a:p>
          <a:p>
            <a:endParaRPr lang="zh-HK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A47742-7F1B-4C1A-8D40-694E8EE47447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2.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關鍵時期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83550" cy="4876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800"/>
              <a:t>我們觀察到：</a:t>
            </a:r>
            <a:endParaRPr lang="en-US" altLang="zh-TW" sz="280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TW" altLang="en-US" sz="2800"/>
              <a:t>小孩從十二到十八個月關始講第一句話</a:t>
            </a:r>
            <a:endParaRPr lang="en-US" altLang="zh-TW" sz="280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TW" altLang="en-US" sz="2800"/>
              <a:t>其後的四、五年間是語言發展最快速的時期</a:t>
            </a:r>
            <a:endParaRPr lang="en-US" altLang="zh-TW" sz="280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TW" altLang="en-US" sz="2800"/>
              <a:t>小孩到了入學之時幾乎已習得了所有的語言結構</a:t>
            </a:r>
            <a:endParaRPr lang="en-US" altLang="zh-TW" sz="280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TW" altLang="en-US" sz="2800"/>
              <a:t>差不多到成熟期前，語言習得系統開始減慢，如果小孩在此之前沒有在適當的語言環境成長，便有可能失去語言習得的機會</a:t>
            </a:r>
            <a:endParaRPr lang="en-US" altLang="zh-HK" sz="2800"/>
          </a:p>
          <a:p>
            <a:endParaRPr lang="en-US" altLang="zh-HK"/>
          </a:p>
          <a:p>
            <a:endParaRPr lang="zh-HK" alt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F604B1-F1EF-41D3-A93D-154BF563D894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2.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關鍵時期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8077200" cy="4876800"/>
          </a:xfrm>
        </p:spPr>
        <p:txBody>
          <a:bodyPr/>
          <a:lstStyle/>
          <a:p>
            <a:endParaRPr lang="en-US" altLang="zh-TW" sz="2800"/>
          </a:p>
          <a:p>
            <a:r>
              <a:rPr lang="zh-TW" altLang="en-US" sz="2800"/>
              <a:t>案例：</a:t>
            </a:r>
            <a:endParaRPr lang="en-US" altLang="zh-HK" sz="2800"/>
          </a:p>
          <a:p>
            <a:pPr lvl="1"/>
            <a:r>
              <a:rPr lang="en-US" altLang="zh-HK" sz="2800"/>
              <a:t>1970: Genie: </a:t>
            </a:r>
            <a:r>
              <a:rPr lang="zh-TW" altLang="en-US" sz="2800"/>
              <a:t>從十八個月大至十四歲時，被囚禁在小房間裏，幾乎沒有與人溝通的機會</a:t>
            </a:r>
            <a:endParaRPr lang="en-US" altLang="zh-HK" sz="2800"/>
          </a:p>
          <a:p>
            <a:endParaRPr lang="zh-HK" alt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54E282-C54D-4CC5-89F4-7BDCFFBAEA1A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25605" name="Picture 3" descr="C:\Wingli\Files\Windows 7\Desktop\Geni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88" y="3429000"/>
            <a:ext cx="2667000" cy="32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2.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關鍵時期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80772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HK" sz="2800"/>
              <a:t>Genie</a:t>
            </a:r>
            <a:r>
              <a:rPr lang="zh-TW" altLang="en-US" sz="2800"/>
              <a:t>的語言特性很像</a:t>
            </a:r>
            <a:r>
              <a:rPr lang="zh-TW" altLang="en-US" sz="2800" u="sng"/>
              <a:t>布羅卡失語症患者</a:t>
            </a:r>
            <a:r>
              <a:rPr lang="zh-TW" altLang="en-US" sz="2800"/>
              <a:t> </a:t>
            </a:r>
            <a:r>
              <a:rPr lang="en-US" altLang="zh-TW" sz="2800"/>
              <a:t>(Broca</a:t>
            </a:r>
            <a:r>
              <a:rPr lang="en-US" altLang="zh-TW" sz="2800">
                <a:latin typeface="Arial" panose="020B0604020202020204" pitchFamily="34" charset="0"/>
              </a:rPr>
              <a:t>’</a:t>
            </a:r>
            <a:r>
              <a:rPr lang="en-US" altLang="zh-TW" sz="2800"/>
              <a:t>s aphasia) </a:t>
            </a:r>
            <a:r>
              <a:rPr lang="zh-TW" altLang="en-US" sz="2800"/>
              <a:t>的語言</a:t>
            </a:r>
            <a:endParaRPr lang="en-US" altLang="zh-TW" sz="2800"/>
          </a:p>
          <a:p>
            <a:pPr lvl="1">
              <a:lnSpc>
                <a:spcPct val="80000"/>
              </a:lnSpc>
            </a:pPr>
            <a:endParaRPr lang="en-US" altLang="zh-TW" sz="2800"/>
          </a:p>
          <a:p>
            <a:pPr lvl="1">
              <a:lnSpc>
                <a:spcPct val="90000"/>
              </a:lnSpc>
            </a:pPr>
            <a:r>
              <a:rPr lang="zh-TW" altLang="en-US" sz="2600"/>
              <a:t>她學會了實詞，如</a:t>
            </a:r>
            <a:endParaRPr lang="en-US" altLang="zh-TW" sz="2600"/>
          </a:p>
          <a:p>
            <a:pPr lvl="2">
              <a:lnSpc>
                <a:spcPct val="90000"/>
              </a:lnSpc>
            </a:pPr>
            <a:r>
              <a:rPr lang="zh-TW" altLang="en-US" sz="2600"/>
              <a:t>顏色名稱、常見物品名稱、常用動詞</a:t>
            </a:r>
            <a:endParaRPr lang="en-US" altLang="zh-TW" sz="2600"/>
          </a:p>
          <a:p>
            <a:pPr lvl="1">
              <a:lnSpc>
                <a:spcPct val="90000"/>
              </a:lnSpc>
            </a:pPr>
            <a:r>
              <a:rPr lang="zh-TW" altLang="en-US" sz="2600"/>
              <a:t>語法與正常不同之處，如</a:t>
            </a:r>
            <a:endParaRPr lang="en-US" altLang="zh-TW" sz="2600"/>
          </a:p>
          <a:p>
            <a:pPr lvl="2">
              <a:lnSpc>
                <a:spcPct val="90000"/>
              </a:lnSpc>
            </a:pPr>
            <a:r>
              <a:rPr lang="zh-TW" altLang="en-US" sz="2600"/>
              <a:t>句子沒有句法組織、沒有正常詞序</a:t>
            </a:r>
            <a:endParaRPr lang="en-US" altLang="zh-TW" sz="2600"/>
          </a:p>
          <a:p>
            <a:pPr lvl="2">
              <a:lnSpc>
                <a:spcPct val="90000"/>
              </a:lnSpc>
            </a:pPr>
            <a:r>
              <a:rPr lang="zh-TW" altLang="en-US" sz="2600"/>
              <a:t>沒有語法性構詞如 </a:t>
            </a:r>
            <a:r>
              <a:rPr lang="en-US" altLang="zh-TW" sz="2600" i="1"/>
              <a:t>-ing</a:t>
            </a:r>
            <a:r>
              <a:rPr lang="en-US" altLang="zh-TW" sz="2600"/>
              <a:t> </a:t>
            </a:r>
            <a:r>
              <a:rPr lang="zh-TW" altLang="en-US" sz="2600"/>
              <a:t>或第三人稱單數的 </a:t>
            </a:r>
            <a:r>
              <a:rPr lang="en-US" altLang="zh-TW" sz="2600" i="1"/>
              <a:t>-s</a:t>
            </a:r>
          </a:p>
          <a:p>
            <a:pPr lvl="3">
              <a:lnSpc>
                <a:spcPct val="90000"/>
              </a:lnSpc>
            </a:pPr>
            <a:r>
              <a:rPr lang="en-US" altLang="zh-TW" sz="2600">
                <a:solidFill>
                  <a:srgbClr val="0070C0"/>
                </a:solidFill>
              </a:rPr>
              <a:t>Open door key</a:t>
            </a:r>
          </a:p>
          <a:p>
            <a:pPr lvl="3">
              <a:lnSpc>
                <a:spcPct val="90000"/>
              </a:lnSpc>
            </a:pPr>
            <a:r>
              <a:rPr lang="en-US" altLang="zh-TW" sz="2600">
                <a:solidFill>
                  <a:srgbClr val="0070C0"/>
                </a:solidFill>
              </a:rPr>
              <a:t>Man motorcycle have.</a:t>
            </a:r>
          </a:p>
          <a:p>
            <a:pPr lvl="3">
              <a:lnSpc>
                <a:spcPct val="90000"/>
              </a:lnSpc>
            </a:pPr>
            <a:r>
              <a:rPr lang="en-US" altLang="zh-TW" sz="2600">
                <a:solidFill>
                  <a:srgbClr val="0070C0"/>
                </a:solidFill>
              </a:rPr>
              <a:t>Genie have full stomach.</a:t>
            </a:r>
          </a:p>
          <a:p>
            <a:pPr lvl="2">
              <a:lnSpc>
                <a:spcPct val="90000"/>
              </a:lnSpc>
            </a:pPr>
            <a:r>
              <a:rPr lang="zh-TW" altLang="en-US" sz="2600"/>
              <a:t>學不會</a:t>
            </a:r>
            <a:r>
              <a:rPr lang="en-US" altLang="zh-TW" sz="2600" i="1"/>
              <a:t>Wh-</a:t>
            </a:r>
            <a:r>
              <a:rPr lang="zh-TW" altLang="en-US" sz="2600"/>
              <a:t>問句</a:t>
            </a:r>
            <a:endParaRPr lang="en-US" altLang="zh-TW" sz="2600"/>
          </a:p>
          <a:p>
            <a:pPr>
              <a:lnSpc>
                <a:spcPct val="80000"/>
              </a:lnSpc>
            </a:pPr>
            <a:r>
              <a:rPr lang="en-US" altLang="zh-HK" sz="2000"/>
              <a:t>dichotic listening and ERP experiments showed that Genie</a:t>
            </a:r>
            <a:r>
              <a:rPr lang="en-US" altLang="zh-HK" sz="2000">
                <a:latin typeface="Arial" panose="020B0604020202020204" pitchFamily="34" charset="0"/>
              </a:rPr>
              <a:t>’</a:t>
            </a:r>
            <a:r>
              <a:rPr lang="en-US" altLang="zh-HK" sz="2000"/>
              <a:t>s language was lateralized to the </a:t>
            </a:r>
            <a:r>
              <a:rPr lang="en-US" altLang="zh-HK" sz="2000" i="1"/>
              <a:t>right</a:t>
            </a:r>
            <a:r>
              <a:rPr lang="en-US" altLang="zh-HK" sz="2000"/>
              <a:t> hemisphere</a:t>
            </a:r>
            <a:endParaRPr lang="en-US" altLang="zh-TW" sz="2000"/>
          </a:p>
          <a:p>
            <a:pPr lvl="2">
              <a:lnSpc>
                <a:spcPct val="80000"/>
              </a:lnSpc>
            </a:pPr>
            <a:endParaRPr lang="en-US" altLang="zh-TW" sz="1900"/>
          </a:p>
          <a:p>
            <a:pPr lvl="2">
              <a:lnSpc>
                <a:spcPct val="80000"/>
              </a:lnSpc>
            </a:pPr>
            <a:endParaRPr lang="en-US" altLang="zh-TW" sz="1900"/>
          </a:p>
          <a:p>
            <a:pPr lvl="1">
              <a:lnSpc>
                <a:spcPct val="80000"/>
              </a:lnSpc>
            </a:pPr>
            <a:endParaRPr lang="zh-HK" altLang="en-US" sz="220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819A61-4D04-470E-A0E8-AAED4D55231D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6629" name="Rectangle 1"/>
          <p:cNvSpPr>
            <a:spLocks noChangeArrowheads="1"/>
          </p:cNvSpPr>
          <p:nvPr/>
        </p:nvSpPr>
        <p:spPr bwMode="auto">
          <a:xfrm>
            <a:off x="6881813" y="1828800"/>
            <a:ext cx="1963737" cy="40005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zh-HK" altLang="en-US" sz="2000"/>
              <a:t>請見本檔</a:t>
            </a:r>
            <a:r>
              <a:rPr lang="zh-HK" altLang="en-US" sz="2000">
                <a:hlinkClick r:id="" action="ppaction://noaction"/>
              </a:rPr>
              <a:t>第46頁</a:t>
            </a:r>
            <a:endParaRPr lang="zh-HK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95438"/>
            <a:ext cx="7772400" cy="4572000"/>
          </a:xfrm>
        </p:spPr>
        <p:txBody>
          <a:bodyPr/>
          <a:lstStyle/>
          <a:p>
            <a:r>
              <a:rPr lang="zh-TW" altLang="en-US" sz="2800"/>
              <a:t>語言習得是階段性發展</a:t>
            </a:r>
            <a:endParaRPr lang="en-US" altLang="zh-TW" sz="2800"/>
          </a:p>
          <a:p>
            <a:endParaRPr lang="en-US" altLang="zh-TW" sz="2800"/>
          </a:p>
          <a:p>
            <a:r>
              <a:rPr lang="zh-TW" altLang="en-US" sz="2800"/>
              <a:t>語言前期 </a:t>
            </a:r>
            <a:r>
              <a:rPr lang="en-US" altLang="zh-TW" sz="2800"/>
              <a:t>(pre-language stage / before language)</a:t>
            </a:r>
          </a:p>
          <a:p>
            <a:pPr lvl="1"/>
            <a:r>
              <a:rPr lang="zh-TW" altLang="en-US" sz="2800"/>
              <a:t>尚未能講話的階段</a:t>
            </a:r>
            <a:endParaRPr lang="en-US" altLang="zh-TW" sz="2800"/>
          </a:p>
          <a:p>
            <a:endParaRPr lang="en-US" altLang="zh-TW" sz="2800"/>
          </a:p>
          <a:p>
            <a:r>
              <a:rPr lang="zh-TW" altLang="en-US" sz="2800"/>
              <a:t>語言後期 </a:t>
            </a:r>
            <a:r>
              <a:rPr lang="en-US" altLang="zh-TW" sz="2800"/>
              <a:t>(after language)</a:t>
            </a:r>
          </a:p>
          <a:p>
            <a:pPr lvl="1"/>
            <a:r>
              <a:rPr lang="zh-TW" altLang="en-US" sz="2800"/>
              <a:t>開始會用某些固定的音節或詞語來表達語義</a:t>
            </a:r>
            <a:endParaRPr lang="zh-HK" altLang="en-US" sz="280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FDC311-7CEB-4665-9535-674B302849D1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32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24800" cy="5181600"/>
          </a:xfrm>
        </p:spPr>
        <p:txBody>
          <a:bodyPr/>
          <a:lstStyle/>
          <a:p>
            <a:r>
              <a:rPr lang="zh-TW" altLang="en-US" sz="2800"/>
              <a:t>嬰兒在兩個月大時已會辨別「語音」</a:t>
            </a:r>
            <a:r>
              <a:rPr lang="en-US" altLang="zh-TW" sz="2800"/>
              <a:t>(linguistic sounds)</a:t>
            </a:r>
            <a:r>
              <a:rPr lang="zh-TW" altLang="en-US" sz="2800"/>
              <a:t> 和「非語音」</a:t>
            </a:r>
            <a:r>
              <a:rPr lang="en-US" altLang="zh-TW" sz="2800"/>
              <a:t>(non-linguistic sounds)</a:t>
            </a:r>
          </a:p>
          <a:p>
            <a:endParaRPr lang="en-US" altLang="zh-TW" sz="2800"/>
          </a:p>
          <a:p>
            <a:r>
              <a:rPr lang="zh-TW" altLang="en-US" sz="2800"/>
              <a:t>實驗：</a:t>
            </a:r>
            <a:endParaRPr lang="en-US" altLang="zh-TW" sz="2800"/>
          </a:p>
          <a:p>
            <a:pPr lvl="1"/>
            <a:r>
              <a:rPr lang="zh-TW" altLang="en-US" sz="2800"/>
              <a:t>「語音－樂音－語音」錄音帶在嬰兒吸奶時播放</a:t>
            </a:r>
            <a:endParaRPr lang="en-US" altLang="zh-TW" sz="2800"/>
          </a:p>
          <a:p>
            <a:r>
              <a:rPr lang="zh-TW" altLang="en-US" sz="2800"/>
              <a:t>結果：</a:t>
            </a:r>
            <a:endParaRPr lang="en-US" altLang="zh-TW" sz="2800"/>
          </a:p>
          <a:p>
            <a:pPr lvl="1"/>
            <a:r>
              <a:rPr lang="zh-TW" altLang="en-US" sz="2800"/>
              <a:t>嬰兒在語音和樂音的轉換之間，及在樂音轉換到語音之間，都會有猛烈的吸吮動作</a:t>
            </a:r>
            <a:endParaRPr lang="en-US" altLang="zh-TW" sz="2800"/>
          </a:p>
          <a:p>
            <a:pPr lvl="1"/>
            <a:r>
              <a:rPr lang="zh-TW" altLang="en-US" sz="2800"/>
              <a:t>但在語音和語音之間的轉換之間，沒有類似的動作</a:t>
            </a:r>
            <a:endParaRPr lang="en-US" altLang="zh-TW" sz="2800"/>
          </a:p>
          <a:p>
            <a:endParaRPr lang="en-US" altLang="zh-TW"/>
          </a:p>
          <a:p>
            <a:endParaRPr lang="zh-HK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3B696A-1C4B-4F73-8A12-F398DE2FA075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3000"/>
              <a:t>在語言前期，嬰兒的發聲都屬於沒有特定語義的「嗶啵聲」</a:t>
            </a:r>
            <a:r>
              <a:rPr lang="en-US" altLang="zh-TW" sz="3000"/>
              <a:t>babbling sounds</a:t>
            </a:r>
          </a:p>
          <a:p>
            <a:endParaRPr lang="en-US" altLang="zh-TW" sz="3000"/>
          </a:p>
          <a:p>
            <a:r>
              <a:rPr lang="zh-TW" altLang="en-US" sz="3000"/>
              <a:t>現代語言學家和語言心理學家認為：嗶啵聲含有很特別的語義，是嬰兒對於外在環境的反應及調適而做出來的語言表達方式</a:t>
            </a:r>
            <a:endParaRPr lang="en-US" altLang="zh-TW" sz="3000"/>
          </a:p>
          <a:p>
            <a:endParaRPr lang="en-US" altLang="zh-TW"/>
          </a:p>
          <a:p>
            <a:endParaRPr lang="en-US" altLang="zh-TW"/>
          </a:p>
          <a:p>
            <a:endParaRPr lang="zh-HK" alt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1E842C-BE70-4F3E-A159-D931FFFE4AF9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39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/>
          <a:lstStyle/>
          <a:p>
            <a:r>
              <a:rPr lang="zh-TW" altLang="en-US" sz="2800"/>
              <a:t>一般正常的嬰兒由於生長於適當的語言環境，他們的嗶啵聲起伏及形式都和外在語言的語調 </a:t>
            </a:r>
            <a:r>
              <a:rPr lang="en-US" altLang="zh-TW" sz="2800"/>
              <a:t>(intonation) </a:t>
            </a:r>
            <a:r>
              <a:rPr lang="zh-TW" altLang="en-US" sz="2800"/>
              <a:t>及 聲調 </a:t>
            </a:r>
            <a:r>
              <a:rPr lang="en-US" altLang="zh-TW" sz="2800"/>
              <a:t>(pitch contour)</a:t>
            </a:r>
            <a:r>
              <a:rPr lang="zh-TW" altLang="en-US" sz="2800"/>
              <a:t> 的起伏相同</a:t>
            </a:r>
            <a:endParaRPr lang="en-US" altLang="zh-TW" sz="2800"/>
          </a:p>
          <a:p>
            <a:endParaRPr lang="en-US" altLang="zh-TW" sz="2800"/>
          </a:p>
          <a:p>
            <a:r>
              <a:rPr lang="zh-TW" altLang="en-US" sz="2800"/>
              <a:t>這顯示超音段的韻律類型 </a:t>
            </a:r>
            <a:r>
              <a:rPr lang="en-US" altLang="zh-TW" sz="2800"/>
              <a:t>(suprasegmental rhythm types)</a:t>
            </a:r>
            <a:r>
              <a:rPr lang="zh-TW" altLang="en-US" sz="2800"/>
              <a:t> 是嬰兒語言習得中最早習得的語音形式</a:t>
            </a:r>
            <a:endParaRPr lang="en-US" altLang="zh-TW" sz="2800"/>
          </a:p>
          <a:p>
            <a:endParaRPr lang="en-US" altLang="zh-TW" sz="2800"/>
          </a:p>
          <a:p>
            <a:r>
              <a:rPr lang="zh-TW" altLang="en-US" sz="2800"/>
              <a:t>另外，聽障嬰兒的語調或聲調很不規律，顯示嬰兒雖然還無法講話，但他們會由外在語言之中去</a:t>
            </a:r>
            <a:r>
              <a:rPr lang="zh-TW" altLang="en-US" sz="2800" b="1" u="sng">
                <a:solidFill>
                  <a:srgbClr val="B51757"/>
                </a:solidFill>
              </a:rPr>
              <a:t>建構</a:t>
            </a:r>
            <a:r>
              <a:rPr lang="zh-TW" altLang="en-US" sz="2800"/>
              <a:t>語法的不同類型</a:t>
            </a:r>
            <a:endParaRPr lang="zh-HK" altLang="en-US" sz="280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17B5C7-38A0-491E-8E21-EB4CACFDFA09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3000"/>
              <a:t>語言後期</a:t>
            </a:r>
            <a:endParaRPr lang="en-US" altLang="zh-TW" sz="3000"/>
          </a:p>
          <a:p>
            <a:pPr lvl="1"/>
            <a:endParaRPr lang="en-US" altLang="zh-TW" sz="3000"/>
          </a:p>
          <a:p>
            <a:pPr lvl="1"/>
            <a:r>
              <a:rPr lang="zh-TW" altLang="en-US" sz="3000"/>
              <a:t>單詞期 </a:t>
            </a:r>
            <a:r>
              <a:rPr lang="en-US" altLang="zh-TW" sz="3000"/>
              <a:t>(language beginning stage / one-word stage)</a:t>
            </a:r>
          </a:p>
          <a:p>
            <a:pPr lvl="1"/>
            <a:endParaRPr lang="en-US" altLang="zh-TW" sz="3000"/>
          </a:p>
          <a:p>
            <a:pPr lvl="1"/>
            <a:r>
              <a:rPr lang="zh-TW" altLang="en-US" sz="3000"/>
              <a:t>雙詞期 </a:t>
            </a:r>
            <a:r>
              <a:rPr lang="en-US" altLang="zh-TW" sz="3000"/>
              <a:t>(two-word stage)</a:t>
            </a:r>
          </a:p>
          <a:p>
            <a:pPr lvl="1"/>
            <a:endParaRPr lang="en-US" altLang="zh-TW" sz="3000"/>
          </a:p>
          <a:p>
            <a:pPr lvl="1"/>
            <a:r>
              <a:rPr lang="zh-TW" altLang="en-US" sz="3000"/>
              <a:t>多詞期 </a:t>
            </a:r>
            <a:r>
              <a:rPr lang="en-US" altLang="zh-TW" sz="3000"/>
              <a:t>(multi-word stage)</a:t>
            </a:r>
          </a:p>
          <a:p>
            <a:endParaRPr lang="en-US" altLang="zh-HK"/>
          </a:p>
          <a:p>
            <a:endParaRPr lang="zh-HK" alt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A7BEDA-BEE6-4007-BEBA-6D6B70A14941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 sz="2800"/>
              <a:t>語言初期開始於周歲左右，但有個別差異</a:t>
            </a:r>
            <a:endParaRPr lang="en-US" altLang="zh-TW" sz="2800"/>
          </a:p>
          <a:p>
            <a:pPr>
              <a:lnSpc>
                <a:spcPct val="90000"/>
              </a:lnSpc>
            </a:pPr>
            <a:r>
              <a:rPr lang="zh-TW" altLang="en-US" sz="2800"/>
              <a:t>語言初期的共同特徵就是單一音節或單詞的使用 </a:t>
            </a:r>
            <a:r>
              <a:rPr lang="en-US" altLang="zh-TW" sz="2800"/>
              <a:t>(one-word stage)</a:t>
            </a:r>
          </a:p>
          <a:p>
            <a:pPr>
              <a:lnSpc>
                <a:spcPct val="90000"/>
              </a:lnSpc>
            </a:pPr>
            <a:r>
              <a:rPr lang="zh-TW" altLang="en-US" sz="2800"/>
              <a:t>嬰兒以單一音節或單詞來表達整個句子的語義，這時期所講出的句子又稱為「全義句」</a:t>
            </a:r>
            <a:r>
              <a:rPr lang="en-US" altLang="zh-TW" sz="2800"/>
              <a:t>(holophrastic sentences)</a:t>
            </a:r>
          </a:p>
          <a:p>
            <a:pPr>
              <a:lnSpc>
                <a:spcPct val="90000"/>
              </a:lnSpc>
            </a:pPr>
            <a:endParaRPr lang="en-US" altLang="zh-HK" sz="2400"/>
          </a:p>
          <a:p>
            <a:pPr>
              <a:lnSpc>
                <a:spcPct val="90000"/>
              </a:lnSpc>
            </a:pPr>
            <a:r>
              <a:rPr lang="en-US" altLang="zh-HK" sz="2400"/>
              <a:t>[</a:t>
            </a:r>
            <a:r>
              <a:rPr lang="en-US" altLang="zh-HK" sz="2400">
                <a:solidFill>
                  <a:srgbClr val="0070C0"/>
                </a:solidFill>
              </a:rPr>
              <a:t>da</a:t>
            </a:r>
            <a:r>
              <a:rPr lang="en-US" altLang="zh-HK" sz="2400"/>
              <a:t>]</a:t>
            </a:r>
            <a:r>
              <a:rPr lang="en-US" altLang="zh-TW" sz="2400"/>
              <a:t>:</a:t>
            </a:r>
            <a:r>
              <a:rPr lang="en-US" altLang="zh-HK" sz="2400"/>
              <a:t>	Dog! (Get that dog away!)</a:t>
            </a:r>
          </a:p>
          <a:p>
            <a:pPr>
              <a:lnSpc>
                <a:spcPct val="90000"/>
              </a:lnSpc>
            </a:pPr>
            <a:r>
              <a:rPr lang="en-US" altLang="zh-HK" sz="2400"/>
              <a:t>[</a:t>
            </a:r>
            <a:r>
              <a:rPr lang="en-US" altLang="zh-HK" sz="2400">
                <a:solidFill>
                  <a:srgbClr val="0070C0"/>
                </a:solidFill>
              </a:rPr>
              <a:t>da</a:t>
            </a:r>
            <a:r>
              <a:rPr lang="en-US" altLang="zh-HK" sz="2400"/>
              <a:t>]</a:t>
            </a:r>
            <a:r>
              <a:rPr lang="en-US" altLang="zh-TW" sz="2400"/>
              <a:t>:</a:t>
            </a:r>
            <a:r>
              <a:rPr lang="en-US" altLang="zh-HK" sz="2400"/>
              <a:t>	Dog? (Is that a dog?)</a:t>
            </a:r>
          </a:p>
          <a:p>
            <a:pPr>
              <a:lnSpc>
                <a:spcPct val="90000"/>
              </a:lnSpc>
            </a:pPr>
            <a:r>
              <a:rPr lang="en-US" altLang="zh-HK" sz="2400"/>
              <a:t>[</a:t>
            </a:r>
            <a:r>
              <a:rPr lang="en-US" altLang="zh-HK" sz="2400">
                <a:solidFill>
                  <a:srgbClr val="0070C0"/>
                </a:solidFill>
              </a:rPr>
              <a:t>da</a:t>
            </a:r>
            <a:r>
              <a:rPr lang="en-US" altLang="zh-HK" sz="2400"/>
              <a:t>]</a:t>
            </a:r>
            <a:r>
              <a:rPr lang="en-US" altLang="zh-TW" sz="2400"/>
              <a:t>:</a:t>
            </a:r>
            <a:r>
              <a:rPr lang="en-US" altLang="zh-HK" sz="2400"/>
              <a:t>	Dog. (Here comes a dog.)</a:t>
            </a:r>
          </a:p>
          <a:p>
            <a:pPr>
              <a:lnSpc>
                <a:spcPct val="90000"/>
              </a:lnSpc>
            </a:pPr>
            <a:r>
              <a:rPr lang="zh-TW" altLang="en-US" sz="2400"/>
              <a:t>「</a:t>
            </a:r>
            <a:r>
              <a:rPr lang="zh-TW" altLang="en-US" sz="2400">
                <a:solidFill>
                  <a:srgbClr val="0070C0"/>
                </a:solidFill>
              </a:rPr>
              <a:t>車</a:t>
            </a:r>
            <a:r>
              <a:rPr lang="zh-TW" altLang="en-US" sz="2400"/>
              <a:t>」：「我想要我的玩具車」</a:t>
            </a:r>
            <a:endParaRPr lang="en-US" altLang="zh-TW" sz="2400"/>
          </a:p>
          <a:p>
            <a:pPr>
              <a:lnSpc>
                <a:spcPct val="90000"/>
              </a:lnSpc>
            </a:pPr>
            <a:r>
              <a:rPr lang="zh-TW" altLang="en-US" sz="2400"/>
              <a:t>「</a:t>
            </a:r>
            <a:r>
              <a:rPr lang="zh-TW" altLang="en-US" sz="2400">
                <a:solidFill>
                  <a:srgbClr val="0070C0"/>
                </a:solidFill>
              </a:rPr>
              <a:t>車</a:t>
            </a:r>
            <a:r>
              <a:rPr lang="zh-TW" altLang="en-US" sz="2400"/>
              <a:t>」：「看外面的車子」</a:t>
            </a:r>
            <a:endParaRPr lang="zh-HK" altLang="en-US" sz="240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FC2F59-0E50-4961-A9A5-50AA0CE34D1A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495800"/>
          </a:xfrm>
        </p:spPr>
        <p:txBody>
          <a:bodyPr/>
          <a:lstStyle/>
          <a:p>
            <a:r>
              <a:rPr lang="zh-TW" altLang="en-US" sz="3000"/>
              <a:t>嬰兒最早會發的母音是</a:t>
            </a:r>
            <a:r>
              <a:rPr lang="en-US" altLang="zh-TW" sz="3000"/>
              <a:t>[a]</a:t>
            </a:r>
          </a:p>
          <a:p>
            <a:endParaRPr lang="en-US" altLang="zh-TW" sz="3000"/>
          </a:p>
          <a:p>
            <a:r>
              <a:rPr lang="zh-TW" altLang="en-US" sz="3000"/>
              <a:t>語言初期所出現的單音節或單詞多為嬰兒最常接觸的親屬稱謂</a:t>
            </a:r>
            <a:endParaRPr lang="en-US" altLang="zh-TW" sz="3000"/>
          </a:p>
          <a:p>
            <a:endParaRPr lang="en-US" altLang="zh-TW" sz="3000"/>
          </a:p>
          <a:p>
            <a:r>
              <a:rPr lang="zh-TW" altLang="en-US" sz="3000"/>
              <a:t>語言初期嬰兒所習得的主要是</a:t>
            </a:r>
            <a:r>
              <a:rPr lang="en-US" altLang="zh-TW" sz="3000"/>
              <a:t>consonant-vowel (</a:t>
            </a:r>
            <a:r>
              <a:rPr lang="zh-TW" altLang="en-US" sz="3000"/>
              <a:t>輔音－元音</a:t>
            </a:r>
            <a:r>
              <a:rPr lang="en-US" altLang="zh-TW" sz="3000"/>
              <a:t>) </a:t>
            </a:r>
            <a:r>
              <a:rPr lang="zh-TW" altLang="en-US" sz="3000"/>
              <a:t>音節</a:t>
            </a:r>
            <a:endParaRPr lang="en-US" altLang="zh-HK" sz="3000"/>
          </a:p>
          <a:p>
            <a:endParaRPr lang="zh-HK" alt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216F31-3768-44BF-AEB1-EEC8324EFABF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 sz="2400"/>
              <a:t>到了兩周歲左右，孩子就邁入了雙語詞時期</a:t>
            </a:r>
            <a:endParaRPr lang="en-US" altLang="zh-TW" sz="2400"/>
          </a:p>
          <a:p>
            <a:pPr>
              <a:lnSpc>
                <a:spcPct val="90000"/>
              </a:lnSpc>
            </a:pPr>
            <a:r>
              <a:rPr lang="zh-TW" altLang="en-US" sz="2400"/>
              <a:t>起初，孩子似乎是以兩個單語詞並列在一起，後來漸漸地才把雙語詞視為一個結構單位</a:t>
            </a:r>
            <a:endParaRPr lang="en-US" altLang="zh-TW" sz="2400"/>
          </a:p>
          <a:p>
            <a:pPr>
              <a:lnSpc>
                <a:spcPct val="90000"/>
              </a:lnSpc>
            </a:pPr>
            <a:r>
              <a:rPr lang="en-US" altLang="zh-HK" sz="2400">
                <a:solidFill>
                  <a:srgbClr val="0070C0"/>
                </a:solidFill>
              </a:rPr>
              <a:t>Doggie bark.		</a:t>
            </a:r>
            <a:r>
              <a:rPr lang="en-US" altLang="zh-HK" sz="2400">
                <a:latin typeface="Arial" panose="020B0604020202020204" pitchFamily="34" charset="0"/>
              </a:rPr>
              <a:t>“</a:t>
            </a:r>
            <a:r>
              <a:rPr lang="en-US" altLang="zh-HK" sz="2400"/>
              <a:t>The dog is barking</a:t>
            </a:r>
            <a:r>
              <a:rPr lang="en-US" altLang="zh-HK" sz="2400">
                <a:latin typeface="Arial" panose="020B0604020202020204" pitchFamily="34" charset="0"/>
              </a:rPr>
              <a:t>”</a:t>
            </a:r>
            <a:endParaRPr lang="en-US" altLang="zh-HK" sz="2400"/>
          </a:p>
          <a:p>
            <a:pPr>
              <a:lnSpc>
                <a:spcPct val="90000"/>
              </a:lnSpc>
            </a:pPr>
            <a:r>
              <a:rPr lang="en-US" altLang="zh-HK" sz="2400">
                <a:solidFill>
                  <a:srgbClr val="0070C0"/>
                </a:solidFill>
              </a:rPr>
              <a:t>Baby water.</a:t>
            </a:r>
            <a:r>
              <a:rPr lang="en-US" altLang="zh-HK" sz="2400"/>
              <a:t>		</a:t>
            </a:r>
            <a:r>
              <a:rPr lang="en-US" altLang="zh-HK" sz="2400">
                <a:latin typeface="Arial" panose="020B0604020202020204" pitchFamily="34" charset="0"/>
              </a:rPr>
              <a:t>“</a:t>
            </a:r>
            <a:r>
              <a:rPr lang="en-US" altLang="zh-HK" sz="2400"/>
              <a:t>I need water</a:t>
            </a:r>
            <a:r>
              <a:rPr lang="en-US" altLang="zh-HK" sz="2400">
                <a:latin typeface="Arial" panose="020B0604020202020204" pitchFamily="34" charset="0"/>
              </a:rPr>
              <a:t>”</a:t>
            </a:r>
            <a:endParaRPr lang="en-US" altLang="zh-HK" sz="2400"/>
          </a:p>
          <a:p>
            <a:pPr>
              <a:lnSpc>
                <a:spcPct val="90000"/>
              </a:lnSpc>
            </a:pPr>
            <a:r>
              <a:rPr lang="en-US" altLang="zh-HK" sz="2400">
                <a:solidFill>
                  <a:srgbClr val="0070C0"/>
                </a:solidFill>
              </a:rPr>
              <a:t>Baby sock.	</a:t>
            </a:r>
            <a:r>
              <a:rPr lang="en-US" altLang="zh-HK" sz="2400"/>
              <a:t>	</a:t>
            </a:r>
            <a:r>
              <a:rPr lang="en-US" altLang="zh-HK" sz="2400">
                <a:latin typeface="Arial" panose="020B0604020202020204" pitchFamily="34" charset="0"/>
              </a:rPr>
              <a:t>“</a:t>
            </a:r>
            <a:r>
              <a:rPr lang="en-US" altLang="zh-HK" sz="2400"/>
              <a:t>These are my socks</a:t>
            </a:r>
            <a:r>
              <a:rPr lang="en-US" altLang="zh-HK" sz="2400">
                <a:latin typeface="Arial" panose="020B0604020202020204" pitchFamily="34" charset="0"/>
              </a:rPr>
              <a:t>”</a:t>
            </a:r>
            <a:endParaRPr lang="en-US" altLang="zh-HK" sz="2400"/>
          </a:p>
          <a:p>
            <a:pPr>
              <a:lnSpc>
                <a:spcPct val="90000"/>
              </a:lnSpc>
            </a:pPr>
            <a:r>
              <a:rPr lang="en-US" altLang="zh-HK" sz="2400">
                <a:solidFill>
                  <a:srgbClr val="0070C0"/>
                </a:solidFill>
              </a:rPr>
              <a:t>Drink milk.	</a:t>
            </a:r>
            <a:r>
              <a:rPr lang="en-US" altLang="zh-HK" sz="2400"/>
              <a:t>	</a:t>
            </a:r>
            <a:r>
              <a:rPr lang="en-US" altLang="zh-HK" sz="2400">
                <a:latin typeface="Arial" panose="020B0604020202020204" pitchFamily="34" charset="0"/>
              </a:rPr>
              <a:t>“</a:t>
            </a:r>
            <a:r>
              <a:rPr lang="en-US" altLang="zh-HK" sz="2400"/>
              <a:t>I want to drink milk</a:t>
            </a:r>
            <a:r>
              <a:rPr lang="en-US" altLang="zh-HK" sz="2400">
                <a:latin typeface="Arial" panose="020B0604020202020204" pitchFamily="34" charset="0"/>
              </a:rPr>
              <a:t>”</a:t>
            </a:r>
            <a:endParaRPr lang="en-US" altLang="zh-HK" sz="2400"/>
          </a:p>
          <a:p>
            <a:pPr>
              <a:lnSpc>
                <a:spcPct val="90000"/>
              </a:lnSpc>
            </a:pPr>
            <a:endParaRPr lang="en-US" altLang="zh-TW" sz="2400"/>
          </a:p>
          <a:p>
            <a:pPr>
              <a:lnSpc>
                <a:spcPct val="90000"/>
              </a:lnSpc>
            </a:pPr>
            <a:r>
              <a:rPr lang="zh-TW" altLang="en-US" sz="2400"/>
              <a:t>語的順序，句子結構</a:t>
            </a:r>
            <a:endParaRPr lang="en-US" altLang="zh-TW" sz="2400"/>
          </a:p>
          <a:p>
            <a:pPr>
              <a:lnSpc>
                <a:spcPct val="90000"/>
              </a:lnSpc>
            </a:pPr>
            <a:r>
              <a:rPr lang="zh-TW" altLang="en-US" sz="2400"/>
              <a:t>沒有表示單複數或現在式的詞綴 </a:t>
            </a:r>
            <a:r>
              <a:rPr lang="en-US" altLang="zh-TW" sz="2400"/>
              <a:t>(suffixes): </a:t>
            </a:r>
            <a:r>
              <a:rPr lang="zh-TW" altLang="en-US" sz="2400"/>
              <a:t>電報句</a:t>
            </a:r>
            <a:r>
              <a:rPr lang="en-US" altLang="zh-TW" sz="2400"/>
              <a:t>(</a:t>
            </a:r>
            <a:r>
              <a:rPr lang="en-US" altLang="zh-HK" sz="2400"/>
              <a:t>telegraphic sentences</a:t>
            </a:r>
            <a:r>
              <a:rPr lang="en-US" altLang="zh-TW" sz="2400"/>
              <a:t>)</a:t>
            </a:r>
          </a:p>
          <a:p>
            <a:pPr>
              <a:lnSpc>
                <a:spcPct val="90000"/>
              </a:lnSpc>
            </a:pPr>
            <a:r>
              <a:rPr lang="zh-TW" altLang="en-US" sz="2400"/>
              <a:t>多是實詞 </a:t>
            </a:r>
            <a:r>
              <a:rPr lang="en-US" altLang="zh-TW" sz="2400"/>
              <a:t>(content words)</a:t>
            </a:r>
            <a:r>
              <a:rPr lang="zh-TW" altLang="en-US" sz="2400"/>
              <a:t>，很少虛詞 </a:t>
            </a:r>
            <a:r>
              <a:rPr lang="en-US" altLang="zh-TW" sz="2400"/>
              <a:t>(function words) [</a:t>
            </a:r>
            <a:r>
              <a:rPr lang="zh-TW" altLang="en-US" sz="2400"/>
              <a:t>虛詞大約在兩歲半後逐漸出現</a:t>
            </a:r>
            <a:r>
              <a:rPr lang="en-US" altLang="zh-TW" sz="2400"/>
              <a:t>]</a:t>
            </a:r>
            <a:endParaRPr lang="zh-HK" altLang="en-US" sz="240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7F50FB-D886-4566-9485-5452870056DB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zh-TW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3. </a:t>
            </a:r>
            <a:r>
              <a:rPr lang="zh-TW" altLang="en-US" sz="4600" u="sng" dirty="0">
                <a:latin typeface="Garamond" panose="02020404030301010803" pitchFamily="18" charset="0"/>
                <a:ea typeface="+mn-ea"/>
                <a:cs typeface="Arial" panose="020B0604020202020204" pitchFamily="34" charset="0"/>
              </a:rPr>
              <a:t>語言習得的階段</a:t>
            </a:r>
            <a:endParaRPr lang="zh-HK" altLang="en-US" sz="4600" u="sng" dirty="0">
              <a:latin typeface="Garamond" panose="02020404030301010803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51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/>
          <a:lstStyle/>
          <a:p>
            <a:r>
              <a:rPr lang="zh-TW" altLang="en-US"/>
              <a:t>過了雙詞期，孩子似乎直接進入了多詞期</a:t>
            </a:r>
            <a:endParaRPr lang="en-US" altLang="zh-TW"/>
          </a:p>
          <a:p>
            <a:r>
              <a:rPr lang="zh-TW" altLang="en-US"/>
              <a:t>孩子的語言發展出現了很大的個別差異</a:t>
            </a:r>
            <a:endParaRPr lang="en-US" altLang="zh-TW"/>
          </a:p>
          <a:p>
            <a:r>
              <a:rPr lang="zh-TW" altLang="en-US"/>
              <a:t>研究這時期的說話一般用「語流長度的平均數」</a:t>
            </a:r>
            <a:r>
              <a:rPr lang="en-US" altLang="zh-TW"/>
              <a:t>(mean length of utterances, MLU)</a:t>
            </a:r>
            <a:r>
              <a:rPr lang="zh-TW" altLang="en-US"/>
              <a:t> 作記錄單位</a:t>
            </a:r>
            <a:endParaRPr lang="en-US" altLang="zh-TW"/>
          </a:p>
          <a:p>
            <a:endParaRPr lang="en-US" altLang="zh-TW"/>
          </a:p>
          <a:p>
            <a:r>
              <a:rPr lang="en-US" altLang="zh-HK"/>
              <a:t>calculation: the total number of morphemes (</a:t>
            </a:r>
            <a:r>
              <a:rPr lang="zh-TW" altLang="en-US"/>
              <a:t>語素</a:t>
            </a:r>
            <a:r>
              <a:rPr lang="en-US" altLang="zh-TW"/>
              <a:t>: </a:t>
            </a:r>
            <a:r>
              <a:rPr lang="en-US" altLang="zh-TW" i="1"/>
              <a:t>the smallest meaningful unit in a language</a:t>
            </a:r>
            <a:r>
              <a:rPr lang="en-US" altLang="zh-HK"/>
              <a:t>) divided by the total number of utterances </a:t>
            </a:r>
            <a:endParaRPr lang="en-US" altLang="zh-TW"/>
          </a:p>
          <a:p>
            <a:pPr lvl="1"/>
            <a:r>
              <a:rPr lang="en-US" altLang="zh-TW"/>
              <a:t>24</a:t>
            </a:r>
            <a:r>
              <a:rPr lang="zh-TW" altLang="en-US"/>
              <a:t>個月：</a:t>
            </a:r>
            <a:r>
              <a:rPr lang="en-US" altLang="zh-TW"/>
              <a:t>1.92</a:t>
            </a:r>
          </a:p>
          <a:p>
            <a:pPr lvl="1"/>
            <a:r>
              <a:rPr lang="en-US" altLang="zh-TW"/>
              <a:t>36</a:t>
            </a:r>
            <a:r>
              <a:rPr lang="zh-TW" altLang="en-US"/>
              <a:t>個月：</a:t>
            </a:r>
            <a:r>
              <a:rPr lang="en-US" altLang="zh-TW"/>
              <a:t>3.16</a:t>
            </a:r>
          </a:p>
          <a:p>
            <a:pPr lvl="1"/>
            <a:r>
              <a:rPr lang="en-US" altLang="zh-TW"/>
              <a:t>48</a:t>
            </a:r>
            <a:r>
              <a:rPr lang="zh-TW" altLang="en-US"/>
              <a:t>個月：</a:t>
            </a:r>
            <a:r>
              <a:rPr lang="en-US" altLang="zh-TW"/>
              <a:t>4.40</a:t>
            </a:r>
          </a:p>
          <a:p>
            <a:pPr lvl="1"/>
            <a:endParaRPr lang="zh-HK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605810-4A49-44CE-94C1-8A07FD3382E1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sz="4600">
                <a:ea typeface="PMingLiU" panose="02020500000000000000" pitchFamily="18" charset="-120"/>
              </a:rPr>
              <a:t>本課回顧</a:t>
            </a:r>
            <a:endParaRPr lang="en-US" altLang="zh-HK" sz="4600">
              <a:ea typeface="PMingLiU" panose="02020500000000000000" pitchFamily="18" charset="-12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endParaRPr lang="en-US" altLang="zh-TW" sz="2800" dirty="0"/>
          </a:p>
          <a:p>
            <a:pPr lvl="1"/>
            <a:r>
              <a:rPr lang="zh-TW" altLang="en-US" sz="2800" dirty="0"/>
              <a:t>語言習得的理論</a:t>
            </a:r>
            <a:endParaRPr lang="en-US" altLang="zh-HK" sz="2800" dirty="0"/>
          </a:p>
          <a:p>
            <a:pPr lvl="1"/>
            <a:r>
              <a:rPr lang="zh-TW" altLang="en-US" sz="2800" dirty="0"/>
              <a:t>關鍵時期</a:t>
            </a:r>
            <a:endParaRPr lang="en-US" altLang="zh-HK" sz="2800" dirty="0"/>
          </a:p>
          <a:p>
            <a:pPr lvl="1"/>
            <a:r>
              <a:rPr lang="zh-TW" altLang="en-US" sz="2800" dirty="0"/>
              <a:t>語言習得的階段</a:t>
            </a:r>
            <a:endParaRPr lang="en-US" altLang="zh-HK" sz="2800" dirty="0"/>
          </a:p>
          <a:p>
            <a:pPr lvl="1"/>
            <a:endParaRPr lang="en-US" altLang="zh-TW" sz="2800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45CF00-BA4C-402D-BA76-179591E4B87C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sz="4600">
                <a:ea typeface="PMingLiU" panose="02020500000000000000" pitchFamily="18" charset="-120"/>
              </a:rPr>
              <a:t>下一課</a:t>
            </a:r>
            <a:endParaRPr lang="en-US" altLang="en-US" sz="4600"/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724400"/>
          </a:xfrm>
        </p:spPr>
        <p:txBody>
          <a:bodyPr/>
          <a:lstStyle/>
          <a:p>
            <a:r>
              <a:rPr lang="zh-TW" altLang="en-US" sz="3600" dirty="0"/>
              <a:t>語音學</a:t>
            </a:r>
            <a:r>
              <a:rPr lang="en-US" altLang="zh-TW" sz="3600" dirty="0"/>
              <a:t> phonetics: </a:t>
            </a:r>
            <a:br>
              <a:rPr lang="en-US" altLang="zh-TW" sz="3600" dirty="0"/>
            </a:br>
            <a:r>
              <a:rPr lang="en-US" altLang="zh-TW" sz="3600" dirty="0"/>
              <a:t>the study of speech sounds</a:t>
            </a:r>
            <a:br>
              <a:rPr lang="en-US" altLang="zh-TW" sz="3600" dirty="0"/>
            </a:br>
            <a:r>
              <a:rPr lang="en-US" altLang="zh-TW" sz="3600" dirty="0"/>
              <a:t/>
            </a:r>
            <a:br>
              <a:rPr lang="en-US" altLang="zh-TW" sz="3600" dirty="0"/>
            </a:br>
            <a:r>
              <a:rPr lang="en-US" altLang="zh-TW" sz="3200" dirty="0"/>
              <a:t>(L3-L5 </a:t>
            </a:r>
            <a:r>
              <a:rPr lang="zh-TW" altLang="en-US" sz="3200" dirty="0"/>
              <a:t>談語言的聲音、發音器官、語音的分類、音位學、英語的語音等題目</a:t>
            </a:r>
            <a:r>
              <a:rPr lang="en-HK" altLang="zh-TW" sz="3200" dirty="0"/>
              <a:t>)</a:t>
            </a:r>
            <a:endParaRPr lang="en-US" altLang="zh-TW" sz="3200" dirty="0"/>
          </a:p>
          <a:p>
            <a:endParaRPr lang="en-US" alt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2325B6-15A4-4A00-AEBD-E9DC68DEAC01}" type="slidenum">
              <a:rPr lang="zh-TW" altLang="en-GB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GB" altLang="zh-TW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5223</TotalTime>
  <Words>1897</Words>
  <PresentationFormat>On-screen Show (4:3)</PresentationFormat>
  <Paragraphs>251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微軟正黑體</vt:lpstr>
      <vt:lpstr>PMingLiU</vt:lpstr>
      <vt:lpstr>PMingLiU</vt:lpstr>
      <vt:lpstr>Arial</vt:lpstr>
      <vt:lpstr>Franklin Gothic Book</vt:lpstr>
      <vt:lpstr>Garamond</vt:lpstr>
      <vt:lpstr>Perpetua</vt:lpstr>
      <vt:lpstr>Times New Roman</vt:lpstr>
      <vt:lpstr>Wingdings 2</vt:lpstr>
      <vt:lpstr>Equity</vt:lpstr>
      <vt:lpstr> CBS1A01P Fun with Language</vt:lpstr>
      <vt:lpstr>上一課</vt:lpstr>
      <vt:lpstr>本課題目</vt:lpstr>
      <vt:lpstr>語言習得</vt:lpstr>
      <vt:lpstr>1. 語言習得理論</vt:lpstr>
      <vt:lpstr>1. 語言習得理論</vt:lpstr>
      <vt:lpstr>1. 語言習得理論</vt:lpstr>
      <vt:lpstr>1. 語言習得理論</vt:lpstr>
      <vt:lpstr>1. 語言習得理論</vt:lpstr>
      <vt:lpstr>1. 語言習得理論</vt:lpstr>
      <vt:lpstr>1. 語言習得理論</vt:lpstr>
      <vt:lpstr>1. 語言習得理論</vt:lpstr>
      <vt:lpstr>1. 語言習得理論</vt:lpstr>
      <vt:lpstr>1. 語言習得理論</vt:lpstr>
      <vt:lpstr>1. 語言習得理論</vt:lpstr>
      <vt:lpstr>2. 關鍵時期</vt:lpstr>
      <vt:lpstr>2. 關鍵時期</vt:lpstr>
      <vt:lpstr>2. 關鍵時期</vt:lpstr>
      <vt:lpstr>2. 關鍵時期</vt:lpstr>
      <vt:lpstr>3. 語言習得的階段</vt:lpstr>
      <vt:lpstr>3. 語言習得的階段</vt:lpstr>
      <vt:lpstr>3. 語言習得的階段</vt:lpstr>
      <vt:lpstr>3. 語言習得的階段</vt:lpstr>
      <vt:lpstr>3. 語言習得的階段</vt:lpstr>
      <vt:lpstr>3. 語言習得的階段</vt:lpstr>
      <vt:lpstr>3. 語言習得的階段</vt:lpstr>
      <vt:lpstr>3. 語言習得的階段</vt:lpstr>
      <vt:lpstr>3. 語言習得的階段</vt:lpstr>
      <vt:lpstr>本課回顧</vt:lpstr>
      <vt:lpstr>下一課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2006-01-23T02:36:42Z</dcterms:created>
  <dcterms:modified xsi:type="dcterms:W3CDTF">2023-09-07T06:48:54Z</dcterms:modified>
</cp:coreProperties>
</file>
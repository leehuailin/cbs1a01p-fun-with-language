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876" r:id="rId1"/>
  </p:sldMasterIdLst>
  <p:notesMasterIdLst>
    <p:notesMasterId r:id="rId46"/>
  </p:notesMasterIdLst>
  <p:sldIdLst>
    <p:sldId id="256" r:id="rId2"/>
    <p:sldId id="586" r:id="rId3"/>
    <p:sldId id="585" r:id="rId4"/>
    <p:sldId id="560" r:id="rId5"/>
    <p:sldId id="542" r:id="rId6"/>
    <p:sldId id="484" r:id="rId7"/>
    <p:sldId id="544" r:id="rId8"/>
    <p:sldId id="485" r:id="rId9"/>
    <p:sldId id="545" r:id="rId10"/>
    <p:sldId id="486" r:id="rId11"/>
    <p:sldId id="489" r:id="rId12"/>
    <p:sldId id="483" r:id="rId13"/>
    <p:sldId id="536" r:id="rId14"/>
    <p:sldId id="490" r:id="rId15"/>
    <p:sldId id="521" r:id="rId16"/>
    <p:sldId id="494" r:id="rId17"/>
    <p:sldId id="495" r:id="rId18"/>
    <p:sldId id="525" r:id="rId19"/>
    <p:sldId id="526" r:id="rId20"/>
    <p:sldId id="498" r:id="rId21"/>
    <p:sldId id="548" r:id="rId22"/>
    <p:sldId id="549" r:id="rId23"/>
    <p:sldId id="522" r:id="rId24"/>
    <p:sldId id="528" r:id="rId25"/>
    <p:sldId id="529" r:id="rId26"/>
    <p:sldId id="501" r:id="rId27"/>
    <p:sldId id="502" r:id="rId28"/>
    <p:sldId id="550" r:id="rId29"/>
    <p:sldId id="504" r:id="rId30"/>
    <p:sldId id="551" r:id="rId31"/>
    <p:sldId id="532" r:id="rId32"/>
    <p:sldId id="506" r:id="rId33"/>
    <p:sldId id="507" r:id="rId34"/>
    <p:sldId id="508" r:id="rId35"/>
    <p:sldId id="587" r:id="rId36"/>
    <p:sldId id="509" r:id="rId37"/>
    <p:sldId id="510" r:id="rId38"/>
    <p:sldId id="533" r:id="rId39"/>
    <p:sldId id="511" r:id="rId40"/>
    <p:sldId id="592" r:id="rId41"/>
    <p:sldId id="593" r:id="rId42"/>
    <p:sldId id="594" r:id="rId43"/>
    <p:sldId id="595" r:id="rId44"/>
    <p:sldId id="596" r:id="rId45"/>
  </p:sldIdLst>
  <p:sldSz cx="9144000" cy="6858000" type="screen4x3"/>
  <p:notesSz cx="6858000" cy="9144000"/>
  <p:embeddedFontLst>
    <p:embeddedFont>
      <p:font typeface="Candara" panose="020E0502030303020204" pitchFamily="34" charset="0"/>
      <p:regular r:id="rId47"/>
      <p:bold r:id="rId48"/>
      <p:italic r:id="rId49"/>
      <p:boldItalic r:id="rId50"/>
    </p:embeddedFont>
    <p:embeddedFont>
      <p:font typeface="KaiTi" panose="02010609060101010101" pitchFamily="49" charset="-122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5737" autoAdjust="0"/>
  </p:normalViewPr>
  <p:slideViewPr>
    <p:cSldViewPr>
      <p:cViewPr varScale="1">
        <p:scale>
          <a:sx n="101" d="100"/>
          <a:sy n="10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45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12/6/2024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54351-3776-481E-98A1-CBCB02763DC8}" type="slidenum">
              <a:rPr lang="zh-HK" altLang="en-US" smtClean="0"/>
              <a:pPr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9018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3323" y="3721473"/>
            <a:ext cx="5120640" cy="1581150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29ACD6A-74F1-4F22-B6F5-07549CF96A10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1475" y="6429375"/>
            <a:ext cx="876300" cy="2921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739896" y="1417320"/>
            <a:ext cx="5120640" cy="2304288"/>
          </a:xfrm>
        </p:spPr>
        <p:txBody>
          <a:bodyPr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5489634" y="0"/>
            <a:ext cx="3393768" cy="6858000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F3498-A3B5-4CDA-B7CD-65EF8DE2BFCA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276225" y="228600"/>
            <a:ext cx="8591550" cy="10668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938A29E-1237-4426-90DD-8FEB1EA11AC1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743324" y="1400174"/>
            <a:ext cx="5120640" cy="1476375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7"/>
          <p:cNvSpPr>
            <a:spLocks noChangeAspect="1" noEditPoints="1"/>
          </p:cNvSpPr>
          <p:nvPr/>
        </p:nvSpPr>
        <p:spPr bwMode="auto">
          <a:xfrm>
            <a:off x="34289" y="136641"/>
            <a:ext cx="3326149" cy="6721359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733800" y="2895599"/>
            <a:ext cx="5129543" cy="2667001"/>
          </a:xfrm>
        </p:spPr>
        <p:txBody>
          <a:bodyPr anchor="t">
            <a:normAutofit/>
          </a:bodyPr>
          <a:lstStyle>
            <a:lvl1pPr>
              <a:defRPr kumimoji="0" lang="en-US" sz="4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0977-DCE4-4712-8342-1108AFD3DD7D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9248F-DE44-48E8-A0BA-13C16FDF70AD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5" y="1298448"/>
            <a:ext cx="4248150" cy="50958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15815" y="1298448"/>
            <a:ext cx="4248150" cy="50958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CAE842-FB3A-40C3-8D70-08C340E73227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C7697-9822-4E75-A00A-2109507570C0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4B72AA8-3C28-4C0B-9535-4BC30EEC93E0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2834640" cy="12984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4"/>
          </p:nvPr>
        </p:nvSpPr>
        <p:spPr>
          <a:xfrm>
            <a:off x="3775935" y="533400"/>
            <a:ext cx="5063266" cy="57028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4" y="1539240"/>
            <a:ext cx="2834640" cy="4709160"/>
          </a:xfrm>
        </p:spPr>
        <p:txBody>
          <a:bodyPr>
            <a:normAutofit/>
          </a:bodyPr>
          <a:lstStyle>
            <a:lvl1pPr marL="0" indent="0">
              <a:buNone/>
              <a:defRPr lang="en-US" sz="1600" b="0" i="0" kern="1200" cap="none" spc="30" baseline="0" dirty="0" smtClean="0">
                <a:solidFill>
                  <a:schemeClr val="bg2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09950" y="0"/>
            <a:ext cx="5734050" cy="6858000"/>
          </a:xfrm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7007A80-C311-4876-B9F6-0A9808E2505D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276224" y="228600"/>
            <a:ext cx="2834640" cy="12953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274320" y="1536192"/>
            <a:ext cx="2834640" cy="47122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1C619-26AC-462D-80D0-5D74841BD9BF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A54F-D469-46D8-8E43-EB8DED353477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25" y="1295400"/>
            <a:ext cx="8591550" cy="4933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225" y="6429375"/>
            <a:ext cx="21336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fld id="{FE03CCBD-FA08-49C8-9B8E-2C21BB0A64AA}" type="datetime1">
              <a:rPr lang="en-US" altLang="zh-HK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3324" y="6429375"/>
            <a:ext cx="4086225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1475" y="6429375"/>
            <a:ext cx="8763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 dt="0"/>
  <p:txStyles>
    <p:titleStyle>
      <a:lvl1pPr algn="l" defTabSz="914400" rtl="0" eaLnBrk="1" latinLnBrk="0" hangingPunct="1">
        <a:spcBef>
          <a:spcPts val="400"/>
        </a:spcBef>
        <a:buNone/>
        <a:defRPr sz="3600" b="0" kern="1200" cap="none" spc="0" baseline="0">
          <a:solidFill>
            <a:schemeClr val="tx2"/>
          </a:solidFill>
          <a:latin typeface="+mj-lt"/>
          <a:ea typeface="+mj-ea"/>
          <a:cs typeface="Tunga" pitchFamily="2"/>
        </a:defRPr>
      </a:lvl1pPr>
    </p:titleStyle>
    <p:bodyStyle>
      <a:lvl1pPr marL="171450" indent="-173736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2200" b="0" i="0" kern="1200" cap="none" spc="30" baseline="0">
          <a:solidFill>
            <a:schemeClr val="tx2"/>
          </a:solidFill>
          <a:latin typeface="+mn-lt"/>
          <a:ea typeface="+mn-ea"/>
          <a:cs typeface="Tahoma" pitchFamily="34" charset="0"/>
        </a:defRPr>
      </a:lvl1pPr>
      <a:lvl2pPr marL="34448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51593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3pPr>
      <a:lvl4pPr marL="68897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86042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Tahoma" pitchFamily="34" charset="0"/>
        </a:defRPr>
      </a:lvl5pPr>
      <a:lvl6pPr marL="105156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41732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4760" y="3721473"/>
            <a:ext cx="5120640" cy="1581150"/>
          </a:xfrm>
        </p:spPr>
        <p:txBody>
          <a:bodyPr>
            <a:noAutofit/>
          </a:bodyPr>
          <a:lstStyle/>
          <a:p>
            <a:endParaRPr lang="en-HK" altLang="zh-TW" sz="3200" dirty="0"/>
          </a:p>
          <a:p>
            <a:r>
              <a:rPr lang="zh-TW" altLang="en-US" sz="3200" dirty="0"/>
              <a:t>構詞學 </a:t>
            </a:r>
            <a:r>
              <a:rPr lang="en-US" altLang="zh-TW" sz="3200" dirty="0"/>
              <a:t>morphology</a:t>
            </a:r>
            <a:r>
              <a:rPr lang="zh-TW" altLang="en-US" sz="3200" dirty="0"/>
              <a:t>：</a:t>
            </a:r>
            <a:br>
              <a:rPr lang="en-US" altLang="zh-TW" sz="3200" dirty="0"/>
            </a:br>
            <a:r>
              <a:rPr lang="zh-TW" altLang="en-US" sz="3200" dirty="0"/>
              <a:t>詞彙及其結構</a:t>
            </a:r>
            <a:endParaRPr lang="zh-HK" alt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752600"/>
            <a:ext cx="5334000" cy="1343028"/>
          </a:xfrm>
        </p:spPr>
        <p:txBody>
          <a:bodyPr>
            <a:normAutofit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155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762000"/>
          </a:xfrm>
        </p:spPr>
        <p:txBody>
          <a:bodyPr/>
          <a:lstStyle/>
          <a:p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066800"/>
            <a:ext cx="8793480" cy="5169408"/>
          </a:xfrm>
        </p:spPr>
        <p:txBody>
          <a:bodyPr/>
          <a:lstStyle/>
          <a:p>
            <a:pPr lvl="0">
              <a:buClr>
                <a:srgbClr val="61625E"/>
              </a:buClr>
            </a:pPr>
            <a:r>
              <a:rPr lang="zh-TW" altLang="en-US" sz="2600" dirty="0">
                <a:solidFill>
                  <a:srgbClr val="48231E"/>
                </a:solidFill>
              </a:rPr>
              <a:t>第</a:t>
            </a:r>
            <a:r>
              <a:rPr lang="en-US" altLang="zh-TW" sz="2600" dirty="0">
                <a:solidFill>
                  <a:srgbClr val="48231E"/>
                </a:solidFill>
              </a:rPr>
              <a:t>3</a:t>
            </a:r>
            <a:r>
              <a:rPr lang="zh-TW" altLang="en-US" sz="2600" dirty="0">
                <a:solidFill>
                  <a:srgbClr val="48231E"/>
                </a:solidFill>
              </a:rPr>
              <a:t>課及之後的主題：</a:t>
            </a:r>
            <a:endParaRPr lang="en-US" altLang="zh-TW" sz="2600" dirty="0">
              <a:solidFill>
                <a:srgbClr val="48231E"/>
              </a:solidFill>
            </a:endParaRPr>
          </a:p>
          <a:p>
            <a:pPr lvl="1">
              <a:buClr>
                <a:srgbClr val="61625E"/>
              </a:buClr>
            </a:pPr>
            <a:r>
              <a:rPr lang="zh-TW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語音</a:t>
            </a:r>
            <a:r>
              <a:rPr lang="zh-TW" altLang="en-US" sz="2200" dirty="0">
                <a:solidFill>
                  <a:srgbClr val="48231E"/>
                </a:solidFill>
              </a:rPr>
              <a:t>、</a:t>
            </a:r>
            <a:r>
              <a:rPr lang="zh-TW" alt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詞彙</a:t>
            </a:r>
            <a:r>
              <a:rPr lang="zh-TW" altLang="en-US" sz="2200" dirty="0">
                <a:solidFill>
                  <a:srgbClr val="48231E"/>
                </a:solidFill>
              </a:rPr>
              <a:t>、</a:t>
            </a:r>
            <a:r>
              <a:rPr lang="zh-TW" altLang="en-US" sz="2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語義</a:t>
            </a:r>
            <a:r>
              <a:rPr lang="zh-TW" altLang="en-US" sz="2200" dirty="0">
                <a:solidFill>
                  <a:srgbClr val="48231E"/>
                </a:solidFill>
              </a:rPr>
              <a:t>、</a:t>
            </a:r>
            <a:r>
              <a:rPr lang="zh-TW" altLang="en-US" sz="2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句法</a:t>
            </a:r>
            <a:r>
              <a:rPr lang="zh-TW" altLang="en-US" sz="2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、方言、語言保育、語言接觸</a:t>
            </a:r>
            <a:endParaRPr lang="en-US" altLang="zh-TW" sz="2200" dirty="0">
              <a:solidFill>
                <a:schemeClr val="tx1"/>
              </a:solidFill>
            </a:endParaRPr>
          </a:p>
          <a:p>
            <a:pPr>
              <a:buClr>
                <a:srgbClr val="61625E"/>
              </a:buClr>
            </a:pPr>
            <a:r>
              <a:rPr lang="zh-TW" altLang="en-US" sz="2600" dirty="0">
                <a:solidFill>
                  <a:srgbClr val="48231E"/>
                </a:solidFill>
              </a:rPr>
              <a:t>對語言結構的研究：</a:t>
            </a:r>
            <a:endParaRPr lang="en-US" altLang="zh-TW" sz="2600" dirty="0">
              <a:solidFill>
                <a:srgbClr val="48231E"/>
              </a:solidFill>
            </a:endParaRPr>
          </a:p>
          <a:p>
            <a:pPr lvl="1">
              <a:buClr>
                <a:srgbClr val="61625E"/>
              </a:buClr>
            </a:pPr>
            <a:r>
              <a:rPr lang="en-US" altLang="zh-TW" sz="2400" dirty="0">
                <a:solidFill>
                  <a:srgbClr val="48231E"/>
                </a:solidFill>
              </a:rPr>
              <a:t>phonetics </a:t>
            </a:r>
            <a:r>
              <a:rPr lang="zh-TW" altLang="en-US" sz="2400" dirty="0">
                <a:solidFill>
                  <a:srgbClr val="48231E"/>
                </a:solidFill>
              </a:rPr>
              <a:t>語音學；</a:t>
            </a:r>
            <a:r>
              <a:rPr lang="en-US" altLang="zh-TW" sz="2400" dirty="0">
                <a:solidFill>
                  <a:srgbClr val="48231E"/>
                </a:solidFill>
              </a:rPr>
              <a:t>phonology </a:t>
            </a:r>
            <a:r>
              <a:rPr lang="zh-TW" altLang="en-US" sz="2400" dirty="0">
                <a:solidFill>
                  <a:srgbClr val="48231E"/>
                </a:solidFill>
              </a:rPr>
              <a:t>音韻學</a:t>
            </a:r>
            <a:r>
              <a:rPr lang="en-US" altLang="zh-TW" sz="2400" dirty="0">
                <a:solidFill>
                  <a:srgbClr val="48231E"/>
                </a:solidFill>
              </a:rPr>
              <a:t>; </a:t>
            </a:r>
            <a:br>
              <a:rPr lang="en-US" altLang="zh-TW" sz="2400" dirty="0">
                <a:solidFill>
                  <a:srgbClr val="48231E"/>
                </a:solidFill>
              </a:rPr>
            </a:br>
            <a:r>
              <a:rPr lang="en-US" altLang="zh-TW" sz="2400" dirty="0">
                <a:solidFill>
                  <a:srgbClr val="48231E"/>
                </a:solidFill>
              </a:rPr>
              <a:t>morphology </a:t>
            </a:r>
            <a:r>
              <a:rPr lang="zh-TW" altLang="en-US" sz="2400" dirty="0">
                <a:solidFill>
                  <a:srgbClr val="48231E"/>
                </a:solidFill>
              </a:rPr>
              <a:t>構詞學；</a:t>
            </a:r>
            <a:r>
              <a:rPr lang="en-US" altLang="zh-TW" sz="2400" dirty="0">
                <a:solidFill>
                  <a:srgbClr val="48231E"/>
                </a:solidFill>
              </a:rPr>
              <a:t>syntax </a:t>
            </a:r>
            <a:r>
              <a:rPr lang="zh-TW" altLang="en-US" sz="2400" dirty="0">
                <a:solidFill>
                  <a:srgbClr val="48231E"/>
                </a:solidFill>
              </a:rPr>
              <a:t>句法學；</a:t>
            </a:r>
            <a:r>
              <a:rPr lang="en-US" altLang="zh-TW" sz="2400" dirty="0">
                <a:solidFill>
                  <a:srgbClr val="48231E"/>
                </a:solidFill>
              </a:rPr>
              <a:t>semantics </a:t>
            </a:r>
            <a:r>
              <a:rPr lang="zh-TW" altLang="en-US" sz="2400" dirty="0">
                <a:solidFill>
                  <a:srgbClr val="48231E"/>
                </a:solidFill>
              </a:rPr>
              <a:t>語義學</a:t>
            </a:r>
            <a:endParaRPr lang="en-US" altLang="zh-TW" sz="2400" dirty="0">
              <a:solidFill>
                <a:srgbClr val="48231E"/>
              </a:solidFill>
            </a:endParaRPr>
          </a:p>
          <a:p>
            <a:pPr lvl="0">
              <a:buClr>
                <a:srgbClr val="61625E"/>
              </a:buClr>
            </a:pPr>
            <a:endParaRPr lang="en-US" altLang="zh-TW" sz="3000" dirty="0">
              <a:solidFill>
                <a:srgbClr val="48231E"/>
              </a:solidFill>
            </a:endParaRPr>
          </a:p>
          <a:p>
            <a:pPr lvl="0">
              <a:buClr>
                <a:srgbClr val="61625E"/>
              </a:buClr>
            </a:pPr>
            <a:endParaRPr lang="en-US" altLang="zh-HK" sz="2800" dirty="0">
              <a:solidFill>
                <a:srgbClr val="48231E"/>
              </a:solidFill>
            </a:endParaRPr>
          </a:p>
          <a:p>
            <a:pPr lvl="0">
              <a:buClr>
                <a:srgbClr val="61625E"/>
              </a:buClr>
            </a:pPr>
            <a:endParaRPr lang="zh-HK" altLang="en-US" sz="2800" dirty="0">
              <a:solidFill>
                <a:srgbClr val="48231E"/>
              </a:solidFill>
            </a:endParaRPr>
          </a:p>
          <a:p>
            <a:endParaRPr lang="zh-HK" altLang="en-US" dirty="0"/>
          </a:p>
        </p:txBody>
      </p:sp>
      <p:pic>
        <p:nvPicPr>
          <p:cNvPr id="5" name="Picture 2" descr="C:\Users\class\Desktop\Phonetics_and_Levels_of_Languag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0057" y="3292475"/>
            <a:ext cx="6022005" cy="3429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306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 example: the word “minibus”</a:t>
            </a:r>
          </a:p>
          <a:p>
            <a:endParaRPr lang="en-US" sz="4000" dirty="0"/>
          </a:p>
          <a:p>
            <a:endParaRPr lang="en-GB" sz="4000" dirty="0"/>
          </a:p>
        </p:txBody>
      </p:sp>
      <p:pic>
        <p:nvPicPr>
          <p:cNvPr id="1026" name="Picture 2" descr="C:\Users\CBS\Desktop\OALD-minibu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57400"/>
            <a:ext cx="6400800" cy="455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94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本課題目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74320" y="1524000"/>
            <a:ext cx="8595360" cy="5181600"/>
          </a:xfrm>
        </p:spPr>
        <p:txBody>
          <a:bodyPr>
            <a:normAutofit/>
          </a:bodyPr>
          <a:lstStyle/>
          <a:p>
            <a:pPr marL="446088" lvl="1" indent="-274638"/>
            <a:r>
              <a:rPr lang="zh-TW" altLang="en-US" sz="3600" dirty="0"/>
              <a:t>詞語</a:t>
            </a:r>
            <a:r>
              <a:rPr lang="en-US" altLang="zh-TW" sz="3600" dirty="0"/>
              <a:t> words </a:t>
            </a:r>
          </a:p>
          <a:p>
            <a:pPr marL="446088" lvl="1" indent="-274638"/>
            <a:r>
              <a:rPr lang="zh-TW" altLang="en-US" sz="3600" dirty="0"/>
              <a:t>詞彙 </a:t>
            </a:r>
            <a:r>
              <a:rPr lang="en-US" altLang="zh-TW" sz="3600" dirty="0"/>
              <a:t>lexicon / vocabulary</a:t>
            </a:r>
          </a:p>
          <a:p>
            <a:pPr marL="446088" lvl="1" indent="-274638"/>
            <a:r>
              <a:rPr lang="zh-TW" altLang="en-US" sz="3600" dirty="0"/>
              <a:t>詞素</a:t>
            </a:r>
            <a:r>
              <a:rPr lang="en-US" altLang="zh-TW" sz="3600" dirty="0"/>
              <a:t> morphemes</a:t>
            </a:r>
          </a:p>
          <a:p>
            <a:pPr marL="446088" lvl="1" indent="-274638"/>
            <a:r>
              <a:rPr lang="zh-TW" altLang="en-US" sz="3600" dirty="0"/>
              <a:t>詞素的分類</a:t>
            </a:r>
            <a:endParaRPr lang="en-US" altLang="zh-TW" sz="3600" dirty="0"/>
          </a:p>
          <a:p>
            <a:pPr marL="446088" lvl="1" indent="-274638"/>
            <a:r>
              <a:rPr lang="zh-TW" altLang="en-US" sz="3600" dirty="0"/>
              <a:t>同位詞素 </a:t>
            </a:r>
            <a:r>
              <a:rPr lang="en-US" altLang="zh-TW" sz="3600" dirty="0"/>
              <a:t>allomorphs</a:t>
            </a:r>
          </a:p>
          <a:p>
            <a:pPr marL="446088" lvl="1" indent="-274638"/>
            <a:r>
              <a:rPr lang="zh-TW" altLang="en-US" sz="3600" dirty="0"/>
              <a:t>構詞方法</a:t>
            </a:r>
            <a:endParaRPr lang="en-US" altLang="zh-TW" sz="3600" dirty="0"/>
          </a:p>
          <a:p>
            <a:pPr marL="446088" lvl="1" indent="-274638"/>
            <a:endParaRPr lang="en-HK" altLang="zh-TW" sz="3000" dirty="0"/>
          </a:p>
          <a:p>
            <a:pPr marL="446088" lvl="1" indent="-274638"/>
            <a:r>
              <a:rPr lang="zh-TW" altLang="en-US" sz="3000" dirty="0"/>
              <a:t>（其他資料：依據詞彙結構方式把語言分類）</a:t>
            </a:r>
            <a:endParaRPr lang="en-US" altLang="zh-TW" sz="3000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75275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詞語及詞彙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7"/>
            <a:ext cx="8595360" cy="5423027"/>
          </a:xfrm>
        </p:spPr>
        <p:txBody>
          <a:bodyPr>
            <a:normAutofit lnSpcReduction="10000"/>
          </a:bodyPr>
          <a:lstStyle/>
          <a:p>
            <a:pPr marL="273050" indent="-274638"/>
            <a:r>
              <a:rPr lang="zh-TW" altLang="en-US" sz="3000" dirty="0">
                <a:solidFill>
                  <a:srgbClr val="7030A0"/>
                </a:solidFill>
              </a:rPr>
              <a:t>詞語 </a:t>
            </a:r>
            <a:r>
              <a:rPr lang="en-US" altLang="zh-TW" sz="3000" dirty="0">
                <a:solidFill>
                  <a:srgbClr val="7030A0"/>
                </a:solidFill>
              </a:rPr>
              <a:t>(words) </a:t>
            </a:r>
            <a:r>
              <a:rPr lang="zh-TW" altLang="en-US" sz="3000" dirty="0"/>
              <a:t>是語言結構中最基本的單位，也是孩子在語言習得的過程之中，唯一要背誦及學習的單位</a:t>
            </a:r>
            <a:endParaRPr lang="en-US" altLang="zh-TW" sz="3000" dirty="0"/>
          </a:p>
          <a:p>
            <a:endParaRPr lang="en-US" altLang="zh-TW" sz="3000" dirty="0"/>
          </a:p>
          <a:p>
            <a:pPr marL="273050" indent="-274638"/>
            <a:r>
              <a:rPr lang="en-US" altLang="zh-TW" sz="3000" dirty="0"/>
              <a:t>word:</a:t>
            </a:r>
          </a:p>
          <a:p>
            <a:pPr marL="446088" lvl="1" indent="-274638"/>
            <a:r>
              <a:rPr lang="en-US" altLang="zh-TW" sz="2800" dirty="0"/>
              <a:t>“a small unit of language that is associated with both a pronunciation and a meaning”</a:t>
            </a:r>
          </a:p>
          <a:p>
            <a:pPr marL="446088" lvl="1" indent="-274638"/>
            <a:r>
              <a:rPr lang="en-US" altLang="zh-TW" sz="2800" dirty="0"/>
              <a:t>“the smallest element that may be uttered </a:t>
            </a:r>
            <a:r>
              <a:rPr lang="en-US" altLang="zh-TW" sz="2800" u="sng" dirty="0"/>
              <a:t>in isolation</a:t>
            </a:r>
            <a:r>
              <a:rPr lang="en-US" altLang="zh-TW" sz="2800" dirty="0"/>
              <a:t> with semantic or pragmatic content”</a:t>
            </a:r>
          </a:p>
          <a:p>
            <a:pPr marL="273050" indent="-274638"/>
            <a:endParaRPr lang="en-HK" altLang="zh-TW" sz="3000" dirty="0"/>
          </a:p>
          <a:p>
            <a:pPr marL="273050" indent="-274638"/>
            <a:r>
              <a:rPr lang="zh-TW" altLang="en-US" sz="3000" dirty="0"/>
              <a:t>所有詞語的集合體稱為</a:t>
            </a:r>
            <a:r>
              <a:rPr lang="zh-TW" altLang="en-US" sz="3000" b="1" u="sng" dirty="0">
                <a:solidFill>
                  <a:srgbClr val="0070C0"/>
                </a:solidFill>
              </a:rPr>
              <a:t>詞彙</a:t>
            </a:r>
            <a:r>
              <a:rPr lang="zh-TW" altLang="en-US" sz="3000" dirty="0"/>
              <a:t> </a:t>
            </a:r>
            <a:r>
              <a:rPr lang="en-US" altLang="zh-TW" sz="3000" dirty="0"/>
              <a:t>(lexicon / vocabulary)</a:t>
            </a:r>
          </a:p>
          <a:p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8966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詞語及詞彙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altLang="zh-TW" sz="2600" dirty="0"/>
          </a:p>
          <a:p>
            <a:pPr marL="273050" indent="-274638"/>
            <a:r>
              <a:rPr lang="zh-TW" altLang="en-US" sz="3000" dirty="0"/>
              <a:t>我們如何能用</a:t>
            </a:r>
            <a:r>
              <a:rPr lang="zh-TW" altLang="en-US" sz="3000" u="sng" dirty="0">
                <a:solidFill>
                  <a:srgbClr val="7030A0"/>
                </a:solidFill>
              </a:rPr>
              <a:t>有限的詞彙</a:t>
            </a:r>
            <a:r>
              <a:rPr lang="zh-TW" altLang="en-US" sz="3000" dirty="0"/>
              <a:t>來產生</a:t>
            </a:r>
            <a:r>
              <a:rPr lang="zh-TW" altLang="en-US" sz="3000" u="sng" dirty="0">
                <a:solidFill>
                  <a:srgbClr val="0070C0"/>
                </a:solidFill>
              </a:rPr>
              <a:t>無限的用語</a:t>
            </a:r>
            <a:r>
              <a:rPr lang="zh-TW" altLang="en-US" sz="3000" dirty="0"/>
              <a:t>呢？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我們為甚麼能</a:t>
            </a:r>
            <a:r>
              <a:rPr lang="zh-TW" altLang="en-US" sz="3000" u="sng" dirty="0"/>
              <a:t>理解</a:t>
            </a:r>
            <a:r>
              <a:rPr lang="zh-TW" altLang="en-US" sz="3000" dirty="0"/>
              <a:t>很多我們從來</a:t>
            </a:r>
            <a:r>
              <a:rPr lang="zh-TW" altLang="en-US" sz="3000" u="sng" dirty="0"/>
              <a:t>沒有使用過</a:t>
            </a:r>
            <a:r>
              <a:rPr lang="zh-TW" altLang="en-US" sz="3000" dirty="0"/>
              <a:t>的詞語呢？</a:t>
            </a:r>
            <a:endParaRPr lang="en-US" altLang="zh-TW" sz="3000" dirty="0"/>
          </a:p>
          <a:p>
            <a:pPr marL="273050" indent="-274638"/>
            <a:endParaRPr lang="en-US" sz="3000" dirty="0"/>
          </a:p>
          <a:p>
            <a:pPr marL="273050" indent="-274638"/>
            <a:r>
              <a:rPr lang="zh-TW" altLang="en-US" sz="3000" dirty="0"/>
              <a:t>我們的語言能力</a:t>
            </a:r>
            <a:r>
              <a:rPr lang="en-US" altLang="zh-TW" sz="3000" dirty="0"/>
              <a:t> (linguistic competence) </a:t>
            </a:r>
            <a:r>
              <a:rPr lang="zh-TW" altLang="en-US" sz="3000" dirty="0"/>
              <a:t>必然存有一些更抽象的詞彙結構規律來幫助我們做好平時的溝通</a:t>
            </a:r>
            <a:endParaRPr lang="en-US" sz="3000" dirty="0"/>
          </a:p>
          <a:p>
            <a:pPr marL="273050" indent="-274638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1194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詞語的內在結構</a:t>
            </a:r>
            <a:endParaRPr lang="zh-HK" alt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7"/>
            <a:ext cx="8869680" cy="5423027"/>
          </a:xfrm>
        </p:spPr>
        <p:txBody>
          <a:bodyPr/>
          <a:lstStyle/>
          <a:p>
            <a:endParaRPr lang="en-US" altLang="zh-HK" dirty="0"/>
          </a:p>
          <a:p>
            <a:pPr marL="273050" indent="-274638"/>
            <a:r>
              <a:rPr lang="zh-TW" altLang="en-US" sz="3000" dirty="0"/>
              <a:t>比較</a:t>
            </a:r>
            <a:r>
              <a:rPr lang="en-US" altLang="zh-TW" sz="3000" b="1" dirty="0">
                <a:solidFill>
                  <a:srgbClr val="0070C0"/>
                </a:solidFill>
              </a:rPr>
              <a:t>	</a:t>
            </a:r>
            <a:r>
              <a:rPr lang="en-US" altLang="zh-HK" sz="3000" b="1" dirty="0">
                <a:solidFill>
                  <a:srgbClr val="7030A0"/>
                </a:solidFill>
              </a:rPr>
              <a:t>boy</a:t>
            </a:r>
            <a:r>
              <a:rPr lang="en-US" altLang="zh-HK" sz="3000" b="1" dirty="0"/>
              <a:t>	 </a:t>
            </a:r>
            <a:r>
              <a:rPr lang="zh-TW" altLang="en-US" sz="3000" b="1" dirty="0"/>
              <a:t>和</a:t>
            </a:r>
            <a:r>
              <a:rPr lang="en-US" altLang="zh-HK" sz="3000" b="1" dirty="0"/>
              <a:t>	</a:t>
            </a:r>
            <a:r>
              <a:rPr lang="en-US" altLang="zh-HK" sz="3000" b="1" dirty="0">
                <a:solidFill>
                  <a:srgbClr val="7030A0"/>
                </a:solidFill>
              </a:rPr>
              <a:t>boy</a:t>
            </a:r>
            <a:r>
              <a:rPr lang="en-US" altLang="zh-HK" sz="3000" b="1" dirty="0">
                <a:solidFill>
                  <a:srgbClr val="00B050"/>
                </a:solidFill>
              </a:rPr>
              <a:t>s</a:t>
            </a:r>
          </a:p>
          <a:p>
            <a:pPr marL="273050" indent="-274638"/>
            <a:r>
              <a:rPr lang="zh-TW" altLang="en-US" sz="3000" dirty="0"/>
              <a:t>我們可以把 </a:t>
            </a:r>
            <a:r>
              <a:rPr lang="en-US" altLang="zh-TW" sz="3000" dirty="0"/>
              <a:t>boys </a:t>
            </a:r>
            <a:r>
              <a:rPr lang="zh-TW" altLang="en-US" sz="3000" dirty="0"/>
              <a:t>分析為多少有意義的單位？</a:t>
            </a:r>
            <a:endParaRPr lang="en-US" altLang="zh-TW" sz="3000" dirty="0"/>
          </a:p>
          <a:p>
            <a:pPr marL="273050" indent="-274638"/>
            <a:r>
              <a:rPr lang="en-US" altLang="zh-TW" sz="3000" dirty="0"/>
              <a:t>-s </a:t>
            </a:r>
            <a:r>
              <a:rPr lang="zh-TW" altLang="en-US" sz="3000" dirty="0"/>
              <a:t>代表甚麼意思？ 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名詞的複數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比較</a:t>
            </a:r>
            <a:r>
              <a:rPr lang="en-US" altLang="zh-TW" sz="3000" b="1" dirty="0">
                <a:solidFill>
                  <a:srgbClr val="0070C0"/>
                </a:solidFill>
              </a:rPr>
              <a:t>	</a:t>
            </a:r>
            <a:r>
              <a:rPr lang="en-US" altLang="zh-HK" sz="3000" b="1" dirty="0">
                <a:solidFill>
                  <a:srgbClr val="7030A0"/>
                </a:solidFill>
              </a:rPr>
              <a:t>kick</a:t>
            </a:r>
            <a:r>
              <a:rPr lang="en-US" altLang="zh-HK" sz="3000" b="1" dirty="0"/>
              <a:t>	 </a:t>
            </a:r>
            <a:r>
              <a:rPr lang="zh-TW" altLang="en-US" sz="3000" b="1" dirty="0"/>
              <a:t>和</a:t>
            </a:r>
            <a:r>
              <a:rPr lang="en-US" altLang="zh-TW" sz="3000" b="1" dirty="0"/>
              <a:t>	</a:t>
            </a:r>
            <a:r>
              <a:rPr lang="en-US" altLang="zh-HK" sz="3000" b="1" dirty="0">
                <a:solidFill>
                  <a:srgbClr val="7030A0"/>
                </a:solidFill>
              </a:rPr>
              <a:t>kick</a:t>
            </a:r>
            <a:r>
              <a:rPr lang="en-US" altLang="zh-HK" sz="3000" b="1" dirty="0">
                <a:solidFill>
                  <a:srgbClr val="00B050"/>
                </a:solidFill>
              </a:rPr>
              <a:t>s</a:t>
            </a:r>
          </a:p>
          <a:p>
            <a:pPr marL="273050" indent="-274638"/>
            <a:r>
              <a:rPr lang="en-US" altLang="zh-TW" sz="3000" dirty="0"/>
              <a:t>-s </a:t>
            </a:r>
            <a:r>
              <a:rPr lang="zh-TW" altLang="en-US" sz="3000" dirty="0"/>
              <a:t>代表甚麼意思？</a:t>
            </a:r>
            <a:endParaRPr lang="en-US" altLang="zh-TW" sz="3000" dirty="0"/>
          </a:p>
          <a:p>
            <a:pPr marL="171450" lvl="1" indent="0">
              <a:buNone/>
            </a:pPr>
            <a:r>
              <a:rPr lang="zh-TW" altLang="en-US" sz="2800" dirty="0"/>
              <a:t>（提示：</a:t>
            </a:r>
            <a:r>
              <a:rPr lang="en-US" altLang="zh-TW" sz="2800" dirty="0"/>
              <a:t>kick </a:t>
            </a:r>
            <a:r>
              <a:rPr lang="zh-TW" altLang="en-US" sz="2800" dirty="0"/>
              <a:t>可以是名詞 </a:t>
            </a:r>
            <a:r>
              <a:rPr lang="en-US" altLang="zh-TW" sz="2800" dirty="0"/>
              <a:t>noun </a:t>
            </a:r>
            <a:r>
              <a:rPr lang="zh-TW" altLang="en-US" sz="2800" dirty="0"/>
              <a:t>或 動詞 </a:t>
            </a:r>
            <a:r>
              <a:rPr lang="en-US" altLang="zh-TW" sz="2800" dirty="0"/>
              <a:t>verb</a:t>
            </a:r>
            <a:r>
              <a:rPr lang="zh-TW" altLang="en-US" sz="2800" dirty="0"/>
              <a:t>）</a:t>
            </a:r>
            <a:endParaRPr lang="en-US" altLang="zh-TW" sz="2800" dirty="0"/>
          </a:p>
          <a:p>
            <a:pPr marL="171450" lvl="1" indent="0">
              <a:buNone/>
            </a:pPr>
            <a:r>
              <a:rPr lang="zh-TW" altLang="en-US" sz="2800" dirty="0">
                <a:solidFill>
                  <a:srgbClr val="48231E"/>
                </a:solidFill>
              </a:rPr>
              <a:t>名詞的複數</a:t>
            </a:r>
            <a:r>
              <a:rPr lang="en-US" altLang="zh-TW" sz="2800" dirty="0">
                <a:solidFill>
                  <a:srgbClr val="48231E"/>
                </a:solidFill>
              </a:rPr>
              <a:t>	</a:t>
            </a:r>
            <a:r>
              <a:rPr lang="zh-TW" altLang="en-US" sz="2800" dirty="0">
                <a:solidFill>
                  <a:srgbClr val="48231E"/>
                </a:solidFill>
              </a:rPr>
              <a:t>或</a:t>
            </a:r>
            <a:r>
              <a:rPr lang="en-US" altLang="zh-TW" sz="2800" dirty="0">
                <a:solidFill>
                  <a:srgbClr val="48231E"/>
                </a:solidFill>
              </a:rPr>
              <a:t>	</a:t>
            </a:r>
            <a:r>
              <a:rPr lang="zh-TW" altLang="en-US" sz="2800" dirty="0">
                <a:solidFill>
                  <a:srgbClr val="48231E"/>
                </a:solidFill>
              </a:rPr>
              <a:t>第三人稱單數現在式</a:t>
            </a:r>
            <a:endParaRPr lang="en-US" altLang="zh-TW" sz="2800" dirty="0">
              <a:solidFill>
                <a:srgbClr val="48231E"/>
              </a:solidFill>
            </a:endParaRPr>
          </a:p>
          <a:p>
            <a:pPr marL="171450" lvl="1" indent="0">
              <a:buNone/>
            </a:pPr>
            <a:endParaRPr lang="en-US" altLang="zh-HK" sz="28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909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詞語的內在結構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600200"/>
            <a:ext cx="8595360" cy="5181600"/>
          </a:xfrm>
        </p:spPr>
        <p:txBody>
          <a:bodyPr>
            <a:normAutofit/>
          </a:bodyPr>
          <a:lstStyle/>
          <a:p>
            <a:pPr marL="273050" indent="-274638"/>
            <a:r>
              <a:rPr lang="zh-TW" altLang="en-US" sz="3000" dirty="0"/>
              <a:t>任何詞語都是由</a:t>
            </a:r>
            <a:r>
              <a:rPr lang="zh-TW" altLang="en-US" sz="3000" b="1" u="sng" dirty="0">
                <a:solidFill>
                  <a:srgbClr val="0070C0"/>
                </a:solidFill>
              </a:rPr>
              <a:t>詞素</a:t>
            </a:r>
            <a:r>
              <a:rPr lang="zh-TW" altLang="en-US" sz="3000" dirty="0"/>
              <a:t>（</a:t>
            </a:r>
            <a:r>
              <a:rPr lang="en-US" altLang="zh-TW" sz="3000" dirty="0"/>
              <a:t>morphemes</a:t>
            </a:r>
            <a:r>
              <a:rPr lang="zh-TW" altLang="en-US" sz="3000" dirty="0"/>
              <a:t>）所構成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200" dirty="0"/>
              <a:t>詞素：</a:t>
            </a:r>
            <a:endParaRPr lang="en-US" altLang="zh-TW" sz="3200" dirty="0"/>
          </a:p>
          <a:p>
            <a:pPr marL="446088" lvl="1" indent="-274638"/>
            <a:r>
              <a:rPr lang="zh-TW" altLang="en-US" sz="3000" dirty="0"/>
              <a:t>構詞的最基本單位、構詞中最小的結構體</a:t>
            </a:r>
            <a:endParaRPr lang="en-US" altLang="zh-TW" sz="3000" dirty="0"/>
          </a:p>
          <a:p>
            <a:pPr marL="446088" lvl="1" indent="-274638"/>
            <a:r>
              <a:rPr lang="zh-TW" altLang="en-US" sz="3200" dirty="0"/>
              <a:t>具有獨立的</a:t>
            </a:r>
            <a:r>
              <a:rPr lang="zh-TW" altLang="en-US" sz="3200" u="sng" dirty="0"/>
              <a:t>語義</a:t>
            </a:r>
            <a:r>
              <a:rPr lang="zh-TW" altLang="en-US" sz="3200" dirty="0"/>
              <a:t>或具有</a:t>
            </a:r>
            <a:r>
              <a:rPr lang="zh-TW" altLang="en-US" sz="3200" u="sng" dirty="0"/>
              <a:t>語法功能</a:t>
            </a:r>
            <a:endParaRPr lang="en-US" altLang="zh-TW" sz="3200" u="sng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>
                <a:solidFill>
                  <a:srgbClr val="0070C0"/>
                </a:solidFill>
              </a:rPr>
              <a:t>單純詞</a:t>
            </a:r>
            <a:r>
              <a:rPr lang="zh-TW" altLang="en-US" sz="3000" dirty="0"/>
              <a:t>（</a:t>
            </a:r>
            <a:r>
              <a:rPr lang="en-US" altLang="zh-TW" sz="3000" dirty="0"/>
              <a:t>simple words</a:t>
            </a:r>
            <a:r>
              <a:rPr lang="zh-TW" altLang="en-US" sz="3000" dirty="0"/>
              <a:t>）：只有一個詞素的詞</a:t>
            </a:r>
            <a:endParaRPr lang="en-US" sz="3000" dirty="0"/>
          </a:p>
          <a:p>
            <a:pPr marL="273050" indent="-274638"/>
            <a:r>
              <a:rPr lang="zh-TW" altLang="en-US" sz="3000" dirty="0">
                <a:solidFill>
                  <a:srgbClr val="0070C0"/>
                </a:solidFill>
              </a:rPr>
              <a:t>合成詞</a:t>
            </a:r>
            <a:r>
              <a:rPr lang="zh-TW" altLang="en-US" sz="3000" dirty="0"/>
              <a:t>（</a:t>
            </a:r>
            <a:r>
              <a:rPr lang="en-US" altLang="zh-TW" sz="3000" dirty="0"/>
              <a:t>complex words</a:t>
            </a:r>
            <a:r>
              <a:rPr lang="zh-TW" altLang="en-US" sz="3000" dirty="0"/>
              <a:t>）：多於一個詞素的詞</a:t>
            </a:r>
            <a:endParaRPr lang="en-US" altLang="zh-TW" sz="3000" dirty="0"/>
          </a:p>
          <a:p>
            <a:endParaRPr lang="en-US" altLang="zh-TW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8700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990600"/>
          </a:xfrm>
        </p:spPr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詞語的內在結構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rmAutofit lnSpcReduction="10000"/>
          </a:bodyPr>
          <a:lstStyle/>
          <a:p>
            <a:pPr marL="273050" indent="-274638"/>
            <a:r>
              <a:rPr lang="zh-TW" altLang="en-US" sz="3000" b="1" u="sng" dirty="0">
                <a:solidFill>
                  <a:srgbClr val="0070C0"/>
                </a:solidFill>
              </a:rPr>
              <a:t>詞素</a:t>
            </a:r>
            <a:r>
              <a:rPr lang="zh-TW" altLang="en-US" sz="3000" dirty="0"/>
              <a:t>：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最小的語法單位、最小的音義結合體</a:t>
            </a:r>
            <a:endParaRPr lang="en-US" altLang="zh-TW" sz="3000" dirty="0"/>
          </a:p>
          <a:p>
            <a:pPr marL="273050" lvl="1" indent="-274638"/>
            <a:r>
              <a:rPr lang="zh-TW" altLang="en-US" sz="3000" dirty="0"/>
              <a:t>具有獨立的</a:t>
            </a:r>
            <a:r>
              <a:rPr lang="zh-TW" altLang="en-US" sz="3000" u="sng" dirty="0"/>
              <a:t>語義</a:t>
            </a:r>
            <a:r>
              <a:rPr lang="zh-TW" altLang="en-US" sz="3000" dirty="0"/>
              <a:t>或具有</a:t>
            </a:r>
            <a:r>
              <a:rPr lang="zh-TW" altLang="en-US" sz="3000" u="sng" dirty="0"/>
              <a:t>語法功能</a:t>
            </a:r>
            <a:endParaRPr lang="en-US" altLang="zh-TW" sz="3000" u="sng" dirty="0"/>
          </a:p>
          <a:p>
            <a:pPr marL="273050" lvl="1" indent="-274638"/>
            <a:endParaRPr lang="en-US" altLang="zh-TW" sz="3000" dirty="0"/>
          </a:p>
          <a:p>
            <a:pPr marL="273050" lvl="2" indent="-274638"/>
            <a:r>
              <a:rPr lang="en-US" altLang="zh-TW" sz="3000" dirty="0">
                <a:solidFill>
                  <a:srgbClr val="7030A0"/>
                </a:solidFill>
              </a:rPr>
              <a:t>girl</a:t>
            </a:r>
            <a:r>
              <a:rPr lang="en-US" altLang="zh-TW" sz="3000" dirty="0"/>
              <a:t> </a:t>
            </a:r>
            <a:r>
              <a:rPr lang="zh-TW" altLang="en-US" sz="3000" dirty="0"/>
              <a:t>有多少個詞素？是單純詞還是複合詞？</a:t>
            </a:r>
            <a:endParaRPr lang="en-US" altLang="zh-TW" sz="3000" dirty="0"/>
          </a:p>
          <a:p>
            <a:pPr marL="273050" lvl="2" indent="-274638"/>
            <a:r>
              <a:rPr lang="en-US" altLang="zh-TW" sz="3000" dirty="0"/>
              <a:t>girl </a:t>
            </a:r>
            <a:r>
              <a:rPr lang="zh-TW" altLang="en-US" sz="3000" dirty="0"/>
              <a:t>是</a:t>
            </a:r>
            <a:r>
              <a:rPr lang="zh-TW" altLang="en-US" sz="3000" u="sng" dirty="0"/>
              <a:t>一個詞素</a:t>
            </a:r>
            <a:r>
              <a:rPr lang="zh-TW" altLang="en-US" sz="3000" dirty="0"/>
              <a:t>，有獨立語義，也是一個</a:t>
            </a:r>
            <a:r>
              <a:rPr lang="zh-TW" altLang="en-US" sz="3000" u="sng" dirty="0"/>
              <a:t>單純詞</a:t>
            </a:r>
            <a:endParaRPr lang="en-US" altLang="zh-TW" sz="3000" u="sng" dirty="0"/>
          </a:p>
          <a:p>
            <a:pPr marL="273050" lvl="2" indent="-274638"/>
            <a:endParaRPr lang="en-US" altLang="zh-TW" sz="3000" dirty="0"/>
          </a:p>
          <a:p>
            <a:pPr marL="273050" lvl="2" indent="-274638"/>
            <a:r>
              <a:rPr lang="en-US" altLang="zh-TW" sz="3000" dirty="0">
                <a:solidFill>
                  <a:srgbClr val="7030A0"/>
                </a:solidFill>
              </a:rPr>
              <a:t>girls</a:t>
            </a:r>
            <a:r>
              <a:rPr lang="en-US" altLang="zh-TW" sz="3000" dirty="0"/>
              <a:t> </a:t>
            </a:r>
            <a:r>
              <a:rPr lang="zh-TW" altLang="en-US" sz="3000" dirty="0"/>
              <a:t>有多少個詞素？是單純詞還是複合詞？</a:t>
            </a:r>
            <a:endParaRPr lang="en-US" altLang="zh-TW" sz="3000" dirty="0"/>
          </a:p>
          <a:p>
            <a:pPr marL="273050" lvl="2" indent="-274638"/>
            <a:r>
              <a:rPr lang="en-US" altLang="zh-TW" sz="3000" dirty="0"/>
              <a:t>girls</a:t>
            </a:r>
            <a:r>
              <a:rPr lang="zh-TW" altLang="en-US" sz="3000" dirty="0"/>
              <a:t>含</a:t>
            </a:r>
            <a:r>
              <a:rPr lang="zh-TW" altLang="en-US" sz="3000" u="sng" dirty="0"/>
              <a:t>兩個詞素</a:t>
            </a:r>
            <a:r>
              <a:rPr lang="zh-TW" altLang="en-US" sz="3000" dirty="0"/>
              <a:t>，因為</a:t>
            </a:r>
            <a:r>
              <a:rPr lang="en-US" altLang="zh-TW" sz="3000" dirty="0"/>
              <a:t>girls</a:t>
            </a:r>
            <a:r>
              <a:rPr lang="zh-TW" altLang="en-US" sz="3000" dirty="0"/>
              <a:t>可以分析成</a:t>
            </a:r>
            <a:r>
              <a:rPr lang="en-US" altLang="zh-TW" sz="3000" dirty="0"/>
              <a:t> girl</a:t>
            </a:r>
            <a:r>
              <a:rPr lang="zh-TW" altLang="en-US" sz="3000" dirty="0"/>
              <a:t> 和</a:t>
            </a:r>
            <a:r>
              <a:rPr lang="en-US" altLang="zh-TW" sz="3000" dirty="0"/>
              <a:t> -s</a:t>
            </a:r>
            <a:r>
              <a:rPr lang="zh-TW" altLang="en-US" sz="3000" dirty="0"/>
              <a:t>兩個詞素</a:t>
            </a:r>
            <a:br>
              <a:rPr lang="en-US" altLang="zh-TW" sz="3000" dirty="0"/>
            </a:br>
            <a:r>
              <a:rPr lang="zh-TW" altLang="en-US" sz="3000" dirty="0"/>
              <a:t>（</a:t>
            </a:r>
            <a:r>
              <a:rPr lang="en-US" altLang="zh-HK" sz="3000" dirty="0"/>
              <a:t>-s</a:t>
            </a:r>
            <a:r>
              <a:rPr lang="zh-TW" altLang="en-US" sz="3000" dirty="0"/>
              <a:t>表名詞複數的語法功能）</a:t>
            </a:r>
            <a:endParaRPr lang="en-US" altLang="zh-TW" sz="3000" dirty="0"/>
          </a:p>
          <a:p>
            <a:pPr marL="273050" lvl="2" indent="-274638"/>
            <a:endParaRPr lang="en-US" altLang="zh-TW" sz="30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01960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詞語及詞素例子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rmAutofit lnSpcReduction="10000"/>
          </a:bodyPr>
          <a:lstStyle/>
          <a:p>
            <a:endParaRPr lang="en-US" sz="2600" dirty="0"/>
          </a:p>
          <a:p>
            <a:pPr marL="271463" indent="-271463"/>
            <a:r>
              <a:rPr lang="zh-TW" altLang="en-US" sz="3000" dirty="0"/>
              <a:t>單純詞</a:t>
            </a:r>
            <a:r>
              <a:rPr lang="en-US" altLang="zh-TW" sz="3000" dirty="0"/>
              <a:t>	</a:t>
            </a:r>
            <a:r>
              <a:rPr lang="zh-TW" altLang="en-US" sz="3000" dirty="0"/>
              <a:t>合成詞</a:t>
            </a:r>
            <a:endParaRPr lang="en-US" altLang="zh-TW" sz="3000" dirty="0"/>
          </a:p>
          <a:p>
            <a:pPr marL="271463" indent="-271463"/>
            <a:r>
              <a:rPr lang="en-US" sz="3000" dirty="0"/>
              <a:t>friend	</a:t>
            </a:r>
            <a:r>
              <a:rPr lang="en-US" sz="3000" dirty="0">
                <a:solidFill>
                  <a:srgbClr val="C00000"/>
                </a:solidFill>
              </a:rPr>
              <a:t>friend</a:t>
            </a:r>
            <a:r>
              <a:rPr lang="en-US" sz="3000" dirty="0">
                <a:solidFill>
                  <a:srgbClr val="0070C0"/>
                </a:solidFill>
              </a:rPr>
              <a:t>ship</a:t>
            </a:r>
          </a:p>
          <a:p>
            <a:pPr marL="271463" indent="-271463"/>
            <a:r>
              <a:rPr lang="en-US" sz="3000" dirty="0"/>
              <a:t>read	</a:t>
            </a:r>
            <a:r>
              <a:rPr lang="en-US" sz="3000" dirty="0">
                <a:solidFill>
                  <a:srgbClr val="C00000"/>
                </a:solidFill>
              </a:rPr>
              <a:t>read</a:t>
            </a:r>
            <a:r>
              <a:rPr lang="en-US" sz="3000" dirty="0">
                <a:solidFill>
                  <a:srgbClr val="0070C0"/>
                </a:solidFill>
              </a:rPr>
              <a:t>able</a:t>
            </a:r>
          </a:p>
          <a:p>
            <a:pPr marL="271463" indent="-271463"/>
            <a:r>
              <a:rPr lang="en-US" sz="3000" dirty="0"/>
              <a:t>teach</a:t>
            </a:r>
            <a:r>
              <a:rPr lang="en-US" sz="3000" dirty="0">
                <a:solidFill>
                  <a:srgbClr val="0070C0"/>
                </a:solidFill>
              </a:rPr>
              <a:t>	</a:t>
            </a:r>
            <a:r>
              <a:rPr lang="en-US" sz="3000" dirty="0">
                <a:solidFill>
                  <a:srgbClr val="C00000"/>
                </a:solidFill>
              </a:rPr>
              <a:t>teach</a:t>
            </a:r>
            <a:r>
              <a:rPr lang="en-US" sz="3000" dirty="0">
                <a:solidFill>
                  <a:srgbClr val="0070C0"/>
                </a:solidFill>
              </a:rPr>
              <a:t>er</a:t>
            </a:r>
          </a:p>
          <a:p>
            <a:pPr marL="271463" indent="-271463"/>
            <a:endParaRPr lang="en-US" sz="3000" dirty="0"/>
          </a:p>
          <a:p>
            <a:pPr marL="271463" indent="-271463"/>
            <a:r>
              <a:rPr lang="zh-TW" altLang="en-US" sz="3000" dirty="0"/>
              <a:t>中文的單純詞或詞素有可能是單音節、雙音節、多音節：</a:t>
            </a:r>
            <a:endParaRPr lang="en-US" altLang="zh-TW" sz="3000" dirty="0"/>
          </a:p>
          <a:p>
            <a:pPr marL="442913" lvl="2" indent="-271463"/>
            <a:r>
              <a:rPr lang="zh-TW" altLang="en-US" sz="2800" dirty="0"/>
              <a:t>單音節：</a:t>
            </a:r>
            <a:r>
              <a:rPr lang="zh-TW" altLang="en-US" sz="2800" dirty="0">
                <a:solidFill>
                  <a:srgbClr val="C00000"/>
                </a:solidFill>
              </a:rPr>
              <a:t>人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手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書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火</a:t>
            </a:r>
            <a:endParaRPr lang="en-US" altLang="zh-TW" sz="2800" dirty="0">
              <a:solidFill>
                <a:srgbClr val="C00000"/>
              </a:solidFill>
            </a:endParaRPr>
          </a:p>
          <a:p>
            <a:pPr marL="442913" lvl="2" indent="-271463"/>
            <a:r>
              <a:rPr lang="zh-TW" altLang="en-US" sz="2800" dirty="0"/>
              <a:t>雙音節：</a:t>
            </a:r>
            <a:r>
              <a:rPr lang="zh-TW" altLang="en-US" sz="2800" dirty="0">
                <a:solidFill>
                  <a:srgbClr val="C00000"/>
                </a:solidFill>
              </a:rPr>
              <a:t>蝴蝶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玻璃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珊瑚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蝙蝠</a:t>
            </a:r>
            <a:endParaRPr lang="en-US" altLang="zh-TW" sz="2800" dirty="0">
              <a:solidFill>
                <a:srgbClr val="C00000"/>
              </a:solidFill>
            </a:endParaRPr>
          </a:p>
          <a:p>
            <a:pPr marL="442913" lvl="2" indent="-271463"/>
            <a:r>
              <a:rPr lang="zh-TW" altLang="en-US" sz="2800" dirty="0"/>
              <a:t>多音節：</a:t>
            </a:r>
            <a:r>
              <a:rPr lang="zh-TW" altLang="en-US" sz="2800" dirty="0">
                <a:solidFill>
                  <a:srgbClr val="C00000"/>
                </a:solidFill>
              </a:rPr>
              <a:t>巧克力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C00000"/>
                </a:solidFill>
              </a:rPr>
              <a:t>土耳其</a:t>
            </a:r>
            <a:endParaRPr lang="en-US" altLang="zh-TW" sz="2800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70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詞素的類別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rmAutofit/>
          </a:bodyPr>
          <a:lstStyle/>
          <a:p>
            <a:pPr marL="271463" indent="-271463"/>
            <a:r>
              <a:rPr lang="zh-TW" altLang="en-US" sz="2800" dirty="0">
                <a:solidFill>
                  <a:srgbClr val="0070C0"/>
                </a:solidFill>
              </a:rPr>
              <a:t>分類方法，按：</a:t>
            </a:r>
            <a:endParaRPr lang="en-US" altLang="zh-TW" sz="2800" dirty="0">
              <a:solidFill>
                <a:srgbClr val="0070C0"/>
              </a:solidFill>
            </a:endParaRPr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(1)</a:t>
            </a:r>
            <a:r>
              <a:rPr lang="zh-TW" altLang="en-US" sz="2600" dirty="0">
                <a:solidFill>
                  <a:srgbClr val="C00000"/>
                </a:solidFill>
              </a:rPr>
              <a:t> 詞素是否能獨立使用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自由詞素</a:t>
            </a:r>
            <a:r>
              <a:rPr lang="en-US" altLang="zh-TW" sz="2200" dirty="0"/>
              <a:t> free morphemes</a:t>
            </a:r>
          </a:p>
          <a:p>
            <a:pPr marL="444500" lvl="3" indent="-271463"/>
            <a:r>
              <a:rPr lang="zh-TW" altLang="en-US" sz="2200" dirty="0"/>
              <a:t>依存詞素</a:t>
            </a:r>
            <a:r>
              <a:rPr lang="en-US" altLang="zh-TW" sz="2200" dirty="0"/>
              <a:t> bound morphemes</a:t>
            </a:r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(2)</a:t>
            </a:r>
            <a:r>
              <a:rPr lang="zh-TW" altLang="en-US" sz="2600" dirty="0">
                <a:solidFill>
                  <a:srgbClr val="C00000"/>
                </a:solidFill>
              </a:rPr>
              <a:t> 詞素的位置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前綴</a:t>
            </a:r>
            <a:r>
              <a:rPr lang="en-US" altLang="zh-TW" sz="2200" dirty="0"/>
              <a:t> prefixes</a:t>
            </a:r>
          </a:p>
          <a:p>
            <a:pPr marL="444500" lvl="3" indent="-271463"/>
            <a:r>
              <a:rPr lang="zh-TW" altLang="en-US" sz="2200" dirty="0"/>
              <a:t>中綴</a:t>
            </a:r>
            <a:r>
              <a:rPr lang="en-US" altLang="zh-TW" sz="2200" dirty="0"/>
              <a:t> infixes</a:t>
            </a:r>
          </a:p>
          <a:p>
            <a:pPr marL="444500" lvl="3" indent="-271463"/>
            <a:r>
              <a:rPr lang="zh-TW" altLang="en-US" sz="2200" dirty="0"/>
              <a:t>後綴</a:t>
            </a:r>
            <a:r>
              <a:rPr lang="en-US" altLang="zh-TW" sz="2200" dirty="0"/>
              <a:t> suffixes</a:t>
            </a:r>
          </a:p>
          <a:p>
            <a:pPr marL="444500" lvl="3" indent="-271463"/>
            <a:r>
              <a:rPr lang="zh-TW" altLang="en-US" sz="2200" dirty="0"/>
              <a:t>環綴</a:t>
            </a:r>
            <a:r>
              <a:rPr lang="en-US" altLang="zh-TW" sz="2200" dirty="0"/>
              <a:t> </a:t>
            </a:r>
            <a:r>
              <a:rPr lang="en-US" altLang="zh-TW" sz="2200" dirty="0" err="1"/>
              <a:t>circumfixes</a:t>
            </a:r>
            <a:endParaRPr lang="en-US" altLang="zh-TW" sz="2200" dirty="0"/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(3)</a:t>
            </a:r>
            <a:r>
              <a:rPr lang="zh-TW" altLang="en-US" sz="2600" dirty="0">
                <a:solidFill>
                  <a:srgbClr val="C00000"/>
                </a:solidFill>
              </a:rPr>
              <a:t> 詞素在語法中的角色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語法詞素</a:t>
            </a:r>
            <a:r>
              <a:rPr lang="en-US" altLang="zh-TW" sz="2200" dirty="0"/>
              <a:t> inflectional morphemes</a:t>
            </a:r>
          </a:p>
          <a:p>
            <a:pPr marL="444500" lvl="3" indent="-271463"/>
            <a:r>
              <a:rPr lang="zh-TW" altLang="en-US" sz="2200" dirty="0"/>
              <a:t>詞變詞素</a:t>
            </a:r>
            <a:r>
              <a:rPr lang="en-US" altLang="zh-TW" sz="2200" dirty="0"/>
              <a:t> derivational morphemes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6623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自由詞素與依存詞素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330952"/>
          </a:xfrm>
        </p:spPr>
        <p:txBody>
          <a:bodyPr>
            <a:noAutofit/>
          </a:bodyPr>
          <a:lstStyle/>
          <a:p>
            <a:pPr marL="273050" indent="-274638"/>
            <a:r>
              <a:rPr lang="en-US" altLang="zh-TW" sz="3000" dirty="0"/>
              <a:t>(1) </a:t>
            </a:r>
            <a:r>
              <a:rPr lang="zh-TW" altLang="en-US" sz="3000" dirty="0"/>
              <a:t>自由詞素 </a:t>
            </a:r>
            <a:r>
              <a:rPr lang="en-US" altLang="zh-TW" sz="3000" dirty="0"/>
              <a:t>free morphemes</a:t>
            </a:r>
          </a:p>
          <a:p>
            <a:pPr marL="446088" lvl="1" indent="-274638"/>
            <a:r>
              <a:rPr lang="zh-TW" altLang="en-US" sz="2800" dirty="0"/>
              <a:t>可以單獨存在，並且具有某個固定語義的詞素</a:t>
            </a:r>
            <a:endParaRPr lang="en-US" altLang="zh-TW" sz="2800" dirty="0"/>
          </a:p>
          <a:p>
            <a:pPr marL="446088" lvl="1" indent="-274638"/>
            <a:r>
              <a:rPr lang="zh-TW" altLang="en-US" sz="2800" dirty="0"/>
              <a:t>例：英語</a:t>
            </a:r>
            <a:r>
              <a:rPr lang="en-US" altLang="zh-TW" sz="2800" dirty="0"/>
              <a:t> </a:t>
            </a:r>
            <a:r>
              <a:rPr lang="en-US" altLang="zh-TW" sz="2800" dirty="0">
                <a:solidFill>
                  <a:srgbClr val="0070C0"/>
                </a:solidFill>
              </a:rPr>
              <a:t>book</a:t>
            </a:r>
            <a:r>
              <a:rPr lang="en-US" altLang="zh-TW" sz="2800" dirty="0"/>
              <a:t>, </a:t>
            </a:r>
            <a:r>
              <a:rPr lang="en-US" altLang="zh-TW" sz="2800" dirty="0">
                <a:solidFill>
                  <a:srgbClr val="0070C0"/>
                </a:solidFill>
              </a:rPr>
              <a:t>tree</a:t>
            </a:r>
            <a:r>
              <a:rPr lang="en-US" altLang="zh-TW" sz="2800" dirty="0"/>
              <a:t>, </a:t>
            </a:r>
            <a:r>
              <a:rPr lang="en-US" altLang="zh-TW" sz="2800" dirty="0">
                <a:solidFill>
                  <a:srgbClr val="0070C0"/>
                </a:solidFill>
              </a:rPr>
              <a:t>eat</a:t>
            </a:r>
            <a:r>
              <a:rPr lang="zh-TW" altLang="en-US" sz="2800" dirty="0"/>
              <a:t>；中文：</a:t>
            </a:r>
            <a:r>
              <a:rPr lang="zh-TW" altLang="en-US" sz="2800" dirty="0">
                <a:solidFill>
                  <a:srgbClr val="0070C0"/>
                </a:solidFill>
              </a:rPr>
              <a:t>天</a:t>
            </a:r>
            <a:r>
              <a:rPr lang="zh-TW" altLang="en-US" sz="2800" dirty="0"/>
              <a:t>，</a:t>
            </a:r>
            <a:r>
              <a:rPr lang="zh-TW" altLang="en-US" sz="2800" dirty="0">
                <a:solidFill>
                  <a:srgbClr val="0070C0"/>
                </a:solidFill>
              </a:rPr>
              <a:t>來</a:t>
            </a:r>
            <a:r>
              <a:rPr lang="zh-TW" altLang="en-US" sz="2800" dirty="0"/>
              <a:t>，</a:t>
            </a:r>
            <a:r>
              <a:rPr lang="zh-TW" altLang="en-US" sz="2800" dirty="0">
                <a:solidFill>
                  <a:srgbClr val="0070C0"/>
                </a:solidFill>
              </a:rPr>
              <a:t>去</a:t>
            </a:r>
            <a:endParaRPr lang="en-US" altLang="zh-TW" sz="2800" dirty="0">
              <a:solidFill>
                <a:srgbClr val="0070C0"/>
              </a:solidFill>
            </a:endParaRPr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altLang="zh-TW" sz="3000" dirty="0"/>
              <a:t>(2) </a:t>
            </a:r>
            <a:r>
              <a:rPr lang="zh-TW" altLang="en-US" sz="3000" dirty="0"/>
              <a:t>依存詞素 </a:t>
            </a:r>
            <a:r>
              <a:rPr lang="en-US" altLang="zh-TW" sz="3000" dirty="0"/>
              <a:t>/ </a:t>
            </a:r>
            <a:r>
              <a:rPr lang="zh-TW" altLang="en-US" sz="3000" dirty="0"/>
              <a:t>附着詞素 </a:t>
            </a:r>
            <a:r>
              <a:rPr lang="en-US" altLang="zh-TW" sz="3000" dirty="0"/>
              <a:t>bound morphemes</a:t>
            </a:r>
          </a:p>
          <a:p>
            <a:pPr marL="446088" lvl="1" indent="-274638"/>
            <a:r>
              <a:rPr lang="zh-TW" altLang="en-US" sz="2800" dirty="0"/>
              <a:t>不能獨立存在，必須附在其他詞素之上才能存在</a:t>
            </a:r>
            <a:endParaRPr lang="en-US" altLang="zh-TW" sz="2800" dirty="0"/>
          </a:p>
          <a:p>
            <a:pPr marL="446088" lvl="1" indent="-274638"/>
            <a:r>
              <a:rPr lang="zh-TW" altLang="en-US" sz="2800" dirty="0"/>
              <a:t>例：英語 </a:t>
            </a:r>
            <a:r>
              <a:rPr lang="en-US" altLang="zh-TW" sz="2800" dirty="0">
                <a:solidFill>
                  <a:srgbClr val="0070C0"/>
                </a:solidFill>
              </a:rPr>
              <a:t>-</a:t>
            </a:r>
            <a:r>
              <a:rPr lang="en-US" altLang="zh-TW" sz="2800" dirty="0" err="1">
                <a:solidFill>
                  <a:srgbClr val="0070C0"/>
                </a:solidFill>
              </a:rPr>
              <a:t>ing</a:t>
            </a:r>
            <a:r>
              <a:rPr lang="zh-TW" altLang="en-US" sz="2800" dirty="0"/>
              <a:t>（表進行貌），</a:t>
            </a:r>
            <a:r>
              <a:rPr lang="en-US" altLang="zh-TW" sz="2800" dirty="0">
                <a:solidFill>
                  <a:srgbClr val="0070C0"/>
                </a:solidFill>
              </a:rPr>
              <a:t>-</a:t>
            </a:r>
            <a:r>
              <a:rPr lang="en-US" altLang="zh-TW" sz="2800" dirty="0" err="1">
                <a:solidFill>
                  <a:srgbClr val="0070C0"/>
                </a:solidFill>
              </a:rPr>
              <a:t>ed</a:t>
            </a:r>
            <a:r>
              <a:rPr lang="zh-TW" altLang="en-US" sz="2800" dirty="0"/>
              <a:t>（表過去式）</a:t>
            </a:r>
            <a:endParaRPr lang="en-US" altLang="zh-TW" sz="2800" dirty="0"/>
          </a:p>
          <a:p>
            <a:pPr marL="446088" lvl="1" indent="-274638"/>
            <a:r>
              <a:rPr lang="zh-TW" altLang="en-US" sz="2800" dirty="0"/>
              <a:t>例：中文</a:t>
            </a:r>
            <a:r>
              <a:rPr lang="en-US" altLang="zh-TW" sz="2800" dirty="0"/>
              <a:t> “</a:t>
            </a:r>
            <a:r>
              <a:rPr lang="zh-TW" altLang="en-US" sz="2800" dirty="0">
                <a:solidFill>
                  <a:srgbClr val="0070C0"/>
                </a:solidFill>
              </a:rPr>
              <a:t>子</a:t>
            </a:r>
            <a:r>
              <a:rPr lang="en-US" altLang="zh-TW" sz="2800" dirty="0"/>
              <a:t>”</a:t>
            </a:r>
            <a:r>
              <a:rPr lang="zh-TW" altLang="en-US" sz="2800" dirty="0"/>
              <a:t>，桌</a:t>
            </a:r>
            <a:r>
              <a:rPr lang="zh-TW" altLang="en-US" sz="2800" u="sng" dirty="0">
                <a:solidFill>
                  <a:srgbClr val="0070C0"/>
                </a:solidFill>
              </a:rPr>
              <a:t>子</a:t>
            </a:r>
            <a:r>
              <a:rPr lang="zh-TW" altLang="en-US" sz="2800" dirty="0"/>
              <a:t>、箱</a:t>
            </a:r>
            <a:r>
              <a:rPr lang="zh-TW" altLang="en-US" sz="2800" u="sng" dirty="0">
                <a:solidFill>
                  <a:srgbClr val="0070C0"/>
                </a:solidFill>
              </a:rPr>
              <a:t>子</a:t>
            </a:r>
            <a:r>
              <a:rPr lang="zh-TW" altLang="en-US" sz="2800" dirty="0"/>
              <a:t>（表名詞的綴詞）</a:t>
            </a:r>
            <a:endParaRPr lang="en-US" altLang="zh-TW" sz="2800" dirty="0"/>
          </a:p>
          <a:p>
            <a:pPr marL="446088" lvl="1" indent="-274638"/>
            <a:r>
              <a:rPr lang="zh-TW" altLang="en-US" sz="2800" dirty="0"/>
              <a:t>例：中文</a:t>
            </a:r>
            <a:r>
              <a:rPr lang="en-US" altLang="zh-TW" sz="2800" dirty="0"/>
              <a:t>“</a:t>
            </a:r>
            <a:r>
              <a:rPr lang="zh-TW" altLang="en-US" sz="2800" dirty="0">
                <a:solidFill>
                  <a:srgbClr val="0070C0"/>
                </a:solidFill>
              </a:rPr>
              <a:t>化</a:t>
            </a:r>
            <a:r>
              <a:rPr lang="en-US" altLang="zh-TW" sz="2800" dirty="0"/>
              <a:t>”</a:t>
            </a:r>
            <a:r>
              <a:rPr lang="zh-TW" altLang="en-US" sz="2800" dirty="0"/>
              <a:t>，電氣</a:t>
            </a:r>
            <a:r>
              <a:rPr lang="zh-TW" altLang="en-US" sz="2800" u="sng" dirty="0">
                <a:solidFill>
                  <a:srgbClr val="0070C0"/>
                </a:solidFill>
              </a:rPr>
              <a:t>化</a:t>
            </a:r>
            <a:r>
              <a:rPr lang="zh-TW" altLang="en-US" sz="2800" dirty="0"/>
              <a:t>，現代</a:t>
            </a:r>
            <a:r>
              <a:rPr lang="zh-TW" altLang="en-US" sz="2800" u="sng" dirty="0">
                <a:solidFill>
                  <a:srgbClr val="0070C0"/>
                </a:solidFill>
              </a:rPr>
              <a:t>化</a:t>
            </a:r>
            <a:r>
              <a:rPr lang="zh-TW" altLang="en-US" sz="2800" dirty="0"/>
              <a:t>（表動詞的綴詞）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320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自由詞素與依存詞素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73050" indent="-274638"/>
            <a:r>
              <a:rPr lang="zh-TW" altLang="en-US" sz="3000" dirty="0"/>
              <a:t>依存詞素按功能分兩類：</a:t>
            </a:r>
            <a:endParaRPr lang="en-US" altLang="zh-TW" sz="3000" dirty="0"/>
          </a:p>
          <a:p>
            <a:pPr marL="446088" lvl="1" indent="-274638"/>
            <a:r>
              <a:rPr lang="zh-TW" altLang="en-US" sz="3000" dirty="0">
                <a:solidFill>
                  <a:srgbClr val="C00000"/>
                </a:solidFill>
              </a:rPr>
              <a:t>語法</a:t>
            </a:r>
            <a:r>
              <a:rPr lang="zh-TW" altLang="en-US" sz="3000" dirty="0">
                <a:solidFill>
                  <a:srgbClr val="0070C0"/>
                </a:solidFill>
              </a:rPr>
              <a:t>綴詞</a:t>
            </a:r>
            <a:r>
              <a:rPr lang="en-US" altLang="zh-TW" sz="3000" dirty="0"/>
              <a:t>    </a:t>
            </a:r>
            <a:r>
              <a:rPr lang="zh-TW" altLang="en-US" sz="3000" dirty="0"/>
              <a:t>和    </a:t>
            </a:r>
            <a:r>
              <a:rPr lang="zh-TW" altLang="en-US" sz="3000" dirty="0">
                <a:solidFill>
                  <a:srgbClr val="C00000"/>
                </a:solidFill>
              </a:rPr>
              <a:t>詞變</a:t>
            </a:r>
            <a:r>
              <a:rPr lang="zh-TW" altLang="en-US" sz="3000" dirty="0">
                <a:solidFill>
                  <a:srgbClr val="0070C0"/>
                </a:solidFill>
              </a:rPr>
              <a:t>綴詞</a:t>
            </a:r>
            <a:endParaRPr lang="en-US" altLang="zh-TW" sz="3000" dirty="0">
              <a:solidFill>
                <a:srgbClr val="0070C0"/>
              </a:solidFill>
            </a:endParaRPr>
          </a:p>
          <a:p>
            <a:endParaRPr lang="en-US" dirty="0"/>
          </a:p>
          <a:p>
            <a:pPr marL="273050" indent="-274638"/>
            <a:r>
              <a:rPr lang="zh-TW" altLang="en-US" sz="3000" dirty="0"/>
              <a:t>下面我們先看綴詞按位置的分類，然後看綴詞按功能的分類</a:t>
            </a:r>
            <a:endParaRPr lang="en-US" altLang="zh-TW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38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affixes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Autofit/>
          </a:bodyPr>
          <a:lstStyle/>
          <a:p>
            <a:pPr marL="273050" indent="-274638"/>
            <a:r>
              <a:rPr lang="zh-TW" altLang="en-US" sz="3000" dirty="0"/>
              <a:t>用以表示</a:t>
            </a:r>
            <a:r>
              <a:rPr lang="zh-TW" altLang="en-US" sz="3000" u="sng" dirty="0"/>
              <a:t>語法現象</a:t>
            </a:r>
            <a:r>
              <a:rPr lang="zh-TW" altLang="en-US" sz="3000" dirty="0"/>
              <a:t>或</a:t>
            </a:r>
            <a:r>
              <a:rPr lang="zh-TW" altLang="en-US" sz="3000" u="sng" dirty="0"/>
              <a:t>詞類特徵</a:t>
            </a:r>
            <a:r>
              <a:rPr lang="zh-TW" altLang="en-US" sz="3000" dirty="0"/>
              <a:t>的詞素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前綴，後綴，中綴，環綴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en-US" altLang="zh-TW" sz="3000" dirty="0"/>
              <a:t>(1) </a:t>
            </a:r>
            <a:r>
              <a:rPr lang="zh-TW" altLang="en-US" sz="3000" dirty="0"/>
              <a:t>前綴：加在某個詞素之前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英語：</a:t>
            </a:r>
            <a:r>
              <a:rPr lang="en-US" sz="3000" dirty="0">
                <a:solidFill>
                  <a:srgbClr val="0070C0"/>
                </a:solidFill>
              </a:rPr>
              <a:t>un</a:t>
            </a:r>
            <a:r>
              <a:rPr lang="en-US" sz="3000" dirty="0"/>
              <a:t>tidy, </a:t>
            </a:r>
            <a:r>
              <a:rPr lang="en-US" sz="3000" dirty="0">
                <a:solidFill>
                  <a:srgbClr val="0070C0"/>
                </a:solidFill>
              </a:rPr>
              <a:t>dis</a:t>
            </a:r>
            <a:r>
              <a:rPr lang="en-US" sz="3000" dirty="0"/>
              <a:t>continue</a:t>
            </a:r>
            <a:endParaRPr lang="en-US" sz="3000" dirty="0">
              <a:solidFill>
                <a:schemeClr val="tx1"/>
              </a:solidFill>
            </a:endParaRPr>
          </a:p>
          <a:p>
            <a:pPr marL="273050" indent="-274638"/>
            <a:r>
              <a:rPr lang="zh-TW" altLang="en-US" sz="3000" dirty="0"/>
              <a:t>中文：</a:t>
            </a:r>
            <a:r>
              <a:rPr lang="zh-TW" altLang="en-US" sz="3000" dirty="0">
                <a:solidFill>
                  <a:srgbClr val="0070C0"/>
                </a:solidFill>
              </a:rPr>
              <a:t>老</a:t>
            </a:r>
            <a:r>
              <a:rPr lang="zh-TW" altLang="en-US" sz="3000" dirty="0"/>
              <a:t>鼠、</a:t>
            </a:r>
            <a:r>
              <a:rPr lang="zh-TW" altLang="en-US" sz="3000" dirty="0">
                <a:solidFill>
                  <a:srgbClr val="0070C0"/>
                </a:solidFill>
              </a:rPr>
              <a:t>老</a:t>
            </a:r>
            <a:r>
              <a:rPr lang="zh-TW" altLang="en-US" sz="3000" dirty="0"/>
              <a:t>虎、</a:t>
            </a:r>
            <a:r>
              <a:rPr lang="zh-TW" altLang="en-US" sz="3000" dirty="0">
                <a:solidFill>
                  <a:srgbClr val="0070C0"/>
                </a:solidFill>
              </a:rPr>
              <a:t>老</a:t>
            </a:r>
            <a:r>
              <a:rPr lang="zh-TW" altLang="en-US" sz="3000" dirty="0"/>
              <a:t>鷹</a:t>
            </a:r>
            <a:endParaRPr lang="en-US" altLang="zh-TW" sz="3000" dirty="0"/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altLang="zh-TW" sz="3000" dirty="0"/>
              <a:t>(2) </a:t>
            </a:r>
            <a:r>
              <a:rPr lang="zh-TW" altLang="en-US" sz="3000" dirty="0"/>
              <a:t>後綴：詞素之後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英語：</a:t>
            </a:r>
            <a:r>
              <a:rPr lang="en-US" sz="3000" dirty="0"/>
              <a:t>like</a:t>
            </a:r>
            <a:r>
              <a:rPr lang="en-US" sz="3000" dirty="0">
                <a:solidFill>
                  <a:srgbClr val="0070C0"/>
                </a:solidFill>
              </a:rPr>
              <a:t>ly</a:t>
            </a:r>
            <a:r>
              <a:rPr lang="en-US" sz="3000" dirty="0"/>
              <a:t>, hand</a:t>
            </a:r>
            <a:r>
              <a:rPr lang="en-US" sz="3000" dirty="0">
                <a:solidFill>
                  <a:srgbClr val="0070C0"/>
                </a:solidFill>
              </a:rPr>
              <a:t>ful</a:t>
            </a:r>
            <a:r>
              <a:rPr lang="en-US" sz="3000" dirty="0"/>
              <a:t>, act</a:t>
            </a:r>
            <a:r>
              <a:rPr lang="en-US" sz="3000" dirty="0">
                <a:solidFill>
                  <a:srgbClr val="0070C0"/>
                </a:solidFill>
              </a:rPr>
              <a:t>ion</a:t>
            </a:r>
            <a:r>
              <a:rPr lang="en-US" sz="3000" dirty="0"/>
              <a:t>, </a:t>
            </a:r>
            <a:r>
              <a:rPr lang="en-US" sz="3000" dirty="0" err="1"/>
              <a:t>neighbou</a:t>
            </a:r>
            <a:r>
              <a:rPr lang="en-US" sz="3000" dirty="0" err="1">
                <a:solidFill>
                  <a:schemeClr val="tx1"/>
                </a:solidFill>
              </a:rPr>
              <a:t>r</a:t>
            </a:r>
            <a:r>
              <a:rPr lang="en-US" sz="3000" dirty="0" err="1">
                <a:solidFill>
                  <a:srgbClr val="0070C0"/>
                </a:solidFill>
              </a:rPr>
              <a:t>hood</a:t>
            </a:r>
            <a:endParaRPr lang="en-US" sz="3000" dirty="0"/>
          </a:p>
          <a:p>
            <a:pPr marL="273050" indent="-274638"/>
            <a:r>
              <a:rPr lang="zh-TW" altLang="en-US" sz="3000" dirty="0"/>
              <a:t>中文：作</a:t>
            </a:r>
            <a:r>
              <a:rPr lang="zh-TW" altLang="en-US" sz="3000" dirty="0">
                <a:solidFill>
                  <a:srgbClr val="0070C0"/>
                </a:solidFill>
              </a:rPr>
              <a:t>者</a:t>
            </a:r>
            <a:r>
              <a:rPr lang="zh-TW" altLang="en-US" sz="3000" dirty="0"/>
              <a:t>、學</a:t>
            </a:r>
            <a:r>
              <a:rPr lang="zh-TW" altLang="en-US" sz="3000" dirty="0">
                <a:solidFill>
                  <a:srgbClr val="0070C0"/>
                </a:solidFill>
              </a:rPr>
              <a:t>者</a:t>
            </a:r>
            <a:r>
              <a:rPr lang="zh-TW" altLang="en-US" sz="3000" dirty="0"/>
              <a:t>；合法</a:t>
            </a:r>
            <a:r>
              <a:rPr lang="zh-TW" altLang="en-US" sz="3000" dirty="0">
                <a:solidFill>
                  <a:srgbClr val="0070C0"/>
                </a:solidFill>
              </a:rPr>
              <a:t>度、</a:t>
            </a:r>
            <a:r>
              <a:rPr lang="zh-TW" altLang="en-US" sz="3000" dirty="0"/>
              <a:t>可信</a:t>
            </a:r>
            <a:r>
              <a:rPr lang="zh-TW" altLang="en-US" sz="3000" dirty="0">
                <a:solidFill>
                  <a:srgbClr val="0070C0"/>
                </a:solidFill>
              </a:rPr>
              <a:t>度</a:t>
            </a:r>
            <a:endParaRPr lang="en-US" altLang="zh-TW" sz="3000" dirty="0"/>
          </a:p>
          <a:p>
            <a:pPr marL="273050" indent="-274638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875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affixes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330952"/>
          </a:xfrm>
        </p:spPr>
        <p:txBody>
          <a:bodyPr>
            <a:noAutofit/>
          </a:bodyPr>
          <a:lstStyle/>
          <a:p>
            <a:pPr marL="273050" indent="-274638"/>
            <a:r>
              <a:rPr lang="en-US" altLang="zh-TW" sz="3000" dirty="0"/>
              <a:t>(3) </a:t>
            </a:r>
            <a:r>
              <a:rPr lang="zh-TW" altLang="en-US" sz="3000" dirty="0"/>
              <a:t>中綴</a:t>
            </a:r>
            <a:endParaRPr lang="en-US" altLang="zh-TW" sz="3000" dirty="0"/>
          </a:p>
          <a:p>
            <a:pPr marL="273050" indent="-274638"/>
            <a:r>
              <a:rPr lang="en-US" altLang="zh-TW" sz="3000" dirty="0"/>
              <a:t>e.g., </a:t>
            </a:r>
            <a:r>
              <a:rPr lang="zh-TW" altLang="en-US" sz="3000" dirty="0"/>
              <a:t>菲律賓的</a:t>
            </a:r>
            <a:r>
              <a:rPr lang="en-US" altLang="zh-TW" sz="3000" dirty="0"/>
              <a:t>Tagalog</a:t>
            </a:r>
          </a:p>
          <a:p>
            <a:pPr marL="446088" lvl="1" indent="-274638"/>
            <a:r>
              <a:rPr lang="en-US" altLang="zh-TW" sz="2800" dirty="0"/>
              <a:t>-um- </a:t>
            </a:r>
            <a:r>
              <a:rPr lang="zh-TW" altLang="en-US" sz="2800" dirty="0"/>
              <a:t>表示動詞的不定式 </a:t>
            </a:r>
            <a:r>
              <a:rPr lang="en-US" altLang="zh-TW" sz="2800" dirty="0"/>
              <a:t>infinitive</a:t>
            </a:r>
          </a:p>
          <a:p>
            <a:pPr marL="446088" lvl="1" indent="-274638"/>
            <a:r>
              <a:rPr lang="en-US" altLang="zh-TW" sz="2800" dirty="0" err="1"/>
              <a:t>sulat</a:t>
            </a:r>
            <a:r>
              <a:rPr lang="en-US" altLang="zh-TW" sz="2800" dirty="0"/>
              <a:t> </a:t>
            </a:r>
            <a:r>
              <a:rPr lang="en-US" altLang="zh-TW" sz="2400" i="1" dirty="0"/>
              <a:t>(‘write’)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s</a:t>
            </a:r>
            <a:r>
              <a:rPr lang="en-US" altLang="zh-TW" sz="2800" dirty="0" err="1">
                <a:solidFill>
                  <a:srgbClr val="0070C0"/>
                </a:solidFill>
              </a:rPr>
              <a:t>um</a:t>
            </a:r>
            <a:r>
              <a:rPr lang="en-US" altLang="zh-TW" sz="2800" dirty="0" err="1">
                <a:solidFill>
                  <a:schemeClr val="tx1"/>
                </a:solidFill>
              </a:rPr>
              <a:t>u</a:t>
            </a:r>
            <a:r>
              <a:rPr lang="en-US" altLang="zh-TW" sz="2800" dirty="0" err="1"/>
              <a:t>lat</a:t>
            </a:r>
            <a:r>
              <a:rPr lang="en-US" altLang="zh-TW" sz="2800" dirty="0"/>
              <a:t> </a:t>
            </a:r>
            <a:r>
              <a:rPr lang="en-US" altLang="zh-TW" sz="2400" i="1" dirty="0"/>
              <a:t>(‘to write’)</a:t>
            </a:r>
          </a:p>
          <a:p>
            <a:pPr marL="446088" lvl="1" indent="-274638"/>
            <a:r>
              <a:rPr lang="en-US" altLang="zh-TW" sz="2800" dirty="0" err="1"/>
              <a:t>bili</a:t>
            </a:r>
            <a:r>
              <a:rPr lang="en-US" altLang="zh-TW" sz="2800" dirty="0"/>
              <a:t> </a:t>
            </a:r>
            <a:r>
              <a:rPr lang="en-US" altLang="zh-TW" sz="2400" i="1" dirty="0"/>
              <a:t>(‘buy’)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b</a:t>
            </a:r>
            <a:r>
              <a:rPr lang="en-US" altLang="zh-TW" sz="2800" dirty="0" err="1">
                <a:solidFill>
                  <a:srgbClr val="0070C0"/>
                </a:solidFill>
              </a:rPr>
              <a:t>um</a:t>
            </a:r>
            <a:r>
              <a:rPr lang="en-US" altLang="zh-TW" sz="2800" dirty="0" err="1"/>
              <a:t>ili</a:t>
            </a:r>
            <a:r>
              <a:rPr lang="en-US" altLang="zh-TW" sz="2800" dirty="0"/>
              <a:t> </a:t>
            </a:r>
            <a:r>
              <a:rPr lang="en-US" altLang="zh-TW" sz="2400" i="1" dirty="0"/>
              <a:t>(‘to buy’)</a:t>
            </a:r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en-US" altLang="zh-HK" sz="3000" dirty="0"/>
              <a:t>(4) </a:t>
            </a:r>
            <a:r>
              <a:rPr lang="en-US" altLang="zh-HK" sz="3000" dirty="0" err="1"/>
              <a:t>circumfix</a:t>
            </a:r>
            <a:r>
              <a:rPr lang="en-US" altLang="zh-HK" sz="3000" dirty="0"/>
              <a:t> </a:t>
            </a:r>
            <a:r>
              <a:rPr lang="zh-TW" altLang="en-US" sz="3000" dirty="0"/>
              <a:t>環綴</a:t>
            </a:r>
            <a:endParaRPr lang="en-US" altLang="zh-TW" sz="3000" dirty="0"/>
          </a:p>
          <a:p>
            <a:pPr marL="273050" indent="-274638"/>
            <a:r>
              <a:rPr lang="en-US" altLang="zh-TW" sz="3000" dirty="0"/>
              <a:t>e.g., </a:t>
            </a:r>
            <a:r>
              <a:rPr lang="zh-TW" altLang="en-US" sz="3000" dirty="0"/>
              <a:t>德語 </a:t>
            </a:r>
            <a:r>
              <a:rPr lang="en-US" altLang="zh-TW" sz="3000" dirty="0"/>
              <a:t>German</a:t>
            </a:r>
          </a:p>
          <a:p>
            <a:pPr marL="446088" lvl="1" indent="-274638"/>
            <a:r>
              <a:rPr lang="en-US" altLang="zh-TW" sz="2800" dirty="0" err="1"/>
              <a:t>ge</a:t>
            </a:r>
            <a:r>
              <a:rPr lang="en-US" altLang="zh-TW" sz="2800" dirty="0"/>
              <a:t>- -t </a:t>
            </a:r>
            <a:r>
              <a:rPr lang="zh-TW" altLang="en-US" sz="2800" dirty="0"/>
              <a:t>過去分詞 </a:t>
            </a:r>
            <a:r>
              <a:rPr lang="en-US" altLang="zh-TW" sz="2800" dirty="0"/>
              <a:t>past participle</a:t>
            </a:r>
            <a:r>
              <a:rPr lang="zh-TW" altLang="en-US" sz="2800" dirty="0"/>
              <a:t>，表示完成式</a:t>
            </a:r>
            <a:endParaRPr lang="en-US" altLang="zh-TW" sz="2800" dirty="0"/>
          </a:p>
          <a:p>
            <a:pPr marL="446088" lvl="1" indent="-274638"/>
            <a:r>
              <a:rPr lang="en-US" altLang="zh-TW" sz="2800" dirty="0" err="1"/>
              <a:t>haben</a:t>
            </a:r>
            <a:r>
              <a:rPr lang="en-US" altLang="zh-TW" sz="2800" dirty="0"/>
              <a:t> </a:t>
            </a:r>
            <a:r>
              <a:rPr lang="en-US" altLang="zh-TW" sz="2400" i="1" dirty="0"/>
              <a:t>(‘to have’)</a:t>
            </a:r>
            <a:r>
              <a:rPr lang="en-US" altLang="zh-TW" sz="2800" dirty="0"/>
              <a:t>, </a:t>
            </a:r>
            <a:r>
              <a:rPr lang="en-US" altLang="zh-TW" sz="2800" dirty="0" err="1">
                <a:solidFill>
                  <a:srgbClr val="0070C0"/>
                </a:solidFill>
              </a:rPr>
              <a:t>ge</a:t>
            </a:r>
            <a:r>
              <a:rPr lang="en-US" altLang="zh-TW" sz="2800" dirty="0" err="1"/>
              <a:t>hab</a:t>
            </a:r>
            <a:r>
              <a:rPr lang="en-US" altLang="zh-TW" sz="2800" dirty="0" err="1">
                <a:solidFill>
                  <a:srgbClr val="0070C0"/>
                </a:solidFill>
              </a:rPr>
              <a:t>t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sz="2400" i="1" dirty="0">
                <a:solidFill>
                  <a:schemeClr val="tx1"/>
                </a:solidFill>
              </a:rPr>
              <a:t>(‘had’ </a:t>
            </a:r>
            <a:r>
              <a:rPr lang="zh-TW" altLang="en-US" sz="2400" i="1" dirty="0">
                <a:solidFill>
                  <a:schemeClr val="tx1"/>
                </a:solidFill>
              </a:rPr>
              <a:t>過去分詞</a:t>
            </a:r>
            <a:r>
              <a:rPr lang="en-US" altLang="zh-TW" sz="2400" i="1" dirty="0">
                <a:solidFill>
                  <a:schemeClr val="tx1"/>
                </a:solidFill>
              </a:rPr>
              <a:t>)</a:t>
            </a:r>
            <a:endParaRPr lang="en-US" altLang="zh-HK" sz="2400" i="1" dirty="0">
              <a:solidFill>
                <a:schemeClr val="tx1"/>
              </a:solidFill>
            </a:endParaRPr>
          </a:p>
          <a:p>
            <a:pPr marL="273050" indent="-274638"/>
            <a:endParaRPr lang="zh-HK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334662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綴詞的功能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717280" cy="5330952"/>
          </a:xfrm>
        </p:spPr>
        <p:txBody>
          <a:bodyPr>
            <a:normAutofit/>
          </a:bodyPr>
          <a:lstStyle/>
          <a:p>
            <a:r>
              <a:rPr lang="en-US" altLang="zh-TW" sz="3000" dirty="0"/>
              <a:t>(1) </a:t>
            </a:r>
            <a:r>
              <a:rPr lang="zh-TW" altLang="en-US" sz="3000" dirty="0">
                <a:solidFill>
                  <a:srgbClr val="0070C0"/>
                </a:solidFill>
              </a:rPr>
              <a:t>語法詞綴</a:t>
            </a:r>
            <a:r>
              <a:rPr lang="en-US" altLang="zh-TW" sz="3000" dirty="0">
                <a:solidFill>
                  <a:srgbClr val="0070C0"/>
                </a:solidFill>
              </a:rPr>
              <a:t> inflectional affixes</a:t>
            </a:r>
          </a:p>
          <a:p>
            <a:r>
              <a:rPr lang="zh-TW" altLang="en-US" sz="2800" dirty="0"/>
              <a:t>標示語法上的功能，如時貌</a:t>
            </a:r>
            <a:r>
              <a:rPr lang="en-US" altLang="zh-TW" sz="2800" dirty="0"/>
              <a:t> aspect</a:t>
            </a:r>
            <a:r>
              <a:rPr lang="zh-TW" altLang="en-US" sz="2800" dirty="0"/>
              <a:t>、單複數、人稱</a:t>
            </a:r>
            <a:endParaRPr lang="en-US" altLang="zh-TW" sz="2800" dirty="0"/>
          </a:p>
          <a:p>
            <a:endParaRPr lang="en-US" altLang="zh-TW" dirty="0"/>
          </a:p>
          <a:p>
            <a:r>
              <a:rPr lang="zh-TW" altLang="en-US" sz="2800" dirty="0"/>
              <a:t>英語常用的語法詞綴</a:t>
            </a:r>
            <a:endParaRPr lang="en-US" altLang="zh-TW" sz="2800" dirty="0"/>
          </a:p>
          <a:p>
            <a:r>
              <a:rPr lang="zh-TW" altLang="en-US" dirty="0"/>
              <a:t>類別</a:t>
            </a:r>
            <a:r>
              <a:rPr lang="en-US" altLang="zh-TW" dirty="0"/>
              <a:t>		</a:t>
            </a:r>
            <a:r>
              <a:rPr lang="zh-TW" altLang="en-US" dirty="0"/>
              <a:t>形式</a:t>
            </a:r>
            <a:r>
              <a:rPr lang="en-US" altLang="zh-TW" dirty="0"/>
              <a:t>	</a:t>
            </a:r>
            <a:r>
              <a:rPr lang="zh-TW" altLang="en-US" dirty="0"/>
              <a:t>功能</a:t>
            </a:r>
            <a:r>
              <a:rPr lang="en-US" altLang="zh-TW" dirty="0"/>
              <a:t>		</a:t>
            </a:r>
            <a:r>
              <a:rPr lang="zh-TW" altLang="en-US" dirty="0"/>
              <a:t>例句</a:t>
            </a:r>
            <a:endParaRPr lang="en-US" altLang="zh-TW" dirty="0"/>
          </a:p>
          <a:p>
            <a:r>
              <a:rPr lang="en-US" altLang="zh-TW" dirty="0"/>
              <a:t>A. </a:t>
            </a:r>
            <a:r>
              <a:rPr lang="zh-TW" altLang="en-US" dirty="0"/>
              <a:t>時貌</a:t>
            </a: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ing</a:t>
            </a:r>
            <a:r>
              <a:rPr lang="en-US" altLang="zh-TW" dirty="0"/>
              <a:t>	</a:t>
            </a:r>
            <a:r>
              <a:rPr lang="zh-TW" altLang="en-US" dirty="0"/>
              <a:t>進行</a:t>
            </a:r>
            <a:r>
              <a:rPr lang="en-US" altLang="zh-TW" dirty="0"/>
              <a:t>		John is writ</a:t>
            </a:r>
            <a:r>
              <a:rPr lang="en-US" altLang="zh-TW" dirty="0">
                <a:solidFill>
                  <a:srgbClr val="FF0000"/>
                </a:solidFill>
              </a:rPr>
              <a:t>ing</a:t>
            </a:r>
            <a:r>
              <a:rPr lang="en-US" altLang="zh-TW" dirty="0"/>
              <a:t> an email.</a:t>
            </a:r>
          </a:p>
          <a:p>
            <a:pPr marL="0" indent="0">
              <a:buNone/>
            </a:pPr>
            <a:r>
              <a:rPr lang="en-US" altLang="zh-TW" dirty="0"/>
              <a:t> 		</a:t>
            </a:r>
            <a:r>
              <a:rPr lang="en-US" altLang="zh-TW" dirty="0">
                <a:solidFill>
                  <a:srgbClr val="FF0000"/>
                </a:solidFill>
              </a:rPr>
              <a:t>-en</a:t>
            </a:r>
            <a:r>
              <a:rPr lang="en-US" altLang="zh-TW" dirty="0"/>
              <a:t>	</a:t>
            </a:r>
            <a:r>
              <a:rPr lang="zh-TW" altLang="en-US" dirty="0"/>
              <a:t>完成</a:t>
            </a:r>
            <a:r>
              <a:rPr lang="en-US" altLang="zh-TW" dirty="0"/>
              <a:t>		John has writt</a:t>
            </a:r>
            <a:r>
              <a:rPr lang="en-US" altLang="zh-TW" dirty="0">
                <a:solidFill>
                  <a:srgbClr val="FF0000"/>
                </a:solidFill>
              </a:rPr>
              <a:t>en</a:t>
            </a:r>
            <a:r>
              <a:rPr lang="en-US" altLang="zh-TW" dirty="0"/>
              <a:t> an email.</a:t>
            </a:r>
          </a:p>
          <a:p>
            <a:r>
              <a:rPr lang="en-US" altLang="zh-TW" dirty="0"/>
              <a:t>B. </a:t>
            </a:r>
            <a:r>
              <a:rPr lang="zh-TW" altLang="en-US" dirty="0"/>
              <a:t>時式</a:t>
            </a: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ed</a:t>
            </a:r>
            <a:r>
              <a:rPr lang="en-US" altLang="zh-TW" dirty="0"/>
              <a:t>	</a:t>
            </a:r>
            <a:r>
              <a:rPr lang="zh-TW" altLang="en-US" dirty="0"/>
              <a:t>過去式</a:t>
            </a:r>
            <a:r>
              <a:rPr lang="en-US" altLang="zh-TW" dirty="0"/>
              <a:t>		John walk</a:t>
            </a:r>
            <a:r>
              <a:rPr lang="en-US" altLang="zh-TW" dirty="0">
                <a:solidFill>
                  <a:srgbClr val="FF0000"/>
                </a:solidFill>
              </a:rPr>
              <a:t>ed</a:t>
            </a:r>
            <a:r>
              <a:rPr lang="en-US" altLang="zh-TW" dirty="0"/>
              <a:t> a lot.</a:t>
            </a:r>
          </a:p>
          <a:p>
            <a:pPr marL="0" indent="0">
              <a:buNone/>
            </a:pPr>
            <a:r>
              <a:rPr lang="en-US" altLang="zh-TW" dirty="0"/>
              <a:t> 		</a:t>
            </a:r>
            <a:r>
              <a:rPr lang="en-US" altLang="zh-TW" dirty="0">
                <a:solidFill>
                  <a:srgbClr val="FF0000"/>
                </a:solidFill>
              </a:rPr>
              <a:t>-s</a:t>
            </a:r>
            <a:r>
              <a:rPr lang="en-US" altLang="zh-TW" dirty="0"/>
              <a:t>	</a:t>
            </a:r>
            <a:r>
              <a:rPr lang="zh-TW" altLang="en-US" dirty="0"/>
              <a:t>現在式</a:t>
            </a:r>
            <a:r>
              <a:rPr lang="en-US" altLang="zh-TW" dirty="0"/>
              <a:t>		John walk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dirty="0"/>
              <a:t> a lot.</a:t>
            </a:r>
          </a:p>
          <a:p>
            <a:r>
              <a:rPr lang="en-US" altLang="zh-TW" dirty="0"/>
              <a:t>C. </a:t>
            </a:r>
            <a:r>
              <a:rPr lang="zh-TW" altLang="en-US" dirty="0"/>
              <a:t>單複數</a:t>
            </a: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-s</a:t>
            </a:r>
            <a:r>
              <a:rPr lang="en-US" altLang="zh-TW" dirty="0"/>
              <a:t>	</a:t>
            </a:r>
            <a:r>
              <a:rPr lang="zh-TW" altLang="en-US" dirty="0"/>
              <a:t>名詞複數</a:t>
            </a:r>
            <a:r>
              <a:rPr lang="en-US" altLang="zh-TW" dirty="0"/>
              <a:t>	John reads a lot of book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D. </a:t>
            </a:r>
            <a:r>
              <a:rPr lang="zh-TW" altLang="en-US" dirty="0"/>
              <a:t>比較</a:t>
            </a: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er</a:t>
            </a:r>
            <a:r>
              <a:rPr lang="en-US" altLang="zh-TW" dirty="0"/>
              <a:t>	</a:t>
            </a:r>
            <a:r>
              <a:rPr lang="zh-TW" altLang="en-US" dirty="0"/>
              <a:t>形容詞比較級</a:t>
            </a:r>
            <a:r>
              <a:rPr lang="en-US" altLang="zh-TW" dirty="0"/>
              <a:t>	John is tall</a:t>
            </a:r>
            <a:r>
              <a:rPr lang="en-US" altLang="zh-TW" dirty="0">
                <a:solidFill>
                  <a:srgbClr val="FF0000"/>
                </a:solidFill>
              </a:rPr>
              <a:t>er</a:t>
            </a:r>
            <a:r>
              <a:rPr lang="en-US" altLang="zh-TW" dirty="0"/>
              <a:t> than Mary.</a:t>
            </a:r>
          </a:p>
          <a:p>
            <a:pPr marL="0" indent="0">
              <a:buNone/>
            </a:pPr>
            <a:r>
              <a:rPr lang="en-US" altLang="zh-TW" dirty="0"/>
              <a:t> 		</a:t>
            </a: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est</a:t>
            </a:r>
            <a:r>
              <a:rPr lang="en-US" altLang="zh-TW" dirty="0"/>
              <a:t>	</a:t>
            </a:r>
            <a:r>
              <a:rPr lang="zh-TW" altLang="en-US" dirty="0"/>
              <a:t>形容詞最高級</a:t>
            </a:r>
            <a:r>
              <a:rPr lang="en-US" altLang="zh-TW" dirty="0"/>
              <a:t>	John is the tall</a:t>
            </a:r>
            <a:r>
              <a:rPr lang="en-US" altLang="zh-TW" dirty="0">
                <a:solidFill>
                  <a:srgbClr val="FF0000"/>
                </a:solidFill>
              </a:rPr>
              <a:t>est</a:t>
            </a:r>
            <a:r>
              <a:rPr lang="en-US" altLang="zh-TW" dirty="0"/>
              <a:t> in the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2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綴詞的功能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altLang="zh-TW" sz="2600" dirty="0"/>
          </a:p>
          <a:p>
            <a:pPr marL="273050" indent="-274638"/>
            <a:r>
              <a:rPr lang="zh-TW" altLang="en-US" sz="3000" dirty="0"/>
              <a:t>中文時貌表</a:t>
            </a:r>
            <a:endParaRPr lang="en-US" altLang="zh-TW" sz="3000" dirty="0"/>
          </a:p>
          <a:p>
            <a:pPr marL="273050" indent="-274638"/>
            <a:r>
              <a:rPr lang="zh-TW" altLang="en-US" sz="3000" u="sng" dirty="0"/>
              <a:t>類別</a:t>
            </a:r>
            <a:r>
              <a:rPr lang="en-US" altLang="zh-TW" sz="3000" dirty="0"/>
              <a:t>	</a:t>
            </a:r>
            <a:r>
              <a:rPr lang="zh-TW" altLang="en-US" sz="3000" u="sng" dirty="0"/>
              <a:t>形式</a:t>
            </a:r>
            <a:r>
              <a:rPr lang="en-US" altLang="zh-TW" sz="3000" dirty="0"/>
              <a:t>		</a:t>
            </a:r>
            <a:r>
              <a:rPr lang="zh-TW" altLang="en-US" sz="3000" u="sng" dirty="0"/>
              <a:t>功能</a:t>
            </a:r>
            <a:r>
              <a:rPr lang="en-US" altLang="zh-TW" sz="3000" dirty="0"/>
              <a:t>		    </a:t>
            </a:r>
            <a:r>
              <a:rPr lang="zh-TW" altLang="en-US" sz="3000" u="sng" dirty="0"/>
              <a:t>例子</a:t>
            </a:r>
            <a:endParaRPr lang="en-US" altLang="zh-TW" sz="3000" u="sng" dirty="0"/>
          </a:p>
          <a:p>
            <a:pPr marL="273050" indent="-274638"/>
            <a:r>
              <a:rPr lang="zh-TW" altLang="en-US" sz="3000" dirty="0"/>
              <a:t>時貌</a:t>
            </a:r>
            <a:r>
              <a:rPr lang="en-US" altLang="zh-TW" sz="3000" dirty="0"/>
              <a:t>	</a:t>
            </a:r>
            <a:r>
              <a:rPr lang="zh-TW" altLang="en-US" sz="3000" dirty="0"/>
              <a:t>着</a:t>
            </a:r>
            <a:r>
              <a:rPr lang="en-US" altLang="zh-TW" sz="3000" dirty="0"/>
              <a:t>		</a:t>
            </a:r>
            <a:r>
              <a:rPr lang="zh-TW" altLang="en-US" sz="3000" dirty="0"/>
              <a:t>進行</a:t>
            </a:r>
            <a:r>
              <a:rPr lang="en-US" altLang="zh-TW" sz="3000" dirty="0"/>
              <a:t>		    </a:t>
            </a:r>
            <a:r>
              <a:rPr lang="zh-TW" altLang="en-US" sz="3000" dirty="0"/>
              <a:t>正在講</a:t>
            </a:r>
            <a:r>
              <a:rPr lang="zh-TW" altLang="en-US" sz="3000" dirty="0">
                <a:solidFill>
                  <a:srgbClr val="C00000"/>
                </a:solidFill>
              </a:rPr>
              <a:t>着</a:t>
            </a:r>
            <a:r>
              <a:rPr lang="zh-TW" altLang="en-US" sz="3000" dirty="0"/>
              <a:t>話。</a:t>
            </a:r>
            <a:endParaRPr lang="en-US" altLang="zh-TW" sz="3000" dirty="0"/>
          </a:p>
          <a:p>
            <a:pPr marL="0" indent="0">
              <a:buNone/>
            </a:pPr>
            <a:r>
              <a:rPr lang="en-US" altLang="zh-TW" sz="3000" dirty="0"/>
              <a:t> 		</a:t>
            </a:r>
            <a:r>
              <a:rPr lang="zh-TW" altLang="en-US" sz="3000" dirty="0"/>
              <a:t>了</a:t>
            </a:r>
            <a:r>
              <a:rPr lang="en-US" altLang="zh-TW" sz="3000" dirty="0"/>
              <a:t>		</a:t>
            </a:r>
            <a:r>
              <a:rPr lang="zh-TW" altLang="en-US" sz="3000" dirty="0"/>
              <a:t>完成</a:t>
            </a:r>
            <a:r>
              <a:rPr lang="en-US" altLang="zh-TW" sz="3000" dirty="0"/>
              <a:t>		    </a:t>
            </a:r>
            <a:r>
              <a:rPr lang="zh-TW" altLang="en-US" sz="3000" dirty="0"/>
              <a:t>寫完</a:t>
            </a:r>
            <a:r>
              <a:rPr lang="zh-TW" altLang="en-US" sz="3000" dirty="0">
                <a:solidFill>
                  <a:srgbClr val="C00000"/>
                </a:solidFill>
              </a:rPr>
              <a:t>了</a:t>
            </a:r>
            <a:endParaRPr lang="en-US" altLang="zh-TW" sz="3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TW" sz="3000" dirty="0"/>
              <a:t> 		</a:t>
            </a:r>
            <a:r>
              <a:rPr lang="zh-TW" altLang="en-US" sz="3000" dirty="0"/>
              <a:t>過</a:t>
            </a:r>
            <a:r>
              <a:rPr lang="en-US" altLang="zh-TW" sz="3000" dirty="0"/>
              <a:t>		</a:t>
            </a:r>
            <a:r>
              <a:rPr lang="zh-TW" altLang="en-US" sz="3000" dirty="0"/>
              <a:t>經驗</a:t>
            </a:r>
            <a:r>
              <a:rPr lang="en-US" altLang="zh-TW" sz="3000" dirty="0"/>
              <a:t>		    </a:t>
            </a:r>
            <a:r>
              <a:rPr lang="zh-TW" altLang="en-US" sz="3000" dirty="0"/>
              <a:t>去</a:t>
            </a:r>
            <a:r>
              <a:rPr lang="zh-TW" altLang="en-US" sz="3000" dirty="0">
                <a:solidFill>
                  <a:srgbClr val="C00000"/>
                </a:solidFill>
              </a:rPr>
              <a:t>過</a:t>
            </a:r>
            <a:r>
              <a:rPr lang="zh-TW" altLang="en-US" sz="3000" dirty="0"/>
              <a:t>了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比較</a:t>
            </a:r>
            <a:r>
              <a:rPr lang="en-US" altLang="zh-TW" sz="3000" dirty="0"/>
              <a:t>	</a:t>
            </a:r>
            <a:r>
              <a:rPr lang="zh-TW" altLang="en-US" sz="3000" dirty="0"/>
              <a:t>比</a:t>
            </a:r>
            <a:r>
              <a:rPr lang="en-US" altLang="zh-TW" sz="3000" dirty="0"/>
              <a:t>		</a:t>
            </a:r>
            <a:r>
              <a:rPr lang="zh-TW" altLang="en-US" sz="3000" dirty="0"/>
              <a:t>形容詞比較</a:t>
            </a:r>
            <a:r>
              <a:rPr lang="en-US" altLang="zh-TW" sz="3000" dirty="0"/>
              <a:t>    </a:t>
            </a:r>
            <a:r>
              <a:rPr lang="zh-TW" altLang="en-US" sz="3000" dirty="0">
                <a:solidFill>
                  <a:srgbClr val="C00000"/>
                </a:solidFill>
              </a:rPr>
              <a:t>比</a:t>
            </a:r>
            <a:r>
              <a:rPr lang="zh-TW" altLang="en-US" sz="3000" dirty="0"/>
              <a:t>李四高</a:t>
            </a:r>
            <a:endParaRPr lang="en-US" altLang="zh-TW" sz="3000" dirty="0"/>
          </a:p>
          <a:p>
            <a:pPr marL="0" indent="0">
              <a:buNone/>
            </a:pPr>
            <a:r>
              <a:rPr lang="en-US" altLang="zh-TW" sz="3000" dirty="0"/>
              <a:t> 		</a:t>
            </a:r>
            <a:r>
              <a:rPr lang="zh-TW" altLang="en-US" sz="3000" dirty="0"/>
              <a:t>比</a:t>
            </a:r>
            <a:r>
              <a:rPr lang="en-US" altLang="zh-TW" sz="3000" dirty="0"/>
              <a:t>…</a:t>
            </a:r>
            <a:r>
              <a:rPr lang="zh-TW" altLang="en-US" sz="3000" dirty="0"/>
              <a:t>還</a:t>
            </a:r>
            <a:r>
              <a:rPr lang="en-US" altLang="zh-TW" sz="3000" dirty="0"/>
              <a:t>			     </a:t>
            </a:r>
            <a:r>
              <a:rPr lang="zh-TW" altLang="en-US" sz="3000" dirty="0">
                <a:solidFill>
                  <a:srgbClr val="C00000"/>
                </a:solidFill>
              </a:rPr>
              <a:t>比</a:t>
            </a:r>
            <a:r>
              <a:rPr lang="zh-TW" altLang="en-US" sz="3000" dirty="0"/>
              <a:t>李四還要</a:t>
            </a:r>
            <a:r>
              <a:rPr lang="zh-TW" altLang="en-US" sz="3000" dirty="0">
                <a:solidFill>
                  <a:srgbClr val="C00000"/>
                </a:solidFill>
              </a:rPr>
              <a:t>高</a:t>
            </a:r>
            <a:endParaRPr lang="en-US" altLang="zh-TW" sz="3000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472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綴詞的功能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73050" indent="-274638"/>
            <a:r>
              <a:rPr lang="en-US" altLang="zh-TW" sz="3000" dirty="0"/>
              <a:t>(2) </a:t>
            </a:r>
            <a:r>
              <a:rPr lang="zh-TW" altLang="en-US" sz="3000" dirty="0">
                <a:solidFill>
                  <a:srgbClr val="0070C0"/>
                </a:solidFill>
              </a:rPr>
              <a:t>詞變詞綴</a:t>
            </a:r>
            <a:r>
              <a:rPr lang="en-US" altLang="zh-TW" sz="3000" dirty="0">
                <a:solidFill>
                  <a:srgbClr val="0070C0"/>
                </a:solidFill>
              </a:rPr>
              <a:t> derivational affixes</a:t>
            </a:r>
          </a:p>
          <a:p>
            <a:pPr marL="273050" indent="-274638"/>
            <a:r>
              <a:rPr lang="zh-TW" altLang="en-US" sz="2800" dirty="0"/>
              <a:t>使</a:t>
            </a:r>
            <a:r>
              <a:rPr lang="zh-TW" altLang="en-US" sz="2800" u="sng" dirty="0"/>
              <a:t>詞類</a:t>
            </a:r>
            <a:r>
              <a:rPr lang="zh-TW" altLang="en-US" sz="2800" dirty="0"/>
              <a:t>或</a:t>
            </a:r>
            <a:r>
              <a:rPr lang="zh-TW" altLang="en-US" sz="2800" u="sng" dirty="0"/>
              <a:t>語義</a:t>
            </a:r>
            <a:r>
              <a:rPr lang="zh-TW" altLang="en-US" sz="2800" dirty="0"/>
              <a:t>改變的綴詞</a:t>
            </a:r>
            <a:endParaRPr lang="en-US" altLang="zh-TW" sz="2800" dirty="0"/>
          </a:p>
          <a:p>
            <a:pPr marL="273050" indent="-274638"/>
            <a:endParaRPr lang="en-US" altLang="zh-TW" sz="2800" dirty="0"/>
          </a:p>
          <a:p>
            <a:pPr marL="273050" indent="-274638"/>
            <a:r>
              <a:rPr lang="zh-TW" altLang="en-US" sz="2800" dirty="0"/>
              <a:t>下面我們會看一些英語常見的詞變後綴</a:t>
            </a:r>
            <a:endParaRPr lang="en-US" altLang="zh-TW" sz="2800" dirty="0"/>
          </a:p>
          <a:p>
            <a:pPr marL="0" indent="0">
              <a:buNone/>
            </a:pPr>
            <a:r>
              <a:rPr lang="en-US" altLang="zh-TW" sz="2800" dirty="0"/>
              <a:t>	(</a:t>
            </a:r>
            <a:r>
              <a:rPr lang="zh-TW" altLang="en-US" sz="2800" dirty="0"/>
              <a:t>詞類簡稱：</a:t>
            </a:r>
            <a:endParaRPr lang="en-US" altLang="zh-TW" sz="2800" dirty="0"/>
          </a:p>
          <a:p>
            <a:pPr marL="171450" lvl="1" indent="0">
              <a:buNone/>
            </a:pPr>
            <a:r>
              <a:rPr lang="en-US" altLang="zh-TW" sz="2600" dirty="0"/>
              <a:t>		N</a:t>
            </a:r>
            <a:r>
              <a:rPr lang="zh-TW" altLang="en-US" sz="2600" dirty="0"/>
              <a:t>：</a:t>
            </a:r>
            <a:r>
              <a:rPr lang="en-US" altLang="zh-TW" sz="2600" dirty="0"/>
              <a:t>noun</a:t>
            </a:r>
            <a:r>
              <a:rPr lang="zh-TW" altLang="en-US" sz="2600" dirty="0"/>
              <a:t> 名詞</a:t>
            </a:r>
            <a:endParaRPr lang="en-US" altLang="zh-TW" sz="2600" dirty="0"/>
          </a:p>
          <a:p>
            <a:pPr marL="171450" lvl="1" indent="0">
              <a:buNone/>
            </a:pPr>
            <a:r>
              <a:rPr lang="en-US" altLang="zh-TW" sz="2600" dirty="0"/>
              <a:t>		V</a:t>
            </a:r>
            <a:r>
              <a:rPr lang="zh-TW" altLang="en-US" sz="2600" dirty="0"/>
              <a:t>：</a:t>
            </a:r>
            <a:r>
              <a:rPr lang="en-US" altLang="zh-TW" sz="2600" dirty="0"/>
              <a:t>verb</a:t>
            </a:r>
            <a:r>
              <a:rPr lang="zh-TW" altLang="en-US" sz="2600" dirty="0"/>
              <a:t> 動詞</a:t>
            </a:r>
            <a:endParaRPr lang="en-US" altLang="zh-TW" sz="2600" dirty="0"/>
          </a:p>
          <a:p>
            <a:pPr marL="171450" lvl="1" indent="0">
              <a:buNone/>
            </a:pPr>
            <a:r>
              <a:rPr lang="en-US" altLang="zh-TW" sz="2600" dirty="0"/>
              <a:t>		A</a:t>
            </a:r>
            <a:r>
              <a:rPr lang="zh-TW" altLang="en-US" sz="2600" dirty="0"/>
              <a:t>：</a:t>
            </a:r>
            <a:r>
              <a:rPr lang="en-US" altLang="zh-TW" sz="2600" dirty="0"/>
              <a:t>adjective</a:t>
            </a:r>
            <a:r>
              <a:rPr lang="zh-TW" altLang="en-US" sz="2600" dirty="0"/>
              <a:t> 形容詞</a:t>
            </a:r>
            <a:endParaRPr lang="en-US" altLang="zh-TW" sz="2600" dirty="0"/>
          </a:p>
          <a:p>
            <a:pPr marL="171450" lvl="1" indent="0">
              <a:buNone/>
            </a:pPr>
            <a:r>
              <a:rPr lang="en-US" altLang="zh-TW" sz="2600" dirty="0"/>
              <a:t>		Adv</a:t>
            </a:r>
            <a:r>
              <a:rPr lang="zh-TW" altLang="en-US" sz="2600" dirty="0"/>
              <a:t>：</a:t>
            </a:r>
            <a:r>
              <a:rPr lang="en-US" altLang="zh-TW" sz="2600" dirty="0"/>
              <a:t>adverb</a:t>
            </a:r>
            <a:r>
              <a:rPr lang="zh-TW" altLang="en-US" sz="2600" dirty="0"/>
              <a:t> 副詞</a:t>
            </a:r>
            <a:r>
              <a:rPr lang="en-US" altLang="zh-TW" sz="2600" dirty="0"/>
              <a:t>)</a:t>
            </a:r>
          </a:p>
          <a:p>
            <a:endParaRPr lang="en-US" altLang="zh-TW" sz="2600" dirty="0"/>
          </a:p>
          <a:p>
            <a:endParaRPr lang="en-US" altLang="zh-TW" sz="2600" dirty="0"/>
          </a:p>
          <a:p>
            <a:endParaRPr lang="en-US" altLang="zh-TW" sz="26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22638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762000"/>
          </a:xfrm>
        </p:spPr>
        <p:txBody>
          <a:bodyPr/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綴詞的功能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990600"/>
            <a:ext cx="8595360" cy="579120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英語常見的詞變後綴</a:t>
            </a:r>
            <a:endParaRPr lang="en-US" altLang="zh-TW" dirty="0"/>
          </a:p>
          <a:p>
            <a:r>
              <a:rPr lang="en-US" dirty="0"/>
              <a:t>-able		V-&gt;A		countable, readable</a:t>
            </a:r>
          </a:p>
          <a:p>
            <a:r>
              <a:rPr lang="en-US" dirty="0"/>
              <a:t>-</a:t>
            </a:r>
            <a:r>
              <a:rPr lang="en-US" dirty="0" err="1"/>
              <a:t>ous</a:t>
            </a:r>
            <a:r>
              <a:rPr lang="en-US" dirty="0"/>
              <a:t>		N-&gt;A		famous, poisonous</a:t>
            </a:r>
          </a:p>
          <a:p>
            <a:r>
              <a:rPr lang="en-US" dirty="0"/>
              <a:t>-</a:t>
            </a:r>
            <a:r>
              <a:rPr lang="en-US" dirty="0" err="1"/>
              <a:t>ic</a:t>
            </a:r>
            <a:r>
              <a:rPr lang="en-US" dirty="0"/>
              <a:t>		N-&gt;A		poetic, historic</a:t>
            </a:r>
          </a:p>
          <a:p>
            <a:r>
              <a:rPr lang="en-US" dirty="0"/>
              <a:t>-less		N-&gt;A		hopeless, endless</a:t>
            </a:r>
          </a:p>
          <a:p>
            <a:r>
              <a:rPr lang="en-US" dirty="0"/>
              <a:t>-</a:t>
            </a:r>
            <a:r>
              <a:rPr lang="en-US" dirty="0" err="1"/>
              <a:t>ly</a:t>
            </a:r>
            <a:r>
              <a:rPr lang="en-US" dirty="0"/>
              <a:t>		A-&gt;</a:t>
            </a:r>
            <a:r>
              <a:rPr lang="en-US" dirty="0" err="1"/>
              <a:t>Adv</a:t>
            </a:r>
            <a:r>
              <a:rPr lang="en-US" dirty="0"/>
              <a:t>		quietly, slowly</a:t>
            </a:r>
          </a:p>
          <a:p>
            <a:r>
              <a:rPr lang="en-US" dirty="0"/>
              <a:t>-</a:t>
            </a:r>
            <a:r>
              <a:rPr lang="en-US" dirty="0" err="1"/>
              <a:t>ing</a:t>
            </a:r>
            <a:r>
              <a:rPr lang="en-US" dirty="0"/>
              <a:t>		V-&gt;A		promising, understanding</a:t>
            </a:r>
          </a:p>
          <a:p>
            <a:r>
              <a:rPr lang="en-US" dirty="0"/>
              <a:t>-ate		A-&gt;V		motivate, activate</a:t>
            </a:r>
          </a:p>
          <a:p>
            <a:r>
              <a:rPr lang="en-US" dirty="0"/>
              <a:t>-</a:t>
            </a:r>
            <a:r>
              <a:rPr lang="en-US" dirty="0" err="1"/>
              <a:t>ize</a:t>
            </a:r>
            <a:r>
              <a:rPr lang="en-US" dirty="0"/>
              <a:t>		A-&gt;V		civilize, modernize</a:t>
            </a:r>
          </a:p>
          <a:p>
            <a:r>
              <a:rPr lang="en-US" dirty="0"/>
              <a:t>-ion		V-&gt;N		production, motivation</a:t>
            </a:r>
          </a:p>
          <a:p>
            <a:r>
              <a:rPr lang="en-US" dirty="0"/>
              <a:t>-</a:t>
            </a:r>
            <a:r>
              <a:rPr lang="en-US" dirty="0" err="1"/>
              <a:t>er</a:t>
            </a:r>
            <a:r>
              <a:rPr lang="en-US" dirty="0"/>
              <a:t>/-or		V-&gt;N		speaker, </a:t>
            </a:r>
            <a:r>
              <a:rPr lang="en-US" altLang="zh-HK" dirty="0"/>
              <a:t>actor,</a:t>
            </a:r>
            <a:endParaRPr lang="en-US" dirty="0"/>
          </a:p>
          <a:p>
            <a:r>
              <a:rPr lang="en-US" dirty="0"/>
              <a:t>-al		N-&gt;A		national, cultural</a:t>
            </a:r>
          </a:p>
          <a:p>
            <a:r>
              <a:rPr lang="en-US" dirty="0"/>
              <a:t>-</a:t>
            </a:r>
            <a:r>
              <a:rPr lang="en-US" dirty="0" err="1"/>
              <a:t>ment</a:t>
            </a:r>
            <a:r>
              <a:rPr lang="en-US" dirty="0"/>
              <a:t>		V-&gt;N		movement, commencement</a:t>
            </a:r>
          </a:p>
          <a:p>
            <a:r>
              <a:rPr lang="en-US" dirty="0"/>
              <a:t>-</a:t>
            </a:r>
            <a:r>
              <a:rPr lang="en-US" dirty="0" err="1"/>
              <a:t>ful</a:t>
            </a:r>
            <a:r>
              <a:rPr lang="en-US" dirty="0"/>
              <a:t>		N-&gt;A		careful, helpful</a:t>
            </a:r>
          </a:p>
          <a:p>
            <a:r>
              <a:rPr lang="en-US" dirty="0"/>
              <a:t>-</a:t>
            </a:r>
            <a:r>
              <a:rPr lang="en-US" dirty="0" err="1"/>
              <a:t>dom</a:t>
            </a:r>
            <a:r>
              <a:rPr lang="en-US" dirty="0"/>
              <a:t>		A-&gt;N		freedom, wisdom</a:t>
            </a:r>
          </a:p>
          <a:p>
            <a:r>
              <a:rPr lang="en-US" dirty="0"/>
              <a:t>-</a:t>
            </a:r>
            <a:r>
              <a:rPr lang="en-US" dirty="0" err="1"/>
              <a:t>ity</a:t>
            </a:r>
            <a:r>
              <a:rPr lang="en-US" dirty="0"/>
              <a:t>		A-&gt;N		activity, productivity</a:t>
            </a:r>
          </a:p>
        </p:txBody>
      </p:sp>
    </p:spTree>
    <p:extLst>
      <p:ext uri="{BB962C8B-B14F-4D97-AF65-F5344CB8AC3E}">
        <p14:creationId xmlns:p14="http://schemas.microsoft.com/office/powerpoint/2010/main" val="141780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7620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英語綴詞的層次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066800"/>
            <a:ext cx="8869680" cy="5791200"/>
          </a:xfrm>
        </p:spPr>
        <p:txBody>
          <a:bodyPr>
            <a:normAutofit/>
          </a:bodyPr>
          <a:lstStyle/>
          <a:p>
            <a:pPr marL="273050" indent="-274638"/>
            <a:r>
              <a:rPr lang="zh-TW" altLang="en-US" sz="3000" dirty="0"/>
              <a:t>英語的綴詞分為兩個層次，而且在構詞的程序上，必須第一層次的綴詞加上去之後，才可能接第二層次的綴詞</a:t>
            </a:r>
            <a:endParaRPr lang="en-US" altLang="zh-TW" sz="3000" dirty="0"/>
          </a:p>
          <a:p>
            <a:pPr marL="273050" indent="-274638"/>
            <a:endParaRPr lang="en-US" sz="3000" dirty="0"/>
          </a:p>
          <a:p>
            <a:pPr marL="273050" indent="-274638"/>
            <a:r>
              <a:rPr lang="zh-TW" altLang="en-US" sz="3000" dirty="0"/>
              <a:t>英語綴詞的層次</a:t>
            </a:r>
            <a:endParaRPr lang="en-US" altLang="zh-TW" sz="3000" dirty="0"/>
          </a:p>
          <a:p>
            <a:pPr marL="273050" indent="-274638"/>
            <a:r>
              <a:rPr lang="zh-TW" altLang="en-US" sz="3000" u="sng" dirty="0"/>
              <a:t>層次</a:t>
            </a:r>
            <a:r>
              <a:rPr lang="en-US" altLang="zh-TW" sz="3000" dirty="0"/>
              <a:t>	</a:t>
            </a:r>
            <a:r>
              <a:rPr lang="zh-TW" altLang="en-US" sz="3000" dirty="0"/>
              <a:t>  </a:t>
            </a:r>
            <a:r>
              <a:rPr lang="zh-TW" altLang="en-US" sz="3000" u="sng" dirty="0"/>
              <a:t>前綴</a:t>
            </a:r>
            <a:r>
              <a:rPr lang="en-US" altLang="zh-TW" sz="3000" dirty="0"/>
              <a:t>	</a:t>
            </a:r>
            <a:r>
              <a:rPr lang="zh-TW" altLang="en-US" sz="3000" u="sng" dirty="0"/>
              <a:t>後綴</a:t>
            </a:r>
            <a:br>
              <a:rPr lang="en-US" altLang="zh-TW" sz="3000" u="sng" dirty="0"/>
            </a:br>
            <a:r>
              <a:rPr lang="zh-TW" altLang="en-US" sz="3000" dirty="0"/>
              <a:t>第一層次</a:t>
            </a:r>
            <a:r>
              <a:rPr lang="en-US" altLang="zh-TW" sz="3000" dirty="0"/>
              <a:t>	</a:t>
            </a:r>
            <a:r>
              <a:rPr lang="zh-TW" altLang="en-US" sz="3000" dirty="0"/>
              <a:t>  </a:t>
            </a:r>
            <a:r>
              <a:rPr lang="en-US" altLang="zh-TW" sz="3000" dirty="0">
                <a:solidFill>
                  <a:srgbClr val="0070C0"/>
                </a:solidFill>
              </a:rPr>
              <a:t>pre</a:t>
            </a:r>
            <a:r>
              <a:rPr lang="en-US" altLang="zh-TW" sz="3000" dirty="0"/>
              <a:t>-		-</a:t>
            </a:r>
            <a:r>
              <a:rPr lang="en-US" altLang="zh-TW" sz="3000" dirty="0" err="1">
                <a:solidFill>
                  <a:srgbClr val="0070C0"/>
                </a:solidFill>
              </a:rPr>
              <a:t>ity</a:t>
            </a:r>
            <a:r>
              <a:rPr lang="en-US" altLang="zh-TW" sz="3000" dirty="0"/>
              <a:t>, -</a:t>
            </a:r>
            <a:r>
              <a:rPr lang="en-US" altLang="zh-TW" sz="3000" dirty="0">
                <a:solidFill>
                  <a:srgbClr val="0070C0"/>
                </a:solidFill>
              </a:rPr>
              <a:t>y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ive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ize</a:t>
            </a:r>
            <a:r>
              <a:rPr lang="en-US" altLang="zh-TW" sz="3000" dirty="0"/>
              <a:t>, -</a:t>
            </a:r>
            <a:r>
              <a:rPr lang="en-US" altLang="zh-TW" sz="3000" dirty="0">
                <a:solidFill>
                  <a:srgbClr val="0070C0"/>
                </a:solidFill>
              </a:rPr>
              <a:t>ion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ious</a:t>
            </a:r>
            <a:br>
              <a:rPr lang="en-US" altLang="zh-TW" sz="3000" dirty="0"/>
            </a:br>
            <a:r>
              <a:rPr lang="zh-TW" altLang="en-US" sz="3000" dirty="0"/>
              <a:t>第二層次  </a:t>
            </a:r>
            <a:r>
              <a:rPr lang="en-US" altLang="zh-TW" sz="3000" dirty="0">
                <a:solidFill>
                  <a:srgbClr val="0070C0"/>
                </a:solidFill>
              </a:rPr>
              <a:t>un</a:t>
            </a:r>
            <a:r>
              <a:rPr lang="en-US" altLang="zh-TW" sz="3000" dirty="0"/>
              <a:t>-, </a:t>
            </a:r>
            <a:r>
              <a:rPr lang="en-US" altLang="zh-TW" sz="3000" dirty="0">
                <a:solidFill>
                  <a:srgbClr val="0070C0"/>
                </a:solidFill>
              </a:rPr>
              <a:t>in</a:t>
            </a:r>
            <a:r>
              <a:rPr lang="en-US" altLang="zh-TW" sz="3000" dirty="0"/>
              <a:t>-	-</a:t>
            </a:r>
            <a:r>
              <a:rPr lang="en-US" altLang="zh-TW" sz="3000" dirty="0">
                <a:solidFill>
                  <a:srgbClr val="0070C0"/>
                </a:solidFill>
              </a:rPr>
              <a:t>ness</a:t>
            </a:r>
            <a:r>
              <a:rPr lang="en-US" altLang="zh-TW" sz="3000" dirty="0"/>
              <a:t>, -</a:t>
            </a:r>
            <a:r>
              <a:rPr lang="en-US" altLang="zh-TW" sz="3000" dirty="0">
                <a:solidFill>
                  <a:srgbClr val="0070C0"/>
                </a:solidFill>
              </a:rPr>
              <a:t>less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ful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ly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er</a:t>
            </a:r>
            <a:r>
              <a:rPr lang="en-US" altLang="zh-TW" sz="3000" dirty="0"/>
              <a:t>, -</a:t>
            </a:r>
            <a:r>
              <a:rPr lang="en-US" altLang="zh-TW" sz="3000" dirty="0" err="1">
                <a:solidFill>
                  <a:srgbClr val="0070C0"/>
                </a:solidFill>
              </a:rPr>
              <a:t>ish</a:t>
            </a:r>
            <a:endParaRPr lang="en-US" altLang="zh-TW" sz="3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18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76200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英語綴詞的層次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066800"/>
            <a:ext cx="8717280" cy="5791200"/>
          </a:xfrm>
        </p:spPr>
        <p:txBody>
          <a:bodyPr>
            <a:normAutofit lnSpcReduction="10000"/>
          </a:bodyPr>
          <a:lstStyle/>
          <a:p>
            <a:pPr marL="273050" indent="-274638">
              <a:tabLst>
                <a:tab pos="271463" algn="l"/>
              </a:tabLst>
            </a:pPr>
            <a:r>
              <a:rPr lang="zh-TW" altLang="en-US" sz="3000" dirty="0"/>
              <a:t>層次</a:t>
            </a:r>
            <a:r>
              <a:rPr lang="en-US" altLang="zh-TW" sz="3000" dirty="0"/>
              <a:t>	  </a:t>
            </a:r>
            <a:r>
              <a:rPr lang="zh-TW" altLang="en-US" sz="3000" dirty="0"/>
              <a:t>前綴</a:t>
            </a:r>
            <a:r>
              <a:rPr lang="en-US" altLang="zh-TW" sz="3000" dirty="0"/>
              <a:t>	</a:t>
            </a:r>
            <a:r>
              <a:rPr lang="zh-TW" altLang="en-US" sz="3000" dirty="0"/>
              <a:t>後綴</a:t>
            </a:r>
            <a:br>
              <a:rPr lang="en-US" altLang="zh-TW" sz="3000" dirty="0"/>
            </a:br>
            <a:r>
              <a:rPr lang="zh-TW" altLang="en-US" sz="3000" dirty="0"/>
              <a:t>第一層次</a:t>
            </a:r>
            <a:r>
              <a:rPr lang="en-US" altLang="zh-TW" sz="3000" dirty="0"/>
              <a:t>	  pre-		</a:t>
            </a:r>
            <a:r>
              <a:rPr lang="en-US" altLang="zh-TW" sz="3000" dirty="0">
                <a:solidFill>
                  <a:srgbClr val="00B050"/>
                </a:solidFill>
              </a:rPr>
              <a:t>-</a:t>
            </a:r>
            <a:r>
              <a:rPr lang="en-US" altLang="zh-TW" sz="3000" dirty="0" err="1">
                <a:solidFill>
                  <a:srgbClr val="00B050"/>
                </a:solidFill>
              </a:rPr>
              <a:t>ity</a:t>
            </a:r>
            <a:r>
              <a:rPr lang="en-US" altLang="zh-TW" sz="3000" dirty="0"/>
              <a:t>, -y, </a:t>
            </a:r>
            <a:r>
              <a:rPr lang="en-US" altLang="zh-TW" sz="3000" dirty="0">
                <a:solidFill>
                  <a:srgbClr val="00B050"/>
                </a:solidFill>
              </a:rPr>
              <a:t>-</a:t>
            </a:r>
            <a:r>
              <a:rPr lang="en-US" altLang="zh-TW" sz="3000" dirty="0" err="1">
                <a:solidFill>
                  <a:srgbClr val="00B050"/>
                </a:solidFill>
              </a:rPr>
              <a:t>ive</a:t>
            </a:r>
            <a:r>
              <a:rPr lang="en-US" altLang="zh-TW" sz="3000" dirty="0"/>
              <a:t>, </a:t>
            </a:r>
            <a:r>
              <a:rPr lang="en-US" altLang="zh-TW" sz="3000" dirty="0">
                <a:solidFill>
                  <a:srgbClr val="00B050"/>
                </a:solidFill>
              </a:rPr>
              <a:t>-</a:t>
            </a:r>
            <a:r>
              <a:rPr lang="en-US" altLang="zh-TW" sz="3000" dirty="0" err="1">
                <a:solidFill>
                  <a:srgbClr val="00B050"/>
                </a:solidFill>
              </a:rPr>
              <a:t>ize</a:t>
            </a:r>
            <a:r>
              <a:rPr lang="en-US" altLang="zh-TW" sz="3000" dirty="0"/>
              <a:t>, -ion, -</a:t>
            </a:r>
            <a:r>
              <a:rPr lang="en-US" altLang="zh-TW" sz="3000" dirty="0" err="1"/>
              <a:t>ious</a:t>
            </a:r>
            <a:br>
              <a:rPr lang="en-US" altLang="zh-TW" sz="3000" dirty="0"/>
            </a:br>
            <a:r>
              <a:rPr lang="zh-TW" altLang="en-US" sz="3000" dirty="0"/>
              <a:t>第二層次</a:t>
            </a:r>
            <a:r>
              <a:rPr lang="en-US" altLang="zh-TW" sz="3000" dirty="0"/>
              <a:t>	  un-, in-	-ness, -less, </a:t>
            </a:r>
            <a:r>
              <a:rPr lang="en-US" altLang="zh-TW" sz="3000" dirty="0">
                <a:solidFill>
                  <a:srgbClr val="FF0000"/>
                </a:solidFill>
              </a:rPr>
              <a:t>-</a:t>
            </a:r>
            <a:r>
              <a:rPr lang="en-US" altLang="zh-TW" sz="3000" dirty="0" err="1">
                <a:solidFill>
                  <a:srgbClr val="FF0000"/>
                </a:solidFill>
              </a:rPr>
              <a:t>ful</a:t>
            </a:r>
            <a:r>
              <a:rPr lang="en-US" altLang="zh-TW" sz="3000" dirty="0"/>
              <a:t>, </a:t>
            </a:r>
            <a:r>
              <a:rPr lang="en-US" altLang="zh-TW" sz="3000" dirty="0">
                <a:solidFill>
                  <a:srgbClr val="FF0000"/>
                </a:solidFill>
              </a:rPr>
              <a:t>-</a:t>
            </a:r>
            <a:r>
              <a:rPr lang="en-US" altLang="zh-TW" sz="3000" dirty="0" err="1">
                <a:solidFill>
                  <a:srgbClr val="FF0000"/>
                </a:solidFill>
              </a:rPr>
              <a:t>ly</a:t>
            </a:r>
            <a:r>
              <a:rPr lang="en-US" altLang="zh-TW" sz="3000" dirty="0"/>
              <a:t>, -</a:t>
            </a:r>
            <a:r>
              <a:rPr lang="en-US" altLang="zh-TW" sz="3000" dirty="0" err="1"/>
              <a:t>er</a:t>
            </a:r>
            <a:r>
              <a:rPr lang="en-US" altLang="zh-TW" sz="3000" dirty="0"/>
              <a:t>, -</a:t>
            </a:r>
            <a:r>
              <a:rPr lang="en-US" altLang="zh-TW" sz="3000" dirty="0" err="1"/>
              <a:t>ish</a:t>
            </a:r>
            <a:endParaRPr lang="en-US" altLang="zh-TW" sz="3000" dirty="0"/>
          </a:p>
          <a:p>
            <a:pPr marL="273050" indent="-274638">
              <a:tabLst>
                <a:tab pos="271463" algn="l"/>
              </a:tabLst>
            </a:pPr>
            <a:endParaRPr lang="en-US" altLang="zh-TW" sz="3000" dirty="0"/>
          </a:p>
          <a:p>
            <a:pPr marL="273050" indent="-274638">
              <a:tabLst>
                <a:tab pos="271463" algn="l"/>
              </a:tabLst>
            </a:pPr>
            <a:r>
              <a:rPr lang="zh-TW" altLang="en-US" sz="3000" dirty="0"/>
              <a:t>第一層次綴詞之共同特性：會使</a:t>
            </a:r>
            <a:r>
              <a:rPr lang="zh-TW" altLang="en-US" sz="3000" u="sng" dirty="0"/>
              <a:t>重音</a:t>
            </a:r>
            <a:r>
              <a:rPr lang="zh-TW" altLang="en-US" sz="3000" dirty="0"/>
              <a:t>改變</a:t>
            </a:r>
            <a:endParaRPr lang="en-US" altLang="zh-TW" sz="3000" dirty="0"/>
          </a:p>
          <a:p>
            <a:pPr marL="446088" lvl="1" indent="-274638">
              <a:tabLst>
                <a:tab pos="271463" algn="l"/>
              </a:tabLst>
            </a:pPr>
            <a:r>
              <a:rPr lang="zh-TW" altLang="en-US" sz="2800" dirty="0"/>
              <a:t>比較 </a:t>
            </a:r>
            <a:r>
              <a:rPr lang="en-US" sz="2800" dirty="0">
                <a:solidFill>
                  <a:srgbClr val="0070C0"/>
                </a:solidFill>
              </a:rPr>
              <a:t>product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70C0"/>
                </a:solidFill>
              </a:rPr>
              <a:t>productive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70C0"/>
                </a:solidFill>
              </a:rPr>
              <a:t>productivity</a:t>
            </a:r>
            <a:r>
              <a:rPr lang="en-US" sz="2800" dirty="0"/>
              <a:t> </a:t>
            </a:r>
            <a:r>
              <a:rPr lang="zh-TW" altLang="en-US" sz="2800" dirty="0"/>
              <a:t>之讀音</a:t>
            </a:r>
            <a:endParaRPr lang="en-US" sz="2800" dirty="0"/>
          </a:p>
          <a:p>
            <a:pPr marL="273050" indent="-274638">
              <a:tabLst>
                <a:tab pos="271463" algn="l"/>
              </a:tabLst>
            </a:pPr>
            <a:r>
              <a:rPr lang="zh-TW" altLang="en-US" sz="3000" dirty="0"/>
              <a:t>在詞基之後，如果接的是第一層次的綴詞：</a:t>
            </a:r>
            <a:endParaRPr lang="en-US" altLang="zh-TW" sz="3000" dirty="0"/>
          </a:p>
          <a:p>
            <a:pPr marL="444500" lvl="2" indent="-274638">
              <a:tabLst>
                <a:tab pos="271463" algn="l"/>
              </a:tabLst>
            </a:pPr>
            <a:r>
              <a:rPr lang="zh-TW" altLang="en-US" sz="2800" dirty="0"/>
              <a:t>可以再加另一個第一層次的綴詞，如 </a:t>
            </a:r>
            <a:r>
              <a:rPr lang="en-US" altLang="zh-TW" sz="2800" dirty="0">
                <a:solidFill>
                  <a:srgbClr val="0070C0"/>
                </a:solidFill>
              </a:rPr>
              <a:t>product</a:t>
            </a:r>
            <a:r>
              <a:rPr lang="en-US" altLang="zh-TW" sz="2800" dirty="0">
                <a:solidFill>
                  <a:schemeClr val="tx1"/>
                </a:solidFill>
              </a:rPr>
              <a:t>-</a:t>
            </a:r>
            <a:r>
              <a:rPr lang="en-US" altLang="zh-TW" sz="2800" dirty="0">
                <a:solidFill>
                  <a:srgbClr val="00B050"/>
                </a:solidFill>
              </a:rPr>
              <a:t>iv</a:t>
            </a:r>
            <a:r>
              <a:rPr lang="en-US" altLang="zh-TW" sz="2800" dirty="0">
                <a:solidFill>
                  <a:schemeClr val="tx1"/>
                </a:solidFill>
              </a:rPr>
              <a:t>-</a:t>
            </a:r>
            <a:r>
              <a:rPr lang="en-US" altLang="zh-TW" sz="2800" dirty="0" err="1">
                <a:solidFill>
                  <a:srgbClr val="00B050"/>
                </a:solidFill>
              </a:rPr>
              <a:t>ity</a:t>
            </a:r>
            <a:endParaRPr lang="en-US" altLang="zh-TW" sz="2800" dirty="0">
              <a:solidFill>
                <a:srgbClr val="00B050"/>
              </a:solidFill>
            </a:endParaRPr>
          </a:p>
          <a:p>
            <a:pPr marL="444500" lvl="2" indent="-274638">
              <a:tabLst>
                <a:tab pos="271463" algn="l"/>
              </a:tabLst>
            </a:pPr>
            <a:r>
              <a:rPr lang="zh-TW" altLang="en-US" sz="2800" dirty="0"/>
              <a:t>或加一個第二層次的綴詞，如 </a:t>
            </a:r>
            <a:r>
              <a:rPr lang="en-US" altLang="zh-TW" sz="2800" dirty="0">
                <a:solidFill>
                  <a:srgbClr val="0070C0"/>
                </a:solidFill>
              </a:rPr>
              <a:t>product</a:t>
            </a:r>
            <a:r>
              <a:rPr lang="en-US" altLang="zh-TW" sz="2800" dirty="0">
                <a:solidFill>
                  <a:srgbClr val="00B050"/>
                </a:solidFill>
              </a:rPr>
              <a:t>-</a:t>
            </a:r>
            <a:r>
              <a:rPr lang="en-US" altLang="zh-TW" sz="2800" dirty="0" err="1">
                <a:solidFill>
                  <a:srgbClr val="00B050"/>
                </a:solidFill>
              </a:rPr>
              <a:t>ive</a:t>
            </a:r>
            <a:r>
              <a:rPr lang="en-US" altLang="zh-TW" sz="2800" dirty="0">
                <a:solidFill>
                  <a:schemeClr val="tx1"/>
                </a:solidFill>
              </a:rPr>
              <a:t>-</a:t>
            </a:r>
            <a:r>
              <a:rPr lang="en-US" altLang="zh-TW" sz="2800" dirty="0" err="1">
                <a:solidFill>
                  <a:srgbClr val="FF0000"/>
                </a:solidFill>
              </a:rPr>
              <a:t>ly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273050" indent="-274638">
              <a:tabLst>
                <a:tab pos="271463" algn="l"/>
              </a:tabLst>
            </a:pPr>
            <a:r>
              <a:rPr lang="zh-TW" altLang="en-US" sz="3000" dirty="0"/>
              <a:t>但是，如果詞基接了第二層次的綴詞之後，就不可再加其他第一層次的綴詞</a:t>
            </a:r>
            <a:endParaRPr lang="en-US" altLang="zh-TW" sz="3000" dirty="0"/>
          </a:p>
          <a:p>
            <a:pPr marL="446088" lvl="1" indent="-274638">
              <a:tabLst>
                <a:tab pos="271463" algn="l"/>
              </a:tabLst>
            </a:pPr>
            <a:r>
              <a:rPr lang="zh-TW" altLang="en-US" sz="2800" dirty="0"/>
              <a:t>*</a:t>
            </a:r>
            <a:r>
              <a:rPr lang="en-US" altLang="zh-TW" sz="2800" dirty="0" err="1"/>
              <a:t>hope</a:t>
            </a:r>
            <a:r>
              <a:rPr lang="en-US" altLang="zh-TW" sz="2800" dirty="0" err="1">
                <a:solidFill>
                  <a:srgbClr val="FF0000"/>
                </a:solidFill>
              </a:rPr>
              <a:t>ful</a:t>
            </a:r>
            <a:r>
              <a:rPr lang="en-US" altLang="zh-TW" sz="2800" dirty="0" err="1">
                <a:solidFill>
                  <a:srgbClr val="00B050"/>
                </a:solidFill>
              </a:rPr>
              <a:t>ize</a:t>
            </a:r>
            <a:r>
              <a:rPr lang="en-US" altLang="zh-TW" sz="2800" dirty="0"/>
              <a:t> </a:t>
            </a:r>
            <a:r>
              <a:rPr lang="en-US" altLang="zh-TW" sz="2800" i="1" dirty="0"/>
              <a:t>(</a:t>
            </a:r>
            <a:r>
              <a:rPr lang="zh-TW" altLang="en-US" sz="2800" i="1" dirty="0"/>
              <a:t>這*號代表</a:t>
            </a:r>
            <a:r>
              <a:rPr lang="en-US" altLang="zh-TW" sz="2800" dirty="0"/>
              <a:t> </a:t>
            </a:r>
            <a:r>
              <a:rPr lang="zh-TW" altLang="en-US" sz="2800" u="sng" dirty="0"/>
              <a:t>不符合語法</a:t>
            </a:r>
            <a:r>
              <a:rPr lang="zh-TW" altLang="en-US" sz="2800" dirty="0"/>
              <a:t> </a:t>
            </a:r>
            <a:r>
              <a:rPr lang="en-US" altLang="zh-TW" sz="2800"/>
              <a:t>ungrammatical</a:t>
            </a:r>
            <a:r>
              <a:rPr lang="en-US" altLang="zh-TW" sz="2800" i="1"/>
              <a:t>)</a:t>
            </a:r>
            <a:endParaRPr lang="en-US" altLang="zh-TW" sz="2800" i="1" dirty="0"/>
          </a:p>
          <a:p>
            <a:pPr>
              <a:tabLst>
                <a:tab pos="271463" algn="l"/>
              </a:tabLst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6557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詞素的類別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rmAutofit/>
          </a:bodyPr>
          <a:lstStyle/>
          <a:p>
            <a:pPr marL="271463" indent="-271463"/>
            <a:r>
              <a:rPr lang="zh-TW" altLang="en-US" sz="2800" dirty="0">
                <a:solidFill>
                  <a:srgbClr val="0070C0"/>
                </a:solidFill>
              </a:rPr>
              <a:t>分類方法，按：</a:t>
            </a:r>
            <a:endParaRPr lang="en-US" altLang="zh-TW" sz="2800" dirty="0">
              <a:solidFill>
                <a:srgbClr val="0070C0"/>
              </a:solidFill>
            </a:endParaRPr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(1)</a:t>
            </a:r>
            <a:r>
              <a:rPr lang="zh-TW" altLang="en-US" sz="2600" dirty="0">
                <a:solidFill>
                  <a:srgbClr val="C00000"/>
                </a:solidFill>
              </a:rPr>
              <a:t> 詞素是否能獨立使用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自由詞素</a:t>
            </a:r>
            <a:r>
              <a:rPr lang="en-US" altLang="zh-TW" sz="2200" dirty="0"/>
              <a:t> free morphemes</a:t>
            </a:r>
          </a:p>
          <a:p>
            <a:pPr marL="444500" lvl="3" indent="-271463"/>
            <a:r>
              <a:rPr lang="zh-TW" altLang="en-US" sz="2200" dirty="0"/>
              <a:t>依存詞素</a:t>
            </a:r>
            <a:r>
              <a:rPr lang="en-US" altLang="zh-TW" sz="2200" dirty="0"/>
              <a:t> bound morphemes</a:t>
            </a:r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(2)</a:t>
            </a:r>
            <a:r>
              <a:rPr lang="zh-TW" altLang="en-US" sz="2600" dirty="0">
                <a:solidFill>
                  <a:srgbClr val="C00000"/>
                </a:solidFill>
              </a:rPr>
              <a:t> 詞素的位置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前綴</a:t>
            </a:r>
            <a:r>
              <a:rPr lang="en-US" altLang="zh-TW" sz="2200" dirty="0"/>
              <a:t> prefixes</a:t>
            </a:r>
          </a:p>
          <a:p>
            <a:pPr marL="444500" lvl="3" indent="-271463"/>
            <a:r>
              <a:rPr lang="zh-TW" altLang="en-US" sz="2200" dirty="0"/>
              <a:t>中綴</a:t>
            </a:r>
            <a:r>
              <a:rPr lang="en-US" altLang="zh-TW" sz="2200" dirty="0"/>
              <a:t> infixes</a:t>
            </a:r>
          </a:p>
          <a:p>
            <a:pPr marL="444500" lvl="3" indent="-271463"/>
            <a:r>
              <a:rPr lang="zh-TW" altLang="en-US" sz="2200" dirty="0"/>
              <a:t>後綴</a:t>
            </a:r>
            <a:r>
              <a:rPr lang="en-US" altLang="zh-TW" sz="2200" dirty="0"/>
              <a:t> suffixes</a:t>
            </a:r>
          </a:p>
          <a:p>
            <a:pPr marL="444500" lvl="3" indent="-271463"/>
            <a:r>
              <a:rPr lang="zh-TW" altLang="en-US" sz="2200" dirty="0"/>
              <a:t>環綴</a:t>
            </a:r>
            <a:r>
              <a:rPr lang="en-US" altLang="zh-TW" sz="2200" dirty="0"/>
              <a:t> </a:t>
            </a:r>
            <a:r>
              <a:rPr lang="en-US" altLang="zh-TW" sz="2200" dirty="0" err="1"/>
              <a:t>circumfixes</a:t>
            </a:r>
            <a:endParaRPr lang="en-US" altLang="zh-TW" sz="2200" dirty="0"/>
          </a:p>
          <a:p>
            <a:pPr marL="271463" lvl="1" indent="-271463"/>
            <a:r>
              <a:rPr lang="en-US" altLang="zh-TW" sz="2600" dirty="0">
                <a:solidFill>
                  <a:srgbClr val="C00000"/>
                </a:solidFill>
              </a:rPr>
              <a:t>(3)</a:t>
            </a:r>
            <a:r>
              <a:rPr lang="zh-TW" altLang="en-US" sz="2600" dirty="0">
                <a:solidFill>
                  <a:srgbClr val="C00000"/>
                </a:solidFill>
              </a:rPr>
              <a:t> 詞素在語法中的角色</a:t>
            </a:r>
            <a:endParaRPr lang="en-US" altLang="zh-TW" sz="2600" dirty="0">
              <a:solidFill>
                <a:srgbClr val="C00000"/>
              </a:solidFill>
            </a:endParaRPr>
          </a:p>
          <a:p>
            <a:pPr marL="444500" lvl="3" indent="-271463"/>
            <a:r>
              <a:rPr lang="zh-TW" altLang="en-US" sz="2200" dirty="0"/>
              <a:t>語法詞素</a:t>
            </a:r>
            <a:r>
              <a:rPr lang="en-US" altLang="zh-TW" sz="2200" dirty="0"/>
              <a:t> inflectional morphemes</a:t>
            </a:r>
          </a:p>
          <a:p>
            <a:pPr marL="444500" lvl="3" indent="-271463"/>
            <a:r>
              <a:rPr lang="zh-TW" altLang="en-US" sz="2200" dirty="0"/>
              <a:t>詞變詞素</a:t>
            </a:r>
            <a:r>
              <a:rPr lang="en-US" altLang="zh-TW" sz="2200" dirty="0"/>
              <a:t> derivational morphemes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1726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同位詞素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allomorphs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1550" cy="5559552"/>
          </a:xfrm>
        </p:spPr>
        <p:txBody>
          <a:bodyPr>
            <a:normAutofit lnSpcReduction="10000"/>
          </a:bodyPr>
          <a:lstStyle/>
          <a:p>
            <a:pPr marL="273050" indent="-274638"/>
            <a:r>
              <a:rPr lang="zh-TW" altLang="en-US" sz="3000" b="1" u="sng" dirty="0">
                <a:solidFill>
                  <a:srgbClr val="0070C0"/>
                </a:solidFill>
              </a:rPr>
              <a:t>同位詞素 </a:t>
            </a:r>
            <a:r>
              <a:rPr lang="en-US" altLang="zh-TW" sz="3000" b="1" u="sng" dirty="0">
                <a:solidFill>
                  <a:srgbClr val="0070C0"/>
                </a:solidFill>
              </a:rPr>
              <a:t>allomorphs</a:t>
            </a:r>
            <a:r>
              <a:rPr lang="zh-TW" altLang="en-US" sz="3000" dirty="0"/>
              <a:t>：</a:t>
            </a:r>
            <a:endParaRPr lang="en-US" altLang="zh-TW" sz="3000" dirty="0"/>
          </a:p>
          <a:p>
            <a:pPr marL="446088" lvl="1" indent="-274638"/>
            <a:r>
              <a:rPr lang="zh-TW" altLang="en-US" sz="3000" dirty="0"/>
              <a:t>讀音不同，但屬同一個詞素，意義相同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例：英語表示否定的前綴</a:t>
            </a:r>
            <a:r>
              <a:rPr lang="en-US" altLang="zh-TW" sz="3000" dirty="0"/>
              <a:t> </a:t>
            </a:r>
            <a:r>
              <a:rPr lang="en-US" altLang="zh-TW" sz="3000" i="1" dirty="0">
                <a:solidFill>
                  <a:srgbClr val="C00000"/>
                </a:solidFill>
              </a:rPr>
              <a:t>in-</a:t>
            </a:r>
            <a:r>
              <a:rPr lang="en-US" altLang="zh-TW" sz="3000" i="1" dirty="0"/>
              <a:t> </a:t>
            </a:r>
            <a:r>
              <a:rPr lang="zh-TW" altLang="en-US" sz="3000" dirty="0"/>
              <a:t>附在不同詞時有不同讀音</a:t>
            </a:r>
            <a:endParaRPr lang="en-US" altLang="zh-TW" sz="3000" dirty="0"/>
          </a:p>
          <a:p>
            <a:pPr marL="446088" lvl="1" indent="-274638"/>
            <a:r>
              <a:rPr lang="en-US" sz="3000" dirty="0"/>
              <a:t>[</a:t>
            </a:r>
            <a:r>
              <a:rPr lang="en-US" sz="3000" dirty="0" err="1">
                <a:latin typeface="Times New Roman"/>
                <a:cs typeface="Times New Roman"/>
              </a:rPr>
              <a:t>ɪn</a:t>
            </a:r>
            <a:r>
              <a:rPr lang="en-US" sz="3000" dirty="0"/>
              <a:t>]	indefinite, inefficient</a:t>
            </a:r>
          </a:p>
          <a:p>
            <a:pPr marL="446088" lvl="1" indent="-274638"/>
            <a:r>
              <a:rPr lang="en-US" sz="3000" dirty="0"/>
              <a:t>[</a:t>
            </a:r>
            <a:r>
              <a:rPr lang="en-US" altLang="zh-HK" sz="3000" dirty="0" err="1">
                <a:solidFill>
                  <a:srgbClr val="48231E"/>
                </a:solidFill>
                <a:latin typeface="Times New Roman"/>
                <a:cs typeface="Times New Roman"/>
              </a:rPr>
              <a:t>ɪm</a:t>
            </a:r>
            <a:r>
              <a:rPr lang="en-US" sz="3000" dirty="0"/>
              <a:t>]	impossible, immortal</a:t>
            </a:r>
          </a:p>
          <a:p>
            <a:pPr marL="446088" lvl="1" indent="-274638"/>
            <a:r>
              <a:rPr lang="en-US" sz="3000" dirty="0"/>
              <a:t>[</a:t>
            </a:r>
            <a:r>
              <a:rPr lang="en-US" altLang="zh-HK" sz="3000" dirty="0" err="1">
                <a:solidFill>
                  <a:srgbClr val="48231E"/>
                </a:solidFill>
                <a:latin typeface="Times New Roman"/>
                <a:cs typeface="Times New Roman"/>
              </a:rPr>
              <a:t>ɪŋ</a:t>
            </a:r>
            <a:r>
              <a:rPr lang="en-US" sz="3000" dirty="0"/>
              <a:t>]	incomplete</a:t>
            </a:r>
          </a:p>
          <a:p>
            <a:pPr marL="446088" lvl="1" indent="-274638"/>
            <a:r>
              <a:rPr lang="en-US" altLang="zh-HK" sz="3000" dirty="0"/>
              <a:t>[</a:t>
            </a:r>
            <a:r>
              <a:rPr lang="en-US" altLang="zh-HK" sz="3000" dirty="0">
                <a:solidFill>
                  <a:srgbClr val="48231E"/>
                </a:solidFill>
                <a:latin typeface="Times New Roman"/>
                <a:cs typeface="Times New Roman"/>
              </a:rPr>
              <a:t>ɪ</a:t>
            </a:r>
            <a:r>
              <a:rPr lang="en-US" altLang="zh-HK" sz="3000" dirty="0"/>
              <a:t>]		illegal, irregular</a:t>
            </a:r>
          </a:p>
          <a:p>
            <a:pPr marL="446088" lvl="1" indent="-274638"/>
            <a:endParaRPr lang="en-HK" altLang="zh-TW" sz="3000" dirty="0">
              <a:solidFill>
                <a:srgbClr val="7030A0"/>
              </a:solidFill>
            </a:endParaRPr>
          </a:p>
          <a:p>
            <a:pPr marL="446088" lvl="1" indent="-274638"/>
            <a:r>
              <a:rPr lang="zh-TW" altLang="en-US" sz="3000" dirty="0">
                <a:solidFill>
                  <a:srgbClr val="7030A0"/>
                </a:solidFill>
              </a:rPr>
              <a:t>跟在 </a:t>
            </a:r>
            <a:r>
              <a:rPr lang="en-US" altLang="zh-TW" sz="3000" i="1" dirty="0">
                <a:solidFill>
                  <a:srgbClr val="7030A0"/>
                </a:solidFill>
              </a:rPr>
              <a:t>in-</a:t>
            </a:r>
            <a:r>
              <a:rPr lang="en-US" altLang="zh-TW" sz="3000" dirty="0">
                <a:solidFill>
                  <a:srgbClr val="7030A0"/>
                </a:solidFill>
              </a:rPr>
              <a:t> </a:t>
            </a:r>
            <a:r>
              <a:rPr lang="zh-TW" altLang="en-US" sz="3000" dirty="0">
                <a:solidFill>
                  <a:srgbClr val="7030A0"/>
                </a:solidFill>
              </a:rPr>
              <a:t>後面的發音有何語音特點？</a:t>
            </a:r>
            <a:endParaRPr lang="en-US" altLang="zh-HK" sz="3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53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同位詞素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allomorphs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254752"/>
          </a:xfrm>
        </p:spPr>
        <p:txBody>
          <a:bodyPr>
            <a:normAutofit/>
          </a:bodyPr>
          <a:lstStyle/>
          <a:p>
            <a:pPr marL="273050" indent="-274638"/>
            <a:r>
              <a:rPr lang="zh-TW" altLang="en-US" sz="3000" b="1" u="sng" dirty="0">
                <a:solidFill>
                  <a:srgbClr val="0070C0"/>
                </a:solidFill>
              </a:rPr>
              <a:t>同位詞素 </a:t>
            </a:r>
            <a:r>
              <a:rPr lang="en-US" altLang="zh-TW" sz="3000" b="1" u="sng" dirty="0">
                <a:solidFill>
                  <a:srgbClr val="0070C0"/>
                </a:solidFill>
              </a:rPr>
              <a:t>allomorphs</a:t>
            </a:r>
            <a:r>
              <a:rPr lang="zh-TW" altLang="en-US" sz="3000" dirty="0"/>
              <a:t>：</a:t>
            </a:r>
            <a:endParaRPr lang="en-US" altLang="zh-TW" sz="3000" dirty="0"/>
          </a:p>
          <a:p>
            <a:pPr marL="446088" lvl="1" indent="-274638"/>
            <a:r>
              <a:rPr lang="zh-TW" altLang="en-US" sz="3000" dirty="0"/>
              <a:t>讀音不同，但屬同一個詞素，意義相同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例：英語表示複數的後綴</a:t>
            </a:r>
            <a:r>
              <a:rPr lang="en-US" altLang="zh-TW" sz="3000" dirty="0"/>
              <a:t> </a:t>
            </a:r>
            <a:r>
              <a:rPr lang="en-US" altLang="zh-TW" sz="3000" i="1" dirty="0">
                <a:solidFill>
                  <a:srgbClr val="C00000"/>
                </a:solidFill>
              </a:rPr>
              <a:t>-s</a:t>
            </a:r>
          </a:p>
          <a:p>
            <a:pPr marL="446088" lvl="1" indent="-274638"/>
            <a:r>
              <a:rPr lang="en-US" sz="3000" dirty="0"/>
              <a:t>[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3000" dirty="0"/>
              <a:t>]		cars, shoes, boards, dogs</a:t>
            </a:r>
          </a:p>
          <a:p>
            <a:pPr marL="446088" lvl="1" indent="-274638"/>
            <a:r>
              <a:rPr lang="en-US" sz="3000" dirty="0"/>
              <a:t>[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/>
              <a:t>]		cats, ships			</a:t>
            </a:r>
          </a:p>
          <a:p>
            <a:pPr marL="446088" lvl="1" indent="-274638"/>
            <a:r>
              <a:rPr lang="en-US" sz="3000" dirty="0"/>
              <a:t>[</a:t>
            </a:r>
            <a:r>
              <a:rPr lang="en-US" altLang="zh-HK" sz="3000" dirty="0" err="1">
                <a:solidFill>
                  <a:srgbClr val="4823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ɪ</a:t>
            </a:r>
            <a:r>
              <a:rPr lang="en-US" altLang="zh-H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HK" sz="3000" dirty="0"/>
              <a:t> / </a:t>
            </a:r>
            <a:r>
              <a:rPr lang="en-US" altLang="zh-HK" sz="3000" dirty="0" err="1">
                <a:latin typeface="Times New Roman"/>
                <a:cs typeface="Times New Roman"/>
              </a:rPr>
              <a:t>ǝz</a:t>
            </a:r>
            <a:r>
              <a:rPr lang="en-US" sz="3000" dirty="0"/>
              <a:t>]	houses, dishes</a:t>
            </a:r>
          </a:p>
          <a:p>
            <a:pPr marL="446088" lvl="1" indent="-274638"/>
            <a:endParaRPr lang="en-HK" altLang="zh-TW" sz="3000" dirty="0">
              <a:solidFill>
                <a:srgbClr val="7030A0"/>
              </a:solidFill>
            </a:endParaRPr>
          </a:p>
          <a:p>
            <a:pPr marL="446088" lvl="1" indent="-274638"/>
            <a:r>
              <a:rPr lang="zh-TW" altLang="en-US" sz="3000" dirty="0">
                <a:solidFill>
                  <a:srgbClr val="7030A0"/>
                </a:solidFill>
              </a:rPr>
              <a:t>在 </a:t>
            </a:r>
            <a:r>
              <a:rPr lang="en-US" altLang="zh-TW" sz="3000" i="1" dirty="0">
                <a:solidFill>
                  <a:srgbClr val="7030A0"/>
                </a:solidFill>
              </a:rPr>
              <a:t>-s</a:t>
            </a:r>
            <a:r>
              <a:rPr lang="en-US" altLang="zh-TW" sz="3000" dirty="0">
                <a:solidFill>
                  <a:srgbClr val="7030A0"/>
                </a:solidFill>
              </a:rPr>
              <a:t> </a:t>
            </a:r>
            <a:r>
              <a:rPr lang="zh-TW" altLang="en-US" sz="3000" dirty="0">
                <a:solidFill>
                  <a:srgbClr val="7030A0"/>
                </a:solidFill>
              </a:rPr>
              <a:t>前面的發音有何語音特點？</a:t>
            </a:r>
            <a:endParaRPr lang="en-US" altLang="zh-HK" sz="3000" dirty="0">
              <a:solidFill>
                <a:srgbClr val="7030A0"/>
              </a:solidFill>
            </a:endParaRPr>
          </a:p>
          <a:p>
            <a:pPr marL="273050" indent="-274638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5222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同位詞素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allomorphs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73050" indent="-274638"/>
            <a:r>
              <a:rPr lang="zh-TW" altLang="en-US" sz="3000" dirty="0"/>
              <a:t>讀音不同，但屬同一個詞素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例：英語表示過去式的後綴</a:t>
            </a:r>
            <a:r>
              <a:rPr lang="en-US" altLang="zh-TW" sz="3000" dirty="0"/>
              <a:t> </a:t>
            </a:r>
            <a:r>
              <a:rPr lang="en-US" altLang="zh-TW" sz="3000" i="1" dirty="0">
                <a:solidFill>
                  <a:srgbClr val="C00000"/>
                </a:solidFill>
              </a:rPr>
              <a:t>-</a:t>
            </a:r>
            <a:r>
              <a:rPr lang="en-US" altLang="zh-TW" sz="3000" i="1" dirty="0" err="1">
                <a:solidFill>
                  <a:srgbClr val="C00000"/>
                </a:solidFill>
              </a:rPr>
              <a:t>ed</a:t>
            </a:r>
            <a:endParaRPr lang="en-US" altLang="zh-TW" sz="3000" i="1" dirty="0">
              <a:solidFill>
                <a:srgbClr val="C00000"/>
              </a:solidFill>
            </a:endParaRPr>
          </a:p>
          <a:p>
            <a:pPr marL="273050" indent="-274638"/>
            <a:r>
              <a:rPr lang="en-US" sz="3000" dirty="0"/>
              <a:t>[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000" dirty="0"/>
              <a:t>]		showed, loved</a:t>
            </a:r>
          </a:p>
          <a:p>
            <a:pPr marL="273050" indent="-274638"/>
            <a:r>
              <a:rPr lang="en-US" sz="3000" dirty="0"/>
              <a:t>[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dirty="0"/>
              <a:t>]		booked, jumped</a:t>
            </a:r>
          </a:p>
          <a:p>
            <a:pPr marL="273050" indent="-274638"/>
            <a:r>
              <a:rPr lang="en-US" sz="3000" dirty="0"/>
              <a:t>[</a:t>
            </a:r>
            <a:r>
              <a:rPr lang="en-US" altLang="zh-HK" sz="3000" dirty="0" err="1">
                <a:solidFill>
                  <a:srgbClr val="4823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ɪ</a:t>
            </a:r>
            <a:r>
              <a:rPr lang="en-US" altLang="zh-H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HK" sz="3000" dirty="0"/>
              <a:t> / </a:t>
            </a:r>
            <a:r>
              <a:rPr lang="en-US" altLang="zh-H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ǝd</a:t>
            </a:r>
            <a:r>
              <a:rPr lang="en-US" sz="3000" dirty="0"/>
              <a:t>]	boarded, sorted</a:t>
            </a:r>
          </a:p>
          <a:p>
            <a:pPr marL="273050" indent="-274638"/>
            <a:endParaRPr lang="en-HK" altLang="zh-TW" sz="3000" dirty="0">
              <a:solidFill>
                <a:srgbClr val="7030A0"/>
              </a:solidFill>
            </a:endParaRPr>
          </a:p>
          <a:p>
            <a:pPr marL="273050" indent="-274638"/>
            <a:r>
              <a:rPr lang="zh-TW" altLang="en-US" sz="3000" dirty="0">
                <a:solidFill>
                  <a:srgbClr val="7030A0"/>
                </a:solidFill>
              </a:rPr>
              <a:t>在 </a:t>
            </a:r>
            <a:r>
              <a:rPr lang="en-US" altLang="zh-TW" sz="3000" i="1" dirty="0">
                <a:solidFill>
                  <a:srgbClr val="7030A0"/>
                </a:solidFill>
              </a:rPr>
              <a:t>-</a:t>
            </a:r>
            <a:r>
              <a:rPr lang="en-US" altLang="zh-TW" sz="3000" i="1" dirty="0" err="1">
                <a:solidFill>
                  <a:srgbClr val="7030A0"/>
                </a:solidFill>
              </a:rPr>
              <a:t>ed</a:t>
            </a:r>
            <a:r>
              <a:rPr lang="en-US" altLang="zh-TW" sz="3000" dirty="0">
                <a:solidFill>
                  <a:srgbClr val="7030A0"/>
                </a:solidFill>
              </a:rPr>
              <a:t> </a:t>
            </a:r>
            <a:r>
              <a:rPr lang="zh-TW" altLang="en-US" sz="3000" dirty="0">
                <a:solidFill>
                  <a:srgbClr val="7030A0"/>
                </a:solidFill>
              </a:rPr>
              <a:t>前面的發音有何語音特點？</a:t>
            </a:r>
            <a:endParaRPr lang="en-US" altLang="zh-HK" sz="3000" dirty="0">
              <a:solidFill>
                <a:srgbClr val="7030A0"/>
              </a:solidFill>
            </a:endParaRPr>
          </a:p>
          <a:p>
            <a:pPr marL="273050" indent="-274638"/>
            <a:endParaRPr lang="en-US" sz="3000" dirty="0"/>
          </a:p>
          <a:p>
            <a:pPr marL="273050" indent="-274638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97869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構詞的方法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itchFamily="49" charset="-122"/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altLang="zh-TW" sz="2800" dirty="0"/>
          </a:p>
          <a:p>
            <a:pPr marL="273050" indent="-274638"/>
            <a:r>
              <a:rPr lang="zh-TW" altLang="en-US" sz="3000" dirty="0"/>
              <a:t>社會不斷有新詞語的創造和使用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創詞或構詞要配合語音規律、書寫方式、語義表達等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今天介紹幾種構詞方法</a:t>
            </a:r>
            <a:endParaRPr lang="en-US" altLang="zh-TW" sz="30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1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685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(1)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複合詞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compounding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990600"/>
            <a:ext cx="8595360" cy="5715000"/>
          </a:xfrm>
        </p:spPr>
        <p:txBody>
          <a:bodyPr>
            <a:noAutofit/>
          </a:bodyPr>
          <a:lstStyle/>
          <a:p>
            <a:pPr marL="271463" indent="-271463"/>
            <a:r>
              <a:rPr lang="zh-TW" altLang="en-US" sz="3000" dirty="0"/>
              <a:t>兩個詞語並列在一起，產生新詞</a:t>
            </a:r>
            <a:endParaRPr lang="en-US" altLang="zh-TW" sz="3000" dirty="0"/>
          </a:p>
          <a:p>
            <a:pPr marL="444501" lvl="1" indent="-271463"/>
            <a:r>
              <a:rPr lang="en-US" sz="2800" dirty="0"/>
              <a:t>bathroom, blackboard, headmaster</a:t>
            </a:r>
          </a:p>
          <a:p>
            <a:pPr marL="444501" lvl="1" indent="-271463"/>
            <a:r>
              <a:rPr lang="en-US" sz="2800" dirty="0"/>
              <a:t>high school, living room, post office</a:t>
            </a:r>
          </a:p>
          <a:p>
            <a:pPr marL="444501" lvl="1" indent="-271463"/>
            <a:r>
              <a:rPr lang="en-US" sz="2800" dirty="0"/>
              <a:t>one-eyed, well-prepared</a:t>
            </a:r>
          </a:p>
          <a:p>
            <a:pPr marL="271463" indent="-271463"/>
            <a:endParaRPr lang="en-US" altLang="zh-TW" sz="3000" dirty="0"/>
          </a:p>
          <a:p>
            <a:pPr marL="271463" indent="-271463"/>
            <a:r>
              <a:rPr lang="zh-TW" altLang="en-US" sz="3000" dirty="0"/>
              <a:t>複合詞有時會和相近的片語在重音上形成對比</a:t>
            </a:r>
            <a:endParaRPr lang="en-US" altLang="zh-TW" sz="3000" dirty="0"/>
          </a:p>
          <a:p>
            <a:pPr marL="442913" lvl="2" indent="-271463"/>
            <a:r>
              <a:rPr lang="en-US" sz="2800" dirty="0">
                <a:solidFill>
                  <a:srgbClr val="0070C0"/>
                </a:solidFill>
              </a:rPr>
              <a:t>a blackboard</a:t>
            </a:r>
            <a:r>
              <a:rPr lang="en-US" sz="2800" dirty="0"/>
              <a:t>   vs.   </a:t>
            </a:r>
            <a:r>
              <a:rPr lang="en-US" sz="2800" dirty="0">
                <a:solidFill>
                  <a:srgbClr val="0070C0"/>
                </a:solidFill>
              </a:rPr>
              <a:t>a black board</a:t>
            </a:r>
          </a:p>
          <a:p>
            <a:pPr marL="442913" lvl="2" indent="-271463"/>
            <a:r>
              <a:rPr lang="en-US" sz="2800" dirty="0">
                <a:solidFill>
                  <a:srgbClr val="0070C0"/>
                </a:solidFill>
              </a:rPr>
              <a:t>a greenhouse</a:t>
            </a:r>
            <a:r>
              <a:rPr lang="en-US" sz="2800" dirty="0"/>
              <a:t>    vs.  </a:t>
            </a:r>
            <a:r>
              <a:rPr lang="en-US" sz="2800" dirty="0">
                <a:solidFill>
                  <a:srgbClr val="0070C0"/>
                </a:solidFill>
              </a:rPr>
              <a:t>a green house</a:t>
            </a:r>
          </a:p>
          <a:p>
            <a:pPr marL="271463" indent="-271463"/>
            <a:endParaRPr lang="en-US" altLang="zh-TW" sz="3000" dirty="0"/>
          </a:p>
          <a:p>
            <a:pPr marL="271463" indent="-271463"/>
            <a:r>
              <a:rPr lang="zh-TW" altLang="en-US" sz="3000" dirty="0"/>
              <a:t>複合詞的語義並不一定來自兩個個別詞語的總和</a:t>
            </a:r>
            <a:endParaRPr lang="en-US" altLang="zh-TW" sz="3000" dirty="0"/>
          </a:p>
          <a:p>
            <a:pPr marL="442913" lvl="2" indent="-271463"/>
            <a:r>
              <a:rPr lang="en-US" sz="2800" dirty="0">
                <a:solidFill>
                  <a:srgbClr val="0070C0"/>
                </a:solidFill>
              </a:rPr>
              <a:t>workman</a:t>
            </a:r>
            <a:r>
              <a:rPr lang="en-US" sz="2800" dirty="0"/>
              <a:t>   vs.   </a:t>
            </a:r>
            <a:r>
              <a:rPr lang="en-US" sz="2800" dirty="0" err="1">
                <a:solidFill>
                  <a:srgbClr val="0070C0"/>
                </a:solidFill>
              </a:rPr>
              <a:t>walkman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91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685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(1)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複合詞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itchFamily="49" charset="-122"/>
                <a:ea typeface="KaiTi" pitchFamily="49" charset="-122"/>
              </a:rPr>
              <a:t>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compounding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990600"/>
            <a:ext cx="8595360" cy="5715000"/>
          </a:xfrm>
        </p:spPr>
        <p:txBody>
          <a:bodyPr>
            <a:noAutofit/>
          </a:bodyPr>
          <a:lstStyle/>
          <a:p>
            <a:pPr marL="271463" indent="-271463"/>
            <a:r>
              <a:rPr lang="zh-TW" altLang="en-US" sz="3000" dirty="0"/>
              <a:t>中文的複合詞有很特別的結構，複合結構的關係和句法結構很類似</a:t>
            </a:r>
          </a:p>
          <a:p>
            <a:pPr marL="271463" indent="-271463"/>
            <a:endParaRPr lang="en-US" altLang="zh-TW" sz="3000" dirty="0"/>
          </a:p>
          <a:p>
            <a:pPr marL="271463" indent="-271463"/>
            <a:r>
              <a:rPr lang="zh-TW" altLang="en-US" sz="3000" dirty="0"/>
              <a:t>共有五種</a:t>
            </a:r>
          </a:p>
          <a:p>
            <a:pPr marL="444501" lvl="1" indent="-271463"/>
            <a:r>
              <a:rPr lang="zh-TW" altLang="en-US" sz="2800" dirty="0"/>
              <a:t>主謂：頭痛、年輕、心煩</a:t>
            </a:r>
          </a:p>
          <a:p>
            <a:pPr marL="444501" lvl="1" indent="-271463"/>
            <a:r>
              <a:rPr lang="zh-TW" altLang="en-US" sz="2800" dirty="0"/>
              <a:t>動賓：走路、作夢、唱歌</a:t>
            </a:r>
          </a:p>
          <a:p>
            <a:pPr marL="444501" lvl="1" indent="-271463"/>
            <a:r>
              <a:rPr lang="zh-TW" altLang="en-US" sz="2800" dirty="0"/>
              <a:t>述補：吃飽、提高、說明</a:t>
            </a:r>
          </a:p>
          <a:p>
            <a:pPr marL="444501" lvl="1" indent="-271463"/>
            <a:r>
              <a:rPr lang="zh-TW" altLang="en-US" sz="2800" dirty="0"/>
              <a:t>並列：糧草、明亮、剛才</a:t>
            </a:r>
          </a:p>
          <a:p>
            <a:pPr marL="444501" lvl="1" indent="-271463"/>
            <a:r>
              <a:rPr lang="zh-TW" altLang="en-US" sz="2800" dirty="0"/>
              <a:t>偏正：羊肉、大門、高山</a:t>
            </a:r>
          </a:p>
          <a:p>
            <a:pPr marL="442913" lvl="2" indent="-271463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51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始音結合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en-US" altLang="zh-TW" dirty="0" err="1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initialism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990600" y="1447800"/>
            <a:ext cx="7574280" cy="4416552"/>
          </a:xfrm>
        </p:spPr>
        <p:txBody>
          <a:bodyPr>
            <a:normAutofit/>
          </a:bodyPr>
          <a:lstStyle/>
          <a:p>
            <a:pPr marL="273050" indent="-274638"/>
            <a:r>
              <a:rPr lang="en-US" altLang="zh-HK" sz="3000" dirty="0"/>
              <a:t>AIDS</a:t>
            </a:r>
          </a:p>
          <a:p>
            <a:pPr marL="273050" indent="-274638"/>
            <a:r>
              <a:rPr lang="en-US" altLang="zh-HK" sz="3000" dirty="0"/>
              <a:t>Acquired Immunodeficiency Syndrome</a:t>
            </a:r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sz="3000" dirty="0"/>
              <a:t>NBA</a:t>
            </a:r>
          </a:p>
          <a:p>
            <a:pPr marL="273050" indent="-274638"/>
            <a:r>
              <a:rPr lang="en-US" sz="3000" dirty="0"/>
              <a:t>National Basketball Association</a:t>
            </a:r>
          </a:p>
        </p:txBody>
      </p:sp>
    </p:spTree>
    <p:extLst>
      <p:ext uri="{BB962C8B-B14F-4D97-AF65-F5344CB8AC3E}">
        <p14:creationId xmlns:p14="http://schemas.microsoft.com/office/powerpoint/2010/main" val="1214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始音結合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en-US" altLang="zh-TW" dirty="0" err="1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initialism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990600" y="1298448"/>
            <a:ext cx="7848600" cy="5407152"/>
          </a:xfrm>
        </p:spPr>
        <p:txBody>
          <a:bodyPr>
            <a:normAutofit/>
          </a:bodyPr>
          <a:lstStyle/>
          <a:p>
            <a:pPr marL="273050" indent="-274638"/>
            <a:r>
              <a:rPr lang="en-US" altLang="zh-TW" sz="3000" dirty="0" err="1"/>
              <a:t>initialism</a:t>
            </a:r>
            <a:r>
              <a:rPr lang="en-US" altLang="zh-TW" sz="3000" dirty="0"/>
              <a:t> </a:t>
            </a:r>
            <a:r>
              <a:rPr lang="zh-TW" altLang="en-US" sz="3000" dirty="0"/>
              <a:t>分兩類：</a:t>
            </a:r>
            <a:endParaRPr lang="en-US" altLang="zh-TW" sz="3000" dirty="0"/>
          </a:p>
          <a:p>
            <a:pPr marL="273050" indent="-274638"/>
            <a:r>
              <a:rPr lang="en-US" sz="3000" dirty="0"/>
              <a:t>acronym</a:t>
            </a:r>
            <a:r>
              <a:rPr lang="zh-TW" altLang="en-US" sz="3000" dirty="0"/>
              <a:t> 和 </a:t>
            </a:r>
            <a:r>
              <a:rPr lang="en-US" altLang="zh-TW" sz="3000" dirty="0"/>
              <a:t>abbreviation</a:t>
            </a:r>
            <a:endParaRPr lang="en-US" sz="3000" dirty="0"/>
          </a:p>
          <a:p>
            <a:pPr marL="446088" lvl="1" indent="-274638"/>
            <a:r>
              <a:rPr lang="en-US" altLang="zh-HK" sz="2800" dirty="0"/>
              <a:t>acronym</a:t>
            </a:r>
            <a:r>
              <a:rPr lang="zh-TW" altLang="en-US" sz="2800" dirty="0"/>
              <a:t>：</a:t>
            </a:r>
            <a:r>
              <a:rPr lang="en-US" altLang="zh-HK" sz="2800" dirty="0"/>
              <a:t> </a:t>
            </a:r>
            <a:r>
              <a:rPr lang="zh-TW" altLang="en-US" sz="2800" dirty="0"/>
              <a:t>如普通詞語有讀音；例子：</a:t>
            </a:r>
            <a:r>
              <a:rPr lang="en-US" altLang="zh-TW" sz="2800" dirty="0"/>
              <a:t>______</a:t>
            </a:r>
            <a:endParaRPr lang="en-US" altLang="zh-HK" sz="2800" dirty="0"/>
          </a:p>
          <a:p>
            <a:pPr marL="446088" lvl="1" indent="-274638"/>
            <a:r>
              <a:rPr lang="en-US" altLang="zh-HK" sz="2800" dirty="0"/>
              <a:t>abbreviation</a:t>
            </a:r>
            <a:r>
              <a:rPr lang="zh-TW" altLang="en-US" sz="2800" dirty="0"/>
              <a:t>：讀出每一字母；例子：</a:t>
            </a:r>
            <a:r>
              <a:rPr lang="en-US" altLang="zh-TW" sz="2800" dirty="0"/>
              <a:t>______</a:t>
            </a:r>
            <a:endParaRPr lang="en-US" altLang="zh-HK" sz="28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en-US" altLang="zh-TW" sz="3000" dirty="0"/>
              <a:t>acronym or abbreviation?</a:t>
            </a:r>
          </a:p>
          <a:p>
            <a:pPr marL="446088" lvl="1" indent="-274638"/>
            <a:r>
              <a:rPr lang="en-US" sz="2800" dirty="0"/>
              <a:t>SARS</a:t>
            </a:r>
          </a:p>
          <a:p>
            <a:pPr marL="790575" lvl="3" indent="-274638"/>
            <a:r>
              <a:rPr lang="en-US" sz="2400" dirty="0"/>
              <a:t>Severe Acute Respiratory Syndrome</a:t>
            </a:r>
          </a:p>
          <a:p>
            <a:pPr marL="446088" lvl="1" indent="-274638"/>
            <a:r>
              <a:rPr lang="en-US" sz="2800" dirty="0"/>
              <a:t>WTO</a:t>
            </a:r>
          </a:p>
          <a:p>
            <a:pPr marL="790575" lvl="3" indent="-274638"/>
            <a:r>
              <a:rPr lang="en-US" sz="2400" dirty="0"/>
              <a:t>World Trade Organization</a:t>
            </a:r>
          </a:p>
        </p:txBody>
      </p:sp>
    </p:spTree>
    <p:extLst>
      <p:ext uri="{BB962C8B-B14F-4D97-AF65-F5344CB8AC3E}">
        <p14:creationId xmlns:p14="http://schemas.microsoft.com/office/powerpoint/2010/main" val="417580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/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始音結合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en-US" altLang="zh-TW" dirty="0" err="1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initialism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762000" y="1298448"/>
            <a:ext cx="8229600" cy="5407152"/>
          </a:xfrm>
        </p:spPr>
        <p:txBody>
          <a:bodyPr>
            <a:normAutofit/>
          </a:bodyPr>
          <a:lstStyle/>
          <a:p>
            <a:pPr marL="273050" indent="-274638"/>
            <a:r>
              <a:rPr lang="en-US" altLang="zh-HK" sz="3000" dirty="0">
                <a:solidFill>
                  <a:srgbClr val="0070C0"/>
                </a:solidFill>
              </a:rPr>
              <a:t>FAQ</a:t>
            </a:r>
          </a:p>
          <a:p>
            <a:pPr marL="446088" lvl="1" indent="-274638"/>
            <a:r>
              <a:rPr lang="en-US" altLang="zh-HK" sz="2800" dirty="0"/>
              <a:t>Frequently Asked Questions</a:t>
            </a:r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en-US" altLang="zh-HK" sz="3000" dirty="0">
                <a:solidFill>
                  <a:srgbClr val="0070C0"/>
                </a:solidFill>
              </a:rPr>
              <a:t>CD</a:t>
            </a:r>
          </a:p>
          <a:p>
            <a:pPr marL="446088" lvl="1" indent="-274638"/>
            <a:r>
              <a:rPr lang="en-US" altLang="zh-HK" sz="2800" dirty="0"/>
              <a:t>compact disc</a:t>
            </a:r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en-US" altLang="zh-HK" sz="3000" dirty="0">
                <a:solidFill>
                  <a:srgbClr val="0070C0"/>
                </a:solidFill>
              </a:rPr>
              <a:t>laser</a:t>
            </a:r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en-US" altLang="zh-HK" sz="3000" dirty="0">
                <a:solidFill>
                  <a:srgbClr val="0070C0"/>
                </a:solidFill>
              </a:rPr>
              <a:t>radar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88337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228601"/>
            <a:ext cx="8591550" cy="9906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(3)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剪字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clipping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143000" y="1298448"/>
            <a:ext cx="7726680" cy="5330952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sz="4300" dirty="0">
                <a:solidFill>
                  <a:srgbClr val="0070C0"/>
                </a:solidFill>
              </a:rPr>
              <a:t>ad</a:t>
            </a:r>
            <a:r>
              <a:rPr lang="en-US" altLang="zh-TW" sz="4300" dirty="0"/>
              <a:t>: advertisement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dorm</a:t>
            </a:r>
            <a:r>
              <a:rPr lang="en-US" altLang="zh-TW" sz="4300" dirty="0"/>
              <a:t>: dormitory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memo</a:t>
            </a:r>
            <a:r>
              <a:rPr lang="en-US" altLang="zh-TW" sz="4300" dirty="0"/>
              <a:t>: __________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gym</a:t>
            </a:r>
            <a:r>
              <a:rPr lang="en-US" altLang="zh-TW" sz="4300" dirty="0"/>
              <a:t>: __________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phone</a:t>
            </a:r>
            <a:r>
              <a:rPr lang="en-US" altLang="zh-TW" sz="4300" dirty="0"/>
              <a:t>: telephone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fridge</a:t>
            </a:r>
            <a:r>
              <a:rPr lang="en-US" altLang="zh-TW" sz="4300" dirty="0"/>
              <a:t>: refrigerator</a:t>
            </a:r>
          </a:p>
          <a:p>
            <a:endParaRPr lang="en-US" altLang="zh-TW" sz="4300" dirty="0"/>
          </a:p>
          <a:p>
            <a:r>
              <a:rPr lang="en-US" altLang="zh-TW" sz="4300" dirty="0">
                <a:solidFill>
                  <a:srgbClr val="0070C0"/>
                </a:solidFill>
              </a:rPr>
              <a:t>flu</a:t>
            </a:r>
            <a:r>
              <a:rPr lang="en-US" altLang="zh-TW" sz="4300" dirty="0"/>
              <a:t>: influenza</a:t>
            </a:r>
          </a:p>
          <a:p>
            <a:endParaRPr lang="en-US" altLang="zh-TW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(4)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合詞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blending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1298448"/>
            <a:ext cx="7848600" cy="5407152"/>
          </a:xfrm>
        </p:spPr>
        <p:txBody>
          <a:bodyPr>
            <a:normAutofit/>
          </a:bodyPr>
          <a:lstStyle/>
          <a:p>
            <a:pPr marL="273050" indent="-274638"/>
            <a:r>
              <a:rPr lang="zh-TW" altLang="en-US" sz="3000" dirty="0"/>
              <a:t>把兩詞各剪去一部分，然後又把剩下的部分重新組合一個新詞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en-US" sz="3000" dirty="0">
                <a:solidFill>
                  <a:srgbClr val="0070C0"/>
                </a:solidFill>
              </a:rPr>
              <a:t>brunch</a:t>
            </a:r>
            <a:r>
              <a:rPr lang="en-US" sz="3000" dirty="0"/>
              <a:t> </a:t>
            </a:r>
            <a:r>
              <a:rPr lang="zh-TW" altLang="en-US" sz="3000" dirty="0"/>
              <a:t>早午餐</a:t>
            </a:r>
            <a:r>
              <a:rPr lang="en-US" sz="3000" dirty="0"/>
              <a:t>: </a:t>
            </a:r>
            <a:r>
              <a:rPr lang="en-US" sz="3000" dirty="0">
                <a:solidFill>
                  <a:srgbClr val="0070C0"/>
                </a:solidFill>
              </a:rPr>
              <a:t>br</a:t>
            </a:r>
            <a:r>
              <a:rPr lang="en-US" sz="3000" dirty="0"/>
              <a:t>eakfast + l</a:t>
            </a:r>
            <a:r>
              <a:rPr lang="en-US" sz="3000" dirty="0">
                <a:solidFill>
                  <a:srgbClr val="0070C0"/>
                </a:solidFill>
              </a:rPr>
              <a:t>unch</a:t>
            </a:r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sz="3000" dirty="0">
                <a:solidFill>
                  <a:srgbClr val="0070C0"/>
                </a:solidFill>
              </a:rPr>
              <a:t>smog</a:t>
            </a:r>
            <a:r>
              <a:rPr lang="en-US" sz="3000" dirty="0"/>
              <a:t> </a:t>
            </a:r>
            <a:r>
              <a:rPr lang="zh-TW" altLang="en-US" sz="3000" dirty="0"/>
              <a:t>煙霧</a:t>
            </a:r>
            <a:r>
              <a:rPr lang="en-US" sz="3000" dirty="0"/>
              <a:t>: </a:t>
            </a:r>
            <a:r>
              <a:rPr lang="en-US" sz="3000" dirty="0">
                <a:solidFill>
                  <a:srgbClr val="0070C0"/>
                </a:solidFill>
              </a:rPr>
              <a:t>sm</a:t>
            </a:r>
            <a:r>
              <a:rPr lang="en-US" sz="3000" dirty="0"/>
              <a:t>oke + f</a:t>
            </a:r>
            <a:r>
              <a:rPr lang="en-US" sz="3000" dirty="0">
                <a:solidFill>
                  <a:srgbClr val="0070C0"/>
                </a:solidFill>
              </a:rPr>
              <a:t>og</a:t>
            </a:r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sz="3000" dirty="0">
                <a:solidFill>
                  <a:srgbClr val="0070C0"/>
                </a:solidFill>
              </a:rPr>
              <a:t>motel</a:t>
            </a:r>
            <a:r>
              <a:rPr lang="zh-TW" altLang="en-US" sz="3000" dirty="0"/>
              <a:t> 汽車旅館</a:t>
            </a:r>
            <a:r>
              <a:rPr lang="en-US" sz="3000" dirty="0"/>
              <a:t>: </a:t>
            </a:r>
            <a:r>
              <a:rPr lang="en-US" sz="3000" dirty="0">
                <a:solidFill>
                  <a:srgbClr val="0070C0"/>
                </a:solidFill>
              </a:rPr>
              <a:t>mo</a:t>
            </a:r>
            <a:r>
              <a:rPr lang="en-US" sz="3000" dirty="0"/>
              <a:t>tor + ho</a:t>
            </a:r>
            <a:r>
              <a:rPr lang="en-US" sz="3000" dirty="0">
                <a:solidFill>
                  <a:srgbClr val="0070C0"/>
                </a:solidFill>
              </a:rPr>
              <a:t>tel</a:t>
            </a:r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sz="3000" dirty="0">
                <a:solidFill>
                  <a:srgbClr val="0070C0"/>
                </a:solidFill>
              </a:rPr>
              <a:t>podcast</a:t>
            </a:r>
            <a:r>
              <a:rPr lang="en-US" sz="3000" dirty="0"/>
              <a:t> </a:t>
            </a:r>
            <a:r>
              <a:rPr lang="zh-TW" altLang="en-US" sz="3000" dirty="0"/>
              <a:t>播客</a:t>
            </a:r>
            <a:r>
              <a:rPr lang="en-US" altLang="zh-TW" sz="3000" dirty="0"/>
              <a:t>: i</a:t>
            </a:r>
            <a:r>
              <a:rPr lang="en-US" altLang="zh-TW" sz="3000" dirty="0">
                <a:solidFill>
                  <a:srgbClr val="0070C0"/>
                </a:solidFill>
              </a:rPr>
              <a:t>Pod</a:t>
            </a:r>
            <a:r>
              <a:rPr lang="en-US" altLang="zh-TW" sz="3000" dirty="0"/>
              <a:t> + broad</a:t>
            </a:r>
            <a:r>
              <a:rPr lang="en-US" altLang="zh-TW" sz="3000" dirty="0">
                <a:solidFill>
                  <a:srgbClr val="0070C0"/>
                </a:solidFill>
              </a:rPr>
              <a:t>cast</a:t>
            </a:r>
            <a:endParaRPr lang="en-US" sz="3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6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(5)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名詞的移轉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eponym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7"/>
            <a:ext cx="8336280" cy="5423027"/>
          </a:xfrm>
        </p:spPr>
        <p:txBody>
          <a:bodyPr>
            <a:normAutofit/>
          </a:bodyPr>
          <a:lstStyle/>
          <a:p>
            <a:pPr marL="273050" indent="-274638">
              <a:lnSpc>
                <a:spcPct val="104000"/>
              </a:lnSpc>
            </a:pPr>
            <a:r>
              <a:rPr lang="zh-TW" altLang="en-US" sz="2600" dirty="0"/>
              <a:t>由專有名詞衍生而來的普通名詞</a:t>
            </a:r>
            <a:endParaRPr lang="en-US" altLang="zh-TW" sz="2600" dirty="0"/>
          </a:p>
          <a:p>
            <a:pPr marL="273050" indent="-274638">
              <a:lnSpc>
                <a:spcPct val="104000"/>
              </a:lnSpc>
            </a:pPr>
            <a:endParaRPr lang="en-US" altLang="zh-TW" sz="2600" dirty="0"/>
          </a:p>
          <a:p>
            <a:pPr marL="273050" indent="-274638">
              <a:lnSpc>
                <a:spcPct val="104000"/>
              </a:lnSpc>
            </a:pPr>
            <a:r>
              <a:rPr lang="zh-TW" altLang="en-US" sz="2600" dirty="0"/>
              <a:t>一種稱為商標名詞化</a:t>
            </a:r>
            <a:r>
              <a:rPr lang="en-US" altLang="zh-TW" sz="2600" dirty="0"/>
              <a:t> </a:t>
            </a:r>
            <a:r>
              <a:rPr lang="en-US" altLang="zh-TW" sz="2600" dirty="0" err="1"/>
              <a:t>generified</a:t>
            </a:r>
            <a:r>
              <a:rPr lang="en-US" altLang="zh-TW" sz="2600" dirty="0"/>
              <a:t> nouns, e.g.,</a:t>
            </a:r>
          </a:p>
          <a:p>
            <a:pPr marL="273050" lvl="1" indent="-274638">
              <a:lnSpc>
                <a:spcPct val="104000"/>
              </a:lnSpc>
            </a:pPr>
            <a:r>
              <a:rPr lang="en-US" altLang="zh-TW" sz="2600" dirty="0"/>
              <a:t>e.g., </a:t>
            </a:r>
            <a:r>
              <a:rPr lang="en-US" altLang="zh-TW" sz="2600" dirty="0" err="1"/>
              <a:t>xerox</a:t>
            </a:r>
            <a:r>
              <a:rPr lang="en-US" altLang="zh-TW" sz="2600" dirty="0"/>
              <a:t>, coke</a:t>
            </a:r>
          </a:p>
          <a:p>
            <a:pPr marL="273050" indent="-274638">
              <a:lnSpc>
                <a:spcPct val="104000"/>
              </a:lnSpc>
            </a:pP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78" y="3276600"/>
            <a:ext cx="1770888" cy="15300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6" y="4876800"/>
            <a:ext cx="2130032" cy="10126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99" y="3780355"/>
            <a:ext cx="4257675" cy="24053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98338" y="3339584"/>
            <a:ext cx="6645662" cy="444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1" indent="-274638">
              <a:lnSpc>
                <a:spcPct val="104000"/>
              </a:lnSpc>
            </a:pPr>
            <a:r>
              <a:rPr lang="en-US" altLang="zh-TW" sz="2200" dirty="0"/>
              <a:t>e.g., Please </a:t>
            </a:r>
            <a:r>
              <a:rPr lang="en-US" altLang="zh-TW" sz="2200" dirty="0" err="1">
                <a:solidFill>
                  <a:srgbClr val="0070C0"/>
                </a:solidFill>
              </a:rPr>
              <a:t>xerox</a:t>
            </a:r>
            <a:r>
              <a:rPr lang="en-US" altLang="zh-TW" sz="2200" dirty="0"/>
              <a:t> (= photocopy) this document for 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0075" y="6257994"/>
            <a:ext cx="3048000" cy="429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1" indent="-274638">
              <a:lnSpc>
                <a:spcPct val="104000"/>
              </a:lnSpc>
            </a:pPr>
            <a:r>
              <a:rPr lang="en-US" altLang="zh-TW" sz="2200" dirty="0"/>
              <a:t>coke </a:t>
            </a:r>
            <a:r>
              <a:rPr lang="zh-TW" altLang="en-US" sz="2200" dirty="0"/>
              <a:t>可以泛指可樂飲品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337325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(5)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名詞的移轉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eponym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7"/>
            <a:ext cx="8336280" cy="5423027"/>
          </a:xfrm>
        </p:spPr>
        <p:txBody>
          <a:bodyPr>
            <a:normAutofit/>
          </a:bodyPr>
          <a:lstStyle/>
          <a:p>
            <a:pPr marL="273050" indent="-274638">
              <a:lnSpc>
                <a:spcPct val="104000"/>
              </a:lnSpc>
            </a:pPr>
            <a:r>
              <a:rPr lang="zh-TW" altLang="en-US" sz="2600" dirty="0"/>
              <a:t>另一種與人名有關</a:t>
            </a:r>
            <a:r>
              <a:rPr lang="en-US" altLang="zh-TW" sz="2600" dirty="0"/>
              <a:t>, e.g., </a:t>
            </a:r>
          </a:p>
          <a:p>
            <a:pPr marL="273050" lvl="1" indent="-274638">
              <a:lnSpc>
                <a:spcPct val="104000"/>
              </a:lnSpc>
            </a:pPr>
            <a:r>
              <a:rPr lang="en-US" altLang="zh-TW" sz="2600" dirty="0"/>
              <a:t>sandwich</a:t>
            </a:r>
          </a:p>
          <a:p>
            <a:pPr marL="273050" lvl="2" indent="-274638">
              <a:lnSpc>
                <a:spcPct val="104000"/>
              </a:lnSpc>
            </a:pPr>
            <a:r>
              <a:rPr lang="en-US" altLang="zh-TW" sz="2600" dirty="0"/>
              <a:t>18</a:t>
            </a:r>
            <a:r>
              <a:rPr lang="zh-TW" altLang="en-US" sz="2600" dirty="0"/>
              <a:t>世紀英國貴族</a:t>
            </a:r>
            <a:r>
              <a:rPr lang="zh-TW" altLang="en-US" sz="2600" u="sng" dirty="0"/>
              <a:t>約翰</a:t>
            </a:r>
            <a:r>
              <a:rPr lang="en-US" altLang="zh-TW" sz="2600" u="sng" dirty="0"/>
              <a:t>·</a:t>
            </a:r>
            <a:r>
              <a:rPr lang="zh-TW" altLang="en-US" sz="2600" u="sng" dirty="0"/>
              <a:t>孟塔古</a:t>
            </a:r>
            <a:r>
              <a:rPr lang="zh-TW" altLang="en-US" sz="2600" dirty="0"/>
              <a:t>，第四代三文治伯爵（</a:t>
            </a:r>
            <a:r>
              <a:rPr lang="en-US" altLang="zh-TW" sz="2600" dirty="0"/>
              <a:t>John Montagu</a:t>
            </a:r>
            <a:r>
              <a:rPr lang="zh-TW" altLang="en-US" sz="2600" dirty="0"/>
              <a:t>，</a:t>
            </a:r>
            <a:r>
              <a:rPr lang="en-US" altLang="zh-TW" sz="2600" dirty="0"/>
              <a:t>4th Earl of Sandwich</a:t>
            </a:r>
            <a:r>
              <a:rPr lang="zh-TW" altLang="en-US" sz="2600" dirty="0"/>
              <a:t>）</a:t>
            </a:r>
            <a:endParaRPr lang="en-US" altLang="zh-TW" sz="2600" dirty="0"/>
          </a:p>
          <a:p>
            <a:pPr marL="273050" lvl="2" indent="-274638">
              <a:lnSpc>
                <a:spcPct val="104000"/>
              </a:lnSpc>
            </a:pPr>
            <a:r>
              <a:rPr lang="zh-TW" altLang="en-US" sz="2600" dirty="0"/>
              <a:t>據說</a:t>
            </a:r>
            <a:r>
              <a:rPr lang="zh-TW" altLang="en-US" sz="2600" u="sng" dirty="0"/>
              <a:t>孟塔古</a:t>
            </a:r>
            <a:r>
              <a:rPr lang="zh-TW" altLang="en-US" sz="2600" dirty="0"/>
              <a:t>經常玩橋牌玩得廢寢忘餐，用麵包夾著熟肉，邊賭邊吃，這種食物因而被命名為三文治</a:t>
            </a:r>
            <a:endParaRPr lang="en-US" altLang="zh-TW" sz="2600" dirty="0"/>
          </a:p>
          <a:p>
            <a:pPr marL="273050" indent="-274638"/>
            <a:endParaRPr lang="en-US" altLang="zh-TW" sz="30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73" y="4457362"/>
            <a:ext cx="3124200" cy="19720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4149789"/>
            <a:ext cx="3428913" cy="25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7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8382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(6)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反向結構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back formation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5407152"/>
          </a:xfrm>
        </p:spPr>
        <p:txBody>
          <a:bodyPr>
            <a:normAutofit fontScale="92500" lnSpcReduction="10000"/>
          </a:bodyPr>
          <a:lstStyle/>
          <a:p>
            <a:pPr marL="273050" indent="-274638"/>
            <a:r>
              <a:rPr lang="zh-TW" altLang="en-US" sz="3000" dirty="0"/>
              <a:t>反向結構：先有某些詞語，再剪去後綴而產生新詞的過程</a:t>
            </a:r>
            <a:r>
              <a:rPr lang="en-US" altLang="zh-TW" sz="3000" dirty="0"/>
              <a:t>, e.g., </a:t>
            </a:r>
          </a:p>
          <a:p>
            <a:pPr marL="444500" lvl="2" indent="-274638"/>
            <a:r>
              <a:rPr lang="en-US" sz="2800" dirty="0"/>
              <a:t>swindler -&gt; swindle </a:t>
            </a:r>
            <a:r>
              <a:rPr lang="zh-TW" altLang="en-US" sz="2800" dirty="0"/>
              <a:t>欺詐、騙取</a:t>
            </a:r>
            <a:endParaRPr lang="en-US" altLang="zh-TW" sz="2800" dirty="0"/>
          </a:p>
          <a:p>
            <a:pPr marL="444500" lvl="2" indent="-274638"/>
            <a:r>
              <a:rPr lang="en-US" sz="2800" dirty="0"/>
              <a:t>hawker -&gt; hawk </a:t>
            </a:r>
            <a:r>
              <a:rPr lang="zh-TW" altLang="en-US" sz="2800" dirty="0"/>
              <a:t>叫賣</a:t>
            </a:r>
            <a:endParaRPr lang="en-US" sz="2800" dirty="0"/>
          </a:p>
          <a:p>
            <a:pPr marL="444500" lvl="2" indent="-274638"/>
            <a:r>
              <a:rPr lang="en-US" sz="2800" dirty="0"/>
              <a:t>editor -&gt; edit</a:t>
            </a:r>
            <a:r>
              <a:rPr lang="zh-TW" altLang="en-US" sz="2800" dirty="0"/>
              <a:t> </a:t>
            </a:r>
            <a:endParaRPr lang="en-US" sz="2800" dirty="0"/>
          </a:p>
          <a:p>
            <a:pPr marL="273050" lvl="1" indent="-274638"/>
            <a:endParaRPr lang="en-US" sz="3000" dirty="0">
              <a:solidFill>
                <a:srgbClr val="002060"/>
              </a:solidFill>
            </a:endParaRPr>
          </a:p>
          <a:p>
            <a:pPr marL="273050" lvl="1" indent="-274638"/>
            <a:r>
              <a:rPr lang="en-US" sz="3000" dirty="0">
                <a:solidFill>
                  <a:srgbClr val="002060"/>
                </a:solidFill>
              </a:rPr>
              <a:t>Online Etymology (</a:t>
            </a:r>
            <a:r>
              <a:rPr lang="zh-TW" altLang="en-US" sz="3000" dirty="0">
                <a:solidFill>
                  <a:srgbClr val="002060"/>
                </a:solidFill>
              </a:rPr>
              <a:t>詞源</a:t>
            </a:r>
            <a:r>
              <a:rPr lang="en-US" sz="3000" dirty="0">
                <a:solidFill>
                  <a:srgbClr val="002060"/>
                </a:solidFill>
              </a:rPr>
              <a:t>) Dictionary</a:t>
            </a:r>
            <a:br>
              <a:rPr lang="en-US" sz="3000" dirty="0">
                <a:solidFill>
                  <a:srgbClr val="002060"/>
                </a:solidFill>
              </a:rPr>
            </a:br>
            <a:r>
              <a:rPr lang="en-US" sz="3000" dirty="0">
                <a:solidFill>
                  <a:schemeClr val="tx1"/>
                </a:solidFill>
              </a:rPr>
              <a:t>https://www.etymonline.com/index.php</a:t>
            </a:r>
            <a:endParaRPr lang="en-US" sz="3000" b="1" dirty="0">
              <a:solidFill>
                <a:schemeClr val="tx1"/>
              </a:solidFill>
            </a:endParaRPr>
          </a:p>
          <a:p>
            <a:pPr marL="273050" indent="-274638"/>
            <a:endParaRPr lang="en-US" sz="3000" dirty="0">
              <a:solidFill>
                <a:srgbClr val="002060"/>
              </a:solidFill>
            </a:endParaRPr>
          </a:p>
          <a:p>
            <a:pPr marL="273050" indent="-274638"/>
            <a:endParaRPr lang="en-US" sz="3000" dirty="0"/>
          </a:p>
          <a:p>
            <a:pPr marL="273050" indent="-274638"/>
            <a:r>
              <a:rPr lang="zh-TW" altLang="en-US" sz="3000" dirty="0"/>
              <a:t>對起因的誤解，如 </a:t>
            </a:r>
            <a:r>
              <a:rPr lang="en-US" altLang="zh-TW" sz="3000" dirty="0"/>
              <a:t>hamburger</a:t>
            </a:r>
            <a:r>
              <a:rPr lang="zh-TW" altLang="en-US" sz="3000" dirty="0"/>
              <a:t>，產生</a:t>
            </a:r>
            <a:r>
              <a:rPr lang="en-US" altLang="zh-TW" sz="3000" dirty="0"/>
              <a:t>burger</a:t>
            </a:r>
            <a:r>
              <a:rPr lang="zh-TW" altLang="en-US" sz="3000" dirty="0"/>
              <a:t>、</a:t>
            </a:r>
            <a:r>
              <a:rPr lang="en-US" altLang="zh-TW" sz="3000" dirty="0"/>
              <a:t>cheese burger</a:t>
            </a:r>
            <a:r>
              <a:rPr lang="zh-TW" altLang="en-US" sz="3000" dirty="0"/>
              <a:t>、</a:t>
            </a:r>
            <a:r>
              <a:rPr lang="en-US" altLang="zh-TW" sz="3000" dirty="0"/>
              <a:t>chicken burger</a:t>
            </a:r>
            <a:r>
              <a:rPr lang="zh-TW" altLang="en-US" sz="3000" dirty="0"/>
              <a:t>等等</a:t>
            </a:r>
            <a:endParaRPr lang="en-US" sz="3000" dirty="0"/>
          </a:p>
          <a:p>
            <a:pPr marL="273050" indent="-274638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31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(7) reduplication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重複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447800"/>
            <a:ext cx="8595360" cy="4788408"/>
          </a:xfrm>
        </p:spPr>
        <p:txBody>
          <a:bodyPr>
            <a:noAutofit/>
          </a:bodyPr>
          <a:lstStyle/>
          <a:p>
            <a:pPr marL="273050" indent="-274638"/>
            <a:r>
              <a:rPr lang="zh-TW" altLang="en-US" sz="3000" dirty="0"/>
              <a:t>英語例子：</a:t>
            </a:r>
            <a:endParaRPr lang="en-US" altLang="zh-TW" sz="3000" dirty="0"/>
          </a:p>
          <a:p>
            <a:pPr marL="273050" indent="-274638"/>
            <a:r>
              <a:rPr lang="en-US" sz="3000" dirty="0"/>
              <a:t>goody-goody </a:t>
            </a:r>
            <a:r>
              <a:rPr lang="zh-TW" altLang="en-US" sz="3000" dirty="0"/>
              <a:t>偽善者</a:t>
            </a:r>
            <a:endParaRPr lang="en-US" altLang="zh-TW" sz="3000" dirty="0"/>
          </a:p>
          <a:p>
            <a:pPr marL="273050" indent="-274638"/>
            <a:endParaRPr lang="en-US" sz="3000" dirty="0"/>
          </a:p>
          <a:p>
            <a:pPr marL="273050" indent="-274638"/>
            <a:r>
              <a:rPr lang="en-US" sz="3000" dirty="0"/>
              <a:t>see-saw </a:t>
            </a:r>
            <a:r>
              <a:rPr lang="zh-TW" altLang="en-US" sz="3000" dirty="0"/>
              <a:t>蹺蹺板</a:t>
            </a:r>
            <a:endParaRPr lang="en-US" sz="3000" dirty="0"/>
          </a:p>
          <a:p>
            <a:pPr marL="273050" indent="-274638"/>
            <a:r>
              <a:rPr lang="en-US" sz="3000" dirty="0"/>
              <a:t>flip-flop </a:t>
            </a:r>
            <a:r>
              <a:rPr lang="zh-TW" altLang="en-US" sz="3000" dirty="0"/>
              <a:t>人字拖鞋</a:t>
            </a:r>
            <a:endParaRPr lang="en-US" sz="3000" dirty="0"/>
          </a:p>
          <a:p>
            <a:pPr marL="273050" indent="-274638"/>
            <a:r>
              <a:rPr lang="en-US" sz="3000" dirty="0"/>
              <a:t>walkie-talkie </a:t>
            </a:r>
            <a:r>
              <a:rPr lang="zh-TW" altLang="en-US" sz="3000" dirty="0"/>
              <a:t>對講機</a:t>
            </a:r>
            <a:endParaRPr lang="en-US" sz="3000" dirty="0"/>
          </a:p>
          <a:p>
            <a:pPr marL="273050" indent="-274638"/>
            <a:r>
              <a:rPr lang="en-US" sz="3000" dirty="0" err="1"/>
              <a:t>criss-cross</a:t>
            </a:r>
            <a:r>
              <a:rPr lang="en-US" sz="3000" dirty="0"/>
              <a:t> </a:t>
            </a:r>
            <a:r>
              <a:rPr lang="zh-TW" altLang="en-US" sz="3000" dirty="0"/>
              <a:t>十字交叉</a:t>
            </a:r>
            <a:endParaRPr lang="en-US" sz="3000" dirty="0"/>
          </a:p>
          <a:p>
            <a:pPr marL="273050" indent="-274638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17548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(7) reduplication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重複</a:t>
            </a:r>
            <a:endParaRPr lang="zh-HK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274320" y="1447800"/>
            <a:ext cx="8595360" cy="5257800"/>
          </a:xfrm>
        </p:spPr>
        <p:txBody>
          <a:bodyPr>
            <a:normAutofit fontScale="92500" lnSpcReduction="20000"/>
          </a:bodyPr>
          <a:lstStyle/>
          <a:p>
            <a:pPr marL="273050" indent="-274638"/>
            <a:r>
              <a:rPr lang="zh-TW" altLang="en-US" sz="3000" dirty="0"/>
              <a:t>中文例子：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時，時時；天，天天</a:t>
            </a:r>
            <a:endParaRPr lang="en-US" altLang="zh-TW" sz="3000" dirty="0"/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zh-TW" altLang="en-US" sz="3000" dirty="0"/>
              <a:t>紅的   </a:t>
            </a:r>
            <a:r>
              <a:rPr lang="en-US" altLang="zh-TW" sz="3000" dirty="0"/>
              <a:t>vs.  </a:t>
            </a:r>
            <a:r>
              <a:rPr lang="zh-TW" altLang="en-US" sz="3000" dirty="0"/>
              <a:t>紅紅的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一點</a:t>
            </a:r>
            <a:r>
              <a:rPr lang="en-US" altLang="zh-TW" sz="3000" dirty="0"/>
              <a:t>   vs.  </a:t>
            </a:r>
            <a:r>
              <a:rPr lang="zh-TW" altLang="en-US" sz="3000" dirty="0"/>
              <a:t>一點點</a:t>
            </a:r>
            <a:endParaRPr lang="en-US" altLang="zh-TW" sz="3000" dirty="0"/>
          </a:p>
          <a:p>
            <a:pPr marL="273050" indent="-274638"/>
            <a:endParaRPr lang="en-US" altLang="zh-HK" sz="3000" dirty="0"/>
          </a:p>
          <a:p>
            <a:pPr marL="273050" indent="-274638"/>
            <a:r>
              <a:rPr lang="en-US" sz="3000" dirty="0"/>
              <a:t>ABB	</a:t>
            </a:r>
            <a:r>
              <a:rPr lang="zh-TW" altLang="en-US" sz="3000" dirty="0"/>
              <a:t>酸溜溜</a:t>
            </a:r>
            <a:endParaRPr lang="en-US" sz="3000" dirty="0"/>
          </a:p>
          <a:p>
            <a:pPr marL="273050" indent="-274638"/>
            <a:r>
              <a:rPr lang="en-US" sz="3000" dirty="0"/>
              <a:t>AAB	</a:t>
            </a:r>
            <a:r>
              <a:rPr lang="zh-TW" altLang="en-US" sz="3000" dirty="0"/>
              <a:t>紅紅的</a:t>
            </a:r>
            <a:endParaRPr lang="en-US" sz="3000" dirty="0"/>
          </a:p>
          <a:p>
            <a:pPr marL="273050" indent="-274638"/>
            <a:r>
              <a:rPr lang="en-US" sz="3000" dirty="0"/>
              <a:t>AABB	</a:t>
            </a:r>
            <a:r>
              <a:rPr lang="zh-TW" altLang="en-US" sz="3000" dirty="0"/>
              <a:t>清清楚楚</a:t>
            </a:r>
            <a:endParaRPr lang="en-US" sz="3000" dirty="0"/>
          </a:p>
          <a:p>
            <a:pPr marL="273050" indent="-274638"/>
            <a:r>
              <a:rPr lang="en-US" sz="3000" dirty="0"/>
              <a:t>ABAB	</a:t>
            </a:r>
            <a:r>
              <a:rPr lang="zh-TW" altLang="en-US" sz="3000" dirty="0"/>
              <a:t>一閃一閃</a:t>
            </a:r>
            <a:endParaRPr lang="en-US" sz="3000" dirty="0"/>
          </a:p>
          <a:p>
            <a:pPr marL="273050" indent="-274638"/>
            <a:r>
              <a:rPr lang="en-US" sz="3000" dirty="0"/>
              <a:t>ABAC	</a:t>
            </a:r>
            <a:r>
              <a:rPr lang="zh-TW" altLang="en-US" sz="3000" dirty="0"/>
              <a:t>土生土長</a:t>
            </a:r>
            <a:endParaRPr lang="en-US" altLang="zh-TW" sz="3000" dirty="0"/>
          </a:p>
          <a:p>
            <a:pPr marL="273050" indent="-274638"/>
            <a:r>
              <a:rPr lang="en-US" sz="3000" dirty="0"/>
              <a:t>ABCB	</a:t>
            </a:r>
            <a:r>
              <a:rPr lang="zh-TW" altLang="en-US" sz="3000" dirty="0"/>
              <a:t>心服口服</a:t>
            </a:r>
            <a:endParaRPr lang="en-US" altLang="zh-TW" sz="3000" dirty="0"/>
          </a:p>
          <a:p>
            <a:endParaRPr lang="en-US" altLang="zh-HK" sz="2400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87340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(8)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擬聲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onomatopoeia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altLang="zh-TW" sz="2600" dirty="0"/>
          </a:p>
          <a:p>
            <a:pPr marL="273050" indent="-274638"/>
            <a:r>
              <a:rPr lang="zh-TW" altLang="en-US" sz="3000" dirty="0"/>
              <a:t>模仿動物叫聲</a:t>
            </a:r>
            <a:endParaRPr lang="en-US" altLang="zh-TW" sz="3000" dirty="0"/>
          </a:p>
          <a:p>
            <a:pPr marL="273050" indent="-274638"/>
            <a:r>
              <a:rPr lang="en-US" sz="3000" dirty="0"/>
              <a:t>e.g., quack </a:t>
            </a:r>
            <a:r>
              <a:rPr lang="en-US" altLang="zh-TW" sz="3000" dirty="0"/>
              <a:t>(</a:t>
            </a:r>
            <a:r>
              <a:rPr lang="zh-TW" altLang="en-US" sz="3000" dirty="0"/>
              <a:t>鴨</a:t>
            </a:r>
            <a:r>
              <a:rPr lang="en-US" altLang="zh-TW" sz="3000" dirty="0"/>
              <a:t>),</a:t>
            </a:r>
            <a:r>
              <a:rPr lang="zh-TW" altLang="en-US" sz="3000" dirty="0"/>
              <a:t> </a:t>
            </a:r>
            <a:r>
              <a:rPr lang="en-US" altLang="zh-TW" sz="3000" dirty="0"/>
              <a:t>crow (</a:t>
            </a:r>
            <a:r>
              <a:rPr lang="zh-TW" altLang="en-US" sz="3000" dirty="0"/>
              <a:t>雞</a:t>
            </a:r>
            <a:r>
              <a:rPr lang="en-US" altLang="zh-TW" sz="3000" dirty="0"/>
              <a:t>), chirp (</a:t>
            </a:r>
            <a:r>
              <a:rPr lang="zh-TW" altLang="en-US" sz="3000" dirty="0"/>
              <a:t>鳥</a:t>
            </a:r>
            <a:r>
              <a:rPr lang="en-US" altLang="zh-TW" sz="3000" dirty="0"/>
              <a:t>), bark (</a:t>
            </a:r>
            <a:r>
              <a:rPr lang="zh-TW" altLang="en-US" sz="3000" dirty="0"/>
              <a:t>狗</a:t>
            </a:r>
            <a:r>
              <a:rPr lang="en-US" altLang="zh-TW" sz="3000" dirty="0"/>
              <a:t>)</a:t>
            </a:r>
          </a:p>
          <a:p>
            <a:pPr marL="273050" indent="-274638"/>
            <a:endParaRPr lang="en-US" sz="3000" dirty="0"/>
          </a:p>
          <a:p>
            <a:pPr marL="273050" indent="-274638"/>
            <a:r>
              <a:rPr lang="zh-TW" altLang="en-US" sz="3000" dirty="0"/>
              <a:t>大自然的聲音</a:t>
            </a:r>
            <a:endParaRPr lang="en-US" altLang="zh-TW" sz="3000" dirty="0"/>
          </a:p>
          <a:p>
            <a:pPr marL="273050" indent="-274638"/>
            <a:r>
              <a:rPr lang="en-US" sz="3000" dirty="0"/>
              <a:t>e.g., whistle (</a:t>
            </a:r>
            <a:r>
              <a:rPr lang="zh-TW" altLang="en-US" sz="3000" dirty="0"/>
              <a:t>風</a:t>
            </a:r>
            <a:r>
              <a:rPr lang="en-US" sz="3000" dirty="0"/>
              <a:t>), splash (</a:t>
            </a:r>
            <a:r>
              <a:rPr lang="zh-TW" altLang="en-US" sz="3000" dirty="0"/>
              <a:t>水</a:t>
            </a:r>
            <a:r>
              <a:rPr lang="en-US" altLang="zh-TW" sz="3000" dirty="0"/>
              <a:t>)</a:t>
            </a:r>
          </a:p>
          <a:p>
            <a:pPr marL="273050" indent="-274638"/>
            <a:endParaRPr lang="en-US" sz="3000" dirty="0"/>
          </a:p>
          <a:p>
            <a:pPr marL="273050" indent="-274638"/>
            <a:endParaRPr lang="en-US" sz="3000" dirty="0"/>
          </a:p>
          <a:p>
            <a:pPr marL="273050" indent="-274638"/>
            <a:r>
              <a:rPr lang="zh-TW" altLang="en-US" sz="3000" dirty="0"/>
              <a:t>喵喵、汪汪、潺潺、蕭蕭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8393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extra information: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構詞和語言類別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2800"/>
              <a:t>依據詞彙結構</a:t>
            </a:r>
            <a:r>
              <a:rPr lang="zh-TW" altLang="en-US" sz="2800" dirty="0"/>
              <a:t>方式把語言分類：</a:t>
            </a:r>
            <a:endParaRPr lang="en-US" altLang="zh-TW" sz="2800" dirty="0"/>
          </a:p>
          <a:p>
            <a:pPr marL="446088" lvl="1" indent="-274638"/>
            <a:endParaRPr lang="en-US" altLang="zh-TW" sz="2800" dirty="0"/>
          </a:p>
          <a:p>
            <a:pPr marL="446088" lvl="1" indent="-274638"/>
            <a:r>
              <a:rPr lang="en-US" altLang="zh-TW" sz="2800" dirty="0"/>
              <a:t>(1) </a:t>
            </a:r>
            <a:r>
              <a:rPr lang="zh-TW" altLang="en-US" sz="2800" dirty="0"/>
              <a:t>分析性語言</a:t>
            </a:r>
            <a:r>
              <a:rPr lang="en-US" altLang="zh-TW" sz="2800" dirty="0"/>
              <a:t> analytical languages</a:t>
            </a:r>
          </a:p>
          <a:p>
            <a:pPr marL="446088" lvl="1" indent="-274638"/>
            <a:r>
              <a:rPr lang="en-US" altLang="zh-TW" sz="2800" dirty="0"/>
              <a:t>(2) </a:t>
            </a:r>
            <a:r>
              <a:rPr lang="zh-TW" altLang="en-US" sz="2800" dirty="0"/>
              <a:t>綜合語 </a:t>
            </a:r>
            <a:r>
              <a:rPr lang="en-US" altLang="zh-TW" sz="2800" dirty="0"/>
              <a:t>synthetic languages </a:t>
            </a:r>
          </a:p>
          <a:p>
            <a:pPr marL="617538" lvl="2" indent="-274638"/>
            <a:r>
              <a:rPr lang="en-US" altLang="zh-TW" sz="2800" dirty="0"/>
              <a:t>(2a) </a:t>
            </a:r>
            <a:r>
              <a:rPr lang="zh-TW" altLang="en-US" sz="2800" dirty="0"/>
              <a:t>合成性語言</a:t>
            </a:r>
            <a:r>
              <a:rPr lang="en-US" altLang="zh-TW" sz="2800" dirty="0"/>
              <a:t> agglutinating languages</a:t>
            </a:r>
          </a:p>
          <a:p>
            <a:pPr marL="617538" lvl="2" indent="-274638"/>
            <a:r>
              <a:rPr lang="en-US" altLang="zh-TW" sz="2800" dirty="0"/>
              <a:t>(2b) </a:t>
            </a:r>
            <a:r>
              <a:rPr lang="zh-TW" altLang="en-US" sz="2800" dirty="0"/>
              <a:t>融合性語言 </a:t>
            </a:r>
            <a:r>
              <a:rPr lang="en-US" altLang="zh-TW" sz="2800" dirty="0"/>
              <a:t>fusional languages</a:t>
            </a:r>
          </a:p>
          <a:p>
            <a:pPr marL="617538" lvl="2" indent="-274638"/>
            <a:r>
              <a:rPr lang="en-US" altLang="zh-TW" sz="2800" dirty="0"/>
              <a:t>(2c)</a:t>
            </a:r>
            <a:r>
              <a:rPr lang="zh-TW" altLang="en-US" sz="2800" dirty="0"/>
              <a:t> 多式綜合語 </a:t>
            </a:r>
            <a:r>
              <a:rPr lang="en-US" altLang="zh-TW" sz="2800" dirty="0"/>
              <a:t>polysynthetic languages 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9727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(1)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分析性語言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analytical languages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altLang="zh-TW" sz="2600" dirty="0"/>
          </a:p>
          <a:p>
            <a:pPr marL="273050" indent="-274638"/>
            <a:r>
              <a:rPr lang="zh-TW" altLang="en-US" sz="3000" dirty="0"/>
              <a:t>又稱</a:t>
            </a:r>
            <a:r>
              <a:rPr lang="en-US" altLang="zh-TW" sz="3000" dirty="0"/>
              <a:t> isolating languages </a:t>
            </a:r>
            <a:r>
              <a:rPr lang="zh-TW" altLang="en-US" sz="3200" dirty="0">
                <a:ea typeface="PMingLiU" panose="02020500000000000000" pitchFamily="18" charset="-120"/>
                <a:cs typeface="Times New Roman" panose="02020603050405020304" pitchFamily="18" charset="0"/>
              </a:rPr>
              <a:t>孤立語</a:t>
            </a:r>
            <a:endParaRPr lang="en-US" altLang="zh-HK" sz="3200" dirty="0"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傾向用</a:t>
            </a:r>
            <a:r>
              <a:rPr lang="zh-TW" altLang="en-US" sz="3000" u="sng" dirty="0"/>
              <a:t>位置</a:t>
            </a:r>
            <a:r>
              <a:rPr lang="zh-TW" altLang="en-US" sz="3000" dirty="0"/>
              <a:t>和</a:t>
            </a:r>
            <a:r>
              <a:rPr lang="zh-TW" altLang="en-US" sz="3000" u="sng" dirty="0"/>
              <a:t>獨立的詞素</a:t>
            </a:r>
            <a:r>
              <a:rPr lang="zh-TW" altLang="en-US" sz="3000" dirty="0"/>
              <a:t>來表達語法概念，而不利用依存詞素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zh-TW" altLang="en-US" sz="3000" dirty="0"/>
              <a:t>中文是典型例子</a:t>
            </a:r>
            <a:endParaRPr lang="en-US" altLang="zh-TW" sz="3000" dirty="0"/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en-US" altLang="zh-TW" sz="3000" dirty="0"/>
              <a:t>“</a:t>
            </a:r>
            <a:r>
              <a:rPr lang="zh-TW" altLang="en-US" sz="3000" dirty="0"/>
              <a:t>有水井</a:t>
            </a:r>
            <a:r>
              <a:rPr lang="en-US" altLang="zh-TW" sz="3000" dirty="0"/>
              <a:t>” </a:t>
            </a:r>
            <a:r>
              <a:rPr lang="zh-TW" altLang="en-US" sz="3000" dirty="0"/>
              <a:t>可以是　</a:t>
            </a:r>
            <a:r>
              <a:rPr lang="en-US" altLang="zh-TW" sz="3000" dirty="0"/>
              <a:t>[</a:t>
            </a:r>
            <a:r>
              <a:rPr lang="zh-TW" altLang="en-US" sz="3000" dirty="0"/>
              <a:t>有水</a:t>
            </a:r>
            <a:r>
              <a:rPr lang="en-US" altLang="zh-TW" sz="3000" dirty="0"/>
              <a:t>]</a:t>
            </a:r>
            <a:r>
              <a:rPr lang="zh-TW" altLang="en-US" sz="3000" dirty="0"/>
              <a:t>井</a:t>
            </a:r>
            <a:r>
              <a:rPr lang="en-US" altLang="zh-TW" sz="3000" dirty="0"/>
              <a:t>  </a:t>
            </a:r>
            <a:r>
              <a:rPr lang="zh-TW" altLang="en-US" sz="3000" dirty="0"/>
              <a:t>或　</a:t>
            </a:r>
            <a:r>
              <a:rPr lang="en-US" altLang="zh-TW" sz="3000" dirty="0"/>
              <a:t>[</a:t>
            </a:r>
            <a:r>
              <a:rPr lang="zh-TW" altLang="en-US" sz="3000" dirty="0"/>
              <a:t>有</a:t>
            </a:r>
            <a:r>
              <a:rPr lang="en-US" altLang="zh-TW" sz="3000" dirty="0"/>
              <a:t>]</a:t>
            </a:r>
            <a:r>
              <a:rPr lang="zh-TW" altLang="en-US" sz="3000" dirty="0"/>
              <a:t>水井</a:t>
            </a:r>
            <a:endParaRPr lang="en-US" altLang="zh-TW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6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綜合語 </a:t>
            </a:r>
            <a:r>
              <a:rPr lang="en-US" altLang="zh-HK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synthetic languages </a:t>
            </a:r>
            <a:br>
              <a:rPr lang="en-US" altLang="zh-HK" dirty="0"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(2a)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合成性語言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agglutinating languages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04800" y="1524000"/>
            <a:ext cx="8595360" cy="5105400"/>
          </a:xfrm>
        </p:spPr>
        <p:txBody>
          <a:bodyPr>
            <a:normAutofit lnSpcReduction="10000"/>
          </a:bodyPr>
          <a:lstStyle/>
          <a:p>
            <a:pPr marL="273050" indent="-274638"/>
            <a:r>
              <a:rPr lang="zh-TW" altLang="en-US" sz="3000" dirty="0"/>
              <a:t>詞素和詞素之間的結合不很密切</a:t>
            </a:r>
            <a:endParaRPr lang="en-US" altLang="zh-TW" sz="3000" dirty="0"/>
          </a:p>
          <a:p>
            <a:pPr marL="273050" indent="-274638"/>
            <a:r>
              <a:rPr lang="zh-TW" altLang="en-US" sz="3000" dirty="0"/>
              <a:t>很容易看出詞素與詞素之間的間隔</a:t>
            </a:r>
            <a:r>
              <a:rPr lang="en-US" altLang="zh-TW" sz="3000" dirty="0"/>
              <a:t> (boundary)</a:t>
            </a:r>
          </a:p>
          <a:p>
            <a:pPr marL="273050" indent="-274638"/>
            <a:endParaRPr lang="en-US" altLang="zh-TW" sz="3000" dirty="0"/>
          </a:p>
          <a:p>
            <a:pPr marL="273050" indent="-274638"/>
            <a:r>
              <a:rPr lang="en-US" altLang="zh-TW" sz="3000" dirty="0"/>
              <a:t>e.g., </a:t>
            </a:r>
            <a:r>
              <a:rPr lang="zh-TW" altLang="en-US" sz="3000" dirty="0"/>
              <a:t>芬蘭語 </a:t>
            </a:r>
            <a:r>
              <a:rPr lang="en-US" altLang="zh-TW" sz="3000" dirty="0"/>
              <a:t>Finnish</a:t>
            </a:r>
          </a:p>
          <a:p>
            <a:pPr marL="273050" lvl="1" indent="-274638"/>
            <a:r>
              <a:rPr lang="en-US" sz="3000" dirty="0" err="1"/>
              <a:t>talo</a:t>
            </a:r>
            <a:r>
              <a:rPr lang="en-US" sz="3000" dirty="0"/>
              <a:t>			'the-house' </a:t>
            </a:r>
          </a:p>
          <a:p>
            <a:pPr marL="273050" lvl="1" indent="-274638"/>
            <a:r>
              <a:rPr lang="en-US" sz="3000" dirty="0" err="1"/>
              <a:t>talo-</a:t>
            </a:r>
            <a:r>
              <a:rPr lang="en-US" sz="3000" dirty="0" err="1">
                <a:solidFill>
                  <a:srgbClr val="C00000"/>
                </a:solidFill>
              </a:rPr>
              <a:t>ni</a:t>
            </a:r>
            <a:r>
              <a:rPr lang="en-US" sz="3000" dirty="0"/>
              <a:t>		'</a:t>
            </a:r>
            <a:r>
              <a:rPr lang="en-US" sz="3000" dirty="0">
                <a:solidFill>
                  <a:srgbClr val="C00000"/>
                </a:solidFill>
              </a:rPr>
              <a:t>my</a:t>
            </a:r>
            <a:r>
              <a:rPr lang="en-US" sz="3000" dirty="0"/>
              <a:t> house' </a:t>
            </a:r>
          </a:p>
          <a:p>
            <a:pPr marL="273050" lvl="1" indent="-274638"/>
            <a:r>
              <a:rPr lang="en-US" sz="3000" dirty="0" err="1"/>
              <a:t>talo-</a:t>
            </a:r>
            <a:r>
              <a:rPr lang="en-US" sz="3000" dirty="0" err="1">
                <a:solidFill>
                  <a:srgbClr val="00B0F0"/>
                </a:solidFill>
              </a:rPr>
              <a:t>ssa</a:t>
            </a:r>
            <a:r>
              <a:rPr lang="en-US" sz="3000" dirty="0"/>
              <a:t>		'</a:t>
            </a:r>
            <a:r>
              <a:rPr lang="en-US" sz="3000" dirty="0">
                <a:solidFill>
                  <a:srgbClr val="00B0F0"/>
                </a:solidFill>
              </a:rPr>
              <a:t>in</a:t>
            </a:r>
            <a:r>
              <a:rPr lang="en-US" sz="3000" dirty="0"/>
              <a:t> the-house' </a:t>
            </a:r>
          </a:p>
          <a:p>
            <a:pPr marL="273050" lvl="1" indent="-274638"/>
            <a:r>
              <a:rPr lang="en-US" sz="3000" dirty="0" err="1"/>
              <a:t>talo-</a:t>
            </a:r>
            <a:r>
              <a:rPr lang="en-US" sz="3000" dirty="0" err="1">
                <a:solidFill>
                  <a:srgbClr val="00B0F0"/>
                </a:solidFill>
              </a:rPr>
              <a:t>ssa</a:t>
            </a:r>
            <a:r>
              <a:rPr lang="en-US" sz="3000" dirty="0" err="1"/>
              <a:t>-</a:t>
            </a:r>
            <a:r>
              <a:rPr lang="en-US" sz="3000" dirty="0" err="1">
                <a:solidFill>
                  <a:srgbClr val="C00000"/>
                </a:solidFill>
              </a:rPr>
              <a:t>ni</a:t>
            </a:r>
            <a:r>
              <a:rPr lang="en-US" sz="3000" dirty="0"/>
              <a:t>	'</a:t>
            </a:r>
            <a:r>
              <a:rPr lang="en-US" sz="3000" dirty="0">
                <a:solidFill>
                  <a:srgbClr val="00B0F0"/>
                </a:solidFill>
              </a:rPr>
              <a:t>in</a:t>
            </a:r>
            <a:r>
              <a:rPr lang="en-US" sz="3000" dirty="0"/>
              <a:t> </a:t>
            </a:r>
            <a:r>
              <a:rPr lang="en-US" sz="3000" dirty="0">
                <a:solidFill>
                  <a:srgbClr val="C00000"/>
                </a:solidFill>
              </a:rPr>
              <a:t>my</a:t>
            </a:r>
            <a:r>
              <a:rPr lang="en-US" sz="3000" dirty="0"/>
              <a:t> house' </a:t>
            </a:r>
          </a:p>
          <a:p>
            <a:pPr marL="273050" lvl="1" indent="-274638"/>
            <a:r>
              <a:rPr lang="en-US" sz="3000" dirty="0" err="1"/>
              <a:t>talo-</a:t>
            </a:r>
            <a:r>
              <a:rPr lang="en-US" sz="3000" dirty="0" err="1">
                <a:solidFill>
                  <a:srgbClr val="00B050"/>
                </a:solidFill>
              </a:rPr>
              <a:t>i</a:t>
            </a:r>
            <a:r>
              <a:rPr lang="en-US" sz="3000" dirty="0" err="1"/>
              <a:t>-</a:t>
            </a:r>
            <a:r>
              <a:rPr lang="en-US" sz="3000" dirty="0" err="1">
                <a:solidFill>
                  <a:srgbClr val="00B0F0"/>
                </a:solidFill>
              </a:rPr>
              <a:t>ssa</a:t>
            </a:r>
            <a:r>
              <a:rPr lang="en-US" sz="3000" dirty="0"/>
              <a:t>		'</a:t>
            </a:r>
            <a:r>
              <a:rPr lang="en-US" sz="3000" dirty="0">
                <a:solidFill>
                  <a:srgbClr val="00B0F0"/>
                </a:solidFill>
              </a:rPr>
              <a:t>in</a:t>
            </a:r>
            <a:r>
              <a:rPr lang="en-US" sz="3000" dirty="0"/>
              <a:t> the-house</a:t>
            </a:r>
            <a:r>
              <a:rPr lang="en-US" sz="3000" dirty="0">
                <a:solidFill>
                  <a:srgbClr val="00B050"/>
                </a:solidFill>
              </a:rPr>
              <a:t>s</a:t>
            </a:r>
            <a:r>
              <a:rPr lang="en-US" sz="3000" dirty="0"/>
              <a:t>' </a:t>
            </a:r>
          </a:p>
          <a:p>
            <a:pPr marL="273050" lvl="1" indent="-274638"/>
            <a:r>
              <a:rPr lang="en-US" sz="3000" dirty="0" err="1"/>
              <a:t>talo-</a:t>
            </a:r>
            <a:r>
              <a:rPr lang="en-US" sz="3000" dirty="0" err="1">
                <a:solidFill>
                  <a:srgbClr val="00B050"/>
                </a:solidFill>
              </a:rPr>
              <a:t>i</a:t>
            </a:r>
            <a:r>
              <a:rPr lang="en-US" sz="3000" dirty="0" err="1"/>
              <a:t>-</a:t>
            </a:r>
            <a:r>
              <a:rPr lang="en-US" sz="3000" dirty="0" err="1">
                <a:solidFill>
                  <a:srgbClr val="00B0F0"/>
                </a:solidFill>
              </a:rPr>
              <a:t>ssa</a:t>
            </a:r>
            <a:r>
              <a:rPr lang="en-US" sz="3000" dirty="0" err="1"/>
              <a:t>-</a:t>
            </a:r>
            <a:r>
              <a:rPr lang="en-US" sz="3000" dirty="0" err="1">
                <a:solidFill>
                  <a:srgbClr val="C00000"/>
                </a:solidFill>
              </a:rPr>
              <a:t>ni</a:t>
            </a:r>
            <a:r>
              <a:rPr lang="en-US" sz="3000" dirty="0"/>
              <a:t>	'</a:t>
            </a:r>
            <a:r>
              <a:rPr lang="en-US" sz="3000" dirty="0">
                <a:solidFill>
                  <a:srgbClr val="00B0F0"/>
                </a:solidFill>
              </a:rPr>
              <a:t>in</a:t>
            </a:r>
            <a:r>
              <a:rPr lang="en-US" sz="3000" dirty="0"/>
              <a:t> </a:t>
            </a:r>
            <a:r>
              <a:rPr lang="en-US" sz="3000" dirty="0">
                <a:solidFill>
                  <a:srgbClr val="C00000"/>
                </a:solidFill>
              </a:rPr>
              <a:t>my</a:t>
            </a:r>
            <a:r>
              <a:rPr lang="en-US" sz="3000" dirty="0"/>
              <a:t> house</a:t>
            </a:r>
            <a:r>
              <a:rPr lang="en-US" sz="3000" dirty="0">
                <a:solidFill>
                  <a:srgbClr val="00B050"/>
                </a:solidFill>
              </a:rPr>
              <a:t>s</a:t>
            </a:r>
            <a:r>
              <a:rPr lang="en-US" sz="3000" dirty="0"/>
              <a:t>'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81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綜合語 </a:t>
            </a:r>
            <a:r>
              <a:rPr lang="en-US" altLang="zh-HK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synthetic languages </a:t>
            </a:r>
            <a:br>
              <a:rPr lang="en-US" altLang="zh-HK" dirty="0"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(2b)</a:t>
            </a:r>
            <a:r>
              <a:rPr 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融合性語言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en-US" altLang="zh-TW" dirty="0" err="1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fusional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languages</a:t>
            </a:r>
            <a:endParaRPr 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73050" indent="-274638"/>
            <a:r>
              <a:rPr lang="zh-TW" altLang="en-US" sz="3000" dirty="0"/>
              <a:t>各種詞素融合，很難把每個詞素做詳盡畫分</a:t>
            </a:r>
            <a:endParaRPr lang="en-US" altLang="zh-TW" sz="3000" dirty="0"/>
          </a:p>
          <a:p>
            <a:pPr marL="273050" indent="-274638"/>
            <a:endParaRPr lang="en-US" sz="2600" dirty="0"/>
          </a:p>
          <a:p>
            <a:pPr marL="273050" indent="-274638"/>
            <a:r>
              <a:rPr lang="en-US" sz="2600" dirty="0"/>
              <a:t>e.g., </a:t>
            </a:r>
            <a:r>
              <a:rPr lang="zh-TW" altLang="en-US" sz="2600" dirty="0"/>
              <a:t>俄語 </a:t>
            </a:r>
            <a:r>
              <a:rPr lang="en-US" sz="2600" dirty="0"/>
              <a:t>Russian</a:t>
            </a:r>
          </a:p>
          <a:p>
            <a:pPr marL="273050" indent="-274638"/>
            <a:r>
              <a:rPr lang="en-US" sz="2600" dirty="0" err="1"/>
              <a:t>komnat</a:t>
            </a:r>
            <a:r>
              <a:rPr lang="en-US" sz="2600" i="1" u="sng" dirty="0" err="1">
                <a:solidFill>
                  <a:srgbClr val="00B050"/>
                </a:solidFill>
              </a:rPr>
              <a:t>u</a:t>
            </a:r>
            <a:r>
              <a:rPr lang="en-US" sz="2600" dirty="0"/>
              <a:t> (room)</a:t>
            </a:r>
          </a:p>
          <a:p>
            <a:pPr marL="273050" indent="-274638"/>
            <a:r>
              <a:rPr lang="en-US" sz="2600" dirty="0">
                <a:solidFill>
                  <a:srgbClr val="00B050"/>
                </a:solidFill>
              </a:rPr>
              <a:t>-u</a:t>
            </a:r>
            <a:r>
              <a:rPr lang="en-US" altLang="zh-TW" sz="2600" dirty="0"/>
              <a:t>:</a:t>
            </a:r>
            <a:r>
              <a:rPr lang="zh-TW" altLang="en-US" sz="2600" dirty="0"/>
              <a:t> 含 </a:t>
            </a:r>
            <a:r>
              <a:rPr lang="en-US" sz="2600" dirty="0"/>
              <a:t>feminine, singular, direct object </a:t>
            </a:r>
            <a:r>
              <a:rPr lang="zh-TW" altLang="en-US" sz="2600" dirty="0"/>
              <a:t>幾種的意義</a:t>
            </a:r>
            <a:endParaRPr lang="en-US" sz="2600" dirty="0"/>
          </a:p>
          <a:p>
            <a:pPr marL="273050" indent="-274638"/>
            <a:endParaRPr lang="en-US" altLang="zh-HK" sz="2600" dirty="0"/>
          </a:p>
          <a:p>
            <a:pPr marL="273050" indent="-274638"/>
            <a:r>
              <a:rPr lang="en-US" altLang="zh-HK" sz="2600" dirty="0"/>
              <a:t>e.g., </a:t>
            </a:r>
            <a:r>
              <a:rPr lang="zh-TW" altLang="en-US" sz="2600" dirty="0"/>
              <a:t>希臘語 </a:t>
            </a:r>
            <a:r>
              <a:rPr lang="en-US" altLang="zh-HK" sz="2600" dirty="0"/>
              <a:t>Greek                         </a:t>
            </a:r>
          </a:p>
          <a:p>
            <a:pPr marL="273050" indent="-274638"/>
            <a:endParaRPr lang="en-US" altLang="zh-HK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9357" y="4648200"/>
            <a:ext cx="8338418" cy="2057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1S:PRES:ACT:IND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“I am releasing”</a:t>
            </a:r>
          </a:p>
          <a:p>
            <a:r>
              <a:rPr lang="en-US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lu-ōmai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1S:PRES:ACT:SBJV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“I should release”</a:t>
            </a:r>
          </a:p>
          <a:p>
            <a:r>
              <a:rPr lang="en-US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lu-omai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1S:PRES:PASS:IND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“I am being released”</a:t>
            </a:r>
          </a:p>
          <a:p>
            <a:r>
              <a:rPr lang="en-US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lu-oimi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1S:PRES:ACT:OPT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“I might release”</a:t>
            </a:r>
          </a:p>
          <a:p>
            <a:r>
              <a:rPr lang="en-US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lu-etai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3S:PRES:PASS:IND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“He is being released”</a:t>
            </a:r>
            <a:endParaRPr lang="en-GB" sz="2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312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(2)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綜合語 </a:t>
            </a:r>
            <a:r>
              <a:rPr lang="en-US" altLang="zh-HK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synthetic languages </a:t>
            </a:r>
            <a:br>
              <a:rPr lang="en-US" altLang="zh-HK" dirty="0">
                <a:ea typeface="PMingLiU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(2c)</a:t>
            </a:r>
            <a:r>
              <a:rPr 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 </a:t>
            </a:r>
            <a:r>
              <a:rPr lang="zh-TW" altLang="en-US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多式綜合語 </a:t>
            </a:r>
            <a:r>
              <a:rPr lang="en-US" altLang="zh-TW" dirty="0">
                <a:solidFill>
                  <a:srgbClr val="D2533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KaiTi" pitchFamily="49" charset="-122"/>
              </a:rPr>
              <a:t>polysynthetic languages </a:t>
            </a:r>
            <a:endParaRPr lang="zh-TW" altLang="en-US" dirty="0">
              <a:solidFill>
                <a:srgbClr val="D2533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KaiTi" pitchFamily="49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73050" indent="-274638"/>
            <a:endParaRPr lang="en-US" altLang="zh-HK" sz="2600" dirty="0"/>
          </a:p>
          <a:p>
            <a:pPr marL="273050" indent="-274638"/>
            <a:r>
              <a:rPr lang="zh-TW" altLang="en-US" sz="2600" dirty="0"/>
              <a:t>每個詞語由很多詞素組成</a:t>
            </a:r>
            <a:endParaRPr lang="en-US" altLang="zh-TW" sz="2600" dirty="0"/>
          </a:p>
          <a:p>
            <a:pPr marL="273050" indent="-274638"/>
            <a:r>
              <a:rPr lang="zh-TW" altLang="en-US" sz="2600" dirty="0"/>
              <a:t>一個詞語所表達的意思，有時候相當於其他語言的一個句子</a:t>
            </a:r>
            <a:endParaRPr lang="en-US" altLang="zh-HK" sz="2600" dirty="0"/>
          </a:p>
          <a:p>
            <a:pPr marL="273050" indent="-274638"/>
            <a:endParaRPr lang="en-US" altLang="zh-HK" sz="2600" dirty="0"/>
          </a:p>
          <a:p>
            <a:pPr marL="273050" indent="-274638"/>
            <a:r>
              <a:rPr lang="en-US" altLang="zh-HK" sz="2600" dirty="0"/>
              <a:t>e.g., </a:t>
            </a:r>
            <a:r>
              <a:rPr lang="zh-TW" altLang="en-US" sz="2600" dirty="0"/>
              <a:t>愛斯基摩語 </a:t>
            </a:r>
            <a:r>
              <a:rPr lang="en-US" altLang="zh-HK" sz="2600" dirty="0"/>
              <a:t>Eskimo                       </a:t>
            </a:r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9184" y="4087686"/>
            <a:ext cx="8510016" cy="1932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word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angyaghllangyugtuq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means “ He would like a big boat.”</a:t>
            </a:r>
          </a:p>
          <a:p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angya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ghlla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-ng-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tuq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morphemes: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boat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meaning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acquire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expressing desire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3rd singular verb suffix</a:t>
            </a:r>
            <a:endParaRPr lang="en-GB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598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ho">
  <a:themeElements>
    <a:clrScheme name="SOHO">
      <a:dk1>
        <a:srgbClr val="2E2224"/>
      </a:dk1>
      <a:lt1>
        <a:sysClr val="window" lastClr="FFFFFF"/>
      </a:lt1>
      <a:dk2>
        <a:srgbClr val="48231E"/>
      </a:dk2>
      <a:lt2>
        <a:srgbClr val="CBD8DD"/>
      </a:lt2>
      <a:accent1>
        <a:srgbClr val="61625E"/>
      </a:accent1>
      <a:accent2>
        <a:srgbClr val="964D2C"/>
      </a:accent2>
      <a:accent3>
        <a:srgbClr val="66553E"/>
      </a:accent3>
      <a:accent4>
        <a:srgbClr val="848058"/>
      </a:accent4>
      <a:accent5>
        <a:srgbClr val="AFA14B"/>
      </a:accent5>
      <a:accent6>
        <a:srgbClr val="AD7D4D"/>
      </a:accent6>
      <a:hlink>
        <a:srgbClr val="FFDE66"/>
      </a:hlink>
      <a:folHlink>
        <a:srgbClr val="C0AEBC"/>
      </a:folHlink>
    </a:clrScheme>
    <a:fontScheme name="SOHO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HO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TC101790493[[fn=SOHO]]</Template>
  <TotalTime>4242</TotalTime>
  <Words>2997</Words>
  <PresentationFormat>On-screen Show (4:3)</PresentationFormat>
  <Paragraphs>472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PMingLiU</vt:lpstr>
      <vt:lpstr>Candara</vt:lpstr>
      <vt:lpstr>Times New Roman</vt:lpstr>
      <vt:lpstr>KaiTi</vt:lpstr>
      <vt:lpstr>Soho</vt:lpstr>
      <vt:lpstr>CBS1A01P Fun with Language</vt:lpstr>
      <vt:lpstr>PowerPoint Presentation</vt:lpstr>
      <vt:lpstr>PowerPoint Presentation</vt:lpstr>
      <vt:lpstr>本課題目</vt:lpstr>
      <vt:lpstr>詞語及詞彙</vt:lpstr>
      <vt:lpstr>詞語及詞彙</vt:lpstr>
      <vt:lpstr>詞語的內在結構</vt:lpstr>
      <vt:lpstr>詞語的內在結構</vt:lpstr>
      <vt:lpstr>詞語的內在結構</vt:lpstr>
      <vt:lpstr>詞語及詞素例子</vt:lpstr>
      <vt:lpstr>詞素的類別</vt:lpstr>
      <vt:lpstr>自由詞素與依存詞素</vt:lpstr>
      <vt:lpstr>自由詞素與依存詞素</vt:lpstr>
      <vt:lpstr>綴詞 affixes</vt:lpstr>
      <vt:lpstr>綴詞 affixes</vt:lpstr>
      <vt:lpstr>綴詞的功能</vt:lpstr>
      <vt:lpstr>綴詞的功能</vt:lpstr>
      <vt:lpstr>綴詞的功能</vt:lpstr>
      <vt:lpstr>綴詞的功能</vt:lpstr>
      <vt:lpstr>英語綴詞的層次</vt:lpstr>
      <vt:lpstr>英語綴詞的層次</vt:lpstr>
      <vt:lpstr>詞素的類別</vt:lpstr>
      <vt:lpstr>同位詞素 allomorphs</vt:lpstr>
      <vt:lpstr>同位詞素 allomorphs</vt:lpstr>
      <vt:lpstr>同位詞素 allomorphs</vt:lpstr>
      <vt:lpstr>構詞的方法</vt:lpstr>
      <vt:lpstr>(1) 複合詞 compounding</vt:lpstr>
      <vt:lpstr>(1) 複合詞 compounding</vt:lpstr>
      <vt:lpstr>(2) 始音結合 initialism</vt:lpstr>
      <vt:lpstr>(2) 始音結合 initialism</vt:lpstr>
      <vt:lpstr>(2) 始音結合 initialism</vt:lpstr>
      <vt:lpstr>(3) 剪字 clipping</vt:lpstr>
      <vt:lpstr>(4) 合詞 blending</vt:lpstr>
      <vt:lpstr>(5) 名詞的移轉 eponym</vt:lpstr>
      <vt:lpstr>(5) 名詞的移轉 eponym</vt:lpstr>
      <vt:lpstr>(6) 反向結構 back formation</vt:lpstr>
      <vt:lpstr>(7) reduplication 重複</vt:lpstr>
      <vt:lpstr>(7) reduplication 重複</vt:lpstr>
      <vt:lpstr>(8) 擬聲 onomatopoeia</vt:lpstr>
      <vt:lpstr>extra information: 構詞和語言類別</vt:lpstr>
      <vt:lpstr>(1) 分析性語言 analytical languages</vt:lpstr>
      <vt:lpstr>(2) 綜合語 synthetic languages  (2a) 合成性語言 agglutinating languages</vt:lpstr>
      <vt:lpstr>(2) 綜合語 synthetic languages  (2b) 融合性語言 fusional languages</vt:lpstr>
      <vt:lpstr>(2) 綜合語 synthetic languages  (2c) 多式綜合語 polysynthetic languages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2024-06-12T08:44:14Z</dcterms:modified>
</cp:coreProperties>
</file>
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4368" r:id="rId1"/>
  </p:sldMasterIdLst>
  <p:notesMasterIdLst>
    <p:notesMasterId r:id="rId66"/>
  </p:notesMasterIdLst>
  <p:sldIdLst>
    <p:sldId id="256" r:id="rId2"/>
    <p:sldId id="838" r:id="rId3"/>
    <p:sldId id="949" r:id="rId4"/>
    <p:sldId id="849" r:id="rId5"/>
    <p:sldId id="848" r:id="rId6"/>
    <p:sldId id="916" r:id="rId7"/>
    <p:sldId id="839" r:id="rId8"/>
    <p:sldId id="903" r:id="rId9"/>
    <p:sldId id="921" r:id="rId10"/>
    <p:sldId id="760" r:id="rId11"/>
    <p:sldId id="761" r:id="rId12"/>
    <p:sldId id="895" r:id="rId13"/>
    <p:sldId id="763" r:id="rId14"/>
    <p:sldId id="764" r:id="rId15"/>
    <p:sldId id="765" r:id="rId16"/>
    <p:sldId id="766" r:id="rId17"/>
    <p:sldId id="767" r:id="rId18"/>
    <p:sldId id="768" r:id="rId19"/>
    <p:sldId id="769" r:id="rId20"/>
    <p:sldId id="770" r:id="rId21"/>
    <p:sldId id="771" r:id="rId22"/>
    <p:sldId id="774" r:id="rId23"/>
    <p:sldId id="906" r:id="rId24"/>
    <p:sldId id="777" r:id="rId25"/>
    <p:sldId id="778" r:id="rId26"/>
    <p:sldId id="779" r:id="rId27"/>
    <p:sldId id="780" r:id="rId28"/>
    <p:sldId id="907" r:id="rId29"/>
    <p:sldId id="784" r:id="rId30"/>
    <p:sldId id="785" r:id="rId31"/>
    <p:sldId id="786" r:id="rId32"/>
    <p:sldId id="787" r:id="rId33"/>
    <p:sldId id="910" r:id="rId34"/>
    <p:sldId id="896" r:id="rId35"/>
    <p:sldId id="796" r:id="rId36"/>
    <p:sldId id="797" r:id="rId37"/>
    <p:sldId id="798" r:id="rId38"/>
    <p:sldId id="802" r:id="rId39"/>
    <p:sldId id="803" r:id="rId40"/>
    <p:sldId id="804" r:id="rId41"/>
    <p:sldId id="894" r:id="rId42"/>
    <p:sldId id="898" r:id="rId43"/>
    <p:sldId id="863" r:id="rId44"/>
    <p:sldId id="867" r:id="rId45"/>
    <p:sldId id="868" r:id="rId46"/>
    <p:sldId id="869" r:id="rId47"/>
    <p:sldId id="870" r:id="rId48"/>
    <p:sldId id="871" r:id="rId49"/>
    <p:sldId id="873" r:id="rId50"/>
    <p:sldId id="874" r:id="rId51"/>
    <p:sldId id="878" r:id="rId52"/>
    <p:sldId id="879" r:id="rId53"/>
    <p:sldId id="881" r:id="rId54"/>
    <p:sldId id="884" r:id="rId55"/>
    <p:sldId id="925" r:id="rId56"/>
    <p:sldId id="885" r:id="rId57"/>
    <p:sldId id="886" r:id="rId58"/>
    <p:sldId id="887" r:id="rId59"/>
    <p:sldId id="888" r:id="rId60"/>
    <p:sldId id="889" r:id="rId61"/>
    <p:sldId id="890" r:id="rId62"/>
    <p:sldId id="952" r:id="rId63"/>
    <p:sldId id="953" r:id="rId64"/>
    <p:sldId id="954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89876" autoAdjust="0"/>
  </p:normalViewPr>
  <p:slideViewPr>
    <p:cSldViewPr>
      <p:cViewPr varScale="1">
        <p:scale>
          <a:sx n="80" d="100"/>
          <a:sy n="80" d="100"/>
        </p:scale>
        <p:origin x="172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DC586-2683-46C2-BCAC-305DA05B874A}" type="datetimeFigureOut">
              <a:rPr lang="zh-HK" altLang="en-US" smtClean="0"/>
              <a:pPr/>
              <a:t>28/9/2023</a:t>
            </a:fld>
            <a:endParaRPr lang="zh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54351-3776-481E-98A1-CBCB02763DC8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720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838EA42-25D2-4DB9-8887-2E7EFF2F62DF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B279-E0E0-4B9C-879D-9A1AC2635A71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21661-20E4-4506-9764-447618D8CA5C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527BDC6-12CB-47C1-A63D-E1B10E2E1E55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13AC1EE-8741-47CB-BDAB-4594D7E250B6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0654-A74A-4CE1-8F2F-DE8D65A9A782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1E6E7-4172-4F21-9551-C067E02CA08D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87D3-9DD6-441B-9FD0-2F908B6E2485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3F2A97F-8A2D-4AC5-ACAC-9AFA09DD0C93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2259-0B98-4931-9BF9-6E2DE136EC06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FD988FB0-BED4-4D4E-8040-AEEB62DA0972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25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38275"/>
            <a:ext cx="4038600" cy="4733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38275"/>
            <a:ext cx="4038600" cy="4733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048000" y="6311900"/>
            <a:ext cx="1712913" cy="290513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830763" y="6323013"/>
            <a:ext cx="2311400" cy="290512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116763" y="6323013"/>
            <a:ext cx="1616075" cy="290512"/>
          </a:xfrm>
        </p:spPr>
        <p:txBody>
          <a:bodyPr/>
          <a:lstStyle>
            <a:lvl1pPr>
              <a:defRPr/>
            </a:lvl1pPr>
          </a:lstStyle>
          <a:p>
            <a:fld id="{28EE2A29-C522-4DDE-BB77-F315B0561E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719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C61242C-E179-4099-AE81-158C1B3A48A4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9" r:id="rId1"/>
    <p:sldLayoutId id="2147484370" r:id="rId2"/>
    <p:sldLayoutId id="2147484371" r:id="rId3"/>
    <p:sldLayoutId id="2147484372" r:id="rId4"/>
    <p:sldLayoutId id="2147484373" r:id="rId5"/>
    <p:sldLayoutId id="2147484374" r:id="rId6"/>
    <p:sldLayoutId id="2147484375" r:id="rId7"/>
    <p:sldLayoutId id="2147484376" r:id="rId8"/>
    <p:sldLayoutId id="2147484377" r:id="rId9"/>
    <p:sldLayoutId id="2147484378" r:id="rId10"/>
    <p:sldLayoutId id="2147484379" r:id="rId11"/>
    <p:sldLayoutId id="2147484380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archive.org/details/pidginenglishsin00lelaiala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YieVSrzRqRo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YU9rVcSEnkw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www.unilang.org/course.php?res=80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ed.com/view/Entry/268504?redirectedFrom=taikonaut" TargetMode="Externa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5600" y="1828800"/>
            <a:ext cx="5334000" cy="1343028"/>
          </a:xfrm>
        </p:spPr>
        <p:txBody>
          <a:bodyPr>
            <a:normAutofit fontScale="90000"/>
          </a:bodyPr>
          <a:lstStyle/>
          <a:p>
            <a:r>
              <a:rPr lang="en-US" altLang="zh-HK" dirty="0"/>
              <a:t>CBS1A01P</a:t>
            </a:r>
            <a:br>
              <a:rPr lang="en-US" altLang="zh-HK" dirty="0"/>
            </a:br>
            <a:r>
              <a:rPr lang="en-US" altLang="zh-HK" sz="4000" dirty="0"/>
              <a:t>Fun with Language</a:t>
            </a:r>
            <a:endParaRPr lang="zh-HK" alt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4200" y="3657600"/>
            <a:ext cx="5120640" cy="158115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3600"/>
              <a:t>Lecture 11</a:t>
            </a:r>
            <a:endParaRPr lang="en-US" altLang="zh-TW" sz="3600" dirty="0"/>
          </a:p>
          <a:p>
            <a:r>
              <a:rPr lang="zh-TW" altLang="en-US" sz="3600" dirty="0"/>
              <a:t>語言接觸</a:t>
            </a:r>
            <a:br>
              <a:rPr lang="en-US" altLang="zh-TW" sz="3600" dirty="0"/>
            </a:br>
            <a:r>
              <a:rPr lang="en-US" altLang="zh-TW" sz="3600" dirty="0"/>
              <a:t>language contact</a:t>
            </a:r>
            <a:endParaRPr lang="zh-HK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81559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社會語言學 </a:t>
            </a:r>
            <a:r>
              <a:rPr lang="en-US" altLang="zh-TW" dirty="0"/>
              <a:t>sociolinguistics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 lnSpcReduction="10000"/>
          </a:bodyPr>
          <a:lstStyle/>
          <a:p>
            <a:r>
              <a:rPr lang="zh-TW" altLang="en-US" sz="2800" dirty="0"/>
              <a:t>研究語言與社會</a:t>
            </a:r>
            <a:endParaRPr lang="en-US" altLang="zh-HK" sz="2800" dirty="0"/>
          </a:p>
          <a:p>
            <a:r>
              <a:rPr lang="en-US" altLang="zh-HK" sz="2800" dirty="0"/>
              <a:t>studies language and society</a:t>
            </a:r>
          </a:p>
          <a:p>
            <a:endParaRPr lang="en-US" altLang="zh-TW" sz="2800" dirty="0"/>
          </a:p>
          <a:p>
            <a:r>
              <a:rPr lang="zh-TW" altLang="en-US" sz="2800" dirty="0"/>
              <a:t>研究語言在社會不同場合、不同群體之使用</a:t>
            </a:r>
            <a:endParaRPr lang="en-US" altLang="zh-HK" sz="2800" dirty="0"/>
          </a:p>
          <a:p>
            <a:r>
              <a:rPr lang="en-US" altLang="zh-HK" sz="2800" dirty="0"/>
              <a:t>studies how language is used in different social situations and how language varieties differ between social groups</a:t>
            </a:r>
          </a:p>
          <a:p>
            <a:endParaRPr lang="en-US" altLang="zh-HK" sz="2800" dirty="0"/>
          </a:p>
          <a:p>
            <a:r>
              <a:rPr lang="zh-TW" altLang="en-US" sz="2800" dirty="0"/>
              <a:t>研究社會不同情況如何影響語言之使用</a:t>
            </a:r>
            <a:endParaRPr lang="en-US" altLang="zh-HK" sz="2800" dirty="0"/>
          </a:p>
          <a:p>
            <a:r>
              <a:rPr lang="en-US" altLang="zh-HK" sz="2800" dirty="0"/>
              <a:t>studies the effect of the aspects of society on how language is used</a:t>
            </a:r>
          </a:p>
        </p:txBody>
      </p:sp>
    </p:spTree>
    <p:extLst>
      <p:ext uri="{BB962C8B-B14F-4D97-AF65-F5344CB8AC3E}">
        <p14:creationId xmlns:p14="http://schemas.microsoft.com/office/powerpoint/2010/main" val="4159336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本課題目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55152" cy="5105400"/>
          </a:xfrm>
        </p:spPr>
        <p:txBody>
          <a:bodyPr>
            <a:normAutofit/>
          </a:bodyPr>
          <a:lstStyle/>
          <a:p>
            <a:pPr>
              <a:lnSpc>
                <a:spcPts val="4200"/>
              </a:lnSpc>
            </a:pPr>
            <a:r>
              <a:rPr lang="zh-TW" altLang="en-US" sz="3000" dirty="0"/>
              <a:t>語言接觸</a:t>
            </a:r>
            <a:r>
              <a:rPr lang="en-US" altLang="zh-TW" sz="3000" dirty="0"/>
              <a:t> language contact</a:t>
            </a:r>
          </a:p>
          <a:p>
            <a:pPr lvl="1">
              <a:lnSpc>
                <a:spcPts val="4200"/>
              </a:lnSpc>
            </a:pPr>
            <a:r>
              <a:rPr lang="en-US" altLang="zh-TW" sz="3000" dirty="0"/>
              <a:t>(1) </a:t>
            </a:r>
            <a:r>
              <a:rPr lang="zh-TW" altLang="en-US" sz="3000" dirty="0"/>
              <a:t>通用語 </a:t>
            </a:r>
            <a:r>
              <a:rPr lang="en-US" sz="3000" dirty="0"/>
              <a:t>lingua </a:t>
            </a:r>
            <a:r>
              <a:rPr lang="en-US" sz="3000" dirty="0" err="1"/>
              <a:t>francas</a:t>
            </a:r>
            <a:endParaRPr lang="en-US" sz="3000" dirty="0"/>
          </a:p>
          <a:p>
            <a:pPr lvl="1">
              <a:lnSpc>
                <a:spcPts val="4200"/>
              </a:lnSpc>
            </a:pPr>
            <a:r>
              <a:rPr lang="en-US" altLang="zh-TW" sz="3000" dirty="0"/>
              <a:t>(2) </a:t>
            </a:r>
            <a:r>
              <a:rPr lang="zh-TW" altLang="en-US" sz="3000" dirty="0"/>
              <a:t>混雜語言</a:t>
            </a:r>
            <a:r>
              <a:rPr lang="en-US" altLang="zh-TW" sz="3000" dirty="0"/>
              <a:t> / </a:t>
            </a:r>
            <a:r>
              <a:rPr lang="zh-TW" altLang="en-US" sz="3000" dirty="0"/>
              <a:t>皮欽語 </a:t>
            </a:r>
            <a:r>
              <a:rPr lang="en-US" sz="3000" dirty="0"/>
              <a:t>pidgins</a:t>
            </a:r>
          </a:p>
          <a:p>
            <a:pPr lvl="2">
              <a:lnSpc>
                <a:spcPts val="4200"/>
              </a:lnSpc>
            </a:pPr>
            <a:r>
              <a:rPr lang="zh-TW" altLang="en-US" sz="2800" dirty="0"/>
              <a:t>例：</a:t>
            </a:r>
            <a:r>
              <a:rPr lang="en-US" sz="2800" dirty="0"/>
              <a:t>Chinese Pidgin English (CPE) </a:t>
            </a:r>
            <a:r>
              <a:rPr lang="zh-TW" altLang="en-US" sz="2800" dirty="0"/>
              <a:t>洋涇濱英語</a:t>
            </a:r>
            <a:endParaRPr lang="en-US" sz="2800" dirty="0"/>
          </a:p>
          <a:p>
            <a:pPr lvl="1">
              <a:lnSpc>
                <a:spcPts val="4200"/>
              </a:lnSpc>
            </a:pPr>
            <a:r>
              <a:rPr lang="en-US" altLang="zh-TW" sz="3000" dirty="0"/>
              <a:t>(3) </a:t>
            </a:r>
            <a:r>
              <a:rPr lang="zh-TW" altLang="en-US" sz="3000" dirty="0"/>
              <a:t>克里奧爾語 </a:t>
            </a:r>
            <a:r>
              <a:rPr lang="en-US" altLang="zh-TW" sz="3000" dirty="0"/>
              <a:t>/ </a:t>
            </a:r>
            <a:r>
              <a:rPr lang="zh-TW" altLang="en-US" sz="3000" dirty="0"/>
              <a:t>歸融話 </a:t>
            </a:r>
            <a:r>
              <a:rPr lang="en-US" sz="3000" dirty="0"/>
              <a:t>creoles</a:t>
            </a:r>
          </a:p>
          <a:p>
            <a:pPr lvl="2">
              <a:lnSpc>
                <a:spcPts val="4200"/>
              </a:lnSpc>
            </a:pPr>
            <a:r>
              <a:rPr lang="zh-TW" altLang="en-US" sz="2800" dirty="0"/>
              <a:t>例：</a:t>
            </a:r>
            <a:r>
              <a:rPr lang="en-US" sz="2800" dirty="0" err="1"/>
              <a:t>Tok</a:t>
            </a:r>
            <a:r>
              <a:rPr lang="en-US" sz="2800" dirty="0"/>
              <a:t> </a:t>
            </a:r>
            <a:r>
              <a:rPr lang="en-US" sz="2800" dirty="0" err="1"/>
              <a:t>Pisin</a:t>
            </a:r>
            <a:r>
              <a:rPr lang="en-US" sz="2800" dirty="0"/>
              <a:t> </a:t>
            </a:r>
            <a:r>
              <a:rPr lang="zh-TW" altLang="en-US" sz="2800" dirty="0"/>
              <a:t>巴布亞皮欽語</a:t>
            </a:r>
            <a:r>
              <a:rPr lang="en-US" altLang="zh-TW" sz="2800" dirty="0"/>
              <a:t>/</a:t>
            </a:r>
            <a:r>
              <a:rPr lang="zh-TW" altLang="en-US" sz="2800" dirty="0"/>
              <a:t>托克皮辛語</a:t>
            </a:r>
            <a:endParaRPr lang="en-US" altLang="zh-TW" sz="2800" dirty="0"/>
          </a:p>
          <a:p>
            <a:pPr lvl="1">
              <a:lnSpc>
                <a:spcPts val="4200"/>
              </a:lnSpc>
            </a:pPr>
            <a:r>
              <a:rPr lang="en-US" altLang="zh-HK" sz="3000" dirty="0"/>
              <a:t>(4) </a:t>
            </a:r>
            <a:r>
              <a:rPr lang="zh-TW" altLang="en-US" sz="3000" dirty="0"/>
              <a:t>借詞</a:t>
            </a:r>
            <a:r>
              <a:rPr lang="en-US" altLang="zh-TW" sz="3000" dirty="0"/>
              <a:t> lexical borrowing</a:t>
            </a:r>
          </a:p>
          <a:p>
            <a:pPr lvl="1">
              <a:lnSpc>
                <a:spcPts val="4200"/>
              </a:lnSpc>
            </a:pPr>
            <a:r>
              <a:rPr lang="en-US" altLang="zh-TW" sz="3000" dirty="0"/>
              <a:t>(5) </a:t>
            </a:r>
            <a:r>
              <a:rPr lang="zh-TW" altLang="en-US" sz="3000" dirty="0"/>
              <a:t>語碼轉換 </a:t>
            </a:r>
            <a:r>
              <a:rPr lang="en-HK" altLang="zh-TW" sz="3000" dirty="0"/>
              <a:t>code-switching</a:t>
            </a:r>
            <a:endParaRPr lang="en-US" altLang="zh-TW" sz="3000" dirty="0"/>
          </a:p>
        </p:txBody>
      </p:sp>
    </p:spTree>
    <p:extLst>
      <p:ext uri="{BB962C8B-B14F-4D97-AF65-F5344CB8AC3E}">
        <p14:creationId xmlns:p14="http://schemas.microsoft.com/office/powerpoint/2010/main" val="1179886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本課題目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55152" cy="5105400"/>
          </a:xfrm>
        </p:spPr>
        <p:txBody>
          <a:bodyPr>
            <a:normAutofit/>
          </a:bodyPr>
          <a:lstStyle/>
          <a:p>
            <a:pPr>
              <a:lnSpc>
                <a:spcPts val="4200"/>
              </a:lnSpc>
            </a:pPr>
            <a:r>
              <a:rPr lang="zh-TW" altLang="en-US" sz="3000" dirty="0"/>
              <a:t>語言接觸</a:t>
            </a:r>
            <a:r>
              <a:rPr lang="en-US" altLang="zh-TW" sz="3000" dirty="0"/>
              <a:t> language contact</a:t>
            </a:r>
          </a:p>
          <a:p>
            <a:pPr lvl="1">
              <a:lnSpc>
                <a:spcPts val="4200"/>
              </a:lnSpc>
            </a:pPr>
            <a:r>
              <a:rPr lang="en-US" altLang="zh-TW" sz="3000" dirty="0"/>
              <a:t>(1) </a:t>
            </a:r>
            <a:r>
              <a:rPr lang="zh-TW" altLang="en-US" sz="3000" dirty="0"/>
              <a:t>通用語 </a:t>
            </a:r>
            <a:r>
              <a:rPr lang="en-US" sz="3000" dirty="0"/>
              <a:t>lingua </a:t>
            </a:r>
            <a:r>
              <a:rPr lang="en-US" sz="3000" dirty="0" err="1"/>
              <a:t>francas</a:t>
            </a:r>
            <a:endParaRPr lang="en-US" sz="3000" dirty="0"/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(2)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混雜語言</a:t>
            </a: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 /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皮欽語 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pidgins</a:t>
            </a:r>
          </a:p>
          <a:p>
            <a:pPr lvl="2">
              <a:lnSpc>
                <a:spcPts val="4200"/>
              </a:lnSpc>
            </a:pP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例：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Chinese Pidgin English (CPE) </a:t>
            </a: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洋涇濱英語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(3)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克里奧爾語 </a:t>
            </a: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/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歸融話 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creoles</a:t>
            </a:r>
          </a:p>
          <a:p>
            <a:pPr lvl="2">
              <a:lnSpc>
                <a:spcPts val="4200"/>
              </a:lnSpc>
            </a:pP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例：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</a:rPr>
              <a:t>Tok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</a:rPr>
              <a:t>Pisin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巴布亞皮欽語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托克皮辛語</a:t>
            </a:r>
            <a:endParaRPr lang="en-US" altLang="zh-TW" sz="28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r>
              <a:rPr lang="en-US" altLang="zh-HK" sz="3000" dirty="0">
                <a:solidFill>
                  <a:schemeClr val="bg1">
                    <a:lumMod val="85000"/>
                  </a:schemeClr>
                </a:solidFill>
              </a:rPr>
              <a:t>(4)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借詞</a:t>
            </a: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 lexical borrowing</a:t>
            </a: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(5)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語碼轉換 </a:t>
            </a:r>
            <a:r>
              <a:rPr lang="en-HK" altLang="zh-TW" sz="3000" dirty="0">
                <a:solidFill>
                  <a:schemeClr val="bg1">
                    <a:lumMod val="85000"/>
                  </a:schemeClr>
                </a:solidFill>
              </a:rPr>
              <a:t>code-switching</a:t>
            </a:r>
            <a:endParaRPr lang="en-US" altLang="zh-TW" sz="30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endParaRPr lang="en-US" altLang="zh-TW" sz="3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2209800"/>
            <a:ext cx="53340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81347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Lingua </a:t>
            </a:r>
            <a:r>
              <a:rPr lang="en-US" dirty="0" err="1"/>
              <a:t>francas</a:t>
            </a:r>
            <a:r>
              <a:rPr lang="en-US" dirty="0"/>
              <a:t> </a:t>
            </a:r>
            <a:r>
              <a:rPr lang="zh-TW" altLang="en-US" dirty="0"/>
              <a:t>通用語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378952" cy="5105400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說不同語言的人，為了溝通便利，選擇用來作為社交、商貿溝通用途的語言</a:t>
            </a:r>
            <a:endParaRPr lang="en-US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lingua franca: UNESCO (1953)</a:t>
            </a:r>
            <a:b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</a:br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“a language which is used habitually by people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whose mother languages are different</a:t>
            </a:r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 in order to facilitate communication between them”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0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Lingua </a:t>
            </a:r>
            <a:r>
              <a:rPr lang="en-US" dirty="0" err="1"/>
              <a:t>francas</a:t>
            </a:r>
            <a:r>
              <a:rPr lang="en-US" dirty="0"/>
              <a:t> </a:t>
            </a:r>
            <a:r>
              <a:rPr lang="zh-TW" altLang="en-US" dirty="0"/>
              <a:t>通用語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378952" cy="5105400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中世紀時期，有一叫做</a:t>
            </a:r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Lingua Franca</a:t>
            </a: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的</a:t>
            </a:r>
            <a:r>
              <a:rPr lang="zh-TW" altLang="en-US" sz="3200" dirty="0">
                <a:solidFill>
                  <a:srgbClr val="0070C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通商語言 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(</a:t>
            </a:r>
            <a:r>
              <a:rPr lang="en-US" sz="3200" dirty="0">
                <a:solidFill>
                  <a:srgbClr val="0070C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trade language</a:t>
            </a:r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)</a:t>
            </a:r>
            <a:r>
              <a:rPr lang="en-US" sz="3200" dirty="0">
                <a:solidFill>
                  <a:srgbClr val="0070C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在地中海港口 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(</a:t>
            </a:r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the Mediterranean ports ) </a:t>
            </a: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廣泛使用</a:t>
            </a:r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zh-TW" altLang="en-US" sz="3000" dirty="0">
                <a:latin typeface="Calibri" panose="020F0502020204030204" pitchFamily="34" charset="0"/>
                <a:ea typeface="PMingLiU" panose="02020500000000000000" pitchFamily="18" charset="-120"/>
              </a:rPr>
              <a:t>此語言是一種混雜語言 </a:t>
            </a:r>
            <a:r>
              <a:rPr lang="en-US" altLang="zh-TW" sz="3000" dirty="0">
                <a:latin typeface="Calibri" panose="020F0502020204030204" pitchFamily="34" charset="0"/>
                <a:ea typeface="PMingLiU" panose="02020500000000000000" pitchFamily="18" charset="-120"/>
              </a:rPr>
              <a:t>pidgin (</a:t>
            </a:r>
            <a:r>
              <a:rPr lang="zh-TW" altLang="en-US" sz="3000" dirty="0">
                <a:latin typeface="Calibri" panose="020F0502020204030204" pitchFamily="34" charset="0"/>
                <a:ea typeface="PMingLiU" panose="02020500000000000000" pitchFamily="18" charset="-120"/>
              </a:rPr>
              <a:t>由法語、意大利語等語言混合而成</a:t>
            </a:r>
            <a:r>
              <a:rPr lang="en-US" altLang="zh-TW" sz="3000" dirty="0">
                <a:latin typeface="Calibri" panose="020F0502020204030204" pitchFamily="34" charset="0"/>
                <a:ea typeface="PMingLiU" panose="02020500000000000000" pitchFamily="18" charset="-12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9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Lingua </a:t>
            </a:r>
            <a:r>
              <a:rPr lang="en-US" dirty="0" err="1"/>
              <a:t>francas</a:t>
            </a:r>
            <a:r>
              <a:rPr lang="en-US" dirty="0"/>
              <a:t> </a:t>
            </a:r>
            <a:r>
              <a:rPr lang="zh-TW" altLang="en-US" dirty="0"/>
              <a:t>通用語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5029200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現今和過去的通用語</a:t>
            </a:r>
            <a:br>
              <a:rPr lang="en-US" altLang="zh-TW" sz="3200" dirty="0"/>
            </a:br>
            <a:r>
              <a:rPr lang="en-US" sz="3200" dirty="0"/>
              <a:t>examples of past and present lingua </a:t>
            </a:r>
            <a:r>
              <a:rPr lang="en-US" sz="3200" dirty="0" err="1"/>
              <a:t>francas</a:t>
            </a:r>
            <a:endParaRPr lang="en-US" sz="3200" dirty="0"/>
          </a:p>
          <a:p>
            <a:endParaRPr lang="en-US" sz="3200" dirty="0"/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French </a:t>
            </a:r>
            <a:r>
              <a:rPr lang="zh-TW" altLang="en-US" sz="3200" dirty="0">
                <a:solidFill>
                  <a:srgbClr val="0070C0"/>
                </a:solidFill>
              </a:rPr>
              <a:t>法語</a:t>
            </a:r>
            <a:r>
              <a:rPr lang="en-US" sz="3200" dirty="0"/>
              <a:t>: </a:t>
            </a:r>
            <a:r>
              <a:rPr lang="zh-TW" altLang="en-US" sz="3200" dirty="0"/>
              <a:t>以前是</a:t>
            </a:r>
            <a:r>
              <a:rPr lang="en-US" altLang="zh-TW" sz="3200" dirty="0"/>
              <a:t> </a:t>
            </a:r>
            <a:r>
              <a:rPr lang="zh-TW" altLang="en-US" sz="3200" dirty="0">
                <a:solidFill>
                  <a:srgbClr val="C00000"/>
                </a:solidFill>
              </a:rPr>
              <a:t>外交</a:t>
            </a:r>
            <a:r>
              <a:rPr lang="zh-TW" altLang="en-US" sz="3200" dirty="0"/>
              <a:t>通用語 </a:t>
            </a:r>
            <a:r>
              <a:rPr lang="en-US" sz="3200" dirty="0">
                <a:solidFill>
                  <a:srgbClr val="C00000"/>
                </a:solidFill>
              </a:rPr>
              <a:t>diplomatic lingua franca </a:t>
            </a:r>
            <a:endParaRPr lang="en-US" sz="3200" dirty="0"/>
          </a:p>
          <a:p>
            <a:pPr lvl="1"/>
            <a:endParaRPr lang="en-US" sz="3200" dirty="0"/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English </a:t>
            </a:r>
            <a:r>
              <a:rPr lang="zh-TW" altLang="en-US" sz="3200" dirty="0">
                <a:solidFill>
                  <a:srgbClr val="0070C0"/>
                </a:solidFill>
              </a:rPr>
              <a:t>英語</a:t>
            </a:r>
            <a:r>
              <a:rPr lang="en-US" sz="3200" dirty="0"/>
              <a:t>: </a:t>
            </a:r>
            <a:r>
              <a:rPr lang="zh-TW" altLang="en-US" sz="3200" dirty="0"/>
              <a:t>「世界通用語」</a:t>
            </a:r>
            <a:r>
              <a:rPr lang="en-US" sz="3200" dirty="0"/>
              <a:t>“the lingua franca of the </a:t>
            </a:r>
            <a:r>
              <a:rPr lang="en-US" sz="3200" dirty="0">
                <a:solidFill>
                  <a:srgbClr val="C00000"/>
                </a:solidFill>
              </a:rPr>
              <a:t>whole world</a:t>
            </a:r>
            <a:r>
              <a:rPr lang="en-US" sz="3200" dirty="0"/>
              <a:t>”; the lingua franca of international Air Traffic Control</a:t>
            </a:r>
          </a:p>
          <a:p>
            <a:pPr lvl="1"/>
            <a:endParaRPr lang="en-US" sz="3200" dirty="0"/>
          </a:p>
          <a:p>
            <a:endParaRPr lang="en-US" sz="31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5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Lingua </a:t>
            </a:r>
            <a:r>
              <a:rPr lang="en-US" dirty="0" err="1"/>
              <a:t>francas</a:t>
            </a:r>
            <a:r>
              <a:rPr lang="en-US" dirty="0"/>
              <a:t> </a:t>
            </a:r>
            <a:r>
              <a:rPr lang="zh-TW" altLang="en-US" dirty="0"/>
              <a:t>通用語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00600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現今和過去的通用語</a:t>
            </a:r>
            <a:br>
              <a:rPr lang="en-US" altLang="zh-TW" sz="3200" dirty="0"/>
            </a:br>
            <a:r>
              <a:rPr lang="en-US" sz="3200" dirty="0"/>
              <a:t>examples of past and present lingua </a:t>
            </a:r>
            <a:r>
              <a:rPr lang="en-US" sz="3200" dirty="0" err="1"/>
              <a:t>francas</a:t>
            </a:r>
            <a:endParaRPr lang="en-US" sz="3200" dirty="0"/>
          </a:p>
          <a:p>
            <a:endParaRPr lang="en-US" sz="3200" dirty="0"/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Latin </a:t>
            </a:r>
            <a:r>
              <a:rPr lang="zh-TW" altLang="en-US" sz="3200" dirty="0">
                <a:solidFill>
                  <a:srgbClr val="0070C0"/>
                </a:solidFill>
              </a:rPr>
              <a:t>拉丁語</a:t>
            </a:r>
            <a:r>
              <a:rPr lang="en-US" sz="3200" dirty="0"/>
              <a:t>: was a lingua franca of the </a:t>
            </a:r>
            <a:r>
              <a:rPr lang="en-US" sz="3200" dirty="0">
                <a:solidFill>
                  <a:srgbClr val="C00000"/>
                </a:solidFill>
              </a:rPr>
              <a:t>Roman Empire </a:t>
            </a:r>
            <a:r>
              <a:rPr lang="en-US" sz="3200" dirty="0"/>
              <a:t>and of </a:t>
            </a:r>
            <a:r>
              <a:rPr lang="en-US" sz="3200" dirty="0">
                <a:solidFill>
                  <a:srgbClr val="C00000"/>
                </a:solidFill>
              </a:rPr>
              <a:t>western Christendom </a:t>
            </a:r>
            <a:r>
              <a:rPr lang="zh-TW" altLang="en-US" sz="3200" dirty="0">
                <a:solidFill>
                  <a:srgbClr val="C00000"/>
                </a:solidFill>
              </a:rPr>
              <a:t>西方基督教 </a:t>
            </a:r>
            <a:r>
              <a:rPr lang="en-US" sz="3200" dirty="0"/>
              <a:t>for a millennium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Greek </a:t>
            </a:r>
            <a:r>
              <a:rPr lang="zh-TW" altLang="en-US" sz="3200" dirty="0">
                <a:solidFill>
                  <a:srgbClr val="0070C0"/>
                </a:solidFill>
              </a:rPr>
              <a:t>希臘語</a:t>
            </a:r>
            <a:r>
              <a:rPr lang="en-US" sz="3200" dirty="0"/>
              <a:t>: was a lingua franca of the </a:t>
            </a:r>
            <a:r>
              <a:rPr lang="en-US" sz="3200" dirty="0">
                <a:solidFill>
                  <a:srgbClr val="C00000"/>
                </a:solidFill>
              </a:rPr>
              <a:t>eastern Christendom </a:t>
            </a:r>
            <a:r>
              <a:rPr lang="zh-TW" altLang="en-US" sz="3200" dirty="0">
                <a:solidFill>
                  <a:srgbClr val="C00000"/>
                </a:solidFill>
              </a:rPr>
              <a:t>東方基督教</a:t>
            </a:r>
            <a:endParaRPr lang="en-US" sz="3200" dirty="0">
              <a:solidFill>
                <a:srgbClr val="C00000"/>
              </a:solidFill>
            </a:endParaRPr>
          </a:p>
          <a:p>
            <a:pPr lvl="1"/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9762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Lingua </a:t>
            </a:r>
            <a:r>
              <a:rPr lang="en-US" dirty="0" err="1"/>
              <a:t>francas</a:t>
            </a:r>
            <a:r>
              <a:rPr lang="en-US" dirty="0"/>
              <a:t> </a:t>
            </a:r>
            <a:r>
              <a:rPr lang="zh-TW" altLang="en-US" dirty="0"/>
              <a:t>通用語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00600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Latin and Greek as lingua </a:t>
            </a:r>
            <a:r>
              <a:rPr lang="en-US" altLang="zh-TW" sz="2800" dirty="0" err="1"/>
              <a:t>francas</a:t>
            </a:r>
            <a:br>
              <a:rPr lang="en-US" altLang="zh-TW" sz="3200" dirty="0"/>
            </a:br>
            <a:endParaRPr lang="en-GB" sz="3200" dirty="0"/>
          </a:p>
        </p:txBody>
      </p:sp>
      <p:pic>
        <p:nvPicPr>
          <p:cNvPr id="3074" name="Picture 2" descr="C:\Wingli\Files\Screenshot Captor Files\OLDER\Screenshot - 29_06_2015 , 14_54_2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04544"/>
            <a:ext cx="7079271" cy="4419601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419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Putonghua</a:t>
            </a:r>
            <a:r>
              <a:rPr lang="en-US" altLang="zh-TW" sz="4000" dirty="0">
                <a:solidFill>
                  <a:srgbClr val="C00000"/>
                </a:solidFill>
              </a:rPr>
              <a:t> </a:t>
            </a:r>
            <a:r>
              <a:rPr lang="zh-TW" altLang="en-US" dirty="0"/>
              <a:t>普通話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876800"/>
          </a:xfrm>
        </p:spPr>
        <p:txBody>
          <a:bodyPr>
            <a:noAutofit/>
          </a:bodyPr>
          <a:lstStyle/>
          <a:p>
            <a:r>
              <a:rPr lang="en-US" altLang="zh-HK" dirty="0"/>
              <a:t>Standard Chinese / Standard Mandarin</a:t>
            </a:r>
          </a:p>
          <a:p>
            <a:endParaRPr lang="en-US" altLang="zh-HK" dirty="0"/>
          </a:p>
          <a:p>
            <a:r>
              <a:rPr lang="en-US" altLang="zh-HK" dirty="0"/>
              <a:t>(1) </a:t>
            </a:r>
            <a:r>
              <a:rPr lang="en-US" altLang="zh-HK" dirty="0">
                <a:solidFill>
                  <a:srgbClr val="0070C0"/>
                </a:solidFill>
              </a:rPr>
              <a:t>phonology</a:t>
            </a:r>
            <a:r>
              <a:rPr lang="en-US" altLang="zh-HK" dirty="0"/>
              <a:t>: based on the Beijing dialect</a:t>
            </a:r>
          </a:p>
          <a:p>
            <a:r>
              <a:rPr lang="zh-TW" altLang="en-US" b="1" dirty="0">
                <a:solidFill>
                  <a:srgbClr val="0070C0"/>
                </a:solidFill>
              </a:rPr>
              <a:t>語音</a:t>
            </a:r>
            <a:r>
              <a:rPr lang="zh-TW" altLang="en-US" dirty="0"/>
              <a:t>：</a:t>
            </a:r>
            <a:r>
              <a:rPr lang="zh-TW" altLang="en-US" dirty="0">
                <a:solidFill>
                  <a:srgbClr val="7030A0"/>
                </a:solidFill>
              </a:rPr>
              <a:t>以北京語音為標準音</a:t>
            </a:r>
            <a:endParaRPr lang="en-US" altLang="zh-TW" dirty="0">
              <a:solidFill>
                <a:srgbClr val="7030A0"/>
              </a:solidFill>
            </a:endParaRPr>
          </a:p>
          <a:p>
            <a:endParaRPr lang="en-US" altLang="zh-TW" dirty="0"/>
          </a:p>
          <a:p>
            <a:r>
              <a:rPr lang="en-US" altLang="zh-HK" dirty="0"/>
              <a:t>(2) </a:t>
            </a:r>
            <a:r>
              <a:rPr lang="en-US" altLang="zh-HK" dirty="0">
                <a:solidFill>
                  <a:srgbClr val="0070C0"/>
                </a:solidFill>
              </a:rPr>
              <a:t>vocabulary</a:t>
            </a:r>
            <a:r>
              <a:rPr lang="en-US" altLang="zh-HK" dirty="0"/>
              <a:t>: drawn from the Chinese dialects spoken across northern, central and southwestern China</a:t>
            </a:r>
            <a:br>
              <a:rPr lang="en-US" altLang="zh-HK" dirty="0"/>
            </a:br>
            <a:r>
              <a:rPr lang="en-US" altLang="zh-HK" dirty="0"/>
              <a:t>(the varieties are called Mandarin Chinese)</a:t>
            </a:r>
          </a:p>
          <a:p>
            <a:r>
              <a:rPr lang="zh-TW" altLang="en-US" b="1" dirty="0">
                <a:solidFill>
                  <a:srgbClr val="0070C0"/>
                </a:solidFill>
              </a:rPr>
              <a:t>詞匯</a:t>
            </a:r>
            <a:r>
              <a:rPr lang="zh-TW" altLang="en-US" dirty="0"/>
              <a:t>：</a:t>
            </a:r>
            <a:r>
              <a:rPr lang="zh-TW" altLang="en-US" dirty="0">
                <a:solidFill>
                  <a:srgbClr val="7030A0"/>
                </a:solidFill>
              </a:rPr>
              <a:t>以北方話為基礎</a:t>
            </a:r>
            <a:endParaRPr lang="en-US" altLang="zh-TW" dirty="0">
              <a:solidFill>
                <a:srgbClr val="7030A0"/>
              </a:solidFill>
            </a:endParaRPr>
          </a:p>
          <a:p>
            <a:endParaRPr lang="en-US" altLang="zh-HK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4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Putonghua</a:t>
            </a:r>
            <a:r>
              <a:rPr lang="en-US" altLang="zh-TW" sz="4000" dirty="0">
                <a:solidFill>
                  <a:srgbClr val="C00000"/>
                </a:solidFill>
              </a:rPr>
              <a:t> </a:t>
            </a:r>
            <a:r>
              <a:rPr lang="zh-TW" altLang="en-US" dirty="0"/>
              <a:t>普通話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5105400"/>
          </a:xfrm>
        </p:spPr>
        <p:txBody>
          <a:bodyPr/>
          <a:lstStyle/>
          <a:p>
            <a:endParaRPr lang="en-US" altLang="zh-HK" dirty="0"/>
          </a:p>
          <a:p>
            <a:r>
              <a:rPr lang="en-US" altLang="zh-HK" dirty="0"/>
              <a:t>(3) </a:t>
            </a:r>
            <a:r>
              <a:rPr lang="en-US" altLang="zh-HK" dirty="0">
                <a:solidFill>
                  <a:srgbClr val="0070C0"/>
                </a:solidFill>
              </a:rPr>
              <a:t>grammar</a:t>
            </a:r>
            <a:r>
              <a:rPr lang="en-US" altLang="zh-HK" dirty="0"/>
              <a:t>: standardized to the body of modern literary works that define written vernacular Chinese (originally </a:t>
            </a:r>
            <a:r>
              <a:rPr lang="en-US" altLang="zh-HK" dirty="0" err="1"/>
              <a:t>Baihua</a:t>
            </a:r>
            <a:r>
              <a:rPr lang="en-US" altLang="zh-HK" dirty="0"/>
              <a:t>)</a:t>
            </a:r>
          </a:p>
          <a:p>
            <a:r>
              <a:rPr lang="zh-TW" altLang="en-US" b="1" dirty="0">
                <a:solidFill>
                  <a:srgbClr val="0070C0"/>
                </a:solidFill>
              </a:rPr>
              <a:t>語法</a:t>
            </a:r>
            <a:r>
              <a:rPr lang="zh-TW" altLang="en-US" dirty="0"/>
              <a:t>：</a:t>
            </a:r>
            <a:r>
              <a:rPr lang="zh-TW" altLang="en-US" dirty="0">
                <a:solidFill>
                  <a:srgbClr val="7030A0"/>
                </a:solidFill>
              </a:rPr>
              <a:t>以典範的現代白話文著作為語法規範</a:t>
            </a:r>
            <a:endParaRPr lang="en-US" altLang="zh-TW" dirty="0">
              <a:solidFill>
                <a:srgbClr val="7030A0"/>
              </a:solidFill>
            </a:endParaRPr>
          </a:p>
          <a:p>
            <a:endParaRPr lang="en-US" altLang="zh-TW" dirty="0">
              <a:solidFill>
                <a:srgbClr val="7030A0"/>
              </a:solidFill>
            </a:endParaRPr>
          </a:p>
          <a:p>
            <a:r>
              <a:rPr lang="zh-TW" altLang="en-US" sz="3200" dirty="0"/>
              <a:t>從以上例子看到，通用語：</a:t>
            </a:r>
            <a:endParaRPr lang="en-US" altLang="zh-TW" sz="3200" dirty="0"/>
          </a:p>
          <a:p>
            <a:pPr lvl="1"/>
            <a:r>
              <a:rPr lang="zh-TW" altLang="en-US" sz="3200" dirty="0"/>
              <a:t>可以是因為商貿需要等而自然產生</a:t>
            </a:r>
            <a:endParaRPr lang="en-US" altLang="zh-TW" sz="3200" dirty="0"/>
          </a:p>
          <a:p>
            <a:pPr lvl="1"/>
            <a:r>
              <a:rPr lang="zh-TW" altLang="en-US" sz="3200" dirty="0"/>
              <a:t>也可能是政府設立的</a:t>
            </a:r>
            <a:endParaRPr lang="en-US" altLang="zh-TW" sz="3200" dirty="0"/>
          </a:p>
          <a:p>
            <a:endParaRPr lang="en-US" altLang="zh-TW" sz="2600" dirty="0">
              <a:solidFill>
                <a:srgbClr val="7030A0"/>
              </a:solidFill>
            </a:endParaRPr>
          </a:p>
          <a:p>
            <a:endParaRPr lang="en-US" altLang="zh-TW" sz="2600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762000" y="4419600"/>
            <a:ext cx="7848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08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本課題目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55152" cy="5105400"/>
          </a:xfrm>
        </p:spPr>
        <p:txBody>
          <a:bodyPr>
            <a:normAutofit/>
          </a:bodyPr>
          <a:lstStyle/>
          <a:p>
            <a:pPr>
              <a:lnSpc>
                <a:spcPts val="4200"/>
              </a:lnSpc>
            </a:pPr>
            <a:r>
              <a:rPr lang="zh-TW" altLang="en-US" sz="3000" dirty="0"/>
              <a:t>語言接觸</a:t>
            </a:r>
            <a:r>
              <a:rPr lang="en-US" altLang="zh-TW" sz="3000" dirty="0"/>
              <a:t> language contact</a:t>
            </a: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(1)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通用語 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lingua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</a:rPr>
              <a:t>francas</a:t>
            </a:r>
            <a:endParaRPr lang="en-US" sz="30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r>
              <a:rPr lang="en-US" altLang="zh-TW" sz="3000" dirty="0"/>
              <a:t>(2) </a:t>
            </a:r>
            <a:r>
              <a:rPr lang="zh-TW" altLang="en-US" sz="3000" dirty="0"/>
              <a:t>混雜語言</a:t>
            </a:r>
            <a:r>
              <a:rPr lang="en-US" altLang="zh-TW" sz="3000" dirty="0"/>
              <a:t> / </a:t>
            </a:r>
            <a:r>
              <a:rPr lang="zh-TW" altLang="en-US" sz="3000" dirty="0"/>
              <a:t>皮欽語 </a:t>
            </a:r>
            <a:r>
              <a:rPr lang="en-US" sz="3000" dirty="0"/>
              <a:t>pidgins</a:t>
            </a:r>
          </a:p>
          <a:p>
            <a:pPr lvl="2">
              <a:lnSpc>
                <a:spcPts val="4200"/>
              </a:lnSpc>
            </a:pPr>
            <a:r>
              <a:rPr lang="zh-TW" altLang="en-US" sz="2800" dirty="0"/>
              <a:t>例：</a:t>
            </a:r>
            <a:r>
              <a:rPr lang="en-US" sz="2800" dirty="0"/>
              <a:t>Chinese Pidgin English (CPE) </a:t>
            </a:r>
            <a:r>
              <a:rPr lang="zh-TW" altLang="en-US" sz="2800" dirty="0"/>
              <a:t>洋涇濱英語</a:t>
            </a:r>
            <a:endParaRPr lang="en-US" sz="2800" dirty="0"/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(3)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克里奧爾語 </a:t>
            </a: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/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歸融話 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creoles</a:t>
            </a:r>
          </a:p>
          <a:p>
            <a:pPr lvl="2">
              <a:lnSpc>
                <a:spcPts val="4200"/>
              </a:lnSpc>
            </a:pP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例：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</a:rPr>
              <a:t>Tok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</a:rPr>
              <a:t>Pisin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巴布亞皮欽語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托克皮辛語</a:t>
            </a:r>
            <a:endParaRPr lang="en-US" altLang="zh-TW" sz="28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r>
              <a:rPr lang="en-US" altLang="zh-HK" sz="3000" dirty="0">
                <a:solidFill>
                  <a:schemeClr val="bg1">
                    <a:lumMod val="85000"/>
                  </a:schemeClr>
                </a:solidFill>
              </a:rPr>
              <a:t>(4)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借詞</a:t>
            </a: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 lexical borrowing</a:t>
            </a: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(5)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語碼轉換 </a:t>
            </a:r>
            <a:r>
              <a:rPr lang="en-HK" altLang="zh-TW" sz="3000" dirty="0">
                <a:solidFill>
                  <a:schemeClr val="bg1">
                    <a:lumMod val="85000"/>
                  </a:schemeClr>
                </a:solidFill>
              </a:rPr>
              <a:t>code-switching</a:t>
            </a:r>
            <a:endParaRPr lang="en-US" altLang="zh-TW" sz="3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0600" y="2819400"/>
            <a:ext cx="731520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270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Pidgins </a:t>
            </a:r>
            <a:r>
              <a:rPr lang="zh-TW" altLang="en-US" dirty="0"/>
              <a:t>混雜語言</a:t>
            </a:r>
            <a:r>
              <a:rPr lang="en-US" altLang="zh-TW" dirty="0"/>
              <a:t> / </a:t>
            </a:r>
            <a:r>
              <a:rPr lang="zh-TW" altLang="en-US" dirty="0"/>
              <a:t>皮欽語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302752" cy="51054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5000"/>
              </a:lnSpc>
            </a:pPr>
            <a:r>
              <a:rPr lang="zh-TW" altLang="en-US" sz="3500" dirty="0"/>
              <a:t>兩種（或以上）語言混合</a:t>
            </a:r>
            <a:endParaRPr lang="en-US" altLang="zh-TW" sz="3500" dirty="0"/>
          </a:p>
          <a:p>
            <a:pPr>
              <a:lnSpc>
                <a:spcPct val="115000"/>
              </a:lnSpc>
            </a:pPr>
            <a:r>
              <a:rPr lang="zh-TW" altLang="en-US" sz="3500" dirty="0"/>
              <a:t>介於兩種（或以上）語言之間，兼有這些語言的語法特點</a:t>
            </a:r>
            <a:endParaRPr lang="en-US" altLang="zh-TW" sz="3500" dirty="0"/>
          </a:p>
          <a:p>
            <a:endParaRPr lang="en-US" altLang="zh-TW" sz="3300" dirty="0"/>
          </a:p>
          <a:p>
            <a:r>
              <a:rPr lang="en-US" altLang="zh-TW" sz="3300" dirty="0"/>
              <a:t>Pidgin: “a </a:t>
            </a:r>
            <a:r>
              <a:rPr lang="en-US" altLang="zh-TW" sz="3300" dirty="0">
                <a:solidFill>
                  <a:srgbClr val="0070C0"/>
                </a:solidFill>
              </a:rPr>
              <a:t>contact vernacular</a:t>
            </a:r>
            <a:r>
              <a:rPr lang="en-US" altLang="zh-TW" sz="3300" dirty="0"/>
              <a:t>, normally </a:t>
            </a:r>
            <a:r>
              <a:rPr lang="en-US" altLang="zh-TW" sz="3300" dirty="0">
                <a:solidFill>
                  <a:srgbClr val="0070C0"/>
                </a:solidFill>
              </a:rPr>
              <a:t>not the native language</a:t>
            </a:r>
            <a:r>
              <a:rPr lang="en-US" altLang="zh-TW" sz="3300" dirty="0"/>
              <a:t> of any of its speakers… it is characterized by a limited vocabulary, an </a:t>
            </a:r>
            <a:r>
              <a:rPr lang="en-US" altLang="zh-TW" sz="3300" dirty="0">
                <a:solidFill>
                  <a:srgbClr val="0070C0"/>
                </a:solidFill>
              </a:rPr>
              <a:t>elimination of many grammatical devices</a:t>
            </a:r>
            <a:r>
              <a:rPr lang="en-US" altLang="zh-TW" sz="3300" dirty="0"/>
              <a:t> such as number, gender, and a </a:t>
            </a:r>
            <a:r>
              <a:rPr lang="en-US" altLang="zh-TW" sz="3300" dirty="0">
                <a:solidFill>
                  <a:srgbClr val="0070C0"/>
                </a:solidFill>
              </a:rPr>
              <a:t>drastic reduction of redundant features</a:t>
            </a:r>
            <a:r>
              <a:rPr lang="en-US" altLang="zh-TW" sz="3300" dirty="0"/>
              <a:t>.” (</a:t>
            </a:r>
            <a:r>
              <a:rPr lang="en-US" altLang="zh-TW" sz="3300" dirty="0" err="1"/>
              <a:t>DeCamp</a:t>
            </a:r>
            <a:r>
              <a:rPr lang="en-US" altLang="zh-TW" sz="3300" dirty="0"/>
              <a:t>, 1971)</a:t>
            </a:r>
            <a:br>
              <a:rPr lang="en-US" altLang="zh-TW" sz="3300" dirty="0"/>
            </a:br>
            <a:r>
              <a:rPr lang="en-US" altLang="zh-TW" sz="2100" dirty="0" err="1"/>
              <a:t>DeCamp</a:t>
            </a:r>
            <a:r>
              <a:rPr lang="en-US" altLang="zh-TW" sz="2100" dirty="0"/>
              <a:t>, D. (1971). The study of pidgin and Creole languages. In D. </a:t>
            </a:r>
            <a:r>
              <a:rPr lang="en-US" altLang="zh-TW" sz="2100" dirty="0" err="1"/>
              <a:t>Hymes</a:t>
            </a:r>
            <a:r>
              <a:rPr lang="en-US" altLang="zh-TW" sz="2100" dirty="0"/>
              <a:t> (Ed.), </a:t>
            </a:r>
            <a:r>
              <a:rPr lang="en-US" altLang="zh-TW" sz="2100" i="1" dirty="0" err="1"/>
              <a:t>Pidginization</a:t>
            </a:r>
            <a:r>
              <a:rPr lang="en-US" altLang="zh-TW" sz="2100" i="1" dirty="0"/>
              <a:t> and </a:t>
            </a:r>
            <a:r>
              <a:rPr lang="en-US" altLang="zh-TW" sz="2100" i="1" dirty="0" err="1"/>
              <a:t>Creolization</a:t>
            </a:r>
            <a:r>
              <a:rPr lang="en-US" altLang="zh-TW" sz="2100" i="1" dirty="0"/>
              <a:t> of Languages: Proceedings of a Conference Held at the University of the West Indies, Mona, Jamaica, April 1968</a:t>
            </a:r>
            <a:r>
              <a:rPr lang="en-US" altLang="zh-TW" sz="2100" dirty="0"/>
              <a:t>. London: Cambridge University Press. pp. 13-43.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0" y="3124200"/>
            <a:ext cx="12954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solidFill>
                  <a:schemeClr val="tx1"/>
                </a:solidFill>
              </a:rPr>
              <a:t>口語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5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Pidgins </a:t>
            </a:r>
            <a:r>
              <a:rPr lang="zh-TW" altLang="en-US" dirty="0"/>
              <a:t>混雜語言</a:t>
            </a:r>
            <a:r>
              <a:rPr lang="en-US" altLang="zh-TW" dirty="0"/>
              <a:t> / </a:t>
            </a:r>
            <a:r>
              <a:rPr lang="zh-TW" altLang="en-US" dirty="0"/>
              <a:t>皮欽語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4953000"/>
          </a:xfrm>
        </p:spPr>
        <p:txBody>
          <a:bodyPr>
            <a:normAutofit/>
          </a:bodyPr>
          <a:lstStyle/>
          <a:p>
            <a:r>
              <a:rPr lang="en-US" sz="3200" dirty="0"/>
              <a:t>the term “pidgin” first appeared in print in 1850s</a:t>
            </a:r>
          </a:p>
          <a:p>
            <a:endParaRPr lang="en-US" sz="3200" dirty="0"/>
          </a:p>
          <a:p>
            <a:r>
              <a:rPr lang="en-US" sz="3200" dirty="0"/>
              <a:t>etymology uncertain </a:t>
            </a:r>
            <a:r>
              <a:rPr lang="zh-TW" altLang="en-US" sz="3200" dirty="0"/>
              <a:t>這詞的起源不確定</a:t>
            </a:r>
            <a:r>
              <a:rPr lang="en-US" sz="3200" dirty="0"/>
              <a:t>:</a:t>
            </a:r>
          </a:p>
          <a:p>
            <a:pPr lvl="1"/>
            <a:r>
              <a:rPr lang="en-US" sz="3200" dirty="0"/>
              <a:t>English </a:t>
            </a:r>
            <a:r>
              <a:rPr lang="en-US" sz="3200" i="1" dirty="0">
                <a:solidFill>
                  <a:srgbClr val="0070C0"/>
                </a:solidFill>
              </a:rPr>
              <a:t>business</a:t>
            </a:r>
            <a:r>
              <a:rPr lang="en-US" sz="3200" dirty="0">
                <a:solidFill>
                  <a:srgbClr val="0070C0"/>
                </a:solidFill>
              </a:rPr>
              <a:t>?</a:t>
            </a:r>
            <a:r>
              <a:rPr lang="en-US" sz="3200" dirty="0"/>
              <a:t>  and/or</a:t>
            </a:r>
            <a:br>
              <a:rPr lang="en-US" sz="3200" dirty="0"/>
            </a:br>
            <a:r>
              <a:rPr lang="en-US" sz="3200" dirty="0"/>
              <a:t>Cantonese </a:t>
            </a:r>
            <a:r>
              <a:rPr lang="zh-TW" altLang="en-US" sz="3200" dirty="0">
                <a:solidFill>
                  <a:srgbClr val="7030A0"/>
                </a:solidFill>
              </a:rPr>
              <a:t>畀錢</a:t>
            </a:r>
            <a:r>
              <a:rPr lang="en-US" altLang="zh-TW" sz="3200" dirty="0">
                <a:solidFill>
                  <a:srgbClr val="0070C0"/>
                </a:solidFill>
              </a:rPr>
              <a:t> </a:t>
            </a:r>
            <a:r>
              <a:rPr lang="en-US" sz="3200" dirty="0">
                <a:solidFill>
                  <a:srgbClr val="0070C0"/>
                </a:solidFill>
              </a:rPr>
              <a:t>bei2 cin2 'pay money'? </a:t>
            </a:r>
          </a:p>
          <a:p>
            <a:endParaRPr lang="en-US" sz="3200" dirty="0"/>
          </a:p>
          <a:p>
            <a:r>
              <a:rPr lang="en-US" sz="3200" i="1" dirty="0">
                <a:solidFill>
                  <a:srgbClr val="0070C0"/>
                </a:solidFill>
              </a:rPr>
              <a:t>That belong he pidgin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/>
              <a:t>"That's his business" (Chinese Pidgin English)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6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Pidgins </a:t>
            </a:r>
            <a:r>
              <a:rPr lang="zh-TW" altLang="en-US" dirty="0"/>
              <a:t>混雜語言</a:t>
            </a:r>
            <a:r>
              <a:rPr lang="en-US" altLang="zh-TW" dirty="0"/>
              <a:t> / </a:t>
            </a:r>
            <a:r>
              <a:rPr lang="zh-TW" altLang="en-US" dirty="0"/>
              <a:t>皮欽語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solidFill>
                  <a:srgbClr val="7030A0"/>
                </a:solidFill>
              </a:rPr>
              <a:t>結構簡單，但有語法規律</a:t>
            </a:r>
            <a:br>
              <a:rPr lang="en-US" altLang="zh-TW" sz="3200" dirty="0">
                <a:solidFill>
                  <a:srgbClr val="7030A0"/>
                </a:solidFill>
              </a:rPr>
            </a:br>
            <a:r>
              <a:rPr lang="en-US" altLang="zh-TW" sz="3200" dirty="0">
                <a:solidFill>
                  <a:srgbClr val="7030A0"/>
                </a:solidFill>
              </a:rPr>
              <a:t>(</a:t>
            </a:r>
            <a:r>
              <a:rPr lang="en-US" altLang="zh-TW" sz="3200" dirty="0">
                <a:solidFill>
                  <a:srgbClr val="C00000"/>
                </a:solidFill>
              </a:rPr>
              <a:t>simple</a:t>
            </a:r>
            <a:r>
              <a:rPr lang="en-US" altLang="zh-TW" sz="3200" dirty="0"/>
              <a:t> but </a:t>
            </a:r>
            <a:r>
              <a:rPr lang="en-US" altLang="zh-TW" sz="3200" dirty="0">
                <a:solidFill>
                  <a:srgbClr val="C00000"/>
                </a:solidFill>
              </a:rPr>
              <a:t>rule-governed</a:t>
            </a:r>
            <a:r>
              <a:rPr lang="en-US" altLang="zh-TW" sz="3200" dirty="0"/>
              <a:t>)</a:t>
            </a:r>
          </a:p>
          <a:p>
            <a:endParaRPr lang="en-US" altLang="zh-TW" sz="3200" dirty="0"/>
          </a:p>
          <a:p>
            <a:r>
              <a:rPr lang="zh-TW" altLang="en-US" sz="3200" dirty="0">
                <a:solidFill>
                  <a:srgbClr val="7030A0"/>
                </a:solidFill>
              </a:rPr>
              <a:t>詞語不多，語法較簡化</a:t>
            </a:r>
            <a:br>
              <a:rPr lang="en-US" altLang="zh-TW" sz="3200" dirty="0">
                <a:solidFill>
                  <a:srgbClr val="7030A0"/>
                </a:solidFill>
              </a:rPr>
            </a:br>
            <a:r>
              <a:rPr lang="en-US" altLang="zh-TW" sz="3200" dirty="0">
                <a:solidFill>
                  <a:srgbClr val="7030A0"/>
                </a:solidFill>
              </a:rPr>
              <a:t>(</a:t>
            </a:r>
            <a:r>
              <a:rPr lang="en-US" altLang="zh-TW" sz="3200" dirty="0">
                <a:solidFill>
                  <a:srgbClr val="C00000"/>
                </a:solidFill>
              </a:rPr>
              <a:t>few lexical items </a:t>
            </a:r>
            <a:r>
              <a:rPr lang="en-US" altLang="zh-TW" sz="3200" dirty="0"/>
              <a:t>and </a:t>
            </a:r>
            <a:r>
              <a:rPr lang="en-US" altLang="zh-TW" sz="3200" dirty="0">
                <a:solidFill>
                  <a:srgbClr val="C00000"/>
                </a:solidFill>
              </a:rPr>
              <a:t>less complex grammatical rules</a:t>
            </a:r>
            <a:r>
              <a:rPr lang="en-US" altLang="zh-TW" sz="3200" dirty="0"/>
              <a:t>)</a:t>
            </a:r>
            <a:br>
              <a:rPr lang="en-US" altLang="zh-TW" sz="3200" dirty="0">
                <a:solidFill>
                  <a:srgbClr val="C00000"/>
                </a:solidFill>
              </a:rPr>
            </a:br>
            <a:endParaRPr lang="en-US" altLang="zh-TW" sz="3200" dirty="0"/>
          </a:p>
          <a:p>
            <a:r>
              <a:rPr lang="zh-TW" altLang="en-US" sz="3200" dirty="0"/>
              <a:t>一般來說，其中一個語言提供</a:t>
            </a:r>
            <a:r>
              <a:rPr lang="en-US" altLang="zh-TW" sz="3200" dirty="0"/>
              <a:t>pidgin</a:t>
            </a:r>
            <a:r>
              <a:rPr lang="zh-TW" altLang="en-US" sz="3200" dirty="0"/>
              <a:t>中大部分的詞語（這語言稱為</a:t>
            </a:r>
            <a:r>
              <a:rPr lang="en-US" altLang="zh-TW" sz="3200" dirty="0"/>
              <a:t> the </a:t>
            </a:r>
            <a:r>
              <a:rPr lang="en-US" altLang="zh-TW" sz="3200" dirty="0" err="1">
                <a:solidFill>
                  <a:srgbClr val="C00000"/>
                </a:solidFill>
              </a:rPr>
              <a:t>lexifier</a:t>
            </a:r>
            <a:r>
              <a:rPr lang="en-US" altLang="zh-TW" sz="3200" dirty="0">
                <a:solidFill>
                  <a:srgbClr val="C00000"/>
                </a:solidFill>
              </a:rPr>
              <a:t> language</a:t>
            </a:r>
            <a:r>
              <a:rPr lang="zh-TW" altLang="en-US" sz="3200" dirty="0"/>
              <a:t>）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9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Pidgins </a:t>
            </a:r>
            <a:r>
              <a:rPr lang="zh-TW" altLang="en-US" dirty="0"/>
              <a:t>混雜語言</a:t>
            </a:r>
            <a:r>
              <a:rPr lang="en-US" altLang="zh-TW" dirty="0"/>
              <a:t> / </a:t>
            </a:r>
            <a:r>
              <a:rPr lang="zh-TW" altLang="en-US" dirty="0"/>
              <a:t>皮欽語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Why did pidgins arise?</a:t>
            </a:r>
            <a:endParaRPr lang="en-US" altLang="zh-TW" sz="3200" dirty="0">
              <a:solidFill>
                <a:srgbClr val="C00000"/>
              </a:solidFill>
            </a:endParaRPr>
          </a:p>
          <a:p>
            <a:endParaRPr lang="en-US" altLang="zh-TW" sz="3200" dirty="0"/>
          </a:p>
          <a:p>
            <a:r>
              <a:rPr lang="en-US" altLang="zh-TW" sz="3200" dirty="0"/>
              <a:t>prolonged and regular contact between the different language communities who had the need to communicate</a:t>
            </a:r>
          </a:p>
          <a:p>
            <a:endParaRPr lang="en-US" altLang="zh-TW" sz="3200" dirty="0"/>
          </a:p>
          <a:p>
            <a:r>
              <a:rPr lang="en-US" altLang="zh-TW" sz="3200" dirty="0"/>
              <a:t>an absence of a widespread and accessible lingua franca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0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Pidgins </a:t>
            </a:r>
            <a:r>
              <a:rPr lang="zh-TW" altLang="en-US" dirty="0"/>
              <a:t>混雜語言</a:t>
            </a:r>
            <a:r>
              <a:rPr lang="en-US" altLang="zh-TW" dirty="0"/>
              <a:t> / </a:t>
            </a:r>
            <a:r>
              <a:rPr lang="zh-TW" altLang="en-US" dirty="0"/>
              <a:t>皮欽語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3200" dirty="0"/>
          </a:p>
          <a:p>
            <a:r>
              <a:rPr lang="en-US" sz="3200" dirty="0"/>
              <a:t>during the 17</a:t>
            </a:r>
            <a:r>
              <a:rPr lang="en-US" sz="3200" baseline="30000" dirty="0"/>
              <a:t>th</a:t>
            </a:r>
            <a:r>
              <a:rPr lang="en-US" sz="3200" dirty="0"/>
              <a:t>, 18</a:t>
            </a:r>
            <a:r>
              <a:rPr lang="en-US" sz="3200" baseline="30000" dirty="0"/>
              <a:t>th</a:t>
            </a:r>
            <a:r>
              <a:rPr lang="en-US" sz="3200" dirty="0"/>
              <a:t> and 19</a:t>
            </a:r>
            <a:r>
              <a:rPr lang="en-US" sz="3200" baseline="30000" dirty="0"/>
              <a:t>th</a:t>
            </a:r>
            <a:r>
              <a:rPr lang="en-US" sz="3200" dirty="0"/>
              <a:t> centuries, many pidgins came into existence along the coasts of China, Africa, and the Americas to accommodate the Europeans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35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Chinese Pidgin English (CPE)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Autofit/>
          </a:bodyPr>
          <a:lstStyle/>
          <a:p>
            <a:pPr marL="320040" lvl="1" indent="-320040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zh-TW" altLang="en-US" sz="3200" dirty="0"/>
              <a:t>洋涇濱英語</a:t>
            </a:r>
            <a:endParaRPr lang="en-US" altLang="zh-TW" sz="3200" dirty="0"/>
          </a:p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0070C0"/>
                </a:solidFill>
              </a:rPr>
              <a:t>18th century</a:t>
            </a:r>
            <a:r>
              <a:rPr lang="en-US" sz="3200" dirty="0"/>
              <a:t>: trade in Macau and Guangzhou </a:t>
            </a:r>
          </a:p>
          <a:p>
            <a:pPr lvl="0">
              <a:lnSpc>
                <a:spcPct val="90000"/>
              </a:lnSpc>
            </a:pPr>
            <a:endParaRPr lang="en-US" sz="3200" dirty="0"/>
          </a:p>
          <a:p>
            <a:pPr lvl="0">
              <a:lnSpc>
                <a:spcPct val="90000"/>
              </a:lnSpc>
            </a:pPr>
            <a:r>
              <a:rPr lang="en-US" sz="3200" dirty="0"/>
              <a:t>teaching of Chinese to foreigners was forbidden</a:t>
            </a:r>
          </a:p>
          <a:p>
            <a:pPr lvl="0">
              <a:lnSpc>
                <a:spcPct val="90000"/>
              </a:lnSpc>
            </a:pPr>
            <a:endParaRPr lang="en-US" sz="3200" dirty="0"/>
          </a:p>
          <a:p>
            <a:pPr lvl="0">
              <a:lnSpc>
                <a:spcPct val="90000"/>
              </a:lnSpc>
            </a:pPr>
            <a:r>
              <a:rPr lang="en-US" sz="3200" i="1" dirty="0" err="1"/>
              <a:t>compradores</a:t>
            </a:r>
            <a:r>
              <a:rPr lang="en-US" sz="3200" dirty="0"/>
              <a:t> </a:t>
            </a:r>
            <a:r>
              <a:rPr lang="zh-TW" altLang="en-US" sz="3200" dirty="0"/>
              <a:t>買辦</a:t>
            </a:r>
            <a:r>
              <a:rPr lang="en-US" altLang="zh-TW" sz="3200" dirty="0"/>
              <a:t> </a:t>
            </a:r>
            <a:r>
              <a:rPr lang="en-US" sz="3200" dirty="0"/>
              <a:t>(</a:t>
            </a:r>
            <a:r>
              <a:rPr lang="zh-TW" altLang="en-US" sz="3200" dirty="0"/>
              <a:t>葡語</a:t>
            </a:r>
            <a:r>
              <a:rPr lang="en-US" sz="3200" dirty="0"/>
              <a:t> “buyers”) </a:t>
            </a:r>
            <a:r>
              <a:rPr lang="zh-TW" altLang="en-US" sz="3200" dirty="0"/>
              <a:t>負責翻譯</a:t>
            </a:r>
            <a:r>
              <a:rPr lang="en-US" sz="3200" dirty="0"/>
              <a:t> </a:t>
            </a:r>
          </a:p>
          <a:p>
            <a:pPr lvl="0">
              <a:lnSpc>
                <a:spcPct val="90000"/>
              </a:lnSpc>
            </a:pPr>
            <a:endParaRPr lang="en-US" sz="3200" dirty="0"/>
          </a:p>
          <a:p>
            <a:pPr lvl="0">
              <a:lnSpc>
                <a:spcPct val="90000"/>
              </a:lnSpc>
            </a:pPr>
            <a:r>
              <a:rPr lang="en-US" sz="3200" dirty="0"/>
              <a:t>Pidgin English developed with Portuguese influence (</a:t>
            </a:r>
            <a:r>
              <a:rPr lang="en-US" sz="3200" i="1" dirty="0" err="1"/>
              <a:t>savee</a:t>
            </a:r>
            <a:r>
              <a:rPr lang="en-US" sz="3200" dirty="0"/>
              <a:t> “know”)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96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19th century</a:t>
            </a:r>
            <a:r>
              <a:rPr lang="en-US" sz="3200" dirty="0"/>
              <a:t>: European settlements in south China </a:t>
            </a:r>
          </a:p>
          <a:p>
            <a:pPr lvl="0"/>
            <a:endParaRPr lang="en-US" sz="3200" dirty="0"/>
          </a:p>
          <a:p>
            <a:pPr lvl="0"/>
            <a:r>
              <a:rPr lang="en-US" sz="3200" dirty="0"/>
              <a:t>the first treaty ports:</a:t>
            </a:r>
          </a:p>
          <a:p>
            <a:pPr lvl="0"/>
            <a:r>
              <a:rPr lang="en-US" altLang="zh-HK" sz="3200" dirty="0"/>
              <a:t>Hong Kong </a:t>
            </a:r>
            <a:r>
              <a:rPr lang="zh-TW" altLang="en-US" sz="3200" dirty="0"/>
              <a:t>香港</a:t>
            </a:r>
            <a:r>
              <a:rPr lang="en-US" altLang="zh-HK" sz="3200" dirty="0"/>
              <a:t>, </a:t>
            </a:r>
            <a:r>
              <a:rPr lang="en-US" sz="3200" dirty="0"/>
              <a:t>Guangzhou (Canton) </a:t>
            </a:r>
            <a:r>
              <a:rPr lang="zh-TW" altLang="en-US" sz="3200" dirty="0"/>
              <a:t>廣州</a:t>
            </a:r>
            <a:r>
              <a:rPr lang="en-US" sz="3200" dirty="0"/>
              <a:t>, Xiamen (Amoy)</a:t>
            </a:r>
            <a:r>
              <a:rPr lang="zh-TW" altLang="en-US" sz="3200" dirty="0"/>
              <a:t> 廈門</a:t>
            </a:r>
            <a:r>
              <a:rPr lang="en-US" sz="3200" dirty="0"/>
              <a:t>, Fuzhou </a:t>
            </a:r>
            <a:r>
              <a:rPr lang="zh-TW" altLang="en-US" sz="3200" dirty="0"/>
              <a:t>福州</a:t>
            </a:r>
            <a:r>
              <a:rPr lang="en-US" sz="3200" dirty="0"/>
              <a:t>, Ningbo</a:t>
            </a:r>
            <a:r>
              <a:rPr lang="zh-TW" altLang="en-US" sz="3200" dirty="0"/>
              <a:t> 寧波</a:t>
            </a:r>
            <a:r>
              <a:rPr lang="en-US" sz="3200" dirty="0"/>
              <a:t>, Shanghai </a:t>
            </a:r>
            <a:r>
              <a:rPr lang="zh-TW" altLang="en-US" sz="3200" dirty="0"/>
              <a:t>上海</a:t>
            </a:r>
            <a:r>
              <a:rPr lang="en-US" sz="3200" dirty="0"/>
              <a:t> </a:t>
            </a:r>
          </a:p>
          <a:p>
            <a:pPr lvl="0"/>
            <a:endParaRPr lang="en-US" sz="3200" dirty="0"/>
          </a:p>
          <a:p>
            <a:pPr lvl="0"/>
            <a:r>
              <a:rPr lang="en-US" sz="3200" dirty="0"/>
              <a:t>Chinese Pidgin English developed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38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76400"/>
            <a:ext cx="8153400" cy="4953000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書面記錄，包括歌詞本、書信、回憶錄、航海記錄等</a:t>
            </a:r>
            <a:endParaRPr lang="en-US" altLang="zh-TW" sz="3200" dirty="0"/>
          </a:p>
          <a:p>
            <a:endParaRPr lang="en-US" sz="3200" dirty="0"/>
          </a:p>
          <a:p>
            <a:r>
              <a:rPr lang="zh-TW" altLang="en-US" sz="3200" dirty="0"/>
              <a:t>例子：</a:t>
            </a:r>
            <a:endParaRPr lang="en-US" sz="3200" dirty="0"/>
          </a:p>
          <a:p>
            <a:pPr lvl="1"/>
            <a:r>
              <a:rPr lang="en-US" sz="3200" dirty="0">
                <a:solidFill>
                  <a:srgbClr val="00B050"/>
                </a:solidFill>
              </a:rPr>
              <a:t>Ping-Wing he look-see, </a:t>
            </a:r>
            <a:r>
              <a:rPr lang="en-US" sz="3200" dirty="0" err="1">
                <a:solidFill>
                  <a:srgbClr val="00B050"/>
                </a:solidFill>
              </a:rPr>
              <a:t>tinkey</a:t>
            </a:r>
            <a:r>
              <a:rPr lang="en-US" sz="3200" dirty="0">
                <a:solidFill>
                  <a:srgbClr val="00B050"/>
                </a:solidFill>
              </a:rPr>
              <a:t> fun</a:t>
            </a:r>
          </a:p>
          <a:p>
            <a:pPr lvl="1"/>
            <a:r>
              <a:rPr lang="en-US" sz="3200" dirty="0">
                <a:solidFill>
                  <a:srgbClr val="00B050"/>
                </a:solidFill>
              </a:rPr>
              <a:t>Two </a:t>
            </a:r>
            <a:r>
              <a:rPr lang="en-US" sz="3200" dirty="0" err="1">
                <a:solidFill>
                  <a:srgbClr val="00B050"/>
                </a:solidFill>
              </a:rPr>
              <a:t>piecee</a:t>
            </a:r>
            <a:r>
              <a:rPr lang="en-US" sz="3200" dirty="0">
                <a:solidFill>
                  <a:srgbClr val="00B050"/>
                </a:solidFill>
              </a:rPr>
              <a:t> man who </a:t>
            </a:r>
            <a:r>
              <a:rPr lang="en-US" sz="3200" dirty="0" err="1">
                <a:solidFill>
                  <a:srgbClr val="00B050"/>
                </a:solidFill>
              </a:rPr>
              <a:t>shleep</a:t>
            </a:r>
            <a:r>
              <a:rPr lang="en-US" sz="3200" dirty="0">
                <a:solidFill>
                  <a:srgbClr val="00B050"/>
                </a:solidFill>
              </a:rPr>
              <a:t> in sun</a:t>
            </a:r>
            <a:br>
              <a:rPr lang="en-US" sz="3200" dirty="0">
                <a:solidFill>
                  <a:srgbClr val="00B050"/>
                </a:solidFill>
              </a:rPr>
            </a:br>
            <a:r>
              <a:rPr lang="en-US" sz="2200" dirty="0"/>
              <a:t>Leland, C.G. (1876). </a:t>
            </a:r>
            <a:r>
              <a:rPr lang="en-US" sz="2200" i="1" dirty="0"/>
              <a:t>Pidgin-English Sing-Song</a:t>
            </a:r>
            <a:r>
              <a:rPr lang="en-US" sz="2200" dirty="0"/>
              <a:t>. London: </a:t>
            </a:r>
            <a:r>
              <a:rPr lang="en-US" sz="2200" dirty="0" err="1"/>
              <a:t>Tr</a:t>
            </a:r>
            <a:r>
              <a:rPr lang="el-GR" sz="2200" dirty="0">
                <a:latin typeface="Arial"/>
                <a:cs typeface="Arial"/>
              </a:rPr>
              <a:t>ϋ</a:t>
            </a:r>
            <a:r>
              <a:rPr lang="en-US" sz="2200" dirty="0" err="1"/>
              <a:t>bner</a:t>
            </a:r>
            <a:r>
              <a:rPr lang="en-US" sz="2200" dirty="0"/>
              <a:t> &amp; Co., p. 29.</a:t>
            </a:r>
            <a:br>
              <a:rPr lang="en-US" sz="2200" dirty="0"/>
            </a:br>
            <a:r>
              <a:rPr lang="en-US" sz="2200" dirty="0">
                <a:hlinkClick r:id="rId2"/>
              </a:rPr>
              <a:t>http://archive.org/details/pidginenglishsin00lelaiala</a:t>
            </a:r>
            <a:endParaRPr lang="en-US" sz="2200" dirty="0"/>
          </a:p>
          <a:p>
            <a:endParaRPr lang="en-US" sz="3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1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752600"/>
            <a:ext cx="8153400" cy="4495800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例子：</a:t>
            </a:r>
            <a:endParaRPr lang="en-US" sz="3200" dirty="0"/>
          </a:p>
          <a:p>
            <a:pPr lvl="1"/>
            <a:r>
              <a:rPr lang="en-US" sz="3200" dirty="0" err="1">
                <a:solidFill>
                  <a:srgbClr val="00B050"/>
                </a:solidFill>
              </a:rPr>
              <a:t>Olom</a:t>
            </a:r>
            <a:r>
              <a:rPr lang="en-US" sz="3200" dirty="0">
                <a:solidFill>
                  <a:srgbClr val="00B050"/>
                </a:solidFill>
              </a:rPr>
              <a:t> man </a:t>
            </a:r>
            <a:r>
              <a:rPr lang="en-US" sz="3200" dirty="0" err="1">
                <a:solidFill>
                  <a:srgbClr val="00B050"/>
                </a:solidFill>
              </a:rPr>
              <a:t>talkey</a:t>
            </a:r>
            <a:r>
              <a:rPr lang="en-US" sz="3200" dirty="0">
                <a:solidFill>
                  <a:srgbClr val="00B050"/>
                </a:solidFill>
              </a:rPr>
              <a:t>, 'No can walk!' </a:t>
            </a:r>
            <a:br>
              <a:rPr lang="en-US" sz="3200" dirty="0">
                <a:solidFill>
                  <a:srgbClr val="00B050"/>
                </a:solidFill>
              </a:rPr>
            </a:br>
            <a:r>
              <a:rPr lang="en-US" sz="3200" dirty="0" err="1">
                <a:solidFill>
                  <a:srgbClr val="00B050"/>
                </a:solidFill>
              </a:rPr>
              <a:t>By'mby</a:t>
            </a:r>
            <a:r>
              <a:rPr lang="en-US" sz="3200" dirty="0">
                <a:solidFill>
                  <a:srgbClr val="00B050"/>
                </a:solidFill>
              </a:rPr>
              <a:t> rain come--welly dark </a:t>
            </a:r>
            <a:br>
              <a:rPr lang="en-US" sz="3200" dirty="0">
                <a:solidFill>
                  <a:srgbClr val="00B050"/>
                </a:solidFill>
              </a:rPr>
            </a:br>
            <a:r>
              <a:rPr lang="en-US" sz="3200" dirty="0">
                <a:solidFill>
                  <a:srgbClr val="00B050"/>
                </a:solidFill>
              </a:rPr>
              <a:t>Have got water, welly vide. </a:t>
            </a:r>
            <a:br>
              <a:rPr lang="en-US" sz="3200" dirty="0">
                <a:solidFill>
                  <a:srgbClr val="00B050"/>
                </a:solidFill>
              </a:rPr>
            </a:br>
            <a:r>
              <a:rPr lang="en-US" sz="3200" dirty="0" err="1">
                <a:solidFill>
                  <a:srgbClr val="00B050"/>
                </a:solidFill>
              </a:rPr>
              <a:t>Maskee</a:t>
            </a:r>
            <a:r>
              <a:rPr lang="en-US" sz="3200" dirty="0">
                <a:solidFill>
                  <a:srgbClr val="00B050"/>
                </a:solidFill>
              </a:rPr>
              <a:t>! My </a:t>
            </a:r>
            <a:r>
              <a:rPr lang="en-US" sz="3200" dirty="0" err="1">
                <a:solidFill>
                  <a:srgbClr val="00B050"/>
                </a:solidFill>
              </a:rPr>
              <a:t>wantchey</a:t>
            </a:r>
            <a:r>
              <a:rPr lang="en-US" sz="3200" dirty="0">
                <a:solidFill>
                  <a:srgbClr val="00B050"/>
                </a:solidFill>
              </a:rPr>
              <a:t> go topside </a:t>
            </a:r>
            <a:br>
              <a:rPr lang="en-US" sz="3200" dirty="0">
                <a:solidFill>
                  <a:srgbClr val="00B050"/>
                </a:solidFill>
              </a:rPr>
            </a:br>
            <a:r>
              <a:rPr lang="en-US" sz="3200" dirty="0">
                <a:solidFill>
                  <a:srgbClr val="00B050"/>
                </a:solidFill>
              </a:rPr>
              <a:t>Topside-</a:t>
            </a:r>
            <a:r>
              <a:rPr lang="en-US" sz="3200" dirty="0" err="1">
                <a:solidFill>
                  <a:srgbClr val="00B050"/>
                </a:solidFill>
              </a:rPr>
              <a:t>galow</a:t>
            </a:r>
            <a:r>
              <a:rPr lang="en-US" sz="3200" dirty="0">
                <a:solidFill>
                  <a:srgbClr val="00B050"/>
                </a:solidFill>
              </a:rPr>
              <a:t>!</a:t>
            </a:r>
            <a:br>
              <a:rPr lang="en-US" sz="3100" dirty="0">
                <a:solidFill>
                  <a:srgbClr val="00B050"/>
                </a:solidFill>
              </a:rPr>
            </a:br>
            <a:r>
              <a:rPr lang="en-US" sz="2200" dirty="0"/>
              <a:t>cited in Elder, C. (1999). </a:t>
            </a:r>
            <a:r>
              <a:rPr lang="en-US" sz="2200" i="1" dirty="0"/>
              <a:t>China's Treaty Ports: Half Love and Half Hate</a:t>
            </a:r>
            <a:r>
              <a:rPr lang="en-US" sz="2200" dirty="0"/>
              <a:t>. Hong Kong: Oxford University Press.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62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226552" cy="5029200"/>
          </a:xfrm>
        </p:spPr>
        <p:txBody>
          <a:bodyPr>
            <a:noAutofit/>
          </a:bodyPr>
          <a:lstStyle/>
          <a:p>
            <a:r>
              <a:rPr lang="en-US" sz="3200" dirty="0"/>
              <a:t>The Guangzhou Pidgin Phrasebook: </a:t>
            </a:r>
            <a:r>
              <a:rPr lang="en-US" sz="3200" i="1" dirty="0">
                <a:solidFill>
                  <a:srgbClr val="0070C0"/>
                </a:solidFill>
              </a:rPr>
              <a:t>The Common Language of the Red-haired Foreigners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0070C0"/>
                </a:solidFill>
              </a:rPr>
              <a:t>(c. 1850) </a:t>
            </a:r>
            <a:r>
              <a:rPr lang="zh-TW" altLang="zh-HK" sz="3200" dirty="0">
                <a:solidFill>
                  <a:srgbClr val="0070C0"/>
                </a:solidFill>
              </a:rPr>
              <a:t>《</a:t>
            </a:r>
            <a:r>
              <a:rPr lang="zh-TW" altLang="en-US" sz="3200" dirty="0">
                <a:solidFill>
                  <a:srgbClr val="0070C0"/>
                </a:solidFill>
              </a:rPr>
              <a:t>紅毛通用番話</a:t>
            </a:r>
            <a:r>
              <a:rPr lang="zh-TW" altLang="zh-HK" sz="3200" dirty="0">
                <a:solidFill>
                  <a:srgbClr val="0070C0"/>
                </a:solidFill>
              </a:rPr>
              <a:t>》</a:t>
            </a:r>
            <a:endParaRPr lang="en-US" sz="3200" dirty="0">
              <a:solidFill>
                <a:srgbClr val="0070C0"/>
              </a:solidFill>
            </a:endParaRPr>
          </a:p>
          <a:p>
            <a:pPr lvl="0"/>
            <a:endParaRPr lang="en-US" sz="3200" dirty="0"/>
          </a:p>
          <a:p>
            <a:pPr lvl="0"/>
            <a:r>
              <a:rPr lang="en-US" sz="3200" dirty="0"/>
              <a:t>using Cantonese characters to indicate English pronunciation:</a:t>
            </a:r>
          </a:p>
          <a:p>
            <a:pPr lvl="0"/>
            <a:r>
              <a:rPr lang="en-US" sz="3200" dirty="0"/>
              <a:t>‘1’ = </a:t>
            </a:r>
            <a:r>
              <a:rPr lang="zh-TW" altLang="en-US" sz="3200" dirty="0"/>
              <a:t>溫</a:t>
            </a:r>
            <a:r>
              <a:rPr lang="en-US" altLang="zh-TW" sz="3200" dirty="0"/>
              <a:t>	</a:t>
            </a:r>
            <a:r>
              <a:rPr lang="en-US" sz="3200" i="1" dirty="0"/>
              <a:t>	</a:t>
            </a:r>
            <a:r>
              <a:rPr lang="en-US" sz="3200" dirty="0"/>
              <a:t>‘10’ = </a:t>
            </a:r>
            <a:r>
              <a:rPr lang="zh-TW" altLang="en-US" sz="3200" dirty="0"/>
              <a:t>癲 </a:t>
            </a:r>
            <a:r>
              <a:rPr lang="en-US" altLang="zh-TW" sz="3200" dirty="0"/>
              <a:t>	</a:t>
            </a:r>
            <a:r>
              <a:rPr lang="en-US" sz="3200" i="1" dirty="0"/>
              <a:t>	</a:t>
            </a:r>
            <a:r>
              <a:rPr lang="en-US" sz="3200" dirty="0"/>
              <a:t>‘me’ = </a:t>
            </a:r>
            <a:r>
              <a:rPr lang="zh-TW" altLang="en-US" sz="3200" dirty="0"/>
              <a:t>米 </a:t>
            </a:r>
            <a:r>
              <a:rPr lang="en-US" sz="3200" dirty="0"/>
              <a:t> </a:t>
            </a:r>
          </a:p>
          <a:p>
            <a:pPr lvl="0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76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81600"/>
          </a:xfrm>
        </p:spPr>
        <p:txBody>
          <a:bodyPr>
            <a:normAutofit fontScale="92500"/>
          </a:bodyPr>
          <a:lstStyle/>
          <a:p>
            <a:r>
              <a:rPr lang="en-US" altLang="zh-TW" sz="3500" dirty="0"/>
              <a:t>《</a:t>
            </a:r>
            <a:r>
              <a:rPr lang="zh-TW" altLang="en-US" sz="3500" dirty="0"/>
              <a:t>紅毛通用番話</a:t>
            </a:r>
            <a:r>
              <a:rPr lang="en-US" altLang="zh-TW" sz="3500" dirty="0"/>
              <a:t>》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zh-TW" altLang="en-US" dirty="0"/>
              <a:t>大家有見過「通書」</a:t>
            </a:r>
            <a:r>
              <a:rPr lang="en-US" altLang="zh-TW" dirty="0"/>
              <a:t>/</a:t>
            </a:r>
            <a:r>
              <a:rPr lang="zh-TW" altLang="en-US" dirty="0"/>
              <a:t>「通勝」中相似的標音法嗎？</a:t>
            </a:r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pic>
        <p:nvPicPr>
          <p:cNvPr id="2050" name="Picture 2" descr="C:\Users\CBS\Dropbox\Work\PolyU-CBS1A01P-Fun with Language\CBS1A01P-WingLi-2013-2014-Term3\L11-language contact\redhaired-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231" y="2109952"/>
            <a:ext cx="4922369" cy="398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61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4419600" cy="4800600"/>
          </a:xfrm>
        </p:spPr>
        <p:txBody>
          <a:bodyPr>
            <a:noAutofit/>
          </a:bodyPr>
          <a:lstStyle/>
          <a:p>
            <a:r>
              <a:rPr lang="en-US" sz="3000" dirty="0"/>
              <a:t>the earliest English textbook authored by Chinese was </a:t>
            </a:r>
            <a:r>
              <a:rPr lang="en-US" sz="3000" i="1" dirty="0">
                <a:solidFill>
                  <a:srgbClr val="0070C0"/>
                </a:solidFill>
              </a:rPr>
              <a:t>Chinese-English Communicative Practice</a:t>
            </a:r>
            <a:r>
              <a:rPr lang="en-US" sz="3000" dirty="0">
                <a:solidFill>
                  <a:srgbClr val="0070C0"/>
                </a:solidFill>
              </a:rPr>
              <a:t> </a:t>
            </a:r>
            <a:r>
              <a:rPr lang="en-US" altLang="zh-TW" sz="3000" dirty="0">
                <a:solidFill>
                  <a:srgbClr val="0070C0"/>
                </a:solidFill>
              </a:rPr>
              <a:t>《</a:t>
            </a:r>
            <a:r>
              <a:rPr lang="zh-TW" altLang="en-US" sz="3000" dirty="0">
                <a:solidFill>
                  <a:srgbClr val="0070C0"/>
                </a:solidFill>
              </a:rPr>
              <a:t>華英通語</a:t>
            </a:r>
            <a:r>
              <a:rPr lang="en-US" altLang="zh-TW" sz="3000" dirty="0">
                <a:solidFill>
                  <a:srgbClr val="0070C0"/>
                </a:solidFill>
              </a:rPr>
              <a:t>》</a:t>
            </a:r>
            <a:r>
              <a:rPr lang="en-US" sz="3000" dirty="0">
                <a:solidFill>
                  <a:srgbClr val="0070C0"/>
                </a:solidFill>
              </a:rPr>
              <a:t> </a:t>
            </a:r>
            <a:r>
              <a:rPr lang="en-US" sz="3000" dirty="0"/>
              <a:t>published in 1860</a:t>
            </a:r>
          </a:p>
          <a:p>
            <a:endParaRPr lang="en-US" sz="3000" dirty="0"/>
          </a:p>
          <a:p>
            <a:r>
              <a:rPr lang="en-US" sz="3000" dirty="0"/>
              <a:t>also using Cantonese characters to indicate English pronunciation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24</a:t>
            </a:r>
          </a:p>
        </p:txBody>
      </p:sp>
      <p:pic>
        <p:nvPicPr>
          <p:cNvPr id="5" name="Picture 2" descr="C:\Wingli\Files\Windows 7\Desktop\紅毛通用番話-mayb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524000"/>
            <a:ext cx="3733800" cy="5137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960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302752" cy="5029200"/>
          </a:xfrm>
        </p:spPr>
        <p:txBody>
          <a:bodyPr>
            <a:normAutofit fontScale="92500" lnSpcReduction="20000"/>
          </a:bodyPr>
          <a:lstStyle/>
          <a:p>
            <a:endParaRPr lang="en-US" sz="3200" dirty="0"/>
          </a:p>
          <a:p>
            <a:r>
              <a:rPr lang="en-US" sz="3200" dirty="0"/>
              <a:t>The </a:t>
            </a:r>
            <a:r>
              <a:rPr lang="en-US" sz="3200" i="1" dirty="0">
                <a:solidFill>
                  <a:srgbClr val="0070C0"/>
                </a:solidFill>
              </a:rPr>
              <a:t>Chinese and English Instructor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zh-TW" altLang="zh-HK" sz="3200" dirty="0">
                <a:solidFill>
                  <a:srgbClr val="0070C0"/>
                </a:solidFill>
              </a:rPr>
              <a:t>《英語集全》</a:t>
            </a:r>
            <a:r>
              <a:rPr lang="en-US" sz="3200" dirty="0"/>
              <a:t>by King-sing Tong </a:t>
            </a:r>
            <a:r>
              <a:rPr lang="zh-HK" altLang="en-US" sz="3200" dirty="0"/>
              <a:t>唐廷樞 </a:t>
            </a:r>
            <a:r>
              <a:rPr lang="en-US" altLang="zh-HK" sz="3200" dirty="0"/>
              <a:t>(</a:t>
            </a:r>
            <a:r>
              <a:rPr lang="zh-TW" altLang="en-US" sz="3200" dirty="0"/>
              <a:t>唐景星</a:t>
            </a:r>
            <a:r>
              <a:rPr lang="en-US" altLang="zh-TW" sz="3200" dirty="0"/>
              <a:t>) </a:t>
            </a:r>
            <a:r>
              <a:rPr lang="en-US" sz="3200" dirty="0"/>
              <a:t>(1862); published in 6 volumes </a:t>
            </a:r>
          </a:p>
          <a:p>
            <a:pPr lvl="0"/>
            <a:endParaRPr lang="en-US" sz="3200" dirty="0"/>
          </a:p>
          <a:p>
            <a:pPr lvl="0"/>
            <a:r>
              <a:rPr lang="en-US" sz="3200" dirty="0"/>
              <a:t>a phrase book using Chinese characters to represent English </a:t>
            </a:r>
          </a:p>
          <a:p>
            <a:pPr lvl="0"/>
            <a:endParaRPr lang="en-US" sz="3200" dirty="0"/>
          </a:p>
          <a:p>
            <a:pPr lvl="0"/>
            <a:r>
              <a:rPr lang="en-US" sz="3200" dirty="0"/>
              <a:t>additional entries in margins give </a:t>
            </a:r>
            <a:r>
              <a:rPr lang="en-US" sz="3200" dirty="0">
                <a:solidFill>
                  <a:srgbClr val="C00000"/>
                </a:solidFill>
              </a:rPr>
              <a:t>pidgin equivalents</a:t>
            </a:r>
            <a:r>
              <a:rPr lang="en-US" sz="3200" dirty="0"/>
              <a:t> in </a:t>
            </a:r>
            <a:r>
              <a:rPr lang="en-US" sz="3200" i="1" dirty="0"/>
              <a:t>Guangdong </a:t>
            </a:r>
            <a:r>
              <a:rPr lang="en-US" sz="3200" i="1" dirty="0" err="1"/>
              <a:t>faan</a:t>
            </a:r>
            <a:r>
              <a:rPr lang="en-US" sz="3200" i="1" dirty="0"/>
              <a:t> </a:t>
            </a:r>
            <a:r>
              <a:rPr lang="en-US" sz="3200" i="1" dirty="0" err="1"/>
              <a:t>waa</a:t>
            </a:r>
            <a:r>
              <a:rPr lang="en-US" sz="3200" dirty="0"/>
              <a:t> (Canton pidgin)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23788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455152" cy="4495800"/>
          </a:xfrm>
        </p:spPr>
        <p:txBody>
          <a:bodyPr/>
          <a:lstStyle/>
          <a:p>
            <a:r>
              <a:rPr lang="en-US" altLang="zh-HK" i="1" dirty="0"/>
              <a:t>The Chinese and English Instructor </a:t>
            </a:r>
            <a:r>
              <a:rPr lang="zh-TW" altLang="zh-HK" dirty="0"/>
              <a:t>《英語集全》</a:t>
            </a:r>
            <a:r>
              <a:rPr lang="en-US" altLang="zh-HK" dirty="0"/>
              <a:t> </a:t>
            </a:r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26</a:t>
            </a:r>
          </a:p>
        </p:txBody>
      </p:sp>
      <p:pic>
        <p:nvPicPr>
          <p:cNvPr id="1026" name="Picture 2" descr="C:\Wingli\Files\Dropbox\Work\PolyU-CBS1900-Introduction to Language\Wing Li\Figures\Week 12\Chinese and English Instructo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946" y="2133600"/>
            <a:ext cx="7296150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141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7971"/>
            <a:ext cx="8153400" cy="762000"/>
          </a:xfrm>
        </p:spPr>
        <p:txBody>
          <a:bodyPr/>
          <a:lstStyle/>
          <a:p>
            <a:r>
              <a:rPr lang="en-US" dirty="0"/>
              <a:t>Chinese Pidgin English (CPE)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438400" cy="4876800"/>
          </a:xfrm>
        </p:spPr>
        <p:txBody>
          <a:bodyPr/>
          <a:lstStyle/>
          <a:p>
            <a:r>
              <a:rPr lang="en-US" altLang="zh-HK" i="1" dirty="0"/>
              <a:t>The Chinese and English Instructor </a:t>
            </a:r>
            <a:r>
              <a:rPr lang="zh-TW" altLang="zh-HK" dirty="0"/>
              <a:t>《英語集全》</a:t>
            </a:r>
            <a:endParaRPr lang="en-US" altLang="zh-TW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27</a:t>
            </a:r>
          </a:p>
        </p:txBody>
      </p:sp>
      <p:pic>
        <p:nvPicPr>
          <p:cNvPr id="2050" name="Picture 2" descr="C:\Wingli\Files\Dropbox\Work\PolyU-CBS1900-Introduction to Language\Wing Li\Figures\Week 12\English and Chinese Instructor-page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838200"/>
            <a:ext cx="6248400" cy="586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232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302752" cy="5105400"/>
          </a:xfrm>
        </p:spPr>
        <p:txBody>
          <a:bodyPr>
            <a:normAutofit/>
          </a:bodyPr>
          <a:lstStyle/>
          <a:p>
            <a:r>
              <a:rPr lang="en-US" sz="3000" dirty="0"/>
              <a:t>watch a clip produced by Childhood Bilingualism Research Centre, Department of Linguistics &amp; Modern Languages, CUHK</a:t>
            </a:r>
            <a:br>
              <a:rPr lang="en-US" sz="3000" dirty="0"/>
            </a:br>
            <a:r>
              <a:rPr lang="en-US" sz="2200" dirty="0">
                <a:hlinkClick r:id="rId2"/>
              </a:rPr>
              <a:t>http://www.youtube.com/watch?v=YieVSrzRqRo</a:t>
            </a:r>
            <a:endParaRPr lang="en-US" sz="2200" dirty="0"/>
          </a:p>
          <a:p>
            <a:endParaRPr lang="en-US" sz="3000" dirty="0"/>
          </a:p>
          <a:p>
            <a:r>
              <a:rPr lang="en-US" sz="3000" dirty="0"/>
              <a:t>the Chinese Pidgin English dialogue is from Bauer (1974, p. 154) and cited in </a:t>
            </a:r>
            <a:r>
              <a:rPr lang="en-US" sz="3000" dirty="0" err="1"/>
              <a:t>Sebba</a:t>
            </a:r>
            <a:r>
              <a:rPr lang="en-US" sz="3000" dirty="0"/>
              <a:t> (1997, p.68)</a:t>
            </a:r>
            <a:br>
              <a:rPr lang="en-US" sz="3000" dirty="0"/>
            </a:br>
            <a:br>
              <a:rPr lang="en-US" dirty="0"/>
            </a:br>
            <a:r>
              <a:rPr lang="en-US" sz="2000" dirty="0"/>
              <a:t>Bauer, A. (1974). </a:t>
            </a:r>
            <a:r>
              <a:rPr lang="en-US" sz="2000" i="1" dirty="0"/>
              <a:t>Das </a:t>
            </a:r>
            <a:r>
              <a:rPr lang="en-US" sz="2000" i="1" dirty="0" err="1"/>
              <a:t>melanesische</a:t>
            </a:r>
            <a:r>
              <a:rPr lang="en-US" sz="2000" i="1" dirty="0"/>
              <a:t> und </a:t>
            </a:r>
            <a:r>
              <a:rPr lang="en-US" sz="2000" i="1" dirty="0" err="1"/>
              <a:t>chinesische</a:t>
            </a:r>
            <a:r>
              <a:rPr lang="en-US" sz="2000" i="1" dirty="0"/>
              <a:t> </a:t>
            </a:r>
            <a:r>
              <a:rPr lang="en-US" sz="2000" i="1" dirty="0" err="1"/>
              <a:t>Pidginenglisch</a:t>
            </a:r>
            <a:r>
              <a:rPr lang="en-US" sz="2000" i="1" dirty="0"/>
              <a:t>: </a:t>
            </a:r>
            <a:r>
              <a:rPr lang="en-US" sz="2000" i="1" dirty="0" err="1"/>
              <a:t>linguistische</a:t>
            </a:r>
            <a:r>
              <a:rPr lang="en-US" sz="2000" i="1" dirty="0"/>
              <a:t> </a:t>
            </a:r>
            <a:r>
              <a:rPr lang="en-US" sz="2000" i="1" dirty="0" err="1"/>
              <a:t>Kriterien</a:t>
            </a:r>
            <a:r>
              <a:rPr lang="en-US" sz="2000" i="1" dirty="0"/>
              <a:t> und </a:t>
            </a:r>
            <a:r>
              <a:rPr lang="en-US" sz="2000" i="1" dirty="0" err="1"/>
              <a:t>Probleme</a:t>
            </a:r>
            <a:r>
              <a:rPr lang="en-US" sz="2000" i="1" dirty="0"/>
              <a:t>.</a:t>
            </a:r>
            <a:r>
              <a:rPr lang="en-US" sz="2000" dirty="0"/>
              <a:t> Regensburg: Hans Carl.</a:t>
            </a:r>
            <a:br>
              <a:rPr lang="en-US" sz="2000" dirty="0"/>
            </a:br>
            <a:r>
              <a:rPr lang="en-US" sz="2000" dirty="0" err="1"/>
              <a:t>Sebba</a:t>
            </a:r>
            <a:r>
              <a:rPr lang="en-US" sz="2000" dirty="0"/>
              <a:t>, M. (1997). </a:t>
            </a:r>
            <a:r>
              <a:rPr lang="en-US" sz="2000" i="1" dirty="0"/>
              <a:t>Contact Languages: Pidgins and Creoles. </a:t>
            </a:r>
            <a:r>
              <a:rPr lang="en-US" sz="2000" dirty="0"/>
              <a:t>London: Macmillan.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880770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226552" cy="50292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examples of the structure of CPE:</a:t>
            </a:r>
          </a:p>
          <a:p>
            <a:endParaRPr lang="en-US" sz="3200" dirty="0"/>
          </a:p>
          <a:p>
            <a:pPr lvl="0"/>
            <a:r>
              <a:rPr lang="en-US" sz="3200" dirty="0"/>
              <a:t>lack of verb inflection:</a:t>
            </a:r>
            <a:br>
              <a:rPr lang="en-US" sz="3200" dirty="0"/>
            </a:br>
            <a:r>
              <a:rPr lang="en-US" sz="3200" i="1" dirty="0" err="1">
                <a:solidFill>
                  <a:srgbClr val="7030A0"/>
                </a:solidFill>
              </a:rPr>
              <a:t>whafo</a:t>
            </a:r>
            <a:r>
              <a:rPr lang="en-US" sz="3200" i="1" dirty="0">
                <a:solidFill>
                  <a:srgbClr val="7030A0"/>
                </a:solidFill>
              </a:rPr>
              <a:t> no have </a:t>
            </a:r>
            <a:r>
              <a:rPr lang="en-US" sz="3200" b="1" i="1" dirty="0">
                <a:solidFill>
                  <a:srgbClr val="C00000"/>
                </a:solidFill>
              </a:rPr>
              <a:t>see</a:t>
            </a:r>
            <a:r>
              <a:rPr lang="en-US" sz="3200" i="1" dirty="0">
                <a:solidFill>
                  <a:srgbClr val="7030A0"/>
                </a:solidFill>
              </a:rPr>
              <a:t> taipan sot </a:t>
            </a:r>
            <a:r>
              <a:rPr lang="en-US" sz="3200" i="1" dirty="0" err="1">
                <a:solidFill>
                  <a:srgbClr val="7030A0"/>
                </a:solidFill>
              </a:rPr>
              <a:t>langim</a:t>
            </a:r>
            <a:r>
              <a:rPr lang="en-US" sz="3200" i="1" dirty="0">
                <a:solidFill>
                  <a:srgbClr val="7030A0"/>
                </a:solidFill>
              </a:rPr>
              <a:t>?</a:t>
            </a:r>
            <a:endParaRPr lang="en-US" sz="3200" dirty="0">
              <a:solidFill>
                <a:srgbClr val="7030A0"/>
              </a:solidFill>
            </a:endParaRPr>
          </a:p>
          <a:p>
            <a:pPr lvl="0"/>
            <a:endParaRPr lang="en-US" sz="3200" dirty="0"/>
          </a:p>
          <a:p>
            <a:pPr lvl="0"/>
            <a:r>
              <a:rPr lang="en-US" sz="3200" dirty="0"/>
              <a:t>using </a:t>
            </a:r>
            <a:r>
              <a:rPr lang="en-US" sz="3200" i="1" dirty="0"/>
              <a:t>have/</a:t>
            </a:r>
            <a:r>
              <a:rPr lang="en-US" sz="3200" i="1" dirty="0" err="1"/>
              <a:t>hab</a:t>
            </a:r>
            <a:r>
              <a:rPr lang="en-US" sz="3200" dirty="0"/>
              <a:t> as an auxiliary:</a:t>
            </a:r>
            <a:br>
              <a:rPr lang="en-US" sz="3200" dirty="0"/>
            </a:br>
            <a:r>
              <a:rPr lang="en-US" sz="3200" b="1" i="1" dirty="0">
                <a:solidFill>
                  <a:srgbClr val="C00000"/>
                </a:solidFill>
              </a:rPr>
              <a:t>have</a:t>
            </a:r>
            <a:r>
              <a:rPr lang="en-US" sz="3200" i="1" dirty="0">
                <a:solidFill>
                  <a:srgbClr val="7030A0"/>
                </a:solidFill>
              </a:rPr>
              <a:t> bring rice this voyage?</a:t>
            </a:r>
          </a:p>
          <a:p>
            <a:pPr lvl="0"/>
            <a:endParaRPr lang="en-US" sz="3200" i="1" dirty="0"/>
          </a:p>
          <a:p>
            <a:r>
              <a:rPr lang="en-US" altLang="zh-HK" sz="3200" dirty="0"/>
              <a:t>conditional sentences with </a:t>
            </a:r>
            <a:r>
              <a:rPr lang="en-US" altLang="zh-HK" sz="3200" i="1" dirty="0"/>
              <a:t>suppose: </a:t>
            </a:r>
            <a:br>
              <a:rPr lang="en-US" altLang="zh-HK" sz="3200" i="1" dirty="0"/>
            </a:br>
            <a:r>
              <a:rPr lang="en-US" altLang="zh-HK" sz="3200" b="1" i="1" dirty="0" err="1">
                <a:solidFill>
                  <a:srgbClr val="C00000"/>
                </a:solidFill>
              </a:rPr>
              <a:t>spose</a:t>
            </a:r>
            <a:r>
              <a:rPr lang="en-US" altLang="zh-HK" sz="3200" i="1" dirty="0">
                <a:solidFill>
                  <a:srgbClr val="7030A0"/>
                </a:solidFill>
              </a:rPr>
              <a:t> </a:t>
            </a:r>
            <a:r>
              <a:rPr lang="en-US" altLang="zh-HK" sz="3200" i="1" dirty="0" err="1">
                <a:solidFill>
                  <a:srgbClr val="7030A0"/>
                </a:solidFill>
              </a:rPr>
              <a:t>likee</a:t>
            </a:r>
            <a:r>
              <a:rPr lang="en-US" altLang="zh-HK" sz="3200" i="1" dirty="0">
                <a:solidFill>
                  <a:srgbClr val="7030A0"/>
                </a:solidFill>
              </a:rPr>
              <a:t> can do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6627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81534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HK" sz="3500" dirty="0"/>
              <a:t>examples of the structure of CPE:</a:t>
            </a:r>
          </a:p>
          <a:p>
            <a:pPr lvl="0"/>
            <a:endParaRPr lang="en-US" sz="3500" dirty="0"/>
          </a:p>
          <a:p>
            <a:r>
              <a:rPr lang="en-US" altLang="zh-HK" sz="3500" dirty="0"/>
              <a:t>no distinction between voiced and voiceless consonants, e.g.,</a:t>
            </a:r>
            <a:r>
              <a:rPr lang="en-US" altLang="zh-HK" sz="3500" i="1" dirty="0"/>
              <a:t> </a:t>
            </a:r>
            <a:r>
              <a:rPr lang="en-US" altLang="zh-HK" sz="3500" i="1" dirty="0">
                <a:solidFill>
                  <a:srgbClr val="7030A0"/>
                </a:solidFill>
              </a:rPr>
              <a:t>din</a:t>
            </a:r>
            <a:r>
              <a:rPr lang="en-US" altLang="zh-HK" sz="3500" i="1" dirty="0"/>
              <a:t> "ten"</a:t>
            </a:r>
            <a:r>
              <a:rPr lang="en-US" altLang="zh-HK" sz="3500" dirty="0"/>
              <a:t> </a:t>
            </a:r>
          </a:p>
          <a:p>
            <a:pPr lvl="0"/>
            <a:endParaRPr lang="en-US" sz="3500" dirty="0"/>
          </a:p>
          <a:p>
            <a:pPr lvl="0"/>
            <a:r>
              <a:rPr lang="en-US" sz="3500" dirty="0"/>
              <a:t>CV(C) syllable structure, avoiding consonant clusters, e.g.,</a:t>
            </a:r>
          </a:p>
          <a:p>
            <a:pPr lvl="0"/>
            <a:r>
              <a:rPr lang="en-US" sz="3500" i="1" dirty="0" err="1">
                <a:solidFill>
                  <a:srgbClr val="7030A0"/>
                </a:solidFill>
              </a:rPr>
              <a:t>popa</a:t>
            </a:r>
            <a:r>
              <a:rPr lang="en-US" sz="3500" i="1" dirty="0">
                <a:solidFill>
                  <a:srgbClr val="7030A0"/>
                </a:solidFill>
              </a:rPr>
              <a:t> </a:t>
            </a:r>
            <a:r>
              <a:rPr lang="en-US" sz="3500" i="1" dirty="0" err="1">
                <a:solidFill>
                  <a:srgbClr val="7030A0"/>
                </a:solidFill>
              </a:rPr>
              <a:t>ledda</a:t>
            </a:r>
            <a:r>
              <a:rPr lang="en-US" sz="3500" i="1" dirty="0">
                <a:solidFill>
                  <a:srgbClr val="7030A0"/>
                </a:solidFill>
              </a:rPr>
              <a:t> = </a:t>
            </a:r>
            <a:r>
              <a:rPr lang="en-US" sz="3500" dirty="0"/>
              <a:t>“proper leather" </a:t>
            </a:r>
          </a:p>
          <a:p>
            <a:pPr lvl="0"/>
            <a:endParaRPr lang="en-US" sz="3500" dirty="0"/>
          </a:p>
          <a:p>
            <a:pPr lvl="0"/>
            <a:r>
              <a:rPr lang="en-US" sz="3500" dirty="0"/>
              <a:t>no </a:t>
            </a:r>
            <a:r>
              <a:rPr lang="en-US" sz="3500" i="1" dirty="0"/>
              <a:t>v</a:t>
            </a:r>
            <a:r>
              <a:rPr lang="en-US" sz="3500" dirty="0"/>
              <a:t>, </a:t>
            </a:r>
            <a:r>
              <a:rPr lang="en-US" sz="3500" i="1" dirty="0"/>
              <a:t>r</a:t>
            </a:r>
            <a:r>
              <a:rPr lang="en-US" sz="3500" dirty="0"/>
              <a:t> or </a:t>
            </a:r>
            <a:r>
              <a:rPr lang="en-US" sz="3500" i="1" dirty="0" err="1"/>
              <a:t>th</a:t>
            </a:r>
            <a:r>
              <a:rPr lang="en-US" sz="3500" dirty="0"/>
              <a:t> sounds</a:t>
            </a:r>
          </a:p>
          <a:p>
            <a:pPr lvl="0"/>
            <a:r>
              <a:rPr lang="en-US" sz="3500" i="1" dirty="0">
                <a:solidFill>
                  <a:srgbClr val="7030A0"/>
                </a:solidFill>
              </a:rPr>
              <a:t>belly</a:t>
            </a:r>
            <a:r>
              <a:rPr lang="en-US" sz="3500" dirty="0"/>
              <a:t> = very	</a:t>
            </a:r>
            <a:r>
              <a:rPr lang="en-US" sz="3500" i="1" dirty="0" err="1">
                <a:solidFill>
                  <a:srgbClr val="7030A0"/>
                </a:solidFill>
              </a:rPr>
              <a:t>dat</a:t>
            </a:r>
            <a:r>
              <a:rPr lang="en-US" sz="3500" dirty="0"/>
              <a:t> = that	</a:t>
            </a:r>
            <a:r>
              <a:rPr lang="en-US" sz="3500" i="1" dirty="0" err="1">
                <a:solidFill>
                  <a:srgbClr val="7030A0"/>
                </a:solidFill>
              </a:rPr>
              <a:t>tinkee</a:t>
            </a:r>
            <a:r>
              <a:rPr lang="en-US" sz="3500" dirty="0"/>
              <a:t> = think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3410977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4953000"/>
          </a:xfrm>
        </p:spPr>
        <p:txBody>
          <a:bodyPr>
            <a:normAutofit/>
          </a:bodyPr>
          <a:lstStyle/>
          <a:p>
            <a:r>
              <a:rPr lang="en-US" altLang="zh-HK" sz="3200" dirty="0"/>
              <a:t>examples of the structure of CPE:</a:t>
            </a:r>
          </a:p>
          <a:p>
            <a:pPr lvl="0"/>
            <a:endParaRPr lang="en-US" sz="3200" dirty="0"/>
          </a:p>
          <a:p>
            <a:pPr lvl="0"/>
            <a:r>
              <a:rPr lang="en-US" sz="3200" dirty="0"/>
              <a:t>preverbal negation: </a:t>
            </a:r>
            <a:r>
              <a:rPr lang="en-US" sz="3200" b="1" i="1" dirty="0">
                <a:solidFill>
                  <a:srgbClr val="C00000"/>
                </a:solidFill>
              </a:rPr>
              <a:t>no</a:t>
            </a:r>
            <a:r>
              <a:rPr lang="en-US" sz="3200" i="1" dirty="0"/>
              <a:t> </a:t>
            </a:r>
            <a:r>
              <a:rPr lang="en-US" sz="3200" i="1" dirty="0">
                <a:solidFill>
                  <a:srgbClr val="7030A0"/>
                </a:solidFill>
              </a:rPr>
              <a:t>can </a:t>
            </a:r>
            <a:r>
              <a:rPr lang="en-US" sz="3200" i="1" dirty="0" err="1">
                <a:solidFill>
                  <a:srgbClr val="7030A0"/>
                </a:solidFill>
              </a:rPr>
              <a:t>maykee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</a:p>
          <a:p>
            <a:pPr lvl="0"/>
            <a:endParaRPr lang="en-US" sz="3200" dirty="0"/>
          </a:p>
          <a:p>
            <a:pPr lvl="0"/>
            <a:r>
              <a:rPr lang="en-US" sz="3200" dirty="0"/>
              <a:t>classifiers: </a:t>
            </a:r>
            <a:r>
              <a:rPr lang="en-US" sz="3200" i="1" dirty="0"/>
              <a:t>one </a:t>
            </a:r>
            <a:r>
              <a:rPr lang="en-US" sz="3200" b="1" i="1" dirty="0">
                <a:solidFill>
                  <a:srgbClr val="C00000"/>
                </a:solidFill>
              </a:rPr>
              <a:t>piece</a:t>
            </a:r>
            <a:r>
              <a:rPr lang="en-US" sz="3200" i="1" dirty="0"/>
              <a:t> </a:t>
            </a:r>
            <a:r>
              <a:rPr lang="en-US" sz="3200" i="1" dirty="0" err="1">
                <a:solidFill>
                  <a:srgbClr val="7030A0"/>
                </a:solidFill>
              </a:rPr>
              <a:t>wifoo</a:t>
            </a:r>
            <a:r>
              <a:rPr lang="en-US" sz="3200" dirty="0"/>
              <a:t> “a wife”</a:t>
            </a:r>
          </a:p>
          <a:p>
            <a:pPr lvl="0"/>
            <a:endParaRPr lang="en-US" sz="3200" dirty="0"/>
          </a:p>
          <a:p>
            <a:pPr lvl="0"/>
            <a:r>
              <a:rPr lang="en-US" sz="3200" dirty="0"/>
              <a:t>Placement of time adverbs: </a:t>
            </a:r>
            <a:r>
              <a:rPr lang="en-US" sz="3200" i="1" dirty="0">
                <a:solidFill>
                  <a:srgbClr val="7030A0"/>
                </a:solidFill>
              </a:rPr>
              <a:t>he</a:t>
            </a:r>
            <a:r>
              <a:rPr lang="en-US" sz="3200" i="1" dirty="0"/>
              <a:t> </a:t>
            </a:r>
            <a:r>
              <a:rPr lang="en-US" sz="3200" b="1" i="1" dirty="0">
                <a:solidFill>
                  <a:srgbClr val="C00000"/>
                </a:solidFill>
              </a:rPr>
              <a:t>every day </a:t>
            </a:r>
            <a:r>
              <a:rPr lang="en-US" sz="3200" i="1" dirty="0">
                <a:solidFill>
                  <a:srgbClr val="7030A0"/>
                </a:solidFill>
              </a:rPr>
              <a:t>tipsy</a:t>
            </a:r>
            <a:r>
              <a:rPr lang="en-US" sz="3200" i="1" dirty="0"/>
              <a:t> </a:t>
            </a:r>
            <a:r>
              <a:rPr lang="en-US" sz="3200" dirty="0"/>
              <a:t>“He gets drunk every day”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129235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534400" cy="46482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20th century</a:t>
            </a:r>
            <a:r>
              <a:rPr lang="en-US" sz="3200" dirty="0"/>
              <a:t>: decline of CPE </a:t>
            </a:r>
          </a:p>
          <a:p>
            <a:endParaRPr lang="en-US" sz="3200" dirty="0"/>
          </a:p>
          <a:p>
            <a:pPr lvl="0"/>
            <a:r>
              <a:rPr lang="en-US" altLang="zh-HK" sz="3200" dirty="0"/>
              <a:t>Chinese and missionary schools began teaching Standard English</a:t>
            </a:r>
          </a:p>
          <a:p>
            <a:pPr lvl="0"/>
            <a:endParaRPr lang="en-US" sz="3200" dirty="0"/>
          </a:p>
          <a:p>
            <a:pPr lvl="0"/>
            <a:r>
              <a:rPr lang="en-US" sz="3200" dirty="0"/>
              <a:t>foreign settlements in mainland China disbanded after 1949 </a:t>
            </a:r>
          </a:p>
          <a:p>
            <a:endParaRPr lang="en-US" sz="2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92094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Chinese Pidgin English (CPE)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sz="3200" dirty="0"/>
              <a:t>pidgin was probably last spoken in Hong Kong by Chinese “black and white amahs” and cooks in 1960s-1970s</a:t>
            </a:r>
          </a:p>
          <a:p>
            <a:endParaRPr lang="en-GB" dirty="0"/>
          </a:p>
        </p:txBody>
      </p:sp>
      <p:pic>
        <p:nvPicPr>
          <p:cNvPr id="5" name="Picture 2" descr="C:\Wingli\Files\Windows 7\Desktop\black-and-white-amah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281304"/>
            <a:ext cx="3629024" cy="343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450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本課題目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34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55152" cy="5105400"/>
          </a:xfrm>
        </p:spPr>
        <p:txBody>
          <a:bodyPr>
            <a:normAutofit/>
          </a:bodyPr>
          <a:lstStyle/>
          <a:p>
            <a:pPr>
              <a:lnSpc>
                <a:spcPts val="4200"/>
              </a:lnSpc>
            </a:pPr>
            <a:r>
              <a:rPr lang="zh-TW" altLang="en-US" sz="3000" dirty="0"/>
              <a:t>語言接觸</a:t>
            </a:r>
            <a:r>
              <a:rPr lang="en-US" altLang="zh-TW" sz="3000" dirty="0"/>
              <a:t> language contact</a:t>
            </a: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(1)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通用語 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lingua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</a:rPr>
              <a:t>francas</a:t>
            </a:r>
            <a:endParaRPr lang="en-US" sz="30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(2)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混雜語言</a:t>
            </a: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 /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皮欽語 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pidgins</a:t>
            </a:r>
          </a:p>
          <a:p>
            <a:pPr lvl="2">
              <a:lnSpc>
                <a:spcPts val="4200"/>
              </a:lnSpc>
            </a:pP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例：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Chinese Pidgin English (CPE) </a:t>
            </a: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洋涇濱英語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r>
              <a:rPr lang="en-US" altLang="zh-TW" sz="3000" dirty="0"/>
              <a:t>(3) </a:t>
            </a:r>
            <a:r>
              <a:rPr lang="zh-TW" altLang="en-US" sz="3000" dirty="0"/>
              <a:t>克里奧爾語 </a:t>
            </a:r>
            <a:r>
              <a:rPr lang="en-US" altLang="zh-TW" sz="3000" dirty="0"/>
              <a:t>/ </a:t>
            </a:r>
            <a:r>
              <a:rPr lang="zh-TW" altLang="en-US" sz="3000" dirty="0"/>
              <a:t>歸融話 </a:t>
            </a:r>
            <a:r>
              <a:rPr lang="en-US" sz="3000" dirty="0"/>
              <a:t>creoles</a:t>
            </a:r>
          </a:p>
          <a:p>
            <a:pPr lvl="2">
              <a:lnSpc>
                <a:spcPts val="4200"/>
              </a:lnSpc>
            </a:pPr>
            <a:r>
              <a:rPr lang="zh-TW" altLang="en-US" sz="2800" dirty="0"/>
              <a:t>例：</a:t>
            </a:r>
            <a:r>
              <a:rPr lang="en-US" sz="2800" dirty="0" err="1"/>
              <a:t>Tok</a:t>
            </a:r>
            <a:r>
              <a:rPr lang="en-US" sz="2800" dirty="0"/>
              <a:t> </a:t>
            </a:r>
            <a:r>
              <a:rPr lang="en-US" sz="2800" dirty="0" err="1"/>
              <a:t>Pisin</a:t>
            </a:r>
            <a:r>
              <a:rPr lang="en-US" sz="2800" dirty="0"/>
              <a:t> </a:t>
            </a:r>
            <a:r>
              <a:rPr lang="zh-TW" altLang="en-US" sz="2800" dirty="0"/>
              <a:t>巴布亞皮欽語</a:t>
            </a:r>
            <a:r>
              <a:rPr lang="en-US" altLang="zh-TW" sz="2800" dirty="0"/>
              <a:t>/</a:t>
            </a:r>
            <a:r>
              <a:rPr lang="zh-TW" altLang="en-US" sz="2800" dirty="0"/>
              <a:t>托克皮辛語</a:t>
            </a:r>
            <a:endParaRPr lang="en-US" altLang="zh-TW" sz="2800" dirty="0"/>
          </a:p>
          <a:p>
            <a:pPr lvl="1">
              <a:lnSpc>
                <a:spcPts val="4200"/>
              </a:lnSpc>
            </a:pPr>
            <a:r>
              <a:rPr lang="en-US" altLang="zh-HK" sz="3000" dirty="0">
                <a:solidFill>
                  <a:schemeClr val="bg1">
                    <a:lumMod val="85000"/>
                  </a:schemeClr>
                </a:solidFill>
              </a:rPr>
              <a:t>(4)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借詞</a:t>
            </a: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 lexical borrowing</a:t>
            </a: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(5)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語碼轉換 </a:t>
            </a:r>
            <a:r>
              <a:rPr lang="en-HK" altLang="zh-TW" sz="3000" dirty="0">
                <a:solidFill>
                  <a:schemeClr val="bg1">
                    <a:lumMod val="85000"/>
                  </a:schemeClr>
                </a:solidFill>
              </a:rPr>
              <a:t>code-switching</a:t>
            </a:r>
            <a:endParaRPr lang="en-US" altLang="zh-TW" sz="30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endParaRPr lang="en-US" altLang="zh-TW" sz="3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0600" y="4038600"/>
            <a:ext cx="685800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418162"/>
      </p:ext>
    </p:extLst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Creoles </a:t>
            </a:r>
            <a:r>
              <a:rPr lang="zh-TW" altLang="en-US" dirty="0"/>
              <a:t>克里奧爾語 </a:t>
            </a:r>
            <a:r>
              <a:rPr lang="en-US" altLang="zh-TW" dirty="0"/>
              <a:t>/ </a:t>
            </a:r>
            <a:r>
              <a:rPr lang="zh-TW" altLang="en-US" dirty="0"/>
              <a:t>歸融話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4876800"/>
          </a:xfrm>
        </p:spPr>
        <p:txBody>
          <a:bodyPr>
            <a:normAutofit lnSpcReduction="10000"/>
          </a:bodyPr>
          <a:lstStyle/>
          <a:p>
            <a:endParaRPr lang="en-US" altLang="zh-TW" sz="3200" dirty="0"/>
          </a:p>
          <a:p>
            <a:r>
              <a:rPr lang="en-US" altLang="zh-TW" sz="3400" dirty="0"/>
              <a:t>A creole is a language that </a:t>
            </a:r>
            <a:r>
              <a:rPr lang="en-US" altLang="zh-TW" sz="3400" dirty="0">
                <a:solidFill>
                  <a:srgbClr val="C00000"/>
                </a:solidFill>
              </a:rPr>
              <a:t>began as a pidgin </a:t>
            </a:r>
            <a:r>
              <a:rPr lang="en-US" altLang="zh-TW" sz="3400" dirty="0"/>
              <a:t>and eventually </a:t>
            </a:r>
            <a:r>
              <a:rPr lang="en-US" altLang="zh-TW" sz="3400" dirty="0">
                <a:solidFill>
                  <a:srgbClr val="C00000"/>
                </a:solidFill>
              </a:rPr>
              <a:t>becomes the first language </a:t>
            </a:r>
            <a:r>
              <a:rPr lang="en-US" altLang="zh-TW" sz="3400" dirty="0"/>
              <a:t>of a speech community through its being learned by children. </a:t>
            </a:r>
            <a:br>
              <a:rPr lang="en-US" altLang="zh-TW" sz="3400" dirty="0"/>
            </a:br>
            <a:br>
              <a:rPr lang="en-US" altLang="zh-TW" sz="3400" dirty="0"/>
            </a:br>
            <a:r>
              <a:rPr lang="zh-TW" altLang="en-US" sz="3400" dirty="0"/>
              <a:t>混雜語成了一些人的母語</a:t>
            </a:r>
            <a:endParaRPr lang="en-US" altLang="zh-TW" sz="3400" dirty="0"/>
          </a:p>
          <a:p>
            <a:endParaRPr lang="en-US" altLang="zh-TW" sz="3400" dirty="0"/>
          </a:p>
          <a:p>
            <a:r>
              <a:rPr lang="en-US" dirty="0"/>
              <a:t>an example: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Pisin</a:t>
            </a:r>
            <a:r>
              <a:rPr lang="en-US" dirty="0"/>
              <a:t> in Papua New Guinea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3106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Tok</a:t>
            </a:r>
            <a:r>
              <a:rPr lang="en-US" altLang="zh-TW" dirty="0"/>
              <a:t> </a:t>
            </a:r>
            <a:r>
              <a:rPr lang="en-US" altLang="zh-TW" dirty="0" err="1"/>
              <a:t>Pisin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105400"/>
          </a:xfrm>
        </p:spPr>
        <p:txBody>
          <a:bodyPr/>
          <a:lstStyle/>
          <a:p>
            <a:r>
              <a:rPr lang="en-US" altLang="zh-TW" dirty="0"/>
              <a:t>an English-based creole widely used in Papua New Guinea (one of the three official languages)</a:t>
            </a:r>
          </a:p>
          <a:p>
            <a:r>
              <a:rPr lang="en-US" i="1" dirty="0" err="1"/>
              <a:t>Tok</a:t>
            </a:r>
            <a:r>
              <a:rPr lang="en-US" dirty="0"/>
              <a:t> from English “talk”, also means “word”, “speech”, “language”; </a:t>
            </a:r>
            <a:r>
              <a:rPr lang="en-US" i="1" dirty="0" err="1"/>
              <a:t>Pisin</a:t>
            </a:r>
            <a:r>
              <a:rPr lang="en-US" dirty="0"/>
              <a:t> English “pidgin”</a:t>
            </a:r>
            <a:r>
              <a:rPr lang="en-US" altLang="zh-TW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36</a:t>
            </a:r>
          </a:p>
        </p:txBody>
      </p:sp>
      <p:pic>
        <p:nvPicPr>
          <p:cNvPr id="5" name="Picture 4" descr="pupuapi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581400"/>
            <a:ext cx="2207287" cy="3095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C:\Users\CBS\Dropbox\Work\PolyU-CBS1900-Introduction to Language\Wing Li\Figures\Week 12\Papua New Guine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581400"/>
            <a:ext cx="3333750" cy="3103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987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Pisin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302752" cy="5105400"/>
          </a:xfrm>
        </p:spPr>
        <p:txBody>
          <a:bodyPr>
            <a:normAutofit lnSpcReduction="10000"/>
          </a:bodyPr>
          <a:lstStyle/>
          <a:p>
            <a:r>
              <a:rPr lang="en-US" sz="2500" dirty="0" err="1"/>
              <a:t>Tok</a:t>
            </a:r>
            <a:r>
              <a:rPr lang="en-US" sz="2500" dirty="0"/>
              <a:t> </a:t>
            </a:r>
            <a:r>
              <a:rPr lang="en-US" sz="2500" dirty="0" err="1"/>
              <a:t>Pisin</a:t>
            </a:r>
            <a:r>
              <a:rPr lang="en-US" sz="2500" dirty="0"/>
              <a:t>; evolved from Melanesian Pidgin English, once a widely spoken lingua franca of Papua New Guinea</a:t>
            </a:r>
          </a:p>
          <a:p>
            <a:endParaRPr lang="en-US" sz="2500" dirty="0"/>
          </a:p>
          <a:p>
            <a:r>
              <a:rPr lang="en-US" sz="2500" dirty="0"/>
              <a:t>English-based pidgins developed in the </a:t>
            </a:r>
            <a:r>
              <a:rPr lang="en-US" sz="2500" dirty="0">
                <a:solidFill>
                  <a:srgbClr val="0070C0"/>
                </a:solidFill>
              </a:rPr>
              <a:t>19th century </a:t>
            </a:r>
            <a:r>
              <a:rPr lang="en-US" sz="2500" dirty="0"/>
              <a:t>for use between English-speaking traders and the native population</a:t>
            </a:r>
          </a:p>
          <a:p>
            <a:endParaRPr lang="en-US" sz="2500" dirty="0"/>
          </a:p>
          <a:p>
            <a:r>
              <a:rPr lang="en-US" sz="2500" dirty="0"/>
              <a:t>since New Guinea is very linguistically diverse, the pidgin also came to be used as a lingua franca among the indigenous population</a:t>
            </a:r>
          </a:p>
          <a:p>
            <a:endParaRPr lang="en-US" sz="2500" dirty="0"/>
          </a:p>
          <a:p>
            <a:r>
              <a:rPr lang="en-US" sz="2500" dirty="0" err="1"/>
              <a:t>Tok</a:t>
            </a:r>
            <a:r>
              <a:rPr lang="en-US" sz="2500" dirty="0"/>
              <a:t> </a:t>
            </a:r>
            <a:r>
              <a:rPr lang="en-US" sz="2500" dirty="0" err="1"/>
              <a:t>Pisin</a:t>
            </a:r>
            <a:r>
              <a:rPr lang="en-US" sz="2500" dirty="0"/>
              <a:t> was gradually creolized throughout the </a:t>
            </a:r>
            <a:r>
              <a:rPr lang="en-US" sz="2500" dirty="0">
                <a:solidFill>
                  <a:srgbClr val="0070C0"/>
                </a:solidFill>
              </a:rPr>
              <a:t>20th century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208117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Pisin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Prince Charles in Papua New Guinea. </a:t>
            </a:r>
          </a:p>
          <a:p>
            <a:r>
              <a:rPr lang="en-US" dirty="0">
                <a:hlinkClick r:id="rId2"/>
              </a:rPr>
              <a:t>http://www.youtube.com/watch?v=YU9rVcSEnkw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Pisin</a:t>
            </a:r>
            <a:r>
              <a:rPr lang="en-US" dirty="0"/>
              <a:t>:</a:t>
            </a:r>
          </a:p>
          <a:p>
            <a:r>
              <a:rPr lang="en-US" dirty="0"/>
              <a:t>"</a:t>
            </a:r>
            <a:r>
              <a:rPr lang="en-US" dirty="0" err="1"/>
              <a:t>Mi</a:t>
            </a:r>
            <a:r>
              <a:rPr lang="en-US" dirty="0"/>
              <a:t> </a:t>
            </a:r>
            <a:r>
              <a:rPr lang="en-US" dirty="0" err="1"/>
              <a:t>bringim</a:t>
            </a:r>
            <a:r>
              <a:rPr lang="en-US" dirty="0"/>
              <a:t> </a:t>
            </a:r>
            <a:r>
              <a:rPr lang="en-US" dirty="0" err="1"/>
              <a:t>bikpela</a:t>
            </a:r>
            <a:r>
              <a:rPr lang="en-US" dirty="0"/>
              <a:t>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hamamas</a:t>
            </a:r>
            <a:r>
              <a:rPr lang="en-US" dirty="0"/>
              <a:t> </a:t>
            </a:r>
            <a:r>
              <a:rPr lang="en-US" dirty="0" err="1"/>
              <a:t>bilong</a:t>
            </a:r>
            <a:r>
              <a:rPr lang="en-US" dirty="0"/>
              <a:t> </a:t>
            </a:r>
            <a:r>
              <a:rPr lang="en-US" dirty="0" err="1"/>
              <a:t>mejesti</a:t>
            </a:r>
            <a:r>
              <a:rPr lang="en-US" dirty="0"/>
              <a:t> </a:t>
            </a:r>
            <a:r>
              <a:rPr lang="en-US" dirty="0" err="1"/>
              <a:t>kwin</a:t>
            </a:r>
            <a:r>
              <a:rPr lang="en-US" dirty="0"/>
              <a:t> Papua </a:t>
            </a:r>
            <a:r>
              <a:rPr lang="en-US" dirty="0" err="1"/>
              <a:t>Niugini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olgeta</a:t>
            </a:r>
            <a:r>
              <a:rPr lang="en-US" dirty="0"/>
              <a:t> </a:t>
            </a:r>
            <a:r>
              <a:rPr lang="en-US" dirty="0" err="1"/>
              <a:t>haus</a:t>
            </a:r>
            <a:r>
              <a:rPr lang="en-US" dirty="0"/>
              <a:t> lain </a:t>
            </a:r>
            <a:r>
              <a:rPr lang="en-US" dirty="0" err="1"/>
              <a:t>bilong</a:t>
            </a:r>
            <a:r>
              <a:rPr lang="en-US" dirty="0"/>
              <a:t> mi </a:t>
            </a:r>
            <a:r>
              <a:rPr lang="en-US" dirty="0" err="1"/>
              <a:t>lon</a:t>
            </a:r>
            <a:r>
              <a:rPr lang="en-US" dirty="0"/>
              <a:t> </a:t>
            </a:r>
            <a:r>
              <a:rPr lang="en-US" dirty="0" err="1"/>
              <a:t>dispela</a:t>
            </a:r>
            <a:r>
              <a:rPr lang="en-US" dirty="0"/>
              <a:t> </a:t>
            </a:r>
            <a:r>
              <a:rPr lang="en-US" dirty="0" err="1"/>
              <a:t>taim</a:t>
            </a:r>
            <a:r>
              <a:rPr lang="en-US" dirty="0"/>
              <a:t> </a:t>
            </a:r>
            <a:r>
              <a:rPr lang="en-US" dirty="0" err="1"/>
              <a:t>bilong</a:t>
            </a:r>
            <a:r>
              <a:rPr lang="en-US" dirty="0"/>
              <a:t> </a:t>
            </a:r>
            <a:r>
              <a:rPr lang="en-US" dirty="0" err="1"/>
              <a:t>Diamon</a:t>
            </a:r>
            <a:r>
              <a:rPr lang="en-US" dirty="0"/>
              <a:t> </a:t>
            </a:r>
            <a:r>
              <a:rPr lang="en-US" dirty="0" err="1"/>
              <a:t>Jubili</a:t>
            </a:r>
            <a:r>
              <a:rPr lang="en-US" dirty="0"/>
              <a:t> </a:t>
            </a:r>
            <a:r>
              <a:rPr lang="en-US" dirty="0" err="1"/>
              <a:t>misis</a:t>
            </a:r>
            <a:r>
              <a:rPr lang="en-US" dirty="0"/>
              <a:t> </a:t>
            </a:r>
            <a:r>
              <a:rPr lang="en-US" dirty="0" err="1"/>
              <a:t>kwin</a:t>
            </a:r>
            <a:r>
              <a:rPr lang="en-US" dirty="0"/>
              <a:t>. </a:t>
            </a:r>
            <a:r>
              <a:rPr lang="en-US" dirty="0" err="1"/>
              <a:t>Mi</a:t>
            </a:r>
            <a:r>
              <a:rPr lang="en-US" dirty="0"/>
              <a:t> </a:t>
            </a:r>
            <a:r>
              <a:rPr lang="en-US" dirty="0" err="1"/>
              <a:t>tokpisin</a:t>
            </a:r>
            <a:r>
              <a:rPr lang="en-US" dirty="0"/>
              <a:t> </a:t>
            </a:r>
            <a:r>
              <a:rPr lang="en-US" dirty="0" err="1"/>
              <a:t>olrite</a:t>
            </a:r>
            <a:r>
              <a:rPr lang="en-US" dirty="0"/>
              <a:t>?“</a:t>
            </a:r>
          </a:p>
          <a:p>
            <a:endParaRPr lang="en-US" dirty="0"/>
          </a:p>
          <a:p>
            <a:r>
              <a:rPr lang="en-US" dirty="0"/>
              <a:t>translation:</a:t>
            </a:r>
          </a:p>
          <a:p>
            <a:r>
              <a:rPr lang="en-US" dirty="0"/>
              <a:t>"I bring you greetings from Her Majesty the Queen of Papua New Guinea and from all my family members during this celebration of the Diamond Jubilee of the Queen. Was my </a:t>
            </a:r>
            <a:r>
              <a:rPr lang="en-US" dirty="0" err="1"/>
              <a:t>Pisin</a:t>
            </a:r>
            <a:r>
              <a:rPr lang="en-US" dirty="0"/>
              <a:t> correct?</a:t>
            </a:r>
          </a:p>
        </p:txBody>
      </p:sp>
    </p:spTree>
    <p:extLst>
      <p:ext uri="{BB962C8B-B14F-4D97-AF65-F5344CB8AC3E}">
        <p14:creationId xmlns:p14="http://schemas.microsoft.com/office/powerpoint/2010/main" val="1779081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838200"/>
          </a:xfrm>
        </p:spPr>
        <p:txBody>
          <a:bodyPr/>
          <a:lstStyle/>
          <a:p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Pisin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49" y="1447800"/>
            <a:ext cx="8425352" cy="5377543"/>
          </a:xfrm>
        </p:spPr>
        <p:txBody>
          <a:bodyPr/>
          <a:lstStyle/>
          <a:p>
            <a:r>
              <a:rPr lang="en-US" sz="2800" dirty="0"/>
              <a:t>the phonology </a:t>
            </a:r>
            <a:r>
              <a:rPr lang="zh-TW" altLang="en-US" sz="2800" dirty="0"/>
              <a:t>語音系統 </a:t>
            </a:r>
            <a:r>
              <a:rPr lang="en-US" altLang="zh-TW" sz="2800" dirty="0"/>
              <a:t>is simple:</a:t>
            </a:r>
            <a:endParaRPr lang="en-US" sz="2800" dirty="0"/>
          </a:p>
          <a:p>
            <a:pPr lvl="1"/>
            <a:r>
              <a:rPr lang="de-DE" sz="2800" dirty="0"/>
              <a:t>consonants:	</a:t>
            </a:r>
            <a:r>
              <a:rPr lang="de-DE" sz="2800" dirty="0">
                <a:latin typeface="Times New Roman" pitchFamily="18" charset="0"/>
                <a:cs typeface="Times New Roman" pitchFamily="18" charset="0"/>
              </a:rPr>
              <a:t>p b t d k ɡ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 s h m n ŋ l w j r</a:t>
            </a:r>
          </a:p>
          <a:p>
            <a:pPr lvl="1"/>
            <a:r>
              <a:rPr lang="en-US" sz="2800" dirty="0"/>
              <a:t>vowels: 		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u e o a	</a:t>
            </a:r>
          </a:p>
          <a:p>
            <a:r>
              <a:rPr lang="en-US" dirty="0"/>
              <a:t>but some features may be complex, e.g., the pronoun system</a:t>
            </a:r>
          </a:p>
          <a:p>
            <a:r>
              <a:rPr lang="en-US" dirty="0"/>
              <a:t>pronouns</a:t>
            </a:r>
          </a:p>
          <a:p>
            <a:pPr lvl="1"/>
            <a:r>
              <a:rPr lang="en-US" sz="1600" dirty="0">
                <a:hlinkClick r:id="rId2"/>
              </a:rPr>
              <a:t>http://www.unilang.org/course.php?res=80#ci-l2personalpronouns</a:t>
            </a:r>
            <a:endParaRPr lang="en-US" sz="16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38</a:t>
            </a:r>
          </a:p>
        </p:txBody>
      </p:sp>
      <p:pic>
        <p:nvPicPr>
          <p:cNvPr id="1026" name="Picture 2" descr="C:\Users\CBS\Desktop\Tok Pisin pronoun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91648"/>
            <a:ext cx="8534400" cy="29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70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Creolization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378952" cy="5029200"/>
          </a:xfrm>
        </p:spPr>
        <p:txBody>
          <a:bodyPr>
            <a:normAutofit/>
          </a:bodyPr>
          <a:lstStyle/>
          <a:p>
            <a:r>
              <a:rPr lang="en-US" sz="3000" dirty="0"/>
              <a:t>A creole is far richer and more complex than the pidgin that the children heard when growing up</a:t>
            </a:r>
          </a:p>
          <a:p>
            <a:endParaRPr lang="en-US" sz="3000" dirty="0"/>
          </a:p>
          <a:p>
            <a:r>
              <a:rPr lang="en-US" sz="3000" dirty="0">
                <a:solidFill>
                  <a:srgbClr val="C00000"/>
                </a:solidFill>
              </a:rPr>
              <a:t>How are children able to construct a creole based on the rudimentary input of the pidgin?</a:t>
            </a:r>
          </a:p>
          <a:p>
            <a:endParaRPr lang="en-US" sz="3000" dirty="0"/>
          </a:p>
          <a:p>
            <a:r>
              <a:rPr lang="en-US" sz="3000" dirty="0"/>
              <a:t>The pidgin is </a:t>
            </a:r>
            <a:r>
              <a:rPr lang="en-US" sz="3000" dirty="0">
                <a:solidFill>
                  <a:srgbClr val="7030A0"/>
                </a:solidFill>
              </a:rPr>
              <a:t>reanalyzed</a:t>
            </a:r>
            <a:r>
              <a:rPr lang="en-US" sz="3000" dirty="0"/>
              <a:t> by the children, whose </a:t>
            </a:r>
            <a:r>
              <a:rPr lang="en-US" sz="3000" dirty="0">
                <a:solidFill>
                  <a:srgbClr val="7030A0"/>
                </a:solidFill>
              </a:rPr>
              <a:t>innate grammatical abilities</a:t>
            </a:r>
            <a:r>
              <a:rPr lang="en-US" sz="3000" dirty="0"/>
              <a:t> immensely </a:t>
            </a:r>
            <a:r>
              <a:rPr lang="en-US" sz="3000" dirty="0">
                <a:solidFill>
                  <a:srgbClr val="7030A0"/>
                </a:solidFill>
              </a:rPr>
              <a:t>enrich</a:t>
            </a:r>
            <a:r>
              <a:rPr lang="en-US" sz="3000" dirty="0"/>
              <a:t> it, and so it becomes a full-fledged language.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54636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Singlish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6200" y="1828800"/>
            <a:ext cx="3733800" cy="4876800"/>
          </a:xfrm>
        </p:spPr>
        <p:txBody>
          <a:bodyPr>
            <a:normAutofit fontScale="92500"/>
          </a:bodyPr>
          <a:lstStyle/>
          <a:p>
            <a:r>
              <a:rPr lang="en-US" sz="2600" dirty="0"/>
              <a:t>Colloquial Singaporean English</a:t>
            </a:r>
          </a:p>
          <a:p>
            <a:r>
              <a:rPr lang="en-US" sz="2600" dirty="0"/>
              <a:t>an English-based creole</a:t>
            </a:r>
          </a:p>
          <a:p>
            <a:r>
              <a:rPr lang="en-US" sz="2600" dirty="0"/>
              <a:t>having influences from </a:t>
            </a:r>
            <a:r>
              <a:rPr lang="en-US" sz="2600" dirty="0" err="1"/>
              <a:t>Hokkien</a:t>
            </a:r>
            <a:r>
              <a:rPr lang="en-US" sz="2600" dirty="0"/>
              <a:t>, Cantonese, </a:t>
            </a:r>
            <a:r>
              <a:rPr lang="en-US" sz="2600" dirty="0" err="1"/>
              <a:t>Teochow</a:t>
            </a:r>
            <a:r>
              <a:rPr lang="en-US" sz="2600" dirty="0"/>
              <a:t>, Malay, Indian</a:t>
            </a:r>
            <a:br>
              <a:rPr lang="en-US" sz="2600" dirty="0"/>
            </a:br>
            <a:endParaRPr lang="en-US" sz="2600" dirty="0"/>
          </a:p>
          <a:p>
            <a:r>
              <a:rPr lang="en-US" sz="2600" dirty="0"/>
              <a:t>Singapore: independence from the Federation of Malaysia in 1965; active promotion of the use of English</a:t>
            </a:r>
            <a:endParaRPr lang="en-GB" sz="2600" dirty="0"/>
          </a:p>
        </p:txBody>
      </p:sp>
      <p:pic>
        <p:nvPicPr>
          <p:cNvPr id="2050" name="Picture 2" descr="C:\Wingli\Files\Dropbox\Work\PolyU-CBS1A01P-Fun with Language\CBS1A01P-WingLi-2013-2014-Term3\L11-language contact\Singlish-example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961" y="1905000"/>
            <a:ext cx="5227406" cy="4191000"/>
          </a:xfrm>
          <a:prstGeom prst="rect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158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本課題目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41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55152" cy="5105400"/>
          </a:xfrm>
        </p:spPr>
        <p:txBody>
          <a:bodyPr>
            <a:normAutofit/>
          </a:bodyPr>
          <a:lstStyle/>
          <a:p>
            <a:pPr>
              <a:lnSpc>
                <a:spcPts val="4200"/>
              </a:lnSpc>
            </a:pPr>
            <a:r>
              <a:rPr lang="zh-TW" altLang="en-US" sz="3000" dirty="0"/>
              <a:t>語言接觸</a:t>
            </a:r>
            <a:r>
              <a:rPr lang="en-US" altLang="zh-TW" sz="3000" dirty="0"/>
              <a:t> language contact</a:t>
            </a: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(1)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通用語 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lingua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</a:rPr>
              <a:t>francas</a:t>
            </a:r>
            <a:endParaRPr lang="en-US" sz="30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(2)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混雜語言</a:t>
            </a: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 /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皮欽語 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pidgins</a:t>
            </a:r>
          </a:p>
          <a:p>
            <a:pPr lvl="2">
              <a:lnSpc>
                <a:spcPts val="4200"/>
              </a:lnSpc>
            </a:pP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例：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Chinese Pidgin English (CPE) </a:t>
            </a: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洋涇濱英語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(3)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克里奧爾語 </a:t>
            </a: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/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歸融話 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creoles</a:t>
            </a:r>
          </a:p>
          <a:p>
            <a:pPr lvl="2">
              <a:lnSpc>
                <a:spcPts val="4200"/>
              </a:lnSpc>
            </a:pP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例：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</a:rPr>
              <a:t>Tok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</a:rPr>
              <a:t>Pisin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巴布亞皮欽語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托克皮辛語</a:t>
            </a:r>
            <a:endParaRPr lang="en-US" altLang="zh-TW" sz="28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r>
              <a:rPr lang="en-US" altLang="zh-HK" sz="3000" dirty="0"/>
              <a:t>(4) </a:t>
            </a:r>
            <a:r>
              <a:rPr lang="zh-TW" altLang="en-US" sz="3000" dirty="0"/>
              <a:t>借詞</a:t>
            </a:r>
            <a:r>
              <a:rPr lang="en-US" altLang="zh-TW" sz="3000" dirty="0"/>
              <a:t> lexical borrowing</a:t>
            </a: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(5)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語碼轉換 </a:t>
            </a:r>
            <a:r>
              <a:rPr lang="en-HK" altLang="zh-TW" sz="3000" dirty="0">
                <a:solidFill>
                  <a:schemeClr val="bg1">
                    <a:lumMod val="85000"/>
                  </a:schemeClr>
                </a:solidFill>
              </a:rPr>
              <a:t>code-switching</a:t>
            </a:r>
            <a:endParaRPr lang="en-US" altLang="zh-TW" sz="30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endParaRPr lang="en-US" altLang="zh-TW" sz="3000" dirty="0"/>
          </a:p>
        </p:txBody>
      </p:sp>
      <p:sp>
        <p:nvSpPr>
          <p:cNvPr id="5" name="Rectangle 4"/>
          <p:cNvSpPr/>
          <p:nvPr/>
        </p:nvSpPr>
        <p:spPr>
          <a:xfrm>
            <a:off x="990600" y="5257800"/>
            <a:ext cx="57150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02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借詞</a:t>
            </a:r>
            <a:r>
              <a:rPr lang="en-US" altLang="zh-TW" dirty="0"/>
              <a:t> lexical borrowing</a:t>
            </a:r>
            <a:endParaRPr lang="en-US" altLang="zh-CN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1412776"/>
            <a:ext cx="8424936" cy="3168352"/>
          </a:xfrm>
        </p:spPr>
        <p:txBody>
          <a:bodyPr/>
          <a:lstStyle/>
          <a:p>
            <a:pPr eaLnBrk="0" hangingPunct="0">
              <a:lnSpc>
                <a:spcPct val="150000"/>
              </a:lnSpc>
            </a:pPr>
            <a:r>
              <a:rPr lang="zh-TW" altLang="en-US" sz="3400" dirty="0">
                <a:latin typeface="PMingLiU" pitchFamily="18" charset="-120"/>
                <a:ea typeface="PMingLiU" pitchFamily="18" charset="-120"/>
                <a:cs typeface="Arial" charset="0"/>
              </a:rPr>
              <a:t>語言中的詞匯是一個</a:t>
            </a:r>
            <a:r>
              <a:rPr lang="zh-TW" altLang="en-US" sz="3400" dirty="0">
                <a:solidFill>
                  <a:srgbClr val="C00000"/>
                </a:solidFill>
                <a:latin typeface="PMingLiU" pitchFamily="18" charset="-120"/>
                <a:ea typeface="PMingLiU" pitchFamily="18" charset="-120"/>
                <a:cs typeface="Arial" charset="0"/>
              </a:rPr>
              <a:t>動態</a:t>
            </a:r>
            <a:r>
              <a:rPr lang="zh-TW" altLang="en-US" sz="3400" dirty="0">
                <a:latin typeface="PMingLiU" pitchFamily="18" charset="-120"/>
                <a:ea typeface="PMingLiU" pitchFamily="18" charset="-120"/>
                <a:cs typeface="Arial" charset="0"/>
              </a:rPr>
              <a:t>的</a:t>
            </a:r>
            <a:r>
              <a:rPr lang="zh-TW" altLang="en-US" sz="3400" dirty="0">
                <a:solidFill>
                  <a:srgbClr val="C00000"/>
                </a:solidFill>
                <a:latin typeface="PMingLiU" pitchFamily="18" charset="-120"/>
                <a:ea typeface="PMingLiU" pitchFamily="18" charset="-120"/>
                <a:cs typeface="Arial" charset="0"/>
              </a:rPr>
              <a:t>開放性</a:t>
            </a:r>
            <a:r>
              <a:rPr lang="zh-TW" altLang="en-US" sz="3400" dirty="0">
                <a:latin typeface="PMingLiU" pitchFamily="18" charset="-120"/>
                <a:ea typeface="PMingLiU" pitchFamily="18" charset="-120"/>
                <a:cs typeface="Arial" charset="0"/>
              </a:rPr>
              <a:t>系統，不斷</a:t>
            </a:r>
            <a:r>
              <a:rPr lang="zh-TW" altLang="en-US" sz="3400" dirty="0">
                <a:solidFill>
                  <a:srgbClr val="C00000"/>
                </a:solidFill>
                <a:latin typeface="PMingLiU" pitchFamily="18" charset="-120"/>
                <a:ea typeface="PMingLiU" pitchFamily="18" charset="-120"/>
                <a:cs typeface="Arial" charset="0"/>
              </a:rPr>
              <a:t>吸收</a:t>
            </a:r>
            <a:r>
              <a:rPr lang="zh-TW" altLang="en-US" sz="3400" dirty="0">
                <a:latin typeface="PMingLiU" pitchFamily="18" charset="-120"/>
                <a:ea typeface="PMingLiU" pitchFamily="18" charset="-120"/>
                <a:cs typeface="Arial" charset="0"/>
              </a:rPr>
              <a:t>外來詞是語言豐富和發展的途徑之一。</a:t>
            </a:r>
            <a:endParaRPr lang="en-US" altLang="zh-CN" sz="3400" dirty="0">
              <a:latin typeface="PMingLiU" pitchFamily="18" charset="-120"/>
              <a:ea typeface="PMingLiU" pitchFamily="18" charset="-12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900578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dirty="0"/>
              <a:t>英語吸收漢語借詞的方式</a:t>
            </a:r>
            <a:r>
              <a:rPr lang="en-US" altLang="zh-CN" dirty="0"/>
              <a:t>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1520" y="1600200"/>
            <a:ext cx="8640960" cy="18288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1. 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音譯法    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transliteration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用英語拼音文字按照漢語借詞原來的讀音譯成的借詞。如</a:t>
            </a:r>
            <a:r>
              <a:rPr lang="zh-TW" altLang="en-US" sz="3000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氣功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zh-TW" altLang="en-US" sz="3000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陰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zh-TW" altLang="en-US" sz="3000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陽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zh-CN" altLang="en-US" sz="3000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胡同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zh-TW" altLang="en-US" sz="3000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叩頭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等。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3" name="图片 12" descr="ImperialRobesOfficialsPayingRespect_larg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92889" y="3356992"/>
            <a:ext cx="4951111" cy="3501008"/>
          </a:xfrm>
          <a:prstGeom prst="rect">
            <a:avLst/>
          </a:prstGeom>
        </p:spPr>
      </p:pic>
      <p:pic>
        <p:nvPicPr>
          <p:cNvPr id="14" name="图片 13" descr="Hutong-Residenc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3776700"/>
            <a:ext cx="3600400" cy="2700300"/>
          </a:xfrm>
          <a:prstGeom prst="rect">
            <a:avLst/>
          </a:prstGeom>
        </p:spPr>
      </p:pic>
      <p:sp>
        <p:nvSpPr>
          <p:cNvPr id="1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73642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dirty="0"/>
              <a:t>英語吸收漢語借詞的方式</a:t>
            </a:r>
            <a:r>
              <a:rPr lang="en-US" altLang="zh-CN" dirty="0"/>
              <a:t>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1196752"/>
            <a:ext cx="8424936" cy="4608512"/>
          </a:xfrm>
        </p:spPr>
        <p:txBody>
          <a:bodyPr/>
          <a:lstStyle/>
          <a:p>
            <a:pPr lvl="0">
              <a:buNone/>
            </a:pP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0">
              <a:buNone/>
            </a:pP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氣功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	</a:t>
            </a:r>
            <a:r>
              <a:rPr lang="en-US" altLang="zh-CN" sz="3000" dirty="0">
                <a:solidFill>
                  <a:srgbClr val="7030A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qigong</a:t>
            </a:r>
          </a:p>
          <a:p>
            <a:pPr lvl="0">
              <a:buNone/>
            </a:pP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陰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	</a:t>
            </a:r>
            <a:r>
              <a:rPr lang="en-US" altLang="zh-CN" sz="3000" dirty="0">
                <a:solidFill>
                  <a:srgbClr val="7030A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yin</a:t>
            </a:r>
          </a:p>
          <a:p>
            <a:pPr lvl="0">
              <a:buNone/>
            </a:pP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陽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	</a:t>
            </a:r>
            <a:r>
              <a:rPr lang="en-US" altLang="zh-CN" sz="3000" dirty="0">
                <a:solidFill>
                  <a:srgbClr val="7030A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yang</a:t>
            </a:r>
          </a:p>
          <a:p>
            <a:pPr lvl="0">
              <a:buNone/>
            </a:pP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胡同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	</a:t>
            </a:r>
            <a:r>
              <a:rPr lang="en-US" altLang="zh-CN" sz="3000" dirty="0" err="1">
                <a:solidFill>
                  <a:srgbClr val="7030A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hutong</a:t>
            </a:r>
            <a:endParaRPr lang="en-US" altLang="zh-CN" sz="3000" dirty="0">
              <a:solidFill>
                <a:srgbClr val="7030A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0">
              <a:buNone/>
            </a:pP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叩頭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	</a:t>
            </a:r>
            <a:r>
              <a:rPr lang="en-US" altLang="zh-CN" sz="3000" dirty="0">
                <a:solidFill>
                  <a:srgbClr val="7030A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kowtow</a:t>
            </a:r>
          </a:p>
          <a:p>
            <a:pPr>
              <a:buNone/>
            </a:pPr>
            <a:endParaRPr lang="en-US" altLang="zh-CN" sz="3000" b="1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026" name="Picture 2" descr="C:\Wingli\Files\Screenshot Captor Files\kowtow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235" y="4509120"/>
            <a:ext cx="7157829" cy="195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36100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dirty="0"/>
              <a:t>英語吸收漢語借詞的方式</a:t>
            </a:r>
            <a:r>
              <a:rPr lang="en-US" altLang="zh-CN" dirty="0"/>
              <a:t>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0756" y="1640260"/>
            <a:ext cx="8424936" cy="1800200"/>
          </a:xfrm>
        </p:spPr>
        <p:txBody>
          <a:bodyPr/>
          <a:lstStyle/>
          <a:p>
            <a:pPr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1. 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音譯法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有的音譯借詞初借時是按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威式拼音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拼寫的，</a:t>
            </a:r>
            <a:endParaRPr lang="en-US" altLang="zh-TW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如 </a:t>
            </a:r>
            <a:r>
              <a:rPr lang="en-US" altLang="zh-TW" sz="3000" dirty="0" err="1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T’ai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chi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太極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)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Litchi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荔枝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)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等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。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gray">
          <a:xfrm>
            <a:off x="381000" y="3415060"/>
            <a:ext cx="8604448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>
              <a:spcBef>
                <a:spcPct val="20000"/>
              </a:spcBef>
            </a:pPr>
            <a:r>
              <a:rPr kumimoji="0" lang="zh-TW" altLang="en-US" sz="30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宋体" charset="-122"/>
              </a:rPr>
              <a:t>威妥瑪式拼音法（</a:t>
            </a:r>
            <a:r>
              <a:rPr kumimoji="0" lang="en-US" altLang="zh-CN" sz="30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宋体" charset="-122"/>
              </a:rPr>
              <a:t>Wade-Giles Romanization</a:t>
            </a:r>
            <a:r>
              <a:rPr kumimoji="0" lang="zh-TW" altLang="en-US" sz="30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宋体" charset="-122"/>
              </a:rPr>
              <a:t>）</a:t>
            </a:r>
            <a:r>
              <a:rPr kumimoji="0" lang="zh-TW" altLang="en-US" sz="3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， 簡稱</a:t>
            </a:r>
            <a:r>
              <a:rPr kumimoji="0" lang="zh-CN" altLang="en-US" sz="3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威式</a:t>
            </a:r>
            <a:r>
              <a:rPr kumimoji="0" lang="zh-TW" altLang="en-US" sz="3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拼音法。中國清末至</a:t>
            </a:r>
            <a:r>
              <a:rPr kumimoji="0" lang="en-US" altLang="zh-CN" sz="3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1958</a:t>
            </a:r>
            <a:r>
              <a:rPr kumimoji="0" lang="zh-TW" altLang="en-US" sz="3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年中文拼音方案公佈前，中國和國際上流行的中文拼音方案。</a:t>
            </a:r>
            <a:endParaRPr kumimoji="0" lang="en-US" altLang="zh-TW" sz="3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  <a:p>
            <a:pPr lvl="0" algn="l">
              <a:spcBef>
                <a:spcPct val="20000"/>
              </a:spcBef>
            </a:pPr>
            <a:r>
              <a:rPr kumimoji="0" lang="zh-TW" altLang="en-US" sz="3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威</a:t>
            </a:r>
            <a:r>
              <a:rPr kumimoji="0" lang="zh-CN" altLang="en-US" sz="3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式</a:t>
            </a:r>
            <a:r>
              <a:rPr kumimoji="0" lang="zh-TW" altLang="en-US" sz="3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拼音法被普遍用來拼寫中國的人名、地名等。</a:t>
            </a:r>
            <a:endParaRPr kumimoji="0" lang="en-US" altLang="zh-TW" sz="3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  <a:p>
            <a:pPr algn="l">
              <a:spcBef>
                <a:spcPct val="20000"/>
              </a:spcBef>
            </a:pPr>
            <a:r>
              <a:rPr lang="en-US" altLang="zh-CN" sz="2800" kern="0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Mao </a:t>
            </a:r>
            <a:r>
              <a:rPr lang="en-US" altLang="zh-CN" sz="2800" kern="0" dirty="0" err="1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Tse-tung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2800" i="1" kern="0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(Mao Zedong)	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Lao Tzu</a:t>
            </a:r>
            <a:r>
              <a:rPr lang="en-US" altLang="zh-CN" sz="2800" i="1" kern="0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(Lao </a:t>
            </a:r>
            <a:r>
              <a:rPr lang="en-US" altLang="zh-CN" sz="2800" i="1" kern="0" dirty="0" err="1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Zi</a:t>
            </a:r>
            <a:r>
              <a:rPr lang="en-US" altLang="zh-CN" sz="2800" i="1" kern="0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)</a:t>
            </a:r>
          </a:p>
          <a:p>
            <a:pPr lvl="0" algn="l">
              <a:spcBef>
                <a:spcPct val="20000"/>
              </a:spcBef>
            </a:pPr>
            <a:r>
              <a:rPr lang="en-US" altLang="zh-TW" sz="2800" kern="0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Canton </a:t>
            </a:r>
            <a:r>
              <a:rPr lang="en-US" altLang="zh-TW" sz="2800" i="1" kern="0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(Guangzhou)		</a:t>
            </a:r>
            <a:r>
              <a:rPr lang="en-US" altLang="zh-TW" sz="2800" kern="0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Peking (</a:t>
            </a:r>
            <a:r>
              <a:rPr lang="en-US" altLang="zh-TW" sz="2800" i="1" kern="0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Beijing</a:t>
            </a:r>
            <a:r>
              <a:rPr lang="en-US" altLang="zh-TW" sz="2800" kern="0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)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85602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英語吸收漢語借詞的方式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4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0832" y="1676400"/>
            <a:ext cx="8805664" cy="49792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1. 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音譯法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有些音譯借詞是根據漢語方言的讀音拼寫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出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來的，如 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</a:t>
            </a:r>
            <a:r>
              <a:rPr lang="en-US" altLang="zh-CN" sz="3000" dirty="0" err="1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choy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sum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	</a:t>
            </a:r>
            <a:r>
              <a:rPr lang="en-US" altLang="zh-CN" sz="3000" dirty="0" err="1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feng-shui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		</a:t>
            </a:r>
            <a:r>
              <a:rPr lang="en-US" altLang="zh-HK" sz="2800" dirty="0"/>
              <a:t> /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ˌ</a:t>
            </a:r>
            <a:r>
              <a:rPr lang="en-US" altLang="zh-HK" sz="2800" dirty="0" err="1">
                <a:latin typeface="Times New Roman" pitchFamily="18" charset="0"/>
                <a:cs typeface="Times New Roman" pitchFamily="18" charset="0"/>
              </a:rPr>
              <a:t>feŋ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 ˈ</a:t>
            </a:r>
            <a:r>
              <a:rPr lang="en-US" altLang="zh-HK" sz="2800" dirty="0" err="1">
                <a:latin typeface="Times New Roman" pitchFamily="18" charset="0"/>
                <a:cs typeface="Times New Roman" pitchFamily="18" charset="0"/>
              </a:rPr>
              <a:t>ʃuːi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/		/ˌ</a:t>
            </a:r>
            <a:r>
              <a:rPr lang="en-US" altLang="zh-HK" sz="2800" dirty="0" err="1">
                <a:latin typeface="Times New Roman" pitchFamily="18" charset="0"/>
                <a:cs typeface="Times New Roman" pitchFamily="18" charset="0"/>
              </a:rPr>
              <a:t>fʊŋ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 ˈ</a:t>
            </a:r>
            <a:r>
              <a:rPr lang="en-US" altLang="zh-HK" sz="2800" dirty="0" err="1">
                <a:latin typeface="Times New Roman" pitchFamily="18" charset="0"/>
                <a:cs typeface="Times New Roman" pitchFamily="18" charset="0"/>
              </a:rPr>
              <a:t>ʃweɪ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/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	sampan		/</a:t>
            </a:r>
            <a:r>
              <a:rPr lang="en-US" altLang="zh-HK" sz="3000" dirty="0">
                <a:latin typeface="Times New Roman" pitchFamily="18" charset="0"/>
                <a:cs typeface="Times New Roman" pitchFamily="18" charset="0"/>
              </a:rPr>
              <a:t>ˈ</a:t>
            </a:r>
            <a:r>
              <a:rPr lang="en-US" altLang="zh-HK" sz="3000" dirty="0" err="1">
                <a:latin typeface="Times New Roman" pitchFamily="18" charset="0"/>
                <a:cs typeface="Times New Roman" pitchFamily="18" charset="0"/>
              </a:rPr>
              <a:t>sæmpæn</a:t>
            </a:r>
            <a:r>
              <a:rPr lang="en-US" altLang="zh-HK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/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	mahjong		/</a:t>
            </a:r>
            <a:r>
              <a:rPr lang="en-US" altLang="zh-HK" sz="3000" dirty="0" err="1">
                <a:latin typeface="Times New Roman" pitchFamily="18" charset="0"/>
                <a:cs typeface="Times New Roman" pitchFamily="18" charset="0"/>
              </a:rPr>
              <a:t>mɑ</a:t>
            </a:r>
            <a:r>
              <a:rPr lang="en-US" altLang="zh-HK" sz="3000" dirty="0">
                <a:latin typeface="Times New Roman" pitchFamily="18" charset="0"/>
                <a:cs typeface="Times New Roman" pitchFamily="18" charset="0"/>
              </a:rPr>
              <a:t>ːˈ</a:t>
            </a:r>
            <a:r>
              <a:rPr lang="en-US" altLang="zh-HK" sz="3000" dirty="0" err="1">
                <a:latin typeface="Times New Roman" pitchFamily="18" charset="0"/>
                <a:cs typeface="Times New Roman" pitchFamily="18" charset="0"/>
              </a:rPr>
              <a:t>dʒɒŋ</a:t>
            </a:r>
            <a:r>
              <a:rPr lang="en-US" altLang="zh-HK" sz="3000" dirty="0">
                <a:latin typeface="Times New Roman" pitchFamily="18" charset="0"/>
                <a:cs typeface="Times New Roman" pitchFamily="18" charset="0"/>
              </a:rPr>
              <a:t>/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	cheongsam		/</a:t>
            </a:r>
            <a:r>
              <a:rPr lang="en-US" altLang="zh-HK" sz="3000" dirty="0" err="1">
                <a:latin typeface="Times New Roman" pitchFamily="18" charset="0"/>
                <a:cs typeface="Times New Roman" pitchFamily="18" charset="0"/>
              </a:rPr>
              <a:t>tʃɒŋˈsæm</a:t>
            </a:r>
            <a:r>
              <a:rPr lang="en-US" altLang="zh-HK" sz="3000" dirty="0">
                <a:latin typeface="Times New Roman" pitchFamily="18" charset="0"/>
                <a:cs typeface="Times New Roman" pitchFamily="18" charset="0"/>
              </a:rPr>
              <a:t>/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400" b="1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400" b="1" dirty="0">
              <a:ea typeface="宋体" charset="-12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>
              <a:ea typeface="宋体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4766293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英語吸收漢語借詞的方式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4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1196752"/>
            <a:ext cx="8352928" cy="5112568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zh-CN" sz="3000" b="1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1. 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音譯法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 err="1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choy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sum	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菜心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 err="1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feng-shui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風水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sampan	</a:t>
            </a:r>
            <a:r>
              <a:rPr lang="zh-HK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舢舨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mahjong	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麻將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cheongsam	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長衫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400" b="1" dirty="0">
              <a:ea typeface="宋体" charset="-122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400" b="1" dirty="0">
              <a:ea typeface="宋体" charset="-12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>
              <a:ea typeface="宋体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1" name="图片 10" descr="20074171541973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04048" y="2852936"/>
            <a:ext cx="3489252" cy="2904803"/>
          </a:xfrm>
          <a:prstGeom prst="rect">
            <a:avLst/>
          </a:prstGeom>
        </p:spPr>
      </p:pic>
      <p:sp>
        <p:nvSpPr>
          <p:cNvPr id="12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6241705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英語吸收漢語借詞的方式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3600" dirty="0">
              <a:ea typeface="宋体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1665" y="1752600"/>
            <a:ext cx="8424936" cy="47007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000" dirty="0">
                <a:solidFill>
                  <a:srgbClr val="7030A0"/>
                </a:solidFill>
                <a:latin typeface="Arial" pitchFamily="34" charset="0"/>
                <a:ea typeface="Gungsuh" pitchFamily="18" charset="-127"/>
                <a:cs typeface="Arial" pitchFamily="34" charset="0"/>
              </a:rPr>
              <a:t>Cheongsam</a:t>
            </a:r>
          </a:p>
          <a:p>
            <a:pPr>
              <a:buNone/>
            </a:pPr>
            <a:r>
              <a:rPr lang="en-US" altLang="zh-CN" sz="3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Gungsuh" pitchFamily="18" charset="-127"/>
                <a:cs typeface="Arial" pitchFamily="34" charset="0"/>
              </a:rPr>
              <a:t>Oxford Advanced Learner’s Dictionary</a:t>
            </a:r>
          </a:p>
          <a:p>
            <a:r>
              <a:rPr lang="en-US" altLang="zh-HK" sz="3000" dirty="0"/>
              <a:t>(</a:t>
            </a:r>
            <a:r>
              <a:rPr lang="en-US" altLang="zh-HK" sz="3000" cap="small" dirty="0"/>
              <a:t>from Chinese</a:t>
            </a:r>
            <a:r>
              <a:rPr lang="en-US" altLang="zh-HK" sz="3000" dirty="0"/>
              <a:t>)</a:t>
            </a:r>
          </a:p>
          <a:p>
            <a:r>
              <a:rPr lang="en-US" altLang="zh-HK" sz="3000" dirty="0"/>
              <a:t>a straight, tightly fitting silk dress with a high neck and short sleeves and an opening at the bottom on each side, worn by women from China and Indonesia</a:t>
            </a:r>
            <a:r>
              <a:rPr lang="en-US" altLang="zh-CN" sz="2400" dirty="0">
                <a:latin typeface="Arial" pitchFamily="34" charset="0"/>
                <a:cs typeface="Arial" pitchFamily="34" charset="0"/>
              </a:rPr>
              <a:t>   </a:t>
            </a:r>
            <a:endParaRPr lang="en-US" altLang="zh-CN" sz="2400" dirty="0">
              <a:ea typeface="宋体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92231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英語吸收漢語借詞的方式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4000" dirty="0"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752600"/>
            <a:ext cx="8424936" cy="4608512"/>
          </a:xfrm>
        </p:spPr>
        <p:txBody>
          <a:bodyPr/>
          <a:lstStyle/>
          <a:p>
            <a:pPr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2. 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意譯法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   保持漢語的內容，按照其字面意思直接翻譯成一個新詞，意譯出來的詞在英語中大多以短語形式出現。</a:t>
            </a:r>
            <a:endParaRPr lang="en-US" altLang="zh-TW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如 </a:t>
            </a:r>
            <a:r>
              <a:rPr lang="en-US" altLang="zh-CN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winter melon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, </a:t>
            </a:r>
            <a:r>
              <a:rPr lang="en-US" altLang="zh-CN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gang of four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等。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400" b="1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>
              <a:ea typeface="宋体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6948763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英語吸收漢語借詞的方式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4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1665" y="1676400"/>
            <a:ext cx="8424936" cy="4608512"/>
          </a:xfrm>
        </p:spPr>
        <p:txBody>
          <a:bodyPr/>
          <a:lstStyle/>
          <a:p>
            <a:pPr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3. 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合成法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在事物名稱或概念前加上 </a:t>
            </a:r>
            <a:r>
              <a:rPr lang="en-US" altLang="zh-TW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China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en-US" altLang="zh-TW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Chinese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en-US" altLang="zh-TW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Sino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等描寫成分，再和英語中已有的詞構成複合詞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，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如 </a:t>
            </a:r>
            <a:r>
              <a:rPr lang="en-US" altLang="zh-TW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Chinese costume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en-US" altLang="zh-TW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Chinese dragon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。</a:t>
            </a:r>
            <a:endParaRPr lang="en-US" altLang="zh-TW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這種複合外來詞還包括半音半意構成的借詞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，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如</a:t>
            </a:r>
            <a:r>
              <a:rPr lang="en-US" altLang="zh-TW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Peking Man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en-US" altLang="zh-TW" sz="3000" dirty="0" err="1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taikonaut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。</a:t>
            </a:r>
            <a:endParaRPr lang="zh-CN" altLang="en-US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36233565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英語吸收漢語借詞的方式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4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46448" y="1652464"/>
            <a:ext cx="8568952" cy="4824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Chinese costume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唐裝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Chinese dragon (</a:t>
            </a:r>
            <a:r>
              <a:rPr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龍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Peking Man (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北京猿人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taikonaut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中國宇航員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中國宇航員（由中文拼音 </a:t>
            </a:r>
            <a:r>
              <a:rPr lang="en-US" altLang="zh-TW" sz="2400" i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taikong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太空 和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astronaut 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縮合而成）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Oxford English Dictionary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中解釋為“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 Chinese astronaut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”</a:t>
            </a:r>
            <a:r>
              <a:rPr 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hlinkClick r:id="rId2"/>
              </a:rPr>
              <a:t> </a:t>
            </a:r>
            <a:r>
              <a:rPr lang="en-US" sz="17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hlinkClick r:id="rId2"/>
              </a:rPr>
              <a:t>http://www.oed.com/view/Entry/268504?redirectedFrom=taikonaut#eid</a:t>
            </a:r>
            <a:endParaRPr lang="zh-TW" altLang="en-US" sz="17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400" dirty="0">
              <a:ea typeface="宋体" charset="-12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ea typeface="宋体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370258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8125"/>
            <a:ext cx="6934200" cy="868363"/>
          </a:xfrm>
        </p:spPr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漢語吸收英語借詞的方式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4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1639888"/>
            <a:ext cx="8424936" cy="4608512"/>
          </a:xfrm>
        </p:spPr>
        <p:txBody>
          <a:bodyPr/>
          <a:lstStyle/>
          <a:p>
            <a:pPr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1.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音譯法 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transliteration</a:t>
            </a:r>
          </a:p>
          <a:p>
            <a:pPr marL="319088" indent="-50800"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按照英語原詞的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讀音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譯成借詞，</a:t>
            </a:r>
            <a:b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</a:b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如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巴士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(bus)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的士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(taxi)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多士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(toast)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AutoShape 2" descr="taxi hong kong的圖片搜尋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095750"/>
            <a:ext cx="3048000" cy="1852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095750"/>
            <a:ext cx="24669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095750"/>
            <a:ext cx="257175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35833875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漢語吸收英語借詞的方式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3600" dirty="0">
              <a:ea typeface="宋体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1639888"/>
            <a:ext cx="8424936" cy="4608512"/>
          </a:xfrm>
        </p:spPr>
        <p:txBody>
          <a:bodyPr/>
          <a:lstStyle/>
          <a:p>
            <a:pPr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2. 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半音半意譯法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  把外來詞一分為二，一半採用音譯，一半採用意譯，如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</a:t>
            </a:r>
            <a:r>
              <a:rPr lang="zh-TW" altLang="en-US" sz="3000" dirty="0">
                <a:solidFill>
                  <a:srgbClr val="FF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蛋</a:t>
            </a:r>
            <a:r>
              <a:rPr lang="zh-TW" altLang="en-US" sz="3000" dirty="0">
                <a:solidFill>
                  <a:srgbClr val="0070C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撻 </a:t>
            </a:r>
            <a:r>
              <a:rPr lang="en-US" altLang="zh-TW" sz="300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(</a:t>
            </a:r>
            <a:r>
              <a:rPr lang="en-US" altLang="zh-TW" sz="3000" dirty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egg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3000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tart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), </a:t>
            </a:r>
            <a:r>
              <a:rPr lang="zh-TW" altLang="en-US" sz="3000" dirty="0">
                <a:solidFill>
                  <a:srgbClr val="0070C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呼拉</a:t>
            </a:r>
            <a:r>
              <a:rPr lang="zh-TW" altLang="en-US" sz="3000" dirty="0">
                <a:solidFill>
                  <a:srgbClr val="FF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圈 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</a:t>
            </a:r>
            <a:r>
              <a:rPr lang="en-US" altLang="zh-TW" sz="3000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hula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-</a:t>
            </a:r>
            <a:r>
              <a:rPr lang="en-US" altLang="zh-TW" sz="3000" dirty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hoop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) 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等。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1" name="图片 10" descr="hula-hoop-946106019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86200" y="3819929"/>
            <a:ext cx="5105400" cy="2986787"/>
          </a:xfrm>
          <a:prstGeom prst="rect">
            <a:avLst/>
          </a:prstGeom>
        </p:spPr>
      </p:pic>
      <p:pic>
        <p:nvPicPr>
          <p:cNvPr id="12" name="图片 10" descr="22140a5G-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8376" y="3791743"/>
            <a:ext cx="3873624" cy="2735153"/>
          </a:xfrm>
          <a:prstGeom prst="rect">
            <a:avLst/>
          </a:prstGeom>
        </p:spPr>
      </p:pic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73341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ea typeface="宋体" charset="-122"/>
              </a:rPr>
              <a:t>hula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1639888"/>
            <a:ext cx="8424936" cy="4608512"/>
          </a:xfrm>
        </p:spPr>
        <p:txBody>
          <a:bodyPr/>
          <a:lstStyle/>
          <a:p>
            <a:pPr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夏威夷草裙舞（呼拉舞）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2" name="Picture 2" descr="C:\Wingli\Files\Screenshot Captor Files\OLDER\Screenshot - 29_06_2015 , 15_44_3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75" y="3195638"/>
            <a:ext cx="8749304" cy="305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5" descr="http://heathersanimations.com/dance2/hula3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600200"/>
            <a:ext cx="2133600" cy="163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1976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4144" y="238125"/>
            <a:ext cx="6933456" cy="868363"/>
          </a:xfrm>
        </p:spPr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漢語吸收英語借詞的方式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4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36265" y="1638648"/>
            <a:ext cx="8568952" cy="506695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3. </a:t>
            </a:r>
            <a:r>
              <a:rPr lang="zh-CN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音</a:t>
            </a:r>
            <a:r>
              <a:rPr lang="zh-TW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譯</a:t>
            </a:r>
            <a:r>
              <a:rPr lang="zh-CN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加</a:t>
            </a:r>
            <a:r>
              <a:rPr lang="zh-TW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漢語</a:t>
            </a:r>
            <a:r>
              <a:rPr lang="zh-CN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表意</a:t>
            </a:r>
            <a:r>
              <a:rPr lang="zh-TW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語</a:t>
            </a:r>
            <a:r>
              <a:rPr lang="zh-CN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素</a:t>
            </a:r>
            <a:endParaRPr lang="en-US" altLang="zh-CN" sz="3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319088" indent="-50800"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為了使借詞能更清楚地表達原詞的意義，</a:t>
            </a:r>
            <a:r>
              <a:rPr lang="zh-CN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先音譯其詞</a:t>
            </a:r>
            <a:r>
              <a:rPr lang="zh-TW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，再加上表示類屬、特徵的漢語語素。</a:t>
            </a:r>
            <a:endParaRPr lang="en-US" altLang="zh-TW" sz="3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319088" indent="-50800"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如 </a:t>
            </a:r>
            <a:r>
              <a:rPr lang="en-US" altLang="zh-TW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ballet</a:t>
            </a:r>
            <a:r>
              <a:rPr lang="zh-CN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sauna</a:t>
            </a:r>
            <a:r>
              <a:rPr lang="zh-CN" altLang="en-US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AIDS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zh-TW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芭蕾</a:t>
            </a:r>
            <a:r>
              <a:rPr lang="zh-TW" altLang="en-US" sz="3000" dirty="0">
                <a:solidFill>
                  <a:srgbClr val="0070C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舞</a:t>
            </a:r>
            <a:endParaRPr lang="en-US" altLang="zh-TW" sz="3000" dirty="0">
              <a:solidFill>
                <a:srgbClr val="0070C0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桑拿</a:t>
            </a:r>
            <a:r>
              <a:rPr lang="zh-CN" altLang="en-US" sz="3000" dirty="0">
                <a:solidFill>
                  <a:srgbClr val="0070C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浴</a:t>
            </a:r>
            <a:endParaRPr lang="en-US" altLang="zh-CN" sz="3000" dirty="0">
              <a:solidFill>
                <a:srgbClr val="0070C0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愛滋</a:t>
            </a:r>
            <a:r>
              <a:rPr lang="zh-CN" altLang="en-US" sz="3000" dirty="0">
                <a:solidFill>
                  <a:srgbClr val="0070C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病</a:t>
            </a:r>
            <a:endParaRPr lang="en-US" altLang="zh-CN" sz="3000" dirty="0">
              <a:solidFill>
                <a:srgbClr val="0070C0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91223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64704" y="238125"/>
            <a:ext cx="6826696" cy="868363"/>
          </a:xfrm>
        </p:spPr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漢語吸收英語借詞的方式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4000" dirty="0"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664" y="1716088"/>
            <a:ext cx="8424936" cy="4608512"/>
          </a:xfrm>
        </p:spPr>
        <p:txBody>
          <a:bodyPr/>
          <a:lstStyle/>
          <a:p>
            <a:pPr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4. 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音意兼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譯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marL="319088" indent="-50800"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兼顧外來詞的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讀音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和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詞義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，用接近原詞特點但又非原詞詞義的漢字進行改寫，做到「音意合璧」。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5846038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64704" y="238125"/>
            <a:ext cx="6826696" cy="868363"/>
          </a:xfrm>
        </p:spPr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漢語吸收英語借詞的方式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4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1665" y="1615108"/>
            <a:ext cx="8424936" cy="5040560"/>
          </a:xfrm>
        </p:spPr>
        <p:txBody>
          <a:bodyPr/>
          <a:lstStyle/>
          <a:p>
            <a:pPr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4. 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音意兼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譯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marL="319088" indent="-50800">
              <a:lnSpc>
                <a:spcPct val="150000"/>
              </a:lnSpc>
              <a:buNone/>
            </a:pPr>
            <a:r>
              <a:rPr lang="zh-CN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奔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馳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/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賓士 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(Benz)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zh-CN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奔騰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(Pentium) 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等給人一種快捷、高效的感覺。</a:t>
            </a:r>
            <a:endParaRPr lang="en-US" altLang="zh-TW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TW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800" b="1" dirty="0">
              <a:ea typeface="宋体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1" name="图片 10" descr="Mercedes-Benz-Driving-Experience-Competition-500x37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72303" y="3028950"/>
            <a:ext cx="2129235" cy="1534490"/>
          </a:xfrm>
          <a:prstGeom prst="rect">
            <a:avLst/>
          </a:prstGeom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799" y="3028950"/>
            <a:ext cx="2098669" cy="157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337873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64704" y="238125"/>
            <a:ext cx="6826696" cy="868363"/>
          </a:xfrm>
        </p:spPr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漢語吸收英語借詞的方式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4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664" y="1716088"/>
            <a:ext cx="8424936" cy="4608512"/>
          </a:xfrm>
        </p:spPr>
        <p:txBody>
          <a:bodyPr/>
          <a:lstStyle/>
          <a:p>
            <a:pPr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5. 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意譯法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marL="319088" indent="-50800"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按照英語外來詞的形態結構和構成原理直接翻譯成漢語借詞。</a:t>
            </a:r>
            <a:endParaRPr lang="en-US" altLang="zh-TW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marL="319088" indent="-50800"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如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跳蚤市場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(flea market)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綠色環保標誌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(green logo)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試管嬰兒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(test- tube baby)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、等。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2492422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64704" y="238125"/>
            <a:ext cx="6826696" cy="868363"/>
          </a:xfrm>
        </p:spPr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漢語吸收英語借詞的方式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4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1716088"/>
            <a:ext cx="8352928" cy="4608512"/>
          </a:xfrm>
        </p:spPr>
        <p:txBody>
          <a:bodyPr/>
          <a:lstStyle/>
          <a:p>
            <a:pPr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6. 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原文移植法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marL="319088" indent="42863"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許多英語詞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直接以英語的形式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或</a:t>
            </a:r>
            <a:r>
              <a:rPr lang="zh-TW" altLang="en-US" sz="3000" dirty="0">
                <a:solidFill>
                  <a:srgbClr val="C0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英漢夾雜的形式</a:t>
            </a: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出現在漢語中，以避免音譯或意譯繁瑣的不足。這首先包括在新聞和科技語體中運用的大量縮略語和簡稱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。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37543254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64704" y="238125"/>
            <a:ext cx="6826696" cy="868363"/>
          </a:xfrm>
        </p:spPr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漢語吸收英語借詞的方式</a:t>
            </a:r>
            <a:r>
              <a:rPr lang="en-US" altLang="zh-CN" dirty="0">
                <a:solidFill>
                  <a:srgbClr val="775F55"/>
                </a:solidFill>
              </a:rPr>
              <a:t> </a:t>
            </a:r>
            <a:endParaRPr lang="en-US" altLang="zh-CN" sz="4000" dirty="0"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1664" y="1628800"/>
            <a:ext cx="8502823" cy="45365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例：</a:t>
            </a:r>
            <a:r>
              <a:rPr lang="en-US" altLang="zh-TW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“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設置頭像的聯絡人僅支援存儲在手機中的聯絡人，若您的聯絡人存儲在</a:t>
            </a:r>
            <a:r>
              <a:rPr lang="en-US" altLang="zh-TW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卡中，請先將聯絡人複製到手機中再進行上述操作。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30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TW" altLang="en-US" sz="3000" dirty="0">
                <a:solidFill>
                  <a:srgbClr val="7030A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你知道</a:t>
            </a:r>
            <a:r>
              <a:rPr lang="en-US" altLang="zh-TW" sz="3000" dirty="0">
                <a:solidFill>
                  <a:srgbClr val="7030A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SIM</a:t>
            </a:r>
            <a:r>
              <a:rPr lang="zh-TW" altLang="en-US" sz="3000" dirty="0">
                <a:solidFill>
                  <a:srgbClr val="7030A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的全寫嗎？</a:t>
            </a:r>
            <a:endParaRPr lang="en-US" altLang="zh-CN" sz="3000" dirty="0">
              <a:solidFill>
                <a:srgbClr val="7030A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SIM (</a:t>
            </a:r>
            <a:r>
              <a:rPr lang="zh-CN" altLang="en-US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專用資料卡 </a:t>
            </a:r>
            <a:r>
              <a:rPr lang="en-US" altLang="zh-CN" sz="3000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subscriber identification module</a:t>
            </a:r>
            <a:r>
              <a:rPr lang="en-US" altLang="zh-CN" sz="3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164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453336"/>
            <a:ext cx="461665" cy="404664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2459137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本課題目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59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55152" cy="5105400"/>
          </a:xfrm>
        </p:spPr>
        <p:txBody>
          <a:bodyPr>
            <a:normAutofit/>
          </a:bodyPr>
          <a:lstStyle/>
          <a:p>
            <a:pPr>
              <a:lnSpc>
                <a:spcPts val="4200"/>
              </a:lnSpc>
            </a:pPr>
            <a:r>
              <a:rPr lang="zh-TW" altLang="en-US" sz="3000" dirty="0"/>
              <a:t>語言接觸</a:t>
            </a:r>
            <a:r>
              <a:rPr lang="en-US" altLang="zh-TW" sz="3000" dirty="0"/>
              <a:t> language contact</a:t>
            </a: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(1)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通用語 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lingua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</a:rPr>
              <a:t>francas</a:t>
            </a:r>
            <a:endParaRPr lang="en-US" sz="30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(2)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混雜語言</a:t>
            </a: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 /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皮欽語 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pidgins</a:t>
            </a:r>
          </a:p>
          <a:p>
            <a:pPr lvl="2">
              <a:lnSpc>
                <a:spcPts val="4200"/>
              </a:lnSpc>
            </a:pP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例：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Chinese Pidgin English (CPE) </a:t>
            </a: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洋涇濱英語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(3)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克里奧爾語 </a:t>
            </a: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/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歸融話 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creoles</a:t>
            </a:r>
          </a:p>
          <a:p>
            <a:pPr lvl="2">
              <a:lnSpc>
                <a:spcPts val="4200"/>
              </a:lnSpc>
            </a:pP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例：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</a:rPr>
              <a:t>Tok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</a:rPr>
              <a:t>Pisin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巴布亞皮欽語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lang="zh-TW" altLang="en-US" sz="2800" dirty="0">
                <a:solidFill>
                  <a:schemeClr val="bg1">
                    <a:lumMod val="85000"/>
                  </a:schemeClr>
                </a:solidFill>
              </a:rPr>
              <a:t>托克皮辛語</a:t>
            </a:r>
            <a:endParaRPr lang="en-US" altLang="zh-TW" sz="28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lnSpc>
                <a:spcPts val="4200"/>
              </a:lnSpc>
            </a:pPr>
            <a:r>
              <a:rPr lang="en-US" altLang="zh-HK" sz="3000" dirty="0">
                <a:solidFill>
                  <a:schemeClr val="bg1">
                    <a:lumMod val="85000"/>
                  </a:schemeClr>
                </a:solidFill>
              </a:rPr>
              <a:t>(4) </a:t>
            </a:r>
            <a:r>
              <a:rPr lang="zh-TW" altLang="en-US" sz="3000" dirty="0">
                <a:solidFill>
                  <a:schemeClr val="bg1">
                    <a:lumMod val="85000"/>
                  </a:schemeClr>
                </a:solidFill>
              </a:rPr>
              <a:t>借詞</a:t>
            </a: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</a:rPr>
              <a:t> lexical borrowing</a:t>
            </a:r>
          </a:p>
          <a:p>
            <a:pPr lvl="1">
              <a:lnSpc>
                <a:spcPts val="4200"/>
              </a:lnSpc>
            </a:pPr>
            <a:r>
              <a:rPr lang="en-US" altLang="zh-TW" sz="3000" dirty="0"/>
              <a:t>(5) </a:t>
            </a:r>
            <a:r>
              <a:rPr lang="zh-TW" altLang="en-US" sz="3000" dirty="0"/>
              <a:t>語碼轉換 </a:t>
            </a:r>
            <a:r>
              <a:rPr lang="en-HK" altLang="zh-TW" sz="3000" dirty="0"/>
              <a:t>code-switching</a:t>
            </a:r>
            <a:endParaRPr lang="en-US" altLang="zh-TW" sz="3000" dirty="0"/>
          </a:p>
          <a:p>
            <a:pPr lvl="1">
              <a:lnSpc>
                <a:spcPts val="4200"/>
              </a:lnSpc>
            </a:pPr>
            <a:endParaRPr lang="en-US" altLang="zh-TW" sz="3000" dirty="0"/>
          </a:p>
        </p:txBody>
      </p:sp>
      <p:sp>
        <p:nvSpPr>
          <p:cNvPr id="5" name="Rectangle 4"/>
          <p:cNvSpPr/>
          <p:nvPr/>
        </p:nvSpPr>
        <p:spPr>
          <a:xfrm>
            <a:off x="1371600" y="5867400"/>
            <a:ext cx="45720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022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Code-switching and code-mixing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/>
          </a:bodyPr>
          <a:lstStyle/>
          <a:p>
            <a:pPr marL="360363" indent="-360363"/>
            <a:r>
              <a:rPr lang="en-US" sz="2800" dirty="0"/>
              <a:t>code-switching </a:t>
            </a:r>
            <a:r>
              <a:rPr lang="zh-TW" altLang="en-US" sz="2800" dirty="0"/>
              <a:t>語碼轉換</a:t>
            </a:r>
            <a:r>
              <a:rPr lang="en-HK" altLang="zh-TW" sz="2800" dirty="0"/>
              <a:t>; code-mixing </a:t>
            </a:r>
            <a:r>
              <a:rPr lang="zh-TW" altLang="en-US" sz="2800" dirty="0"/>
              <a:t>語碼混合</a:t>
            </a:r>
            <a:endParaRPr lang="en-US" sz="2800" dirty="0"/>
          </a:p>
          <a:p>
            <a:pPr marL="680403" lvl="1" indent="-360363"/>
            <a:r>
              <a:rPr lang="en-US" sz="2500" dirty="0"/>
              <a:t>note that these two terms are often used interchangeably</a:t>
            </a:r>
          </a:p>
          <a:p>
            <a:pPr marL="360363" indent="-360363"/>
            <a:endParaRPr lang="en-US" sz="2800" dirty="0"/>
          </a:p>
          <a:p>
            <a:pPr marL="360363" indent="-360363"/>
            <a:r>
              <a:rPr lang="en-US" sz="2800" dirty="0">
                <a:solidFill>
                  <a:srgbClr val="C00000"/>
                </a:solidFill>
              </a:rPr>
              <a:t>code-switching</a:t>
            </a:r>
            <a:r>
              <a:rPr lang="en-US" sz="2800" dirty="0"/>
              <a:t>: switching between two or more languages or language varieties in the context of a single conversation</a:t>
            </a:r>
          </a:p>
          <a:p>
            <a:pPr marL="360363" indent="-360363"/>
            <a:endParaRPr lang="en-US" sz="2800" dirty="0"/>
          </a:p>
          <a:p>
            <a:pPr marL="360363" indent="-360363"/>
            <a:r>
              <a:rPr lang="en-US" sz="2800" dirty="0"/>
              <a:t>sometimes, “</a:t>
            </a:r>
            <a:r>
              <a:rPr lang="en-US" sz="2800" dirty="0">
                <a:solidFill>
                  <a:srgbClr val="7030A0"/>
                </a:solidFill>
              </a:rPr>
              <a:t>code-mixing</a:t>
            </a:r>
            <a:r>
              <a:rPr lang="en-US" sz="2800" dirty="0"/>
              <a:t>” is used specifically to refer to </a:t>
            </a:r>
            <a:r>
              <a:rPr lang="en-US" sz="2800" dirty="0" err="1">
                <a:solidFill>
                  <a:srgbClr val="C00000"/>
                </a:solidFill>
              </a:rPr>
              <a:t>intrasentential</a:t>
            </a:r>
            <a:r>
              <a:rPr lang="en-US" sz="2800" dirty="0"/>
              <a:t> (</a:t>
            </a:r>
            <a:r>
              <a:rPr lang="zh-TW" altLang="en-US" sz="2800" dirty="0"/>
              <a:t>句內</a:t>
            </a:r>
            <a:r>
              <a:rPr lang="en-US" sz="2800" dirty="0"/>
              <a:t>) code-switching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C88C39C-9139-48C7-8DB4-F24BCCE7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35838671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C677E7-0303-4B59-AF0D-9C1C06339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Code-switching vs. Borrowing</a:t>
            </a:r>
            <a:endParaRPr lang="en-HK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797BADA-3EE2-495E-88CB-5393431D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61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5449B0C-8C0F-4BA0-8442-5E4AFFAAC90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60363" lvl="0" indent="-360363">
              <a:spcAft>
                <a:spcPts val="600"/>
              </a:spcAft>
              <a:buClr>
                <a:srgbClr val="FE8637"/>
              </a:buClr>
            </a:pPr>
            <a:r>
              <a:rPr lang="en-US" altLang="zh-HK" sz="3200" dirty="0">
                <a:solidFill>
                  <a:prstClr val="black"/>
                </a:solidFill>
              </a:rPr>
              <a:t>code-switches: used by </a:t>
            </a:r>
            <a:r>
              <a:rPr lang="en-US" altLang="zh-HK" sz="3200" dirty="0">
                <a:solidFill>
                  <a:srgbClr val="FF0000"/>
                </a:solidFill>
              </a:rPr>
              <a:t>bilingual</a:t>
            </a:r>
            <a:r>
              <a:rPr lang="en-US" altLang="zh-HK" sz="3200" dirty="0">
                <a:solidFill>
                  <a:prstClr val="black"/>
                </a:solidFill>
              </a:rPr>
              <a:t> speakers only</a:t>
            </a:r>
          </a:p>
          <a:p>
            <a:pPr marL="360363" lvl="0" indent="-360363">
              <a:spcAft>
                <a:spcPts val="600"/>
              </a:spcAft>
              <a:buClr>
                <a:srgbClr val="FE8637"/>
              </a:buClr>
            </a:pPr>
            <a:r>
              <a:rPr lang="en-US" altLang="zh-HK" sz="3200" dirty="0">
                <a:solidFill>
                  <a:prstClr val="black"/>
                </a:solidFill>
              </a:rPr>
              <a:t>borrowings: by contrast, regularly used by </a:t>
            </a:r>
            <a:r>
              <a:rPr lang="en-US" altLang="zh-HK" sz="3200" dirty="0">
                <a:solidFill>
                  <a:srgbClr val="FF0000"/>
                </a:solidFill>
              </a:rPr>
              <a:t>monolinguals</a:t>
            </a:r>
            <a:endParaRPr lang="zh-HK" altLang="en-US" sz="3200" dirty="0">
              <a:solidFill>
                <a:prstClr val="black"/>
              </a:solidFill>
            </a:endParaRPr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108503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6664</TotalTime>
  <Words>3474</Words>
  <PresentationFormat>On-screen Show (4:3)</PresentationFormat>
  <Paragraphs>432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PMingLiU</vt:lpstr>
      <vt:lpstr>Arial</vt:lpstr>
      <vt:lpstr>Calibri</vt:lpstr>
      <vt:lpstr>Times New Roman</vt:lpstr>
      <vt:lpstr>Wingdings</vt:lpstr>
      <vt:lpstr>Wingdings 2</vt:lpstr>
      <vt:lpstr>Median</vt:lpstr>
      <vt:lpstr>CBS1A01P Fun with Language</vt:lpstr>
      <vt:lpstr>社會語言學 sociolinguistics</vt:lpstr>
      <vt:lpstr>本課題目</vt:lpstr>
      <vt:lpstr>本課題目</vt:lpstr>
      <vt:lpstr>Lingua francas 通用語</vt:lpstr>
      <vt:lpstr>Lingua francas 通用語</vt:lpstr>
      <vt:lpstr>Lingua francas 通用語</vt:lpstr>
      <vt:lpstr>Lingua francas 通用語</vt:lpstr>
      <vt:lpstr>Lingua francas 通用語</vt:lpstr>
      <vt:lpstr>Putonghua 普通話</vt:lpstr>
      <vt:lpstr>Putonghua 普通話</vt:lpstr>
      <vt:lpstr>本課題目</vt:lpstr>
      <vt:lpstr>Pidgins 混雜語言 / 皮欽語</vt:lpstr>
      <vt:lpstr>Pidgins 混雜語言 / 皮欽語</vt:lpstr>
      <vt:lpstr>Pidgins 混雜語言 / 皮欽語</vt:lpstr>
      <vt:lpstr>Pidgins 混雜語言 / 皮欽語</vt:lpstr>
      <vt:lpstr>Pidgins 混雜語言 / 皮欽語</vt:lpstr>
      <vt:lpstr>Chinese Pidgin English (CPE)</vt:lpstr>
      <vt:lpstr>Chinese Pidgin English (CPE)</vt:lpstr>
      <vt:lpstr>Chinese Pidgin English (CPE)</vt:lpstr>
      <vt:lpstr>Chinese Pidgin English (CPE)</vt:lpstr>
      <vt:lpstr>Chinese Pidgin English (CPE)</vt:lpstr>
      <vt:lpstr>Chinese Pidgin English (CPE)</vt:lpstr>
      <vt:lpstr>Chinese Pidgin English (CPE)</vt:lpstr>
      <vt:lpstr>Chinese Pidgin English (CPE)</vt:lpstr>
      <vt:lpstr>Chinese Pidgin English (CPE)</vt:lpstr>
      <vt:lpstr>Chinese Pidgin English (CPE)</vt:lpstr>
      <vt:lpstr>Chinese Pidgin English (CPE)</vt:lpstr>
      <vt:lpstr>Chinese Pidgin English (CPE)</vt:lpstr>
      <vt:lpstr>Chinese Pidgin English (CPE)</vt:lpstr>
      <vt:lpstr>Chinese Pidgin English (CPE)</vt:lpstr>
      <vt:lpstr>Chinese Pidgin English (CPE)</vt:lpstr>
      <vt:lpstr>Chinese Pidgin English (CPE)</vt:lpstr>
      <vt:lpstr>本課題目</vt:lpstr>
      <vt:lpstr>Creoles 克里奧爾語 / 歸融話</vt:lpstr>
      <vt:lpstr>Tok Pisin</vt:lpstr>
      <vt:lpstr>Tok Pisin</vt:lpstr>
      <vt:lpstr>Tok Pisin</vt:lpstr>
      <vt:lpstr>Tok Pisin</vt:lpstr>
      <vt:lpstr>Creolization</vt:lpstr>
      <vt:lpstr>Singlish</vt:lpstr>
      <vt:lpstr>本課題目</vt:lpstr>
      <vt:lpstr>借詞 lexical borrowing</vt:lpstr>
      <vt:lpstr>英語吸收漢語借詞的方式 </vt:lpstr>
      <vt:lpstr>英語吸收漢語借詞的方式 </vt:lpstr>
      <vt:lpstr>英語吸收漢語借詞的方式 </vt:lpstr>
      <vt:lpstr>英語吸收漢語借詞的方式 </vt:lpstr>
      <vt:lpstr>英語吸收漢語借詞的方式 </vt:lpstr>
      <vt:lpstr>英語吸收漢語借詞的方式 </vt:lpstr>
      <vt:lpstr>英語吸收漢語借詞的方式 </vt:lpstr>
      <vt:lpstr>英語吸收漢語借詞的方式 </vt:lpstr>
      <vt:lpstr>英語吸收漢語借詞的方式 </vt:lpstr>
      <vt:lpstr>漢語吸收英語借詞的方式 </vt:lpstr>
      <vt:lpstr>漢語吸收英語借詞的方式 </vt:lpstr>
      <vt:lpstr>hula</vt:lpstr>
      <vt:lpstr>漢語吸收英語借詞的方式 </vt:lpstr>
      <vt:lpstr>漢語吸收英語借詞的方式 </vt:lpstr>
      <vt:lpstr>漢語吸收英語借詞的方式 </vt:lpstr>
      <vt:lpstr>漢語吸收英語借詞的方式 </vt:lpstr>
      <vt:lpstr>漢語吸收英語借詞的方式 </vt:lpstr>
      <vt:lpstr>漢語吸收英語借詞的方式 </vt:lpstr>
      <vt:lpstr>本課題目</vt:lpstr>
      <vt:lpstr>Code-switching and code-mixing</vt:lpstr>
      <vt:lpstr>Code-switching vs. Borrowing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terms:modified xsi:type="dcterms:W3CDTF">2023-09-28T15:23:41Z</dcterms:modified>
</cp:coreProperties>
</file>
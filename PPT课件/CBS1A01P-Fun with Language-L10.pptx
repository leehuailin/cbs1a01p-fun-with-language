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08" r:id="rId1"/>
  </p:sldMasterIdLst>
  <p:notesMasterIdLst>
    <p:notesMasterId r:id="rId58"/>
  </p:notesMasterIdLst>
  <p:sldIdLst>
    <p:sldId id="256" r:id="rId2"/>
    <p:sldId id="671" r:id="rId3"/>
    <p:sldId id="563" r:id="rId4"/>
    <p:sldId id="564" r:id="rId5"/>
    <p:sldId id="762" r:id="rId6"/>
    <p:sldId id="819" r:id="rId7"/>
    <p:sldId id="820" r:id="rId8"/>
    <p:sldId id="821" r:id="rId9"/>
    <p:sldId id="822" r:id="rId10"/>
    <p:sldId id="823" r:id="rId11"/>
    <p:sldId id="749" r:id="rId12"/>
    <p:sldId id="636" r:id="rId13"/>
    <p:sldId id="824" r:id="rId14"/>
    <p:sldId id="825" r:id="rId15"/>
    <p:sldId id="826" r:id="rId16"/>
    <p:sldId id="827" r:id="rId17"/>
    <p:sldId id="828" r:id="rId18"/>
    <p:sldId id="829" r:id="rId19"/>
    <p:sldId id="830" r:id="rId20"/>
    <p:sldId id="565" r:id="rId21"/>
    <p:sldId id="577" r:id="rId22"/>
    <p:sldId id="566" r:id="rId23"/>
    <p:sldId id="574" r:id="rId24"/>
    <p:sldId id="588" r:id="rId25"/>
    <p:sldId id="589" r:id="rId26"/>
    <p:sldId id="775" r:id="rId27"/>
    <p:sldId id="833" r:id="rId28"/>
    <p:sldId id="571" r:id="rId29"/>
    <p:sldId id="779" r:id="rId30"/>
    <p:sldId id="780" r:id="rId31"/>
    <p:sldId id="781" r:id="rId32"/>
    <p:sldId id="782" r:id="rId33"/>
    <p:sldId id="783" r:id="rId34"/>
    <p:sldId id="784" r:id="rId35"/>
    <p:sldId id="717" r:id="rId36"/>
    <p:sldId id="679" r:id="rId37"/>
    <p:sldId id="682" r:id="rId38"/>
    <p:sldId id="683" r:id="rId39"/>
    <p:sldId id="684" r:id="rId40"/>
    <p:sldId id="703" r:id="rId41"/>
    <p:sldId id="685" r:id="rId42"/>
    <p:sldId id="687" r:id="rId43"/>
    <p:sldId id="688" r:id="rId44"/>
    <p:sldId id="689" r:id="rId45"/>
    <p:sldId id="690" r:id="rId46"/>
    <p:sldId id="705" r:id="rId47"/>
    <p:sldId id="708" r:id="rId48"/>
    <p:sldId id="691" r:id="rId49"/>
    <p:sldId id="692" r:id="rId50"/>
    <p:sldId id="693" r:id="rId51"/>
    <p:sldId id="694" r:id="rId52"/>
    <p:sldId id="695" r:id="rId53"/>
    <p:sldId id="696" r:id="rId54"/>
    <p:sldId id="697" r:id="rId55"/>
    <p:sldId id="698" r:id="rId56"/>
    <p:sldId id="841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89876" autoAdjust="0"/>
  </p:normalViewPr>
  <p:slideViewPr>
    <p:cSldViewPr>
      <p:cViewPr varScale="1">
        <p:scale>
          <a:sx n="80" d="100"/>
          <a:sy n="80" d="100"/>
        </p:scale>
        <p:origin x="180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0" y="232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C586-2683-46C2-BCAC-305DA05B874A}" type="datetimeFigureOut">
              <a:rPr lang="zh-HK" altLang="en-US" smtClean="0"/>
              <a:pPr/>
              <a:t>28/9/2023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4351-3776-481E-98A1-CBCB02763DC8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720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838EA42-25D2-4DB9-8887-2E7EFF2F62DF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B279-E0E0-4B9C-879D-9A1AC2635A71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4121661-20E4-4506-9764-447618D8CA5C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7BDC6-12CB-47C1-A63D-E1B10E2E1E5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C1EE-8741-47CB-BDAB-4594D7E250B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0654-A74A-4CE1-8F2F-DE8D65A9A78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E6E7-4172-4F21-9551-C067E02CA08D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87D3-9DD6-441B-9FD0-2F908B6E248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2A97F-8A2D-4AC5-ACAC-9AFA09DD0C93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2259-0B98-4931-9BF9-6E2DE136EC0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88FB0-BED4-4D4E-8040-AEEB62DA097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61242C-E179-4099-AE81-158C1B3A48A4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robertlindsay.wordpress.com/2009/05/29/some-scientific-intelligibility-studi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thnologue.com/1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l.org/iso639-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ling.yale.edu/sites/default/files/files/alumni%20senior%20essays/Wellman,%20Laura%20-%20Senio%20Essay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uhk.edu.hk/ics/journal/articles/v48p407.pdf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phonemica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8.png"/><Relationship Id="rId4" Type="http://schemas.openxmlformats.org/officeDocument/2006/relationships/hyperlink" Target="https://soundcloud.com/authenticjourneys/pronounce-newark-new-york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PsBRsAlbzoI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thnologue.com/statistics/size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www.unesco.org/culture/languages-atlas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vNbm53Lm3T4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english.peopledaily.com.cn/200507/22/eng20050722_197633.html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orientaldaily.on.cc/cnt/news/20111211/00176_045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hina.org.cn/english/2001/Jun/15169.htm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hina.org.cn/english/2001/Jun/15169.htm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markturin.commons.yale.edu/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KQGlt_2cjI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1828800"/>
            <a:ext cx="5334000" cy="1343028"/>
          </a:xfrm>
        </p:spPr>
        <p:txBody>
          <a:bodyPr>
            <a:normAutofit/>
          </a:bodyPr>
          <a:lstStyle/>
          <a:p>
            <a:r>
              <a:rPr lang="en-US" altLang="zh-HK" dirty="0"/>
              <a:t>CBS1A01P</a:t>
            </a:r>
            <a:br>
              <a:rPr lang="en-US" altLang="zh-HK" dirty="0"/>
            </a:br>
            <a:r>
              <a:rPr lang="en-US" altLang="zh-HK" sz="4000" dirty="0"/>
              <a:t>Fun with Language</a:t>
            </a:r>
            <a:endParaRPr lang="zh-HK" alt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657600"/>
            <a:ext cx="5349240" cy="1219200"/>
          </a:xfrm>
        </p:spPr>
        <p:txBody>
          <a:bodyPr>
            <a:noAutofit/>
          </a:bodyPr>
          <a:lstStyle/>
          <a:p>
            <a:r>
              <a:rPr lang="en-US" altLang="zh-TW" sz="3200"/>
              <a:t>Lecture 10</a:t>
            </a:r>
            <a:endParaRPr lang="en-US" altLang="zh-TW" sz="3200" dirty="0"/>
          </a:p>
          <a:p>
            <a:r>
              <a:rPr lang="zh-TW" altLang="en-US" sz="3200" dirty="0"/>
              <a:t>方言、口音、語言保育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155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今天的主題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zh-TW" altLang="en-US" sz="2800" dirty="0"/>
              <a:t>語言、方言</a:t>
            </a:r>
            <a:endParaRPr lang="en-US" altLang="zh-TW" sz="2800" dirty="0"/>
          </a:p>
          <a:p>
            <a:pPr>
              <a:lnSpc>
                <a:spcPct val="104000"/>
              </a:lnSpc>
            </a:pPr>
            <a:r>
              <a:rPr lang="zh-TW" altLang="en-US" sz="2800" dirty="0"/>
              <a:t>方言之間的分別</a:t>
            </a:r>
            <a:endParaRPr lang="en-US" altLang="zh-TW" sz="2800" dirty="0"/>
          </a:p>
          <a:p>
            <a:pPr lvl="1">
              <a:lnSpc>
                <a:spcPct val="104000"/>
              </a:lnSpc>
            </a:pPr>
            <a:r>
              <a:rPr lang="zh-TW" altLang="en-US" sz="2800" dirty="0">
                <a:solidFill>
                  <a:schemeClr val="tx1"/>
                </a:solidFill>
              </a:rPr>
              <a:t>語音：口音</a:t>
            </a:r>
            <a:r>
              <a:rPr lang="en-US" altLang="zh-TW" sz="2800" dirty="0">
                <a:solidFill>
                  <a:schemeClr val="tx1"/>
                </a:solidFill>
              </a:rPr>
              <a:t> accents</a:t>
            </a:r>
          </a:p>
          <a:p>
            <a:pPr lvl="1">
              <a:lnSpc>
                <a:spcPct val="104000"/>
              </a:lnSpc>
            </a:pPr>
            <a:r>
              <a:rPr lang="zh-TW" altLang="en-US" sz="2800" dirty="0">
                <a:solidFill>
                  <a:schemeClr val="tx1"/>
                </a:solidFill>
              </a:rPr>
              <a:t>詞匯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>
              <a:lnSpc>
                <a:spcPct val="104000"/>
              </a:lnSpc>
            </a:pPr>
            <a:r>
              <a:rPr lang="zh-TW" altLang="en-US" sz="2800" dirty="0">
                <a:solidFill>
                  <a:schemeClr val="tx1"/>
                </a:solidFill>
              </a:rPr>
              <a:t>語法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zh-TW" altLang="en-US" sz="2800" dirty="0"/>
              <a:t>語言保育</a:t>
            </a:r>
            <a:endParaRPr lang="en-US" altLang="zh-TW" sz="2800" dirty="0"/>
          </a:p>
          <a:p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18655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語言和方言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zh-TW" altLang="en-US" sz="2800" dirty="0"/>
              <a:t>語言</a:t>
            </a:r>
            <a:r>
              <a:rPr lang="en-US" altLang="zh-TW" sz="2800" dirty="0"/>
              <a:t> language </a:t>
            </a:r>
            <a:r>
              <a:rPr lang="zh-TW" altLang="en-US" sz="2800" dirty="0"/>
              <a:t>和</a:t>
            </a:r>
            <a:r>
              <a:rPr lang="en-US" altLang="zh-TW" sz="2800" dirty="0"/>
              <a:t> </a:t>
            </a:r>
            <a:r>
              <a:rPr lang="zh-TW" altLang="en-US" sz="2800" dirty="0"/>
              <a:t>方言</a:t>
            </a:r>
            <a:r>
              <a:rPr lang="en-US" altLang="zh-TW" sz="2800" dirty="0"/>
              <a:t> dialect</a:t>
            </a:r>
          </a:p>
          <a:p>
            <a:endParaRPr lang="en-US" altLang="zh-TW" sz="2800" dirty="0"/>
          </a:p>
          <a:p>
            <a:r>
              <a:rPr lang="zh-TW" altLang="en-US" sz="2800" dirty="0"/>
              <a:t>方言、地方語言：特定地理區域中，某中語言的變體 </a:t>
            </a:r>
            <a:r>
              <a:rPr lang="en-US" altLang="zh-TW" sz="2800" dirty="0">
                <a:solidFill>
                  <a:srgbClr val="C00000"/>
                </a:solidFill>
              </a:rPr>
              <a:t>a geographical variant of a language</a:t>
            </a:r>
          </a:p>
          <a:p>
            <a:endParaRPr lang="en-US" altLang="zh-TW" sz="2800" dirty="0"/>
          </a:p>
          <a:p>
            <a:r>
              <a:rPr lang="zh-TW" altLang="en-US" sz="2800" dirty="0"/>
              <a:t>目前社會語言學區別兩者的標準是以「相互溝通 </a:t>
            </a:r>
            <a:r>
              <a:rPr lang="en-US" altLang="zh-TW" sz="2800" dirty="0"/>
              <a:t>/ </a:t>
            </a:r>
            <a:r>
              <a:rPr lang="zh-TW" altLang="en-US" sz="2800" dirty="0"/>
              <a:t>相互可理解性」</a:t>
            </a:r>
            <a:r>
              <a:rPr lang="en-US" altLang="zh-TW" sz="2800" dirty="0"/>
              <a:t>(</a:t>
            </a:r>
            <a:r>
              <a:rPr lang="en-US" altLang="zh-TW" sz="2800" dirty="0">
                <a:solidFill>
                  <a:srgbClr val="C00000"/>
                </a:solidFill>
              </a:rPr>
              <a:t>mutual intelligibility</a:t>
            </a:r>
            <a:r>
              <a:rPr lang="en-US" altLang="zh-TW" sz="2800" dirty="0"/>
              <a:t>) </a:t>
            </a:r>
            <a:r>
              <a:rPr lang="zh-TW" altLang="en-US" sz="2800" dirty="0"/>
              <a:t>為基礎：</a:t>
            </a:r>
            <a:endParaRPr lang="en-US" altLang="zh-TW" sz="2800" dirty="0"/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任何可以相互溝通的稱為</a:t>
            </a:r>
            <a:r>
              <a:rPr lang="zh-TW" altLang="en-US" sz="2800" b="1" u="sng" dirty="0">
                <a:solidFill>
                  <a:srgbClr val="7030A0"/>
                </a:solidFill>
              </a:rPr>
              <a:t>方言</a:t>
            </a:r>
            <a:endParaRPr lang="en-US" altLang="zh-TW" sz="2800" b="1" u="sng" dirty="0">
              <a:solidFill>
                <a:srgbClr val="7030A0"/>
              </a:solidFill>
            </a:endParaRP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不能相互溝通的稱為</a:t>
            </a:r>
            <a:r>
              <a:rPr lang="zh-TW" altLang="en-US" sz="2800" b="1" u="sng" dirty="0">
                <a:solidFill>
                  <a:srgbClr val="7030A0"/>
                </a:solidFill>
              </a:rPr>
              <a:t>語言</a:t>
            </a:r>
            <a:endParaRPr lang="en-US" altLang="zh-TW" sz="2800" b="1" u="sng" dirty="0">
              <a:solidFill>
                <a:srgbClr val="7030A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037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語言和方言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altLang="zh-TW" sz="2800" dirty="0"/>
          </a:p>
          <a:p>
            <a:r>
              <a:rPr lang="zh-TW" altLang="en-US" sz="2800" dirty="0"/>
              <a:t>但有時候，「相互可理解性」實際上無法解釋「語言」和「方言」的區別：</a:t>
            </a:r>
            <a:endParaRPr lang="en-US" altLang="zh-TW" sz="2800" dirty="0"/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有些本來可界定為方言的，卻</a:t>
            </a:r>
            <a:r>
              <a:rPr lang="zh-TW" altLang="en-US" sz="2800" b="1" dirty="0">
                <a:solidFill>
                  <a:srgbClr val="C00000"/>
                </a:solidFill>
              </a:rPr>
              <a:t>習慣上</a:t>
            </a:r>
            <a:r>
              <a:rPr lang="zh-TW" altLang="en-US" sz="2800" dirty="0">
                <a:solidFill>
                  <a:schemeClr val="tx1"/>
                </a:solidFill>
              </a:rPr>
              <a:t>被認為是不同的語言</a:t>
            </a:r>
            <a:endParaRPr lang="en-US" altLang="zh-TW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5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語言和方言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4864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HK" sz="3000" dirty="0"/>
              <a:t>Norwegian </a:t>
            </a:r>
            <a:r>
              <a:rPr lang="zh-TW" altLang="en-US" sz="3000" dirty="0"/>
              <a:t>挪威語</a:t>
            </a:r>
            <a:endParaRPr lang="en-US" altLang="zh-TW" sz="3000" dirty="0"/>
          </a:p>
          <a:p>
            <a:r>
              <a:rPr lang="en-US" altLang="zh-TW" sz="3000" dirty="0"/>
              <a:t>Danish </a:t>
            </a:r>
            <a:r>
              <a:rPr lang="zh-TW" altLang="en-US" sz="3000" dirty="0"/>
              <a:t>丹麥語</a:t>
            </a:r>
            <a:endParaRPr lang="en-US" altLang="zh-TW" sz="3000" dirty="0"/>
          </a:p>
          <a:p>
            <a:endParaRPr lang="en-US" altLang="zh-HK" sz="3000" dirty="0"/>
          </a:p>
          <a:p>
            <a:r>
              <a:rPr lang="zh-TW" altLang="en-US" sz="3000" dirty="0"/>
              <a:t>相互溝通程度：</a:t>
            </a:r>
            <a:endParaRPr lang="en-US" altLang="zh-TW" sz="3000" dirty="0"/>
          </a:p>
          <a:p>
            <a:pPr lvl="1"/>
            <a:r>
              <a:rPr lang="en-US" altLang="zh-HK" sz="3000" b="1" i="1" dirty="0">
                <a:solidFill>
                  <a:schemeClr val="tx1"/>
                </a:solidFill>
              </a:rPr>
              <a:t>Norwegians</a:t>
            </a:r>
            <a:r>
              <a:rPr lang="en-US" altLang="zh-HK" sz="3000" i="1" dirty="0">
                <a:solidFill>
                  <a:schemeClr val="tx1"/>
                </a:solidFill>
              </a:rPr>
              <a:t> understand </a:t>
            </a:r>
            <a:r>
              <a:rPr lang="en-US" altLang="zh-TW" sz="3000" i="1" dirty="0">
                <a:solidFill>
                  <a:schemeClr val="tx1"/>
                </a:solidFill>
              </a:rPr>
              <a:t>73</a:t>
            </a:r>
            <a:r>
              <a:rPr lang="en-US" altLang="zh-HK" sz="3000" i="1" dirty="0">
                <a:solidFill>
                  <a:schemeClr val="tx1"/>
                </a:solidFill>
              </a:rPr>
              <a:t>% of spoken </a:t>
            </a:r>
            <a:r>
              <a:rPr lang="en-US" altLang="zh-TW" sz="3000" i="1" dirty="0">
                <a:solidFill>
                  <a:schemeClr val="tx1"/>
                </a:solidFill>
              </a:rPr>
              <a:t>Danish</a:t>
            </a:r>
          </a:p>
          <a:p>
            <a:pPr lvl="1"/>
            <a:r>
              <a:rPr lang="en-US" altLang="zh-HK" sz="3000" b="1" i="1" dirty="0">
                <a:solidFill>
                  <a:schemeClr val="tx1"/>
                </a:solidFill>
              </a:rPr>
              <a:t>Danes</a:t>
            </a:r>
            <a:r>
              <a:rPr lang="en-US" altLang="zh-HK" sz="3000" i="1" dirty="0">
                <a:solidFill>
                  <a:schemeClr val="tx1"/>
                </a:solidFill>
              </a:rPr>
              <a:t> understand 69% of spoken Norwegian</a:t>
            </a:r>
            <a:br>
              <a:rPr lang="en-US" altLang="zh-HK" sz="2700" i="1" dirty="0">
                <a:solidFill>
                  <a:schemeClr val="tx1"/>
                </a:solidFill>
              </a:rPr>
            </a:br>
            <a:r>
              <a:rPr lang="en-US" altLang="zh-TW" sz="1900" dirty="0"/>
              <a:t>(</a:t>
            </a:r>
            <a:r>
              <a:rPr lang="en-US" altLang="zh-HK" sz="1900" dirty="0">
                <a:hlinkClick r:id="rId2"/>
              </a:rPr>
              <a:t>http://robertlindsay.wordpress.com/2009/05/29/some-scientific-intelligibility-studies/</a:t>
            </a:r>
            <a:r>
              <a:rPr lang="en-US" altLang="zh-TW" sz="1900" dirty="0"/>
              <a:t>)</a:t>
            </a:r>
            <a:endParaRPr lang="en-US" altLang="zh-HK" sz="1900" dirty="0"/>
          </a:p>
          <a:p>
            <a:endParaRPr lang="en-US" altLang="zh-HK" sz="3000" dirty="0"/>
          </a:p>
          <a:p>
            <a:r>
              <a:rPr lang="zh-TW" altLang="en-US" sz="3000" dirty="0">
                <a:solidFill>
                  <a:srgbClr val="C00000"/>
                </a:solidFill>
              </a:rPr>
              <a:t>為甚麼是不同語言而非方言</a:t>
            </a:r>
            <a:r>
              <a:rPr lang="en-US" altLang="zh-HK" sz="3000" dirty="0">
                <a:solidFill>
                  <a:srgbClr val="C00000"/>
                </a:solidFill>
              </a:rPr>
              <a:t>?</a:t>
            </a:r>
          </a:p>
          <a:p>
            <a:endParaRPr lang="en-GB" sz="3000" dirty="0"/>
          </a:p>
        </p:txBody>
      </p:sp>
      <p:pic>
        <p:nvPicPr>
          <p:cNvPr id="5" name="Picture 3" descr="C:\Wingli\Files\Windows 7\Desktop\Denmark-Norway-Swede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169158"/>
            <a:ext cx="3116580" cy="384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7010400" y="1683273"/>
            <a:ext cx="914400" cy="2819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5873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statistics of the world’s languages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Lewis (2009):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~6900 languages in the world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389 (</a:t>
            </a:r>
            <a:r>
              <a:rPr lang="en-US" sz="2800" dirty="0">
                <a:solidFill>
                  <a:srgbClr val="C00000"/>
                </a:solidFill>
              </a:rPr>
              <a:t>~6</a:t>
            </a:r>
            <a:r>
              <a:rPr lang="en-US" sz="2800" dirty="0">
                <a:solidFill>
                  <a:schemeClr val="tx1"/>
                </a:solidFill>
              </a:rPr>
              <a:t>%) of the world’s languages have at least one million speakers and account for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94%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of the world’s population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the remaining </a:t>
            </a:r>
            <a:r>
              <a:rPr lang="en-US" sz="2800" dirty="0">
                <a:solidFill>
                  <a:srgbClr val="C00000"/>
                </a:solidFill>
              </a:rPr>
              <a:t>94%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of languages are spoken by only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6%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1"/>
                </a:solidFill>
              </a:rPr>
              <a:t>of the world’s people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languages with &gt;= 100 million native speakers:</a:t>
            </a:r>
          </a:p>
          <a:p>
            <a:pPr lvl="2"/>
            <a:r>
              <a:rPr lang="en-US" sz="2800" dirty="0"/>
              <a:t>Mandarin, Spanish, English, Arabic, Hindi, Bengali, Portuguese, Russian, Japanese</a:t>
            </a:r>
          </a:p>
          <a:p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066800" y="6334780"/>
            <a:ext cx="6934200" cy="52322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Lewis, M. P.  (Ed.), 2009. </a:t>
            </a:r>
            <a:r>
              <a:rPr lang="en-US" sz="1400" i="1" dirty="0" err="1"/>
              <a:t>Ethnologue</a:t>
            </a:r>
            <a:r>
              <a:rPr lang="en-US" sz="1400" i="1" dirty="0"/>
              <a:t>: Languages of the World,</a:t>
            </a:r>
            <a:r>
              <a:rPr lang="en-US" sz="1400" dirty="0"/>
              <a:t> (16th ed.). Dallas, Texas: SIL International. Online version: </a:t>
            </a:r>
            <a:r>
              <a:rPr lang="en-US" sz="1400" dirty="0">
                <a:hlinkClick r:id="rId2"/>
              </a:rPr>
              <a:t>http://www.ethnologue.com/16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0845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/>
              <a:t>Ethnologue</a:t>
            </a:r>
            <a:r>
              <a:rPr lang="en-US" altLang="zh-HK" dirty="0"/>
              <a:t> </a:t>
            </a:r>
            <a:r>
              <a:rPr lang="zh-TW" altLang="en-US" dirty="0"/>
              <a:t>民族語言網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HK" sz="3400" dirty="0"/>
          </a:p>
          <a:p>
            <a:r>
              <a:rPr lang="en-US" altLang="zh-HK" sz="2800" dirty="0"/>
              <a:t>“Since the fifteenth edition (2005), </a:t>
            </a:r>
            <a:r>
              <a:rPr lang="en-US" altLang="zh-HK" sz="2800" i="1" dirty="0" err="1">
                <a:solidFill>
                  <a:srgbClr val="7030A0"/>
                </a:solidFill>
              </a:rPr>
              <a:t>Ethnologue</a:t>
            </a:r>
            <a:r>
              <a:rPr lang="en-US" altLang="zh-HK" sz="2800" dirty="0"/>
              <a:t> has followed the</a:t>
            </a:r>
            <a:br>
              <a:rPr lang="en-US" altLang="zh-HK" sz="2800" dirty="0"/>
            </a:br>
            <a:r>
              <a:rPr lang="en-US" altLang="zh-HK" sz="2800" dirty="0">
                <a:solidFill>
                  <a:srgbClr val="C00000"/>
                </a:solidFill>
              </a:rPr>
              <a:t>ISO 639-3</a:t>
            </a:r>
            <a:r>
              <a:rPr lang="en-US" altLang="zh-HK" sz="2800" dirty="0"/>
              <a:t> inventory of identified languages (</a:t>
            </a:r>
            <a:r>
              <a:rPr lang="en-US" altLang="zh-HK" sz="2800" u="sng" dirty="0">
                <a:hlinkClick r:id="rId2"/>
              </a:rPr>
              <a:t>http://www.sil.org/iso639-3</a:t>
            </a:r>
            <a:r>
              <a:rPr lang="en-US" altLang="zh-HK" sz="2800" dirty="0"/>
              <a:t>) as the basis for our listing of languages.”</a:t>
            </a:r>
          </a:p>
          <a:p>
            <a:endParaRPr lang="en-US" altLang="zh-HK" dirty="0"/>
          </a:p>
          <a:p>
            <a:endParaRPr lang="zh-HK" altLang="en-US" dirty="0"/>
          </a:p>
        </p:txBody>
      </p:sp>
      <p:sp>
        <p:nvSpPr>
          <p:cNvPr id="6" name="Line Callout 2 5"/>
          <p:cNvSpPr/>
          <p:nvPr/>
        </p:nvSpPr>
        <p:spPr>
          <a:xfrm>
            <a:off x="381000" y="4495800"/>
            <a:ext cx="1295400" cy="838200"/>
          </a:xfrm>
          <a:prstGeom prst="borderCallout2">
            <a:avLst>
              <a:gd name="adj1" fmla="val -11553"/>
              <a:gd name="adj2" fmla="val 7353"/>
              <a:gd name="adj3" fmla="val -5492"/>
              <a:gd name="adj4" fmla="val 980"/>
              <a:gd name="adj5" fmla="val -177197"/>
              <a:gd name="adj6" fmla="val 4320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見下一頁</a:t>
            </a: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Line Callout 1 6"/>
          <p:cNvSpPr/>
          <p:nvPr/>
        </p:nvSpPr>
        <p:spPr>
          <a:xfrm>
            <a:off x="6477000" y="685800"/>
            <a:ext cx="2514600" cy="1371600"/>
          </a:xfrm>
          <a:prstGeom prst="borderCallout1">
            <a:avLst>
              <a:gd name="adj1" fmla="val 85594"/>
              <a:gd name="adj2" fmla="val -2993"/>
              <a:gd name="adj3" fmla="val 122933"/>
              <a:gd name="adj4" fmla="val -10723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>
                <a:solidFill>
                  <a:schemeClr val="accent5">
                    <a:lumMod val="50000"/>
                  </a:schemeClr>
                </a:solidFill>
              </a:rPr>
              <a:t>提供不同語言的使用人口、分佈等資料的網站</a:t>
            </a:r>
            <a:endParaRPr lang="en-GB" sz="2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933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/>
              <a:t>Ethnologue</a:t>
            </a:r>
            <a:r>
              <a:rPr lang="en-US" altLang="zh-HK" dirty="0"/>
              <a:t> </a:t>
            </a:r>
            <a:r>
              <a:rPr lang="zh-TW" altLang="en-US" dirty="0"/>
              <a:t>民族語言網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/>
          </a:bodyPr>
          <a:lstStyle/>
          <a:p>
            <a:pPr fontAlgn="base"/>
            <a:r>
              <a:rPr lang="en-US" altLang="zh-HK" sz="2800" dirty="0"/>
              <a:t>“The </a:t>
            </a:r>
            <a:r>
              <a:rPr lang="en-US" altLang="zh-HK" sz="2800" dirty="0">
                <a:solidFill>
                  <a:srgbClr val="7030A0"/>
                </a:solidFill>
              </a:rPr>
              <a:t>ISO 639-3 </a:t>
            </a:r>
            <a:r>
              <a:rPr lang="en-US" altLang="zh-HK" sz="2800" dirty="0"/>
              <a:t>standard applies the following basic criteria for defining a language in relation to varieties which may be considered dialects:</a:t>
            </a:r>
          </a:p>
          <a:p>
            <a:pPr lvl="1" fontAlgn="base"/>
            <a:r>
              <a:rPr lang="en-US" altLang="zh-HK" sz="2800" dirty="0">
                <a:solidFill>
                  <a:schemeClr val="tx1"/>
                </a:solidFill>
              </a:rPr>
              <a:t>Two related varieties are normally considered </a:t>
            </a:r>
            <a:r>
              <a:rPr lang="en-US" altLang="zh-HK" sz="2800" dirty="0">
                <a:solidFill>
                  <a:srgbClr val="0070C0"/>
                </a:solidFill>
              </a:rPr>
              <a:t>varieties of the same language</a:t>
            </a:r>
            <a:r>
              <a:rPr lang="en-US" altLang="zh-HK" sz="2800" dirty="0"/>
              <a:t> </a:t>
            </a:r>
            <a:r>
              <a:rPr lang="en-US" altLang="zh-HK" sz="2800" dirty="0">
                <a:solidFill>
                  <a:schemeClr val="tx1"/>
                </a:solidFill>
              </a:rPr>
              <a:t>if speakers of each variety have </a:t>
            </a:r>
            <a:r>
              <a:rPr lang="en-US" altLang="zh-HK" sz="2800" dirty="0">
                <a:solidFill>
                  <a:srgbClr val="C00000"/>
                </a:solidFill>
              </a:rPr>
              <a:t>inherent understanding of the other variety at a functional level </a:t>
            </a:r>
            <a:r>
              <a:rPr lang="en-US" altLang="zh-HK" sz="2800" dirty="0">
                <a:solidFill>
                  <a:schemeClr val="tx1"/>
                </a:solidFill>
              </a:rPr>
              <a:t>(that is, can understand based on knowledge of their own variety without needing to learn the other variety).”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6374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/>
              <a:t>Ethnologue</a:t>
            </a:r>
            <a:r>
              <a:rPr lang="en-US" altLang="zh-HK" dirty="0"/>
              <a:t> </a:t>
            </a:r>
            <a:r>
              <a:rPr lang="zh-TW" altLang="en-US" dirty="0"/>
              <a:t>民族語言網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 indent="0" fontAlgn="base">
              <a:buNone/>
            </a:pPr>
            <a:endParaRPr lang="en-US" altLang="zh-HK" sz="2900" i="1" dirty="0"/>
          </a:p>
          <a:p>
            <a:pPr marL="274320" lvl="1" indent="0" fontAlgn="base">
              <a:buNone/>
            </a:pPr>
            <a:r>
              <a:rPr lang="en-US" altLang="zh-HK" sz="2400" i="1" dirty="0">
                <a:solidFill>
                  <a:schemeClr val="tx1"/>
                </a:solidFill>
              </a:rPr>
              <a:t>(continued from the previous slide)</a:t>
            </a:r>
          </a:p>
          <a:p>
            <a:pPr lvl="1" fontAlgn="base"/>
            <a:r>
              <a:rPr lang="en-US" altLang="zh-HK" sz="2800" dirty="0">
                <a:solidFill>
                  <a:schemeClr val="tx1"/>
                </a:solidFill>
              </a:rPr>
              <a:t>“Where spoken intelligibility between varieties is marginal, the existence of </a:t>
            </a:r>
            <a:r>
              <a:rPr lang="en-US" altLang="zh-HK" sz="2800" dirty="0">
                <a:solidFill>
                  <a:srgbClr val="C00000"/>
                </a:solidFill>
              </a:rPr>
              <a:t>a common literature</a:t>
            </a:r>
            <a:r>
              <a:rPr lang="en-US" altLang="zh-HK" sz="2800" dirty="0"/>
              <a:t> </a:t>
            </a:r>
            <a:r>
              <a:rPr lang="en-US" altLang="zh-HK" sz="2800" dirty="0">
                <a:solidFill>
                  <a:schemeClr val="tx1"/>
                </a:solidFill>
              </a:rPr>
              <a:t>or of </a:t>
            </a:r>
            <a:r>
              <a:rPr lang="en-US" altLang="zh-HK" sz="2800" dirty="0">
                <a:solidFill>
                  <a:srgbClr val="C00000"/>
                </a:solidFill>
              </a:rPr>
              <a:t>a common ethnolinguistic identity</a:t>
            </a:r>
            <a:r>
              <a:rPr lang="zh-TW" altLang="en-US" sz="2800" dirty="0">
                <a:solidFill>
                  <a:schemeClr val="tx1"/>
                </a:solidFill>
              </a:rPr>
              <a:t>（語族認同）</a:t>
            </a:r>
            <a:r>
              <a:rPr lang="en-US" altLang="zh-HK" sz="2800" dirty="0">
                <a:solidFill>
                  <a:schemeClr val="tx1"/>
                </a:solidFill>
              </a:rPr>
              <a:t>with a central variety that both understand can be </a:t>
            </a:r>
            <a:r>
              <a:rPr lang="en-US" altLang="zh-HK" sz="2800" dirty="0">
                <a:solidFill>
                  <a:srgbClr val="C00000"/>
                </a:solidFill>
              </a:rPr>
              <a:t>a strong indicator </a:t>
            </a:r>
            <a:r>
              <a:rPr lang="en-US" altLang="zh-HK" sz="2800" dirty="0">
                <a:solidFill>
                  <a:schemeClr val="tx1"/>
                </a:solidFill>
              </a:rPr>
              <a:t>that they should nevertheless be considered varieties of the </a:t>
            </a:r>
            <a:r>
              <a:rPr lang="en-US" altLang="zh-HK" sz="2800" dirty="0">
                <a:solidFill>
                  <a:srgbClr val="0070C0"/>
                </a:solidFill>
              </a:rPr>
              <a:t>same</a:t>
            </a:r>
            <a:r>
              <a:rPr lang="en-US" altLang="zh-HK" sz="2800" dirty="0"/>
              <a:t> </a:t>
            </a:r>
            <a:r>
              <a:rPr lang="en-US" altLang="zh-HK" sz="2800" dirty="0">
                <a:solidFill>
                  <a:schemeClr val="tx1"/>
                </a:solidFill>
              </a:rPr>
              <a:t>language.”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498073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/>
              <a:t>Ethnologue</a:t>
            </a:r>
            <a:r>
              <a:rPr lang="en-US" altLang="zh-HK" dirty="0"/>
              <a:t> </a:t>
            </a:r>
            <a:r>
              <a:rPr lang="zh-TW" altLang="en-US" dirty="0"/>
              <a:t>民族語言網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endParaRPr lang="en-US" altLang="zh-HK" sz="2900" dirty="0"/>
          </a:p>
          <a:p>
            <a:pPr marL="274320" lvl="1" indent="0">
              <a:buNone/>
            </a:pPr>
            <a:r>
              <a:rPr lang="en-US" altLang="zh-HK" sz="2400" i="1" dirty="0">
                <a:solidFill>
                  <a:schemeClr val="tx1"/>
                </a:solidFill>
              </a:rPr>
              <a:t>(continued from the previous slide)</a:t>
            </a:r>
          </a:p>
          <a:p>
            <a:pPr lvl="1"/>
            <a:r>
              <a:rPr lang="en-US" altLang="zh-HK" sz="2800" dirty="0">
                <a:solidFill>
                  <a:schemeClr val="tx1"/>
                </a:solidFill>
              </a:rPr>
              <a:t>“Where there is enough intelligibility between varieties to enable communication, the existence of </a:t>
            </a:r>
            <a:r>
              <a:rPr lang="en-US" altLang="zh-HK" sz="2800" dirty="0">
                <a:solidFill>
                  <a:srgbClr val="C00000"/>
                </a:solidFill>
              </a:rPr>
              <a:t>well-established distinct ethnolinguistic identities </a:t>
            </a:r>
            <a:r>
              <a:rPr lang="zh-TW" altLang="en-US" sz="2800" dirty="0">
                <a:solidFill>
                  <a:schemeClr val="tx1"/>
                </a:solidFill>
              </a:rPr>
              <a:t>（語族認同）</a:t>
            </a:r>
            <a:r>
              <a:rPr lang="en-US" altLang="zh-TW" sz="2800" dirty="0">
                <a:solidFill>
                  <a:schemeClr val="tx1"/>
                </a:solidFill>
              </a:rPr>
              <a:t> </a:t>
            </a:r>
            <a:r>
              <a:rPr lang="en-US" altLang="zh-HK" sz="2800" dirty="0">
                <a:solidFill>
                  <a:schemeClr val="tx1"/>
                </a:solidFill>
              </a:rPr>
              <a:t>can be a strong indicator that they should nevertheless be </a:t>
            </a:r>
            <a:r>
              <a:rPr lang="en-US" altLang="zh-HK" sz="2800" dirty="0">
                <a:solidFill>
                  <a:srgbClr val="0070C0"/>
                </a:solidFill>
              </a:rPr>
              <a:t>considered</a:t>
            </a:r>
            <a:r>
              <a:rPr lang="en-US" altLang="zh-HK" sz="2800" dirty="0"/>
              <a:t> </a:t>
            </a:r>
            <a:r>
              <a:rPr lang="en-US" altLang="zh-HK" sz="2800" dirty="0">
                <a:solidFill>
                  <a:schemeClr val="tx1"/>
                </a:solidFill>
              </a:rPr>
              <a:t>to be </a:t>
            </a:r>
            <a:r>
              <a:rPr lang="en-US" altLang="zh-HK" sz="2800" dirty="0">
                <a:solidFill>
                  <a:srgbClr val="0070C0"/>
                </a:solidFill>
              </a:rPr>
              <a:t>different</a:t>
            </a:r>
            <a:r>
              <a:rPr lang="en-US" altLang="zh-HK" sz="2800" dirty="0"/>
              <a:t> </a:t>
            </a:r>
            <a:r>
              <a:rPr lang="en-US" altLang="zh-HK" sz="2800" dirty="0">
                <a:solidFill>
                  <a:schemeClr val="tx1"/>
                </a:solidFill>
              </a:rPr>
              <a:t>languages.”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6557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漢語方言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Norman (1988, p. 181):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“The traditional classification is mainly based on a single criterion – the development of </a:t>
            </a:r>
            <a:r>
              <a:rPr lang="en-US" sz="2800" dirty="0">
                <a:solidFill>
                  <a:srgbClr val="C00000"/>
                </a:solidFill>
              </a:rPr>
              <a:t>the Middle Chinese voiced stops</a:t>
            </a:r>
            <a:r>
              <a:rPr lang="en-US" sz="2800" dirty="0">
                <a:solidFill>
                  <a:schemeClr val="tx1"/>
                </a:solidFill>
              </a:rPr>
              <a:t> into the modern dialects.”</a:t>
            </a:r>
          </a:p>
          <a:p>
            <a:pPr lvl="2"/>
            <a:r>
              <a:rPr lang="en-US" sz="2200" dirty="0"/>
              <a:t>Norman, J. (1988). </a:t>
            </a:r>
            <a:r>
              <a:rPr lang="en-US" sz="2200" i="1" dirty="0"/>
              <a:t>Chinese</a:t>
            </a:r>
            <a:r>
              <a:rPr lang="en-US" sz="2200" dirty="0"/>
              <a:t>. Cambridge: Cambridge University Press.</a:t>
            </a:r>
            <a:endParaRPr lang="en-GB" sz="2200" dirty="0"/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r>
              <a:rPr lang="zh-TW" altLang="en-US" sz="2800" dirty="0"/>
              <a:t>林燾、王理嘉</a:t>
            </a:r>
            <a:r>
              <a:rPr lang="en-US" altLang="zh-TW" sz="2800" dirty="0"/>
              <a:t> (1995</a:t>
            </a:r>
            <a:r>
              <a:rPr lang="zh-TW" altLang="en-US" sz="2800" dirty="0"/>
              <a:t>，頁</a:t>
            </a:r>
            <a:r>
              <a:rPr lang="en-US" altLang="zh-TW" sz="2800" dirty="0"/>
              <a:t> 158)</a:t>
            </a:r>
            <a:r>
              <a:rPr lang="zh-TW" altLang="en-US" sz="2800" dirty="0"/>
              <a:t>：</a:t>
            </a:r>
            <a:endParaRPr lang="en-US" altLang="zh-TW" sz="2800" dirty="0"/>
          </a:p>
          <a:p>
            <a:pPr lvl="1"/>
            <a:r>
              <a:rPr lang="en-US" altLang="zh-TW" sz="2800" dirty="0">
                <a:solidFill>
                  <a:schemeClr val="tx1"/>
                </a:solidFill>
              </a:rPr>
              <a:t>“</a:t>
            </a:r>
            <a:r>
              <a:rPr lang="zh-TW" altLang="en-US" sz="2800" dirty="0">
                <a:solidFill>
                  <a:schemeClr val="tx1"/>
                </a:solidFill>
              </a:rPr>
              <a:t>古代的</a:t>
            </a:r>
            <a:r>
              <a:rPr lang="zh-TW" altLang="en-US" sz="2800" dirty="0">
                <a:solidFill>
                  <a:srgbClr val="C00000"/>
                </a:solidFill>
              </a:rPr>
              <a:t>全濁聲母</a:t>
            </a:r>
            <a:r>
              <a:rPr lang="zh-TW" altLang="en-US" sz="2800" dirty="0">
                <a:solidFill>
                  <a:schemeClr val="tx1"/>
                </a:solidFill>
              </a:rPr>
              <a:t>在現代漢語大多數方言裡都已經變成了全清或次清聲母，只有吳方言和湘方言還保存著全濁聲母</a:t>
            </a:r>
            <a:r>
              <a:rPr lang="en-US" altLang="zh-TW" sz="2800" dirty="0">
                <a:solidFill>
                  <a:schemeClr val="tx1"/>
                </a:solidFill>
              </a:rPr>
              <a:t>”</a:t>
            </a:r>
          </a:p>
          <a:p>
            <a:pPr lvl="2"/>
            <a:r>
              <a:rPr lang="zh-TW" altLang="en-US" sz="2200" dirty="0"/>
              <a:t>林燾、王理嘉 </a:t>
            </a:r>
            <a:r>
              <a:rPr lang="en-US" altLang="zh-TW" sz="2200" dirty="0"/>
              <a:t>(1995)</a:t>
            </a:r>
            <a:r>
              <a:rPr lang="zh-TW" altLang="en-US" sz="2200" dirty="0"/>
              <a:t>。</a:t>
            </a:r>
            <a:r>
              <a:rPr lang="zh-TW" altLang="en-US" sz="2200" i="1" dirty="0"/>
              <a:t>語音學教程</a:t>
            </a:r>
            <a:r>
              <a:rPr lang="zh-TW" altLang="en-US" sz="2200" dirty="0"/>
              <a:t>。台北：五南圖書出版公司。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321919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漢語方言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132820"/>
            <a:ext cx="8153400" cy="5420380"/>
          </a:xfrm>
        </p:spPr>
        <p:txBody>
          <a:bodyPr>
            <a:normAutofit/>
          </a:bodyPr>
          <a:lstStyle/>
          <a:p>
            <a:r>
              <a:rPr lang="zh-TW" altLang="en-US" sz="3000" dirty="0"/>
              <a:t>漢語方言</a:t>
            </a:r>
            <a:endParaRPr lang="en-US" altLang="zh-TW" sz="3000" dirty="0"/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北方方言</a:t>
            </a:r>
            <a:r>
              <a:rPr lang="en-US" altLang="zh-TW" sz="2800" dirty="0">
                <a:solidFill>
                  <a:schemeClr val="tx1"/>
                </a:solidFill>
              </a:rPr>
              <a:t>/</a:t>
            </a:r>
            <a:r>
              <a:rPr lang="zh-TW" altLang="en-US" sz="2800" dirty="0">
                <a:solidFill>
                  <a:schemeClr val="tx1"/>
                </a:solidFill>
              </a:rPr>
              <a:t>官話方言</a:t>
            </a:r>
            <a:r>
              <a:rPr lang="en-US" altLang="zh-TW" sz="2800" dirty="0">
                <a:solidFill>
                  <a:schemeClr val="tx1"/>
                </a:solidFill>
              </a:rPr>
              <a:t>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北京話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粵方言</a:t>
            </a:r>
            <a:r>
              <a:rPr lang="en-US" altLang="zh-TW" sz="2800" dirty="0">
                <a:solidFill>
                  <a:schemeClr val="tx1"/>
                </a:solidFill>
              </a:rPr>
              <a:t>		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廣州話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客家方言</a:t>
            </a:r>
            <a:r>
              <a:rPr lang="en-US" altLang="zh-TW" sz="2800" dirty="0">
                <a:solidFill>
                  <a:schemeClr val="tx1"/>
                </a:solidFill>
              </a:rPr>
              <a:t>	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梅州話</a:t>
            </a:r>
            <a:r>
              <a:rPr lang="zh-TW" altLang="en-US" sz="2800" dirty="0">
                <a:solidFill>
                  <a:schemeClr val="tx1"/>
                </a:solidFill>
              </a:rPr>
              <a:t>爲代表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閩南方言</a:t>
            </a:r>
            <a:r>
              <a:rPr lang="en-US" altLang="zh-TW" sz="2800" dirty="0">
                <a:solidFill>
                  <a:schemeClr val="tx1"/>
                </a:solidFill>
              </a:rPr>
              <a:t>	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廈門話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閩北方言</a:t>
            </a:r>
            <a:r>
              <a:rPr lang="en-US" altLang="zh-TW" sz="2800" dirty="0">
                <a:solidFill>
                  <a:schemeClr val="tx1"/>
                </a:solidFill>
              </a:rPr>
              <a:t>/</a:t>
            </a:r>
            <a:r>
              <a:rPr lang="zh-TW" altLang="en-US" sz="2800" dirty="0">
                <a:solidFill>
                  <a:schemeClr val="tx1"/>
                </a:solidFill>
              </a:rPr>
              <a:t>閩東方言</a:t>
            </a:r>
            <a:r>
              <a:rPr lang="en-US" altLang="zh-TW" sz="2800" dirty="0">
                <a:solidFill>
                  <a:schemeClr val="tx1"/>
                </a:solidFill>
              </a:rPr>
              <a:t>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福州話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r>
              <a:rPr lang="en-US" altLang="zh-TW" sz="2800" dirty="0">
                <a:solidFill>
                  <a:schemeClr val="tx1"/>
                </a:solidFill>
              </a:rPr>
              <a:t>	</a:t>
            </a: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贛方言</a:t>
            </a:r>
            <a:r>
              <a:rPr lang="en-US" altLang="zh-TW" sz="2800" dirty="0">
                <a:solidFill>
                  <a:schemeClr val="tx1"/>
                </a:solidFill>
              </a:rPr>
              <a:t>		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南昌話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湘方言</a:t>
            </a:r>
            <a:r>
              <a:rPr lang="en-US" altLang="zh-TW" sz="2800" dirty="0">
                <a:solidFill>
                  <a:schemeClr val="tx1"/>
                </a:solidFill>
              </a:rPr>
              <a:t>		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長沙話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1"/>
            <a:r>
              <a:rPr lang="zh-TW" altLang="en-US" sz="2800" dirty="0">
                <a:solidFill>
                  <a:schemeClr val="tx1"/>
                </a:solidFill>
              </a:rPr>
              <a:t>吳方言</a:t>
            </a:r>
            <a:r>
              <a:rPr lang="en-US" altLang="zh-TW" sz="2800" dirty="0">
                <a:solidFill>
                  <a:schemeClr val="tx1"/>
                </a:solidFill>
              </a:rPr>
              <a:t>				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u="sng" dirty="0">
                <a:solidFill>
                  <a:schemeClr val="tx1"/>
                </a:solidFill>
              </a:rPr>
              <a:t>蘇州話</a:t>
            </a:r>
            <a:r>
              <a:rPr lang="zh-TW" altLang="en-US" sz="2800" dirty="0">
                <a:solidFill>
                  <a:schemeClr val="tx1"/>
                </a:solidFill>
              </a:rPr>
              <a:t>為代表</a:t>
            </a:r>
            <a:endParaRPr lang="en-US" altLang="zh-TW" sz="2800" dirty="0">
              <a:solidFill>
                <a:schemeClr val="tx1"/>
              </a:solidFill>
            </a:endParaRPr>
          </a:p>
          <a:p>
            <a:endParaRPr lang="zh-HK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2895600" y="609600"/>
            <a:ext cx="5943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/>
              <a:t>主要以與中古漢語的繼承關係來劃分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423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漢語方言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 descr="C:\Wingli\Files\Screenshot Captor Files\OLDER\Screenshot - 22_06_2015 , 16_05_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82" y="76200"/>
            <a:ext cx="7533718" cy="626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14741" y="6397823"/>
            <a:ext cx="7272059" cy="307777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400" dirty="0"/>
              <a:t>周玟慧（</a:t>
            </a:r>
            <a:r>
              <a:rPr lang="en-US" altLang="zh-TW" sz="1400" dirty="0"/>
              <a:t>2005</a:t>
            </a:r>
            <a:r>
              <a:rPr lang="zh-TW" altLang="en-US" sz="1400" dirty="0"/>
              <a:t>）。從中古音方言層重探</a:t>
            </a:r>
            <a:r>
              <a:rPr lang="en-US" altLang="zh-TW" sz="1400" dirty="0"/>
              <a:t>《</a:t>
            </a:r>
            <a:r>
              <a:rPr lang="zh-TW" altLang="en-US" sz="1400" dirty="0"/>
              <a:t>切韻</a:t>
            </a:r>
            <a:r>
              <a:rPr lang="en-US" altLang="zh-TW" sz="1400" dirty="0"/>
              <a:t>》</a:t>
            </a:r>
            <a:r>
              <a:rPr lang="zh-TW" altLang="en-US" sz="1400" dirty="0"/>
              <a:t>性質（頁</a:t>
            </a:r>
            <a:r>
              <a:rPr lang="en-US" altLang="zh-TW" sz="1400" dirty="0"/>
              <a:t>114</a:t>
            </a:r>
            <a:r>
              <a:rPr lang="zh-TW" altLang="en-US" sz="1400" dirty="0"/>
              <a:t>）。國立臺灣大學出版中心。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1594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漢語方言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例子：上海話</a:t>
            </a:r>
            <a:endParaRPr lang="en-US" altLang="zh-TW" dirty="0"/>
          </a:p>
          <a:p>
            <a:r>
              <a:rPr lang="en-US" altLang="zh-TW" sz="2200" dirty="0"/>
              <a:t>Wellman, L. (2013). </a:t>
            </a:r>
            <a:r>
              <a:rPr lang="en-US" altLang="zh-TW" sz="2200" dirty="0" err="1"/>
              <a:t>Pudong</a:t>
            </a:r>
            <a:r>
              <a:rPr lang="en-US" altLang="zh-TW" sz="2200" dirty="0"/>
              <a:t> and Putonghua: Sound Change and Language Shift in Shanghai.</a:t>
            </a:r>
            <a:br>
              <a:rPr lang="en-US" altLang="zh-TW" sz="2200" dirty="0"/>
            </a:br>
            <a:r>
              <a:rPr lang="en-US" altLang="zh-TW" sz="1600" dirty="0">
                <a:hlinkClick r:id="rId2"/>
              </a:rPr>
              <a:t>http://ling.yale.edu/sites/default/files/files/alumni%20senior%20essays/Wellman,%20Laura%20-%20Senio%20Essay.pdf</a:t>
            </a:r>
            <a:endParaRPr lang="en-US" altLang="zh-TW" sz="1600" dirty="0"/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“Shanghainese voiced stops, affricates and fricatives are only truly voiced inter-vocalically [</a:t>
            </a:r>
            <a:r>
              <a:rPr lang="zh-TW" altLang="en-US" sz="1800" dirty="0">
                <a:solidFill>
                  <a:schemeClr val="tx1"/>
                </a:solidFill>
              </a:rPr>
              <a:t>出現在元音之間</a:t>
            </a:r>
            <a:r>
              <a:rPr lang="en-US" sz="1800" dirty="0">
                <a:solidFill>
                  <a:schemeClr val="tx1"/>
                </a:solidFill>
              </a:rPr>
              <a:t>]”</a:t>
            </a:r>
            <a:endParaRPr lang="en-US" altLang="zh-TW" sz="1800" dirty="0">
              <a:solidFill>
                <a:schemeClr val="tx1"/>
              </a:solidFill>
            </a:endParaRPr>
          </a:p>
        </p:txBody>
      </p:sp>
      <p:pic>
        <p:nvPicPr>
          <p:cNvPr id="5122" name="Picture 2" descr="C:\Wingli\Files\Screenshot Captor Files\OLDER\Screenshot - 22_06_2015 , 16_37_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691041"/>
            <a:ext cx="8909488" cy="270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57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粵方言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TW" sz="2800" dirty="0"/>
              <a:t>《</a:t>
            </a:r>
            <a:r>
              <a:rPr lang="zh-TW" altLang="en-US" sz="2800" dirty="0">
                <a:latin typeface="+mn-ea"/>
              </a:rPr>
              <a:t>中國大百科全書</a:t>
            </a:r>
            <a:r>
              <a:rPr lang="en-US" altLang="zh-TW" sz="2800" dirty="0"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TW" altLang="en-US" sz="2800" dirty="0">
                <a:latin typeface="+mn-ea"/>
              </a:rPr>
              <a:t>語言文字</a:t>
            </a:r>
            <a:r>
              <a:rPr lang="en-US" altLang="zh-TW" sz="2800" dirty="0"/>
              <a:t>》</a:t>
            </a:r>
            <a:r>
              <a:rPr lang="zh-TW" altLang="en-US" sz="2800" dirty="0"/>
              <a:t>（</a:t>
            </a:r>
            <a:r>
              <a:rPr lang="en-US" altLang="zh-TW" sz="2800" dirty="0"/>
              <a:t>1988</a:t>
            </a:r>
            <a:r>
              <a:rPr lang="zh-TW" altLang="en-US" sz="2800" dirty="0"/>
              <a:t>）。上海：中國大百科全書出版社：</a:t>
            </a:r>
            <a:endParaRPr lang="en-US" altLang="zh-TW" sz="2800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altLang="zh-TW" sz="2800" dirty="0">
                <a:solidFill>
                  <a:schemeClr val="tx1"/>
                </a:solidFill>
              </a:rPr>
              <a:t>“</a:t>
            </a:r>
            <a:r>
              <a:rPr lang="zh-TW" altLang="en-US" sz="2800" dirty="0">
                <a:solidFill>
                  <a:schemeClr val="tx1"/>
                </a:solidFill>
              </a:rPr>
              <a:t>粵方言又稱粵語，俗稱廣東話、廣府話，當地人稱</a:t>
            </a:r>
            <a:r>
              <a:rPr lang="zh-TW" altLang="en-US" sz="2800" dirty="0">
                <a:solidFill>
                  <a:srgbClr val="C00000"/>
                </a:solidFill>
              </a:rPr>
              <a:t>白話</a:t>
            </a:r>
            <a:r>
              <a:rPr lang="zh-TW" altLang="en-US" sz="2800" dirty="0">
                <a:solidFill>
                  <a:schemeClr val="tx1"/>
                </a:solidFill>
              </a:rPr>
              <a:t>，是漢語七大方言區中，語言現象較為複雜，保留古音特點和古詞語較多、內部分歧較小的一個方言。通行地域包括廣東及廣西境內，以廣州話為中心。使用人口約</a:t>
            </a:r>
            <a:r>
              <a:rPr lang="en-US" altLang="zh-TW" sz="2800" dirty="0">
                <a:solidFill>
                  <a:schemeClr val="tx1"/>
                </a:solidFill>
              </a:rPr>
              <a:t>4000</a:t>
            </a:r>
            <a:r>
              <a:rPr lang="zh-TW" altLang="en-US" sz="2800" dirty="0">
                <a:solidFill>
                  <a:schemeClr val="tx1"/>
                </a:solidFill>
              </a:rPr>
              <a:t>萬。</a:t>
            </a:r>
            <a:r>
              <a:rPr lang="en-US" altLang="zh-TW" sz="2800" dirty="0">
                <a:solidFill>
                  <a:schemeClr val="tx1"/>
                </a:solidFill>
              </a:rPr>
              <a:t>”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76798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粵方言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《</a:t>
            </a:r>
            <a:r>
              <a:rPr lang="zh-TW" altLang="en-US" sz="2800" dirty="0">
                <a:latin typeface="+mn-ea"/>
              </a:rPr>
              <a:t>中國大百科全書</a:t>
            </a:r>
            <a:r>
              <a:rPr lang="en-US" altLang="zh-TW" sz="2800" dirty="0"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TW" altLang="en-US" sz="2800" dirty="0">
                <a:latin typeface="+mn-ea"/>
              </a:rPr>
              <a:t>語言文字</a:t>
            </a:r>
            <a:r>
              <a:rPr lang="en-US" altLang="zh-TW" sz="2800" dirty="0"/>
              <a:t>》</a:t>
            </a:r>
            <a:r>
              <a:rPr lang="zh-TW" altLang="en-US" sz="2800" dirty="0"/>
              <a:t>（</a:t>
            </a:r>
            <a:r>
              <a:rPr lang="en-US" altLang="zh-TW" sz="2800" dirty="0"/>
              <a:t>1988</a:t>
            </a:r>
            <a:r>
              <a:rPr lang="zh-TW" altLang="en-US" sz="2800" dirty="0"/>
              <a:t>）。上海：中國大百科全書出版社：</a:t>
            </a:r>
            <a:endParaRPr lang="en-US" altLang="zh-TW" sz="2800" dirty="0"/>
          </a:p>
          <a:p>
            <a:pPr lvl="1">
              <a:lnSpc>
                <a:spcPct val="106000"/>
              </a:lnSpc>
            </a:pPr>
            <a:r>
              <a:rPr lang="en-US" altLang="zh-TW" sz="2800" dirty="0">
                <a:solidFill>
                  <a:schemeClr val="tx1"/>
                </a:solidFill>
              </a:rPr>
              <a:t>“</a:t>
            </a:r>
            <a:r>
              <a:rPr lang="zh-TW" altLang="en-US" sz="2800" dirty="0">
                <a:solidFill>
                  <a:schemeClr val="tx1"/>
                </a:solidFill>
              </a:rPr>
              <a:t>粵方言通行地區大致有三：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一</a:t>
            </a:r>
            <a:r>
              <a:rPr lang="en-US" altLang="zh-TW" sz="2800" dirty="0">
                <a:solidFill>
                  <a:schemeClr val="tx1"/>
                </a:solidFill>
              </a:rPr>
              <a:t>.  </a:t>
            </a:r>
            <a:r>
              <a:rPr lang="zh-TW" altLang="en-US" sz="2800" dirty="0">
                <a:solidFill>
                  <a:srgbClr val="C00000"/>
                </a:solidFill>
              </a:rPr>
              <a:t>廣東省境內</a:t>
            </a:r>
            <a:r>
              <a:rPr lang="zh-TW" altLang="en-US" sz="2800" dirty="0">
                <a:solidFill>
                  <a:schemeClr val="tx1"/>
                </a:solidFill>
              </a:rPr>
              <a:t>純粹屬粵方言或以粵方言為主的縣市有</a:t>
            </a:r>
            <a:r>
              <a:rPr lang="en-US" altLang="zh-TW" sz="2800" dirty="0">
                <a:solidFill>
                  <a:schemeClr val="tx1"/>
                </a:solidFill>
              </a:rPr>
              <a:t>47</a:t>
            </a:r>
            <a:r>
              <a:rPr lang="zh-TW" altLang="en-US" sz="2800" dirty="0">
                <a:solidFill>
                  <a:schemeClr val="tx1"/>
                </a:solidFill>
              </a:rPr>
              <a:t>個，佔全省面積三份之一以上，其中包括廣州、佛山、肇慶、台山、香港等。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二</a:t>
            </a:r>
            <a:r>
              <a:rPr lang="en-US" altLang="zh-TW" sz="2800" dirty="0">
                <a:solidFill>
                  <a:schemeClr val="tx1"/>
                </a:solidFill>
              </a:rPr>
              <a:t>. </a:t>
            </a:r>
            <a:r>
              <a:rPr lang="zh-TW" altLang="en-US" sz="2800" dirty="0">
                <a:solidFill>
                  <a:schemeClr val="tx1"/>
                </a:solidFill>
              </a:rPr>
              <a:t> </a:t>
            </a:r>
            <a:r>
              <a:rPr lang="zh-TW" altLang="en-US" sz="2800" dirty="0">
                <a:solidFill>
                  <a:srgbClr val="C00000"/>
                </a:solidFill>
              </a:rPr>
              <a:t>廣西壯族自治區</a:t>
            </a:r>
            <a:r>
              <a:rPr lang="zh-TW" altLang="en-US" sz="2800" dirty="0">
                <a:solidFill>
                  <a:schemeClr val="tx1"/>
                </a:solidFill>
              </a:rPr>
              <a:t>通行粵方言的縣市有</a:t>
            </a:r>
            <a:r>
              <a:rPr lang="en-US" altLang="zh-TW" sz="2800" dirty="0">
                <a:solidFill>
                  <a:schemeClr val="tx1"/>
                </a:solidFill>
              </a:rPr>
              <a:t>23</a:t>
            </a:r>
            <a:r>
              <a:rPr lang="zh-TW" altLang="en-US" sz="2800" dirty="0">
                <a:solidFill>
                  <a:schemeClr val="tx1"/>
                </a:solidFill>
              </a:rPr>
              <a:t>個，包括南寧、橫縣、貴縣、桂平等。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三</a:t>
            </a:r>
            <a:r>
              <a:rPr lang="en-US" altLang="zh-TW" sz="2800" dirty="0">
                <a:solidFill>
                  <a:schemeClr val="tx1"/>
                </a:solidFill>
              </a:rPr>
              <a:t>. </a:t>
            </a:r>
            <a:r>
              <a:rPr lang="zh-TW" altLang="en-US" sz="2800" dirty="0">
                <a:solidFill>
                  <a:schemeClr val="tx1"/>
                </a:solidFill>
              </a:rPr>
              <a:t> </a:t>
            </a:r>
            <a:r>
              <a:rPr lang="zh-TW" altLang="en-US" sz="2800" dirty="0">
                <a:solidFill>
                  <a:srgbClr val="C00000"/>
                </a:solidFill>
              </a:rPr>
              <a:t>海外</a:t>
            </a:r>
            <a:r>
              <a:rPr lang="zh-TW" altLang="en-US" sz="2800" dirty="0">
                <a:solidFill>
                  <a:schemeClr val="tx1"/>
                </a:solidFill>
              </a:rPr>
              <a:t>華僑及華裔中以粵方言為母語的也很多，主要分佈在東南亞、南北美洲、澳大利亞等。美洲的華僑和華裔幾乎百份之九十以上的祖籍都是粵方言區。</a:t>
            </a:r>
            <a:r>
              <a:rPr lang="en-US" altLang="zh-TW" sz="2800" dirty="0">
                <a:solidFill>
                  <a:schemeClr val="tx1"/>
                </a:solidFill>
              </a:rPr>
              <a:t>”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39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粵方言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727CA3"/>
              </a:buClr>
            </a:pPr>
            <a:r>
              <a:rPr lang="en-US" altLang="zh-TW" sz="2800" dirty="0"/>
              <a:t>《</a:t>
            </a:r>
            <a:r>
              <a:rPr lang="zh-TW" altLang="en-US" sz="2800" dirty="0">
                <a:latin typeface="新細明體"/>
              </a:rPr>
              <a:t>中國大百科全書</a:t>
            </a:r>
            <a:r>
              <a:rPr lang="en-US" altLang="zh-TW" sz="2800" dirty="0"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TW" altLang="en-US" sz="2800" dirty="0">
                <a:latin typeface="新細明體"/>
              </a:rPr>
              <a:t>語言文字</a:t>
            </a:r>
            <a:r>
              <a:rPr lang="en-US" altLang="zh-TW" sz="2800" dirty="0"/>
              <a:t>》</a:t>
            </a:r>
            <a:r>
              <a:rPr lang="zh-TW" altLang="en-US" sz="2800" dirty="0"/>
              <a:t>（</a:t>
            </a:r>
            <a:r>
              <a:rPr lang="en-US" altLang="zh-TW" sz="2800" dirty="0"/>
              <a:t>1988</a:t>
            </a:r>
            <a:r>
              <a:rPr lang="zh-TW" altLang="en-US" sz="2800" dirty="0"/>
              <a:t>）。上海：中國大百科全書出版社：</a:t>
            </a:r>
            <a:endParaRPr lang="en-US" altLang="zh-TW" sz="2800" dirty="0"/>
          </a:p>
          <a:p>
            <a:pPr lvl="1">
              <a:buClr>
                <a:srgbClr val="727CA3"/>
              </a:buClr>
            </a:pPr>
            <a:r>
              <a:rPr lang="en-US" altLang="zh-TW" sz="2800" dirty="0">
                <a:solidFill>
                  <a:schemeClr val="tx1"/>
                </a:solidFill>
              </a:rPr>
              <a:t>“</a:t>
            </a:r>
            <a:r>
              <a:rPr lang="zh-TW" altLang="en-US" sz="2800" dirty="0">
                <a:solidFill>
                  <a:schemeClr val="tx1"/>
                </a:solidFill>
              </a:rPr>
              <a:t>粵方言區內部按其語言特點及地理分佈可以分為</a:t>
            </a:r>
            <a:r>
              <a:rPr lang="en-US" altLang="zh-TW" sz="2800" dirty="0">
                <a:solidFill>
                  <a:schemeClr val="tx1"/>
                </a:solidFill>
              </a:rPr>
              <a:t>4</a:t>
            </a:r>
            <a:r>
              <a:rPr lang="zh-TW" altLang="en-US" sz="2800" dirty="0">
                <a:solidFill>
                  <a:schemeClr val="tx1"/>
                </a:solidFill>
              </a:rPr>
              <a:t>部份。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一</a:t>
            </a:r>
            <a:r>
              <a:rPr lang="en-US" altLang="zh-TW" sz="2800" dirty="0">
                <a:solidFill>
                  <a:schemeClr val="tx1"/>
                </a:solidFill>
              </a:rPr>
              <a:t>.  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dirty="0">
                <a:solidFill>
                  <a:srgbClr val="C00000"/>
                </a:solidFill>
              </a:rPr>
              <a:t>廣州話</a:t>
            </a:r>
            <a:r>
              <a:rPr lang="zh-TW" altLang="en-US" sz="2800" dirty="0">
                <a:solidFill>
                  <a:schemeClr val="tx1"/>
                </a:solidFill>
              </a:rPr>
              <a:t>為代表，是粵方言中使用人口最多、通行範圍最廣的。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二</a:t>
            </a:r>
            <a:r>
              <a:rPr lang="en-US" altLang="zh-TW" sz="2800" dirty="0">
                <a:solidFill>
                  <a:schemeClr val="tx1"/>
                </a:solidFill>
              </a:rPr>
              <a:t>.  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dirty="0">
                <a:solidFill>
                  <a:srgbClr val="C00000"/>
                </a:solidFill>
              </a:rPr>
              <a:t>台山話</a:t>
            </a:r>
            <a:r>
              <a:rPr lang="zh-TW" altLang="en-US" sz="2800" dirty="0">
                <a:solidFill>
                  <a:schemeClr val="tx1"/>
                </a:solidFill>
              </a:rPr>
              <a:t>為代表。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三</a:t>
            </a:r>
            <a:r>
              <a:rPr lang="en-US" altLang="zh-TW" sz="2800" dirty="0">
                <a:solidFill>
                  <a:schemeClr val="tx1"/>
                </a:solidFill>
              </a:rPr>
              <a:t>.  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dirty="0">
                <a:solidFill>
                  <a:srgbClr val="C00000"/>
                </a:solidFill>
              </a:rPr>
              <a:t>陽江話</a:t>
            </a:r>
            <a:r>
              <a:rPr lang="zh-TW" altLang="en-US" sz="2800" dirty="0">
                <a:solidFill>
                  <a:schemeClr val="tx1"/>
                </a:solidFill>
              </a:rPr>
              <a:t>為代表。</a:t>
            </a:r>
            <a:br>
              <a:rPr lang="en-US" altLang="zh-TW" sz="2800" dirty="0">
                <a:solidFill>
                  <a:schemeClr val="tx1"/>
                </a:solidFill>
              </a:rPr>
            </a:br>
            <a:r>
              <a:rPr lang="zh-TW" altLang="en-US" sz="2800" dirty="0">
                <a:solidFill>
                  <a:schemeClr val="tx1"/>
                </a:solidFill>
              </a:rPr>
              <a:t>四</a:t>
            </a:r>
            <a:r>
              <a:rPr lang="en-US" altLang="zh-TW" sz="2800" dirty="0">
                <a:solidFill>
                  <a:schemeClr val="tx1"/>
                </a:solidFill>
              </a:rPr>
              <a:t>.  </a:t>
            </a:r>
            <a:r>
              <a:rPr lang="zh-TW" altLang="en-US" sz="2800" dirty="0">
                <a:solidFill>
                  <a:schemeClr val="tx1"/>
                </a:solidFill>
              </a:rPr>
              <a:t>以</a:t>
            </a:r>
            <a:r>
              <a:rPr lang="zh-TW" altLang="en-US" sz="2800" dirty="0">
                <a:solidFill>
                  <a:srgbClr val="C00000"/>
                </a:solidFill>
              </a:rPr>
              <a:t>南寧話</a:t>
            </a:r>
            <a:r>
              <a:rPr lang="zh-TW" altLang="en-US" sz="2800" dirty="0">
                <a:solidFill>
                  <a:schemeClr val="tx1"/>
                </a:solidFill>
              </a:rPr>
              <a:t>為代表。</a:t>
            </a:r>
            <a:r>
              <a:rPr lang="en-US" altLang="zh-TW" sz="2800" dirty="0">
                <a:solidFill>
                  <a:schemeClr val="tx1"/>
                </a:solidFill>
              </a:rPr>
              <a:t>”</a:t>
            </a:r>
            <a:endParaRPr lang="zh-TW" altLang="en-US" sz="2800" dirty="0">
              <a:solidFill>
                <a:schemeClr val="tx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0194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粵方言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5090160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張雙慶、莊初昇（</a:t>
            </a:r>
            <a:r>
              <a:rPr lang="en-US" altLang="zh-TW" sz="2400" dirty="0"/>
              <a:t>2008</a:t>
            </a:r>
            <a:r>
              <a:rPr lang="zh-TW" altLang="en-US" sz="2400" dirty="0"/>
              <a:t>）。廣東方言的地理格局與自然地理及歷史地理的關係。</a:t>
            </a:r>
            <a:r>
              <a:rPr lang="en-US" altLang="zh-TW" sz="2400" dirty="0"/>
              <a:t>《</a:t>
            </a:r>
            <a:r>
              <a:rPr lang="zh-TW" altLang="en-US" sz="2400" dirty="0"/>
              <a:t>中國文化研究所學報</a:t>
            </a:r>
            <a:r>
              <a:rPr lang="en-US" altLang="zh-TW" sz="2400" dirty="0"/>
              <a:t>》</a:t>
            </a:r>
            <a:r>
              <a:rPr lang="zh-TW" altLang="en-US" sz="2400" dirty="0"/>
              <a:t>。</a:t>
            </a:r>
            <a:endParaRPr lang="en-GB" sz="2400" dirty="0"/>
          </a:p>
        </p:txBody>
      </p:sp>
      <p:pic>
        <p:nvPicPr>
          <p:cNvPr id="3074" name="Picture 2" descr="C:\Wingli\Files\Windows 7\Desktop\Cantonese dialects, classificat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90615"/>
            <a:ext cx="7743496" cy="496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86000" y="768725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http://www.cuhk.edu.hk/ics/journal/articles/v48p407.pdf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4151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鄉音苑 </a:t>
            </a:r>
            <a:r>
              <a:rPr lang="en-US" altLang="zh-HK" dirty="0">
                <a:hlinkClick r:id="rId2"/>
              </a:rPr>
              <a:t>http://phonemica.net/</a:t>
            </a:r>
            <a:endParaRPr lang="zh-HK" alt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1676400"/>
            <a:ext cx="6856475" cy="26455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416215"/>
            <a:ext cx="6357175" cy="2305895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819993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語言和方言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 sz="3000" dirty="0"/>
          </a:p>
          <a:p>
            <a:r>
              <a:rPr lang="zh-TW" altLang="en-US" sz="2800" dirty="0"/>
              <a:t>許多人誤以為語言才是標準的，是教育、廣播、政府機關必須使用的唯一語言，而方言則是地方性、鄉土性的溝通工具，不能登大雅之堂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其實這種看法並不正確，因為任何語言都有至少一個以上的方言，而其中的一個方言必然會成為優勢方言，並扮演標準的角色</a:t>
            </a:r>
            <a:endParaRPr lang="en-US" altLang="zh-TW" sz="2800" dirty="0"/>
          </a:p>
          <a:p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70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方言之間的分別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z="2800" dirty="0"/>
          </a:p>
          <a:p>
            <a:r>
              <a:rPr lang="en-US" sz="2800" dirty="0"/>
              <a:t>Phonological differences </a:t>
            </a:r>
            <a:r>
              <a:rPr lang="zh-TW" altLang="en-US" sz="2800" dirty="0"/>
              <a:t>語音</a:t>
            </a:r>
            <a:endParaRPr lang="en-US" sz="2800" dirty="0"/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800" dirty="0"/>
              <a:t>accent </a:t>
            </a:r>
            <a:r>
              <a:rPr lang="zh-TW" altLang="en-US" sz="2800" dirty="0"/>
              <a:t>口音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Lexical differences </a:t>
            </a:r>
            <a:r>
              <a:rPr lang="zh-TW" altLang="en-US" sz="2800" dirty="0"/>
              <a:t>詞匯</a:t>
            </a:r>
            <a:endParaRPr lang="en-US" sz="2800" dirty="0"/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800" dirty="0"/>
              <a:t>words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800" dirty="0"/>
              <a:t>spelling</a:t>
            </a:r>
          </a:p>
          <a:p>
            <a:endParaRPr lang="en-US" sz="2800" dirty="0"/>
          </a:p>
          <a:p>
            <a:r>
              <a:rPr lang="en-US" sz="2800" dirty="0"/>
              <a:t>Syntactic differences </a:t>
            </a:r>
            <a:r>
              <a:rPr lang="zh-TW" altLang="en-US" sz="2800" dirty="0"/>
              <a:t>句法</a:t>
            </a:r>
            <a:endParaRPr lang="en-US" sz="2800" dirty="0"/>
          </a:p>
          <a:p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r>
              <a:rPr lang="en-US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76693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Phonological differences </a:t>
            </a:r>
            <a:r>
              <a:rPr lang="zh-TW" altLang="en-US" dirty="0"/>
              <a:t>語音的分別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accent </a:t>
            </a:r>
            <a:r>
              <a:rPr lang="zh-TW" altLang="en-US" sz="2800" dirty="0"/>
              <a:t>口音</a:t>
            </a:r>
            <a:r>
              <a:rPr lang="en-US" altLang="zh-TW" sz="2800" dirty="0"/>
              <a:t> / </a:t>
            </a:r>
            <a:r>
              <a:rPr lang="zh-TW" altLang="en-US" sz="2800" dirty="0"/>
              <a:t>方音</a:t>
            </a:r>
            <a:r>
              <a:rPr lang="en-US" altLang="zh-TW" sz="2800" dirty="0"/>
              <a:t> / </a:t>
            </a:r>
            <a:r>
              <a:rPr lang="zh-TW" altLang="en-US" sz="2800" dirty="0"/>
              <a:t>腔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/>
              <a:t>the way of pronouncing a language</a:t>
            </a:r>
          </a:p>
          <a:p>
            <a:endParaRPr lang="en-US" altLang="zh-TW" sz="2800" dirty="0"/>
          </a:p>
          <a:p>
            <a:r>
              <a:rPr lang="zh-TW" altLang="en-US" sz="2800" dirty="0"/>
              <a:t>留意 </a:t>
            </a:r>
            <a:r>
              <a:rPr lang="en-US" altLang="zh-TW" sz="2800" dirty="0"/>
              <a:t>accent </a:t>
            </a:r>
            <a:r>
              <a:rPr lang="zh-TW" altLang="en-US" sz="2800" dirty="0"/>
              <a:t>這詞的其中兩種用法：</a:t>
            </a:r>
            <a:endParaRPr lang="en-US" altLang="zh-TW" sz="2800" dirty="0"/>
          </a:p>
          <a:p>
            <a:pPr lvl="1"/>
            <a:r>
              <a:rPr lang="en-US" altLang="zh-TW" sz="2800" dirty="0">
                <a:solidFill>
                  <a:schemeClr val="tx1"/>
                </a:solidFill>
              </a:rPr>
              <a:t>(1) native speakers </a:t>
            </a:r>
            <a:r>
              <a:rPr lang="zh-TW" altLang="en-US" sz="2800" dirty="0">
                <a:solidFill>
                  <a:schemeClr val="tx1"/>
                </a:solidFill>
              </a:rPr>
              <a:t>母語人士的口音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2"/>
            <a:r>
              <a:rPr lang="en-US" altLang="zh-TW" sz="2800" dirty="0"/>
              <a:t>e.g., English: British accent, American accent, Australian accent, </a:t>
            </a:r>
          </a:p>
          <a:p>
            <a:pPr lvl="1"/>
            <a:r>
              <a:rPr lang="en-US" altLang="zh-TW" sz="2800" dirty="0">
                <a:solidFill>
                  <a:schemeClr val="tx1"/>
                </a:solidFill>
              </a:rPr>
              <a:t>(2) foreign speakers </a:t>
            </a:r>
            <a:r>
              <a:rPr lang="zh-TW" altLang="en-US" sz="2800" dirty="0">
                <a:solidFill>
                  <a:schemeClr val="tx1"/>
                </a:solidFill>
              </a:rPr>
              <a:t>非母語人士的口音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lvl="2"/>
            <a:r>
              <a:rPr lang="en-US" altLang="zh-TW" sz="2800" dirty="0"/>
              <a:t>e.g., Hong Kong English accent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1282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accents </a:t>
            </a:r>
            <a:r>
              <a:rPr lang="zh-TW" altLang="en-US" dirty="0"/>
              <a:t>口音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zh-TW" altLang="en-US" sz="2800" dirty="0"/>
              <a:t>介紹以下影片中幾位主角的英語口音：</a:t>
            </a:r>
            <a:endParaRPr lang="en-US" sz="28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800" i="1" dirty="0">
                <a:solidFill>
                  <a:srgbClr val="C00000"/>
                </a:solidFill>
              </a:rPr>
              <a:t>My Fair Lady </a:t>
            </a:r>
            <a:r>
              <a:rPr lang="en-US" altLang="zh-TW" sz="2800" dirty="0">
                <a:solidFill>
                  <a:srgbClr val="C00000"/>
                </a:solidFill>
              </a:rPr>
              <a:t>《</a:t>
            </a:r>
            <a:r>
              <a:rPr lang="zh-TW" altLang="en-US" sz="2800" dirty="0">
                <a:solidFill>
                  <a:srgbClr val="C00000"/>
                </a:solidFill>
              </a:rPr>
              <a:t>窈窕淑女</a:t>
            </a:r>
            <a:r>
              <a:rPr lang="en-US" altLang="zh-TW" sz="2800" dirty="0">
                <a:solidFill>
                  <a:srgbClr val="C00000"/>
                </a:solidFill>
              </a:rPr>
              <a:t>》</a:t>
            </a:r>
            <a:r>
              <a:rPr lang="en-US" sz="2800" dirty="0">
                <a:solidFill>
                  <a:srgbClr val="C00000"/>
                </a:solidFill>
              </a:rPr>
              <a:t> (1964)</a:t>
            </a:r>
            <a:endParaRPr lang="en-US" sz="2800" dirty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HK" altLang="zh-HK" sz="2800" dirty="0">
                <a:solidFill>
                  <a:schemeClr val="tx1"/>
                </a:solidFill>
              </a:rPr>
              <a:t>取材自</a:t>
            </a:r>
            <a:r>
              <a:rPr lang="zh-HK" altLang="zh-HK" sz="2800" u="sng" dirty="0">
                <a:solidFill>
                  <a:schemeClr val="tx1"/>
                </a:solidFill>
              </a:rPr>
              <a:t>愛爾蘭</a:t>
            </a:r>
            <a:r>
              <a:rPr lang="zh-HK" altLang="zh-HK" sz="2800" dirty="0">
                <a:solidFill>
                  <a:schemeClr val="tx1"/>
                </a:solidFill>
              </a:rPr>
              <a:t>劇作家</a:t>
            </a:r>
            <a:r>
              <a:rPr lang="zh-HK" altLang="zh-HK" sz="2800" u="sng" dirty="0">
                <a:solidFill>
                  <a:schemeClr val="tx1"/>
                </a:solidFill>
              </a:rPr>
              <a:t>蕭伯納</a:t>
            </a:r>
            <a:r>
              <a:rPr lang="zh-TW" altLang="en-US" sz="2800" dirty="0">
                <a:solidFill>
                  <a:schemeClr val="tx1"/>
                </a:solidFill>
              </a:rPr>
              <a:t>（</a:t>
            </a:r>
            <a:r>
              <a:rPr lang="en-US" sz="2800" dirty="0">
                <a:solidFill>
                  <a:schemeClr val="tx1"/>
                </a:solidFill>
              </a:rPr>
              <a:t>George Bernard Shaw</a:t>
            </a:r>
            <a:r>
              <a:rPr lang="zh-TW" altLang="en-US" sz="2800" dirty="0">
                <a:solidFill>
                  <a:schemeClr val="tx1"/>
                </a:solidFill>
              </a:rPr>
              <a:t>）的</a:t>
            </a:r>
            <a:r>
              <a:rPr lang="zh-HK" altLang="zh-HK" sz="2800" dirty="0">
                <a:solidFill>
                  <a:schemeClr val="tx1"/>
                </a:solidFill>
              </a:rPr>
              <a:t>舞台劇《賣花女》</a:t>
            </a:r>
            <a:r>
              <a:rPr lang="zh-TW" altLang="en-US" sz="2800" dirty="0">
                <a:solidFill>
                  <a:schemeClr val="tx1"/>
                </a:solidFill>
              </a:rPr>
              <a:t>（</a:t>
            </a:r>
            <a:r>
              <a:rPr lang="en-US" sz="2800" i="1" dirty="0">
                <a:solidFill>
                  <a:schemeClr val="tx1"/>
                </a:solidFill>
              </a:rPr>
              <a:t>Pygmalion</a:t>
            </a:r>
            <a:r>
              <a:rPr lang="en-US" altLang="zh-TW" sz="2800" dirty="0">
                <a:solidFill>
                  <a:schemeClr val="tx1"/>
                </a:solidFill>
              </a:rPr>
              <a:t>,</a:t>
            </a:r>
            <a:r>
              <a:rPr lang="zh-TW" altLang="en-US" sz="28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1912</a:t>
            </a:r>
            <a:r>
              <a:rPr lang="zh-TW" altLang="en-US" sz="2800" dirty="0">
                <a:solidFill>
                  <a:schemeClr val="tx1"/>
                </a:solidFill>
              </a:rPr>
              <a:t>）</a:t>
            </a:r>
            <a:endParaRPr lang="en-US" sz="2800" dirty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HK" altLang="zh-HK" sz="2800" dirty="0">
                <a:solidFill>
                  <a:schemeClr val="tx1"/>
                </a:solidFill>
              </a:rPr>
              <a:t>描述一名上校</a:t>
            </a:r>
            <a:r>
              <a:rPr lang="zh-TW" altLang="en-US" sz="2800" dirty="0">
                <a:solidFill>
                  <a:schemeClr val="tx1"/>
                </a:solidFill>
              </a:rPr>
              <a:t>（</a:t>
            </a:r>
            <a:r>
              <a:rPr lang="en-US" altLang="zh-HK" sz="2800" dirty="0">
                <a:solidFill>
                  <a:schemeClr val="tx1"/>
                </a:solidFill>
              </a:rPr>
              <a:t>Colonel Hugh </a:t>
            </a:r>
            <a:r>
              <a:rPr lang="en-US" altLang="zh-HK" sz="2800" dirty="0">
                <a:solidFill>
                  <a:srgbClr val="0070C0"/>
                </a:solidFill>
              </a:rPr>
              <a:t>Pickering</a:t>
            </a:r>
            <a:r>
              <a:rPr lang="zh-TW" altLang="en-US" sz="2800" dirty="0">
                <a:solidFill>
                  <a:schemeClr val="tx1"/>
                </a:solidFill>
              </a:rPr>
              <a:t>）</a:t>
            </a:r>
            <a:r>
              <a:rPr lang="zh-HK" altLang="zh-HK" sz="2800" dirty="0">
                <a:solidFill>
                  <a:schemeClr val="tx1"/>
                </a:solidFill>
              </a:rPr>
              <a:t>與一名</a:t>
            </a:r>
            <a:r>
              <a:rPr lang="zh-TW" altLang="en-US" sz="2800" dirty="0">
                <a:solidFill>
                  <a:schemeClr val="tx1"/>
                </a:solidFill>
              </a:rPr>
              <a:t>語音學</a:t>
            </a:r>
            <a:r>
              <a:rPr lang="zh-HK" altLang="zh-HK" sz="2800" dirty="0">
                <a:solidFill>
                  <a:schemeClr val="tx1"/>
                </a:solidFill>
              </a:rPr>
              <a:t>教授</a:t>
            </a:r>
            <a:r>
              <a:rPr lang="zh-TW" altLang="en-US" sz="2800" dirty="0">
                <a:solidFill>
                  <a:schemeClr val="tx1"/>
                </a:solidFill>
              </a:rPr>
              <a:t>（</a:t>
            </a:r>
            <a:r>
              <a:rPr lang="zh-HK" altLang="zh-HK" sz="2800" dirty="0">
                <a:solidFill>
                  <a:schemeClr val="tx1"/>
                </a:solidFill>
              </a:rPr>
              <a:t>Professor Henry </a:t>
            </a:r>
            <a:r>
              <a:rPr lang="zh-HK" altLang="zh-HK" sz="2800" dirty="0">
                <a:solidFill>
                  <a:srgbClr val="0070C0"/>
                </a:solidFill>
              </a:rPr>
              <a:t>Higgins</a:t>
            </a:r>
            <a:r>
              <a:rPr lang="zh-TW" altLang="en-US" sz="2800" dirty="0">
                <a:solidFill>
                  <a:schemeClr val="tx1"/>
                </a:solidFill>
              </a:rPr>
              <a:t>）</a:t>
            </a:r>
            <a:r>
              <a:rPr lang="zh-HK" altLang="zh-HK" sz="2800" dirty="0">
                <a:solidFill>
                  <a:schemeClr val="tx1"/>
                </a:solidFill>
              </a:rPr>
              <a:t>打賭</a:t>
            </a:r>
            <a:r>
              <a:rPr lang="zh-TW" altLang="en-US" sz="2800" dirty="0">
                <a:solidFill>
                  <a:schemeClr val="tx1"/>
                </a:solidFill>
              </a:rPr>
              <a:t>，看教授</a:t>
            </a:r>
            <a:r>
              <a:rPr lang="zh-HK" altLang="zh-HK" sz="2800" dirty="0">
                <a:solidFill>
                  <a:schemeClr val="tx1"/>
                </a:solidFill>
              </a:rPr>
              <a:t>是否能將來自社會低層的賣花女</a:t>
            </a:r>
            <a:r>
              <a:rPr lang="zh-TW" altLang="en-US" sz="2800" dirty="0">
                <a:solidFill>
                  <a:schemeClr val="tx1"/>
                </a:solidFill>
              </a:rPr>
              <a:t>（</a:t>
            </a:r>
            <a:r>
              <a:rPr lang="zh-HK" altLang="zh-HK" sz="2800" dirty="0">
                <a:solidFill>
                  <a:srgbClr val="0070C0"/>
                </a:solidFill>
              </a:rPr>
              <a:t>Eliza</a:t>
            </a:r>
            <a:r>
              <a:rPr lang="zh-HK" altLang="zh-HK" sz="2800" dirty="0">
                <a:solidFill>
                  <a:schemeClr val="tx1"/>
                </a:solidFill>
              </a:rPr>
              <a:t> Doolittle</a:t>
            </a:r>
            <a:r>
              <a:rPr lang="zh-TW" altLang="en-US" sz="2800" dirty="0">
                <a:solidFill>
                  <a:schemeClr val="tx1"/>
                </a:solidFill>
              </a:rPr>
              <a:t>）</a:t>
            </a:r>
            <a:r>
              <a:rPr lang="zh-HK" altLang="zh-HK" sz="2800" dirty="0">
                <a:solidFill>
                  <a:schemeClr val="tx1"/>
                </a:solidFill>
              </a:rPr>
              <a:t>訓練成一名氣質高雅的淑女，讓人相信她真的是來自上流社會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889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英語口音例子：</a:t>
            </a:r>
            <a:r>
              <a:rPr lang="en-US" dirty="0"/>
              <a:t>Cockney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181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Cockney</a:t>
            </a:r>
            <a:r>
              <a:rPr lang="en-US" dirty="0"/>
              <a:t>, a London accent, the broadest London working-class speech</a:t>
            </a:r>
          </a:p>
          <a:p>
            <a:endParaRPr lang="en-US" dirty="0"/>
          </a:p>
          <a:p>
            <a:r>
              <a:rPr lang="en-US" dirty="0"/>
              <a:t>prominent features include: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H dropping		</a:t>
            </a:r>
            <a:r>
              <a:rPr lang="en-US" i="1" dirty="0">
                <a:solidFill>
                  <a:srgbClr val="0070C0"/>
                </a:solidFill>
              </a:rPr>
              <a:t>hit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i="1" dirty="0">
                <a:solidFill>
                  <a:srgbClr val="0070C0"/>
                </a:solidFill>
              </a:rPr>
              <a:t>house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i="1" dirty="0">
                <a:solidFill>
                  <a:srgbClr val="0070C0"/>
                </a:solidFill>
              </a:rPr>
              <a:t>hammer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glottal stop</a:t>
            </a:r>
            <a:r>
              <a:rPr lang="en-US" dirty="0"/>
              <a:t>		</a:t>
            </a:r>
            <a:r>
              <a:rPr lang="en-US" i="1" dirty="0">
                <a:solidFill>
                  <a:srgbClr val="0070C0"/>
                </a:solidFill>
              </a:rPr>
              <a:t>water</a:t>
            </a:r>
            <a:r>
              <a:rPr lang="en-US" i="1" dirty="0"/>
              <a:t> = </a:t>
            </a:r>
            <a:r>
              <a:rPr lang="en-US" i="1" dirty="0" err="1">
                <a:solidFill>
                  <a:srgbClr val="7030A0"/>
                </a:solidFill>
              </a:rPr>
              <a:t>wa’er</a:t>
            </a:r>
            <a:r>
              <a:rPr lang="en-US" i="1" dirty="0"/>
              <a:t>, </a:t>
            </a:r>
            <a:r>
              <a:rPr lang="en-US" i="1" dirty="0">
                <a:solidFill>
                  <a:srgbClr val="0070C0"/>
                </a:solidFill>
              </a:rPr>
              <a:t>city</a:t>
            </a:r>
            <a:r>
              <a:rPr lang="en-US" i="1" dirty="0"/>
              <a:t> = </a:t>
            </a:r>
            <a:r>
              <a:rPr lang="en-US" i="1" dirty="0" err="1">
                <a:solidFill>
                  <a:srgbClr val="7030A0"/>
                </a:solidFill>
              </a:rPr>
              <a:t>ci’y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TH fronting		</a:t>
            </a:r>
            <a:r>
              <a:rPr lang="en-US" i="1" dirty="0">
                <a:solidFill>
                  <a:srgbClr val="0070C0"/>
                </a:solidFill>
              </a:rPr>
              <a:t>thin</a:t>
            </a:r>
            <a:r>
              <a:rPr lang="en-US" i="1" dirty="0"/>
              <a:t> = </a:t>
            </a:r>
            <a:r>
              <a:rPr lang="en-US" i="1" dirty="0">
                <a:solidFill>
                  <a:srgbClr val="7030A0"/>
                </a:solidFill>
              </a:rPr>
              <a:t>fin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i="1" dirty="0">
                <a:solidFill>
                  <a:srgbClr val="0070C0"/>
                </a:solidFill>
              </a:rPr>
              <a:t>three</a:t>
            </a:r>
            <a:r>
              <a:rPr lang="en-US" i="1" dirty="0"/>
              <a:t> = </a:t>
            </a:r>
            <a:r>
              <a:rPr lang="en-US" i="1" dirty="0">
                <a:solidFill>
                  <a:srgbClr val="7030A0"/>
                </a:solidFill>
              </a:rPr>
              <a:t>free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 err="1"/>
              <a:t>Yod</a:t>
            </a:r>
            <a:r>
              <a:rPr lang="en-US" b="1" dirty="0"/>
              <a:t> dropping/coalescence </a:t>
            </a:r>
            <a:r>
              <a:rPr lang="en-US" dirty="0"/>
              <a:t>(/j/ after an alveolar consonant)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85710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英語口音例子：</a:t>
            </a:r>
            <a:r>
              <a:rPr lang="en-US" dirty="0"/>
              <a:t>General American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7630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prominent features include: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a </a:t>
            </a:r>
            <a:r>
              <a:rPr lang="en-US" dirty="0" err="1"/>
              <a:t>rhotic</a:t>
            </a:r>
            <a:r>
              <a:rPr lang="en-US" dirty="0"/>
              <a:t> accent: /</a:t>
            </a:r>
            <a:r>
              <a:rPr lang="en-US" dirty="0">
                <a:latin typeface="Doulos SIL"/>
                <a:ea typeface="Doulos SIL"/>
                <a:cs typeface="Doulos SIL"/>
              </a:rPr>
              <a:t>r</a:t>
            </a:r>
            <a:r>
              <a:rPr lang="en-US" dirty="0"/>
              <a:t>/ is pronounced in words in which the letter r appears in the spelling, like </a:t>
            </a:r>
            <a:r>
              <a:rPr lang="en-US" i="1" dirty="0">
                <a:solidFill>
                  <a:srgbClr val="0070C0"/>
                </a:solidFill>
              </a:rPr>
              <a:t>card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beard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dorm</a:t>
            </a: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/</a:t>
            </a:r>
            <a:r>
              <a:rPr lang="en-US" dirty="0">
                <a:latin typeface="Doulos SIL"/>
                <a:ea typeface="Doulos SIL"/>
                <a:cs typeface="Doulos SIL"/>
              </a:rPr>
              <a:t>æ</a:t>
            </a:r>
            <a:r>
              <a:rPr lang="en-US" dirty="0"/>
              <a:t>/ in words like </a:t>
            </a:r>
            <a:r>
              <a:rPr lang="en-US" i="1" dirty="0">
                <a:solidFill>
                  <a:srgbClr val="0070C0"/>
                </a:solidFill>
              </a:rPr>
              <a:t>bad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man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is realized as  [</a:t>
            </a:r>
            <a:r>
              <a:rPr lang="en-US" dirty="0">
                <a:latin typeface="Doulos SIL"/>
                <a:ea typeface="Doulos SIL"/>
                <a:cs typeface="Doulos SIL"/>
              </a:rPr>
              <a:t>ɛː ~ </a:t>
            </a:r>
            <a:r>
              <a:rPr lang="en-US" dirty="0" err="1">
                <a:latin typeface="Doulos SIL"/>
                <a:ea typeface="Doulos SIL"/>
                <a:cs typeface="Doulos SIL"/>
              </a:rPr>
              <a:t>e</a:t>
            </a:r>
            <a:r>
              <a:rPr lang="en-US" dirty="0" err="1">
                <a:latin typeface="Doulos SIL" pitchFamily="2" charset="0"/>
                <a:ea typeface="Doulos SIL" pitchFamily="2" charset="0"/>
                <a:cs typeface="Doulos SIL" pitchFamily="2" charset="0"/>
              </a:rPr>
              <a:t>ǝ</a:t>
            </a:r>
            <a:r>
              <a:rPr lang="en-US" dirty="0"/>
              <a:t>]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yod</a:t>
            </a:r>
            <a:r>
              <a:rPr lang="en-US" dirty="0"/>
              <a:t> dropping after </a:t>
            </a:r>
            <a:r>
              <a:rPr lang="en-US" dirty="0" err="1"/>
              <a:t>alveolars</a:t>
            </a:r>
            <a:br>
              <a:rPr lang="en-US" dirty="0"/>
            </a:br>
            <a:r>
              <a:rPr lang="en-US" dirty="0"/>
              <a:t>    e.g.,  /</a:t>
            </a:r>
            <a:r>
              <a:rPr lang="en-US" dirty="0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t(j), d(j), n(j)</a:t>
            </a:r>
            <a:r>
              <a:rPr lang="en-US" dirty="0"/>
              <a:t>/  </a:t>
            </a:r>
            <a:r>
              <a:rPr lang="en-US" i="1" dirty="0">
                <a:solidFill>
                  <a:srgbClr val="0070C0"/>
                </a:solidFill>
              </a:rPr>
              <a:t>tune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duke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new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t tapping/voicing	</a:t>
            </a:r>
            <a:r>
              <a:rPr lang="en-US" i="1" dirty="0">
                <a:solidFill>
                  <a:srgbClr val="0070C0"/>
                </a:solidFill>
              </a:rPr>
              <a:t>city</a:t>
            </a:r>
            <a:r>
              <a:rPr lang="en-US" dirty="0"/>
              <a:t>; </a:t>
            </a:r>
            <a:r>
              <a:rPr lang="en-US" i="1" dirty="0">
                <a:solidFill>
                  <a:srgbClr val="0070C0"/>
                </a:solidFill>
              </a:rPr>
              <a:t>atom</a:t>
            </a:r>
            <a:r>
              <a:rPr lang="en-US" dirty="0"/>
              <a:t>/</a:t>
            </a:r>
            <a:r>
              <a:rPr lang="en-US" i="1" dirty="0">
                <a:solidFill>
                  <a:srgbClr val="0070C0"/>
                </a:solidFill>
              </a:rPr>
              <a:t>Adam</a:t>
            </a:r>
            <a:r>
              <a:rPr lang="en-US" dirty="0"/>
              <a:t>; </a:t>
            </a:r>
            <a:r>
              <a:rPr lang="en-US" i="1" dirty="0">
                <a:solidFill>
                  <a:srgbClr val="0070C0"/>
                </a:solidFill>
              </a:rPr>
              <a:t>shutter</a:t>
            </a:r>
            <a:r>
              <a:rPr lang="en-US" dirty="0"/>
              <a:t>/</a:t>
            </a:r>
            <a:r>
              <a:rPr lang="en-US" i="1" dirty="0">
                <a:solidFill>
                  <a:srgbClr val="0070C0"/>
                </a:solidFill>
              </a:rPr>
              <a:t>shudder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  <a:p>
            <a:r>
              <a:rPr lang="en-US" i="1" dirty="0"/>
              <a:t>“</a:t>
            </a:r>
            <a:r>
              <a:rPr lang="en-US" i="1" dirty="0">
                <a:solidFill>
                  <a:srgbClr val="7030A0"/>
                </a:solidFill>
              </a:rPr>
              <a:t>New York city</a:t>
            </a:r>
            <a:r>
              <a:rPr lang="en-US" i="1" dirty="0"/>
              <a:t>” </a:t>
            </a:r>
            <a:r>
              <a:rPr lang="en-US" sz="1200" i="1" dirty="0">
                <a:hlinkClick r:id="rId4"/>
              </a:rPr>
              <a:t>https://soundcloud.com/authenticjourneys/pronounce-newark-new-york</a:t>
            </a:r>
            <a:r>
              <a:rPr lang="en-US" sz="1200" i="1" dirty="0"/>
              <a:t> </a:t>
            </a:r>
            <a:r>
              <a:rPr lang="en-US" sz="1800" dirty="0"/>
              <a:t>(1:44)</a:t>
            </a:r>
          </a:p>
          <a:p>
            <a:endParaRPr lang="en-US" sz="13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  <p:pic>
        <p:nvPicPr>
          <p:cNvPr id="6" name="New_York_city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05000" y="5943600"/>
            <a:ext cx="319088" cy="31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2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R-dropping in English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non-</a:t>
            </a:r>
            <a:r>
              <a:rPr lang="en-US" dirty="0" err="1"/>
              <a:t>rhotic</a:t>
            </a:r>
            <a:r>
              <a:rPr lang="en-US" dirty="0"/>
              <a:t> varieties of English occur in: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Australia, Africa, England and Wales, Caribbean islands other than Barbados, most of New Zealand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rhotic</a:t>
            </a:r>
            <a:r>
              <a:rPr lang="en-US" dirty="0"/>
              <a:t> varieties of English occur in: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USA, Canada, India, Ireland, Scotland, the extreme south of New Zealand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r>
              <a:rPr lang="en-US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41006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R-dropping in English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r-dropping happened in England in the 18</a:t>
            </a:r>
            <a:r>
              <a:rPr lang="en-US" baseline="30000" dirty="0"/>
              <a:t>th</a:t>
            </a:r>
            <a:r>
              <a:rPr lang="en-US" dirty="0"/>
              <a:t> century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Ireland and the USA spoke English before this date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there are still </a:t>
            </a:r>
            <a:r>
              <a:rPr lang="en-US" dirty="0" err="1"/>
              <a:t>rhotic</a:t>
            </a:r>
            <a:r>
              <a:rPr lang="en-US" dirty="0"/>
              <a:t> speakers in the British isles; the </a:t>
            </a:r>
            <a:r>
              <a:rPr lang="en-US" dirty="0" err="1"/>
              <a:t>rhotic</a:t>
            </a:r>
            <a:r>
              <a:rPr lang="en-US" dirty="0"/>
              <a:t> accent is an instant code for the West Country and for the virtues of the rural life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the west of England: Cornwall, Somerset, Devon; western cities: e.g., Exeter, Bristol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non-</a:t>
            </a:r>
            <a:r>
              <a:rPr lang="en-US" dirty="0" err="1"/>
              <a:t>rhotic</a:t>
            </a:r>
            <a:r>
              <a:rPr lang="en-US" dirty="0"/>
              <a:t> accent in American port cities with close connections to Britain: e.g., New York City, Boston, Philadelphia, Alexandria, Charleston, and Savannah</a:t>
            </a:r>
            <a:endParaRPr lang="en-GB" dirty="0"/>
          </a:p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r>
              <a:rPr lang="en-US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91505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accents </a:t>
            </a:r>
            <a:r>
              <a:rPr lang="zh-TW" altLang="en-US" dirty="0"/>
              <a:t>口音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			</a:t>
            </a:r>
            <a:r>
              <a:rPr lang="en-US" sz="2800" u="sng" dirty="0" err="1">
                <a:latin typeface="Times New Roman" pitchFamily="18" charset="0"/>
                <a:cs typeface="Times New Roman" pitchFamily="18" charset="0"/>
              </a:rPr>
              <a:t>BrE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800" u="sng" dirty="0" err="1">
                <a:latin typeface="Times New Roman" pitchFamily="18" charset="0"/>
                <a:cs typeface="Times New Roman" pitchFamily="18" charset="0"/>
              </a:rPr>
              <a:t>AmE</a:t>
            </a:r>
            <a:endParaRPr lang="en-US" sz="2800" u="sng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stop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  <a:r>
              <a:rPr lang="en-US" altLang="zh-HK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stɒp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			/</a:t>
            </a:r>
            <a:r>
              <a:rPr lang="en-US" altLang="zh-HK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stɑːp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water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/ˈ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wɔːtə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(r)/		/</a:t>
            </a:r>
            <a:r>
              <a:rPr lang="en-US" altLang="zh-HK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ˈ</a:t>
            </a:r>
            <a:r>
              <a:rPr lang="en-US" altLang="zh-HK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wɔːtər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  /</a:t>
            </a:r>
            <a:r>
              <a:rPr lang="en-US" altLang="zh-HK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ˈ</a:t>
            </a:r>
            <a:r>
              <a:rPr lang="en-US" altLang="zh-HK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wɑːtər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sport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spɔːt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			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spɔːrt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klɑːs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			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klæs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</a:p>
          <a:p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different stress patterns: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(n.)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əˈdres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		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əˈdres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  /ˈ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ædres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detail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/ˈ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diːteɪl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		/ˈ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diːteɪl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  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dɪˈteɪl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 /</a:t>
            </a:r>
          </a:p>
          <a:p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adult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/ˈ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ædʌlt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 /</a:t>
            </a:r>
            <a:r>
              <a:rPr lang="en-US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əˈdʌlt</a:t>
            </a:r>
            <a:r>
              <a:rPr lang="en-US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	</a:t>
            </a:r>
            <a:r>
              <a:rPr lang="en-US" altLang="zh-HK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/ˈ</a:t>
            </a:r>
            <a:r>
              <a:rPr lang="en-US" altLang="zh-HK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ædʌlt</a:t>
            </a:r>
            <a:r>
              <a:rPr lang="en-US" altLang="zh-HK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 /</a:t>
            </a:r>
            <a:r>
              <a:rPr lang="en-US" altLang="zh-HK" sz="2800" dirty="0" err="1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əˈdʌlt</a:t>
            </a:r>
            <a:r>
              <a:rPr lang="en-US" altLang="zh-HK" sz="2800" dirty="0">
                <a:latin typeface="Times New Roman" panose="02020603050405020304" pitchFamily="18" charset="0"/>
                <a:ea typeface="Doulos SIL" panose="02000500070000020004" pitchFamily="2" charset="0"/>
                <a:cs typeface="Times New Roman" panose="02020603050405020304" pitchFamily="18" charset="0"/>
              </a:rPr>
              <a:t>/</a:t>
            </a:r>
            <a:endParaRPr lang="en-US" sz="2800" dirty="0">
              <a:latin typeface="Times New Roman" panose="02020603050405020304" pitchFamily="18" charset="0"/>
              <a:ea typeface="Doulos SIL" panose="02000500070000020004" pitchFamily="2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354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Lexical differences </a:t>
            </a:r>
            <a:r>
              <a:rPr lang="zh-TW" altLang="en-US" dirty="0"/>
              <a:t>詞匯的分別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/>
              <a:t>examples:</a:t>
            </a:r>
            <a:endParaRPr lang="en-GB" altLang="zh-TW" sz="2800" dirty="0"/>
          </a:p>
          <a:p>
            <a:pPr marL="0" indent="0">
              <a:buNone/>
            </a:pPr>
            <a:r>
              <a:rPr lang="en-US" altLang="zh-TW" sz="2800" dirty="0"/>
              <a:t>	</a:t>
            </a:r>
            <a:r>
              <a:rPr lang="en-US" altLang="zh-TW" sz="2800" u="sng" dirty="0"/>
              <a:t>British</a:t>
            </a:r>
            <a:r>
              <a:rPr lang="en-US" altLang="zh-TW" sz="2800" dirty="0"/>
              <a:t>			</a:t>
            </a:r>
            <a:r>
              <a:rPr lang="en-US" altLang="zh-TW" sz="2800" u="sng" dirty="0"/>
              <a:t>American</a:t>
            </a:r>
          </a:p>
          <a:p>
            <a:pPr marL="0" indent="0">
              <a:buNone/>
            </a:pPr>
            <a:r>
              <a:rPr lang="en-US" altLang="zh-TW" sz="2800" dirty="0"/>
              <a:t>	car park			parking lot</a:t>
            </a:r>
          </a:p>
          <a:p>
            <a:pPr marL="0" indent="0">
              <a:buNone/>
            </a:pPr>
            <a:r>
              <a:rPr lang="en-US" altLang="zh-TW" sz="2800" dirty="0"/>
              <a:t>	lift				elevator</a:t>
            </a:r>
          </a:p>
          <a:p>
            <a:pPr marL="0" indent="0">
              <a:buNone/>
            </a:pPr>
            <a:r>
              <a:rPr lang="en-US" altLang="zh-TW" sz="2800" dirty="0"/>
              <a:t>	petrol				gasoline</a:t>
            </a:r>
          </a:p>
          <a:p>
            <a:pPr marL="0" indent="0">
              <a:buNone/>
            </a:pPr>
            <a:r>
              <a:rPr lang="en-US" altLang="zh-TW" sz="2800" dirty="0"/>
              <a:t>	lorry				truck</a:t>
            </a:r>
          </a:p>
          <a:p>
            <a:pPr marL="0" indent="0">
              <a:buNone/>
            </a:pPr>
            <a:r>
              <a:rPr lang="en-GB" altLang="zh-TW" sz="2800" dirty="0"/>
              <a:t>	trousers			pants</a:t>
            </a:r>
          </a:p>
          <a:p>
            <a:pPr marL="0" indent="0">
              <a:buNone/>
            </a:pPr>
            <a:r>
              <a:rPr lang="en-GB" altLang="zh-TW" sz="2800" dirty="0"/>
              <a:t>	pants = underpants	underpants</a:t>
            </a:r>
          </a:p>
          <a:p>
            <a:endParaRPr lang="en-GB" altLang="zh-TW" dirty="0"/>
          </a:p>
          <a:p>
            <a:r>
              <a:rPr lang="en-GB" altLang="zh-TW" dirty="0"/>
              <a:t>British vs. American Words</a:t>
            </a:r>
            <a:br>
              <a:rPr lang="en-GB" altLang="zh-TW" dirty="0"/>
            </a:br>
            <a:r>
              <a:rPr lang="en-US" altLang="zh-HK" sz="2000" dirty="0">
                <a:hlinkClick r:id="rId2"/>
              </a:rPr>
              <a:t>http://www.youtube.com/watch?v=PsBRsAlbzoI</a:t>
            </a:r>
            <a:endParaRPr lang="en-US" altLang="zh-HK" sz="2000" dirty="0"/>
          </a:p>
          <a:p>
            <a:endParaRPr lang="en-US" altLang="zh-HK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524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Lexical differences </a:t>
            </a:r>
            <a:r>
              <a:rPr lang="zh-TW" altLang="en-US" dirty="0"/>
              <a:t>詞匯的分別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HK" dirty="0"/>
              <a:t>chips, crisps</a:t>
            </a:r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r>
              <a:rPr lang="en-US" altLang="zh-HK" dirty="0"/>
              <a:t>fish and chips</a:t>
            </a:r>
          </a:p>
          <a:p>
            <a:endParaRPr lang="en-US" altLang="zh-HK" dirty="0"/>
          </a:p>
          <a:p>
            <a:endParaRPr lang="zh-HK" altLang="en-US" dirty="0"/>
          </a:p>
          <a:p>
            <a:endParaRPr lang="en-GB" dirty="0"/>
          </a:p>
        </p:txBody>
      </p:sp>
      <p:pic>
        <p:nvPicPr>
          <p:cNvPr id="5" name="Picture 2" descr="C:\Wingli\Files\Windows 7\Desktop\chip, crisp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13" y="2057400"/>
            <a:ext cx="45720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Wingli\Files\Windows 7\Desktop\fish_and_chip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118054"/>
            <a:ext cx="4047399" cy="248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06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Lexical differences </a:t>
            </a:r>
            <a:r>
              <a:rPr lang="zh-TW" altLang="en-US" dirty="0"/>
              <a:t>詞匯的分別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HK" sz="2800" dirty="0"/>
              <a:t>examples of the differences in spelling:</a:t>
            </a:r>
          </a:p>
          <a:p>
            <a:pPr>
              <a:spcBef>
                <a:spcPts val="0"/>
              </a:spcBef>
            </a:pPr>
            <a:endParaRPr lang="en-US" altLang="zh-HK" sz="2800" dirty="0"/>
          </a:p>
          <a:p>
            <a:pPr lvl="1">
              <a:spcBef>
                <a:spcPts val="0"/>
              </a:spcBef>
            </a:pPr>
            <a:r>
              <a:rPr lang="en-US" altLang="zh-HK" sz="2800" dirty="0">
                <a:solidFill>
                  <a:schemeClr val="tx1"/>
                </a:solidFill>
              </a:rPr>
              <a:t>British English		American English	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altLang="zh-HK" sz="2800" dirty="0">
                <a:solidFill>
                  <a:schemeClr val="tx1"/>
                </a:solidFill>
              </a:rPr>
              <a:t>	-our				-or		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altLang="zh-HK" sz="2800" dirty="0">
                <a:solidFill>
                  <a:schemeClr val="tx1"/>
                </a:solidFill>
              </a:rPr>
              <a:t>	-</a:t>
            </a:r>
            <a:r>
              <a:rPr lang="en-US" altLang="zh-HK" sz="2800" dirty="0" err="1">
                <a:solidFill>
                  <a:schemeClr val="tx1"/>
                </a:solidFill>
              </a:rPr>
              <a:t>ise</a:t>
            </a:r>
            <a:r>
              <a:rPr lang="en-US" altLang="zh-HK" sz="2800" dirty="0">
                <a:solidFill>
                  <a:schemeClr val="tx1"/>
                </a:solidFill>
              </a:rPr>
              <a:t>				-</a:t>
            </a:r>
            <a:r>
              <a:rPr lang="en-US" altLang="zh-HK" sz="2800" dirty="0" err="1">
                <a:solidFill>
                  <a:schemeClr val="tx1"/>
                </a:solidFill>
              </a:rPr>
              <a:t>ize</a:t>
            </a:r>
            <a:r>
              <a:rPr lang="en-US" altLang="zh-HK" sz="2800" dirty="0">
                <a:solidFill>
                  <a:schemeClr val="tx1"/>
                </a:solidFill>
              </a:rPr>
              <a:t>			</a:t>
            </a:r>
          </a:p>
          <a:p>
            <a:pPr lvl="2">
              <a:spcBef>
                <a:spcPts val="0"/>
              </a:spcBef>
            </a:pPr>
            <a:r>
              <a:rPr lang="en-US" altLang="zh-HK" sz="2800" i="1" dirty="0"/>
              <a:t>what words can you think of?	</a:t>
            </a:r>
          </a:p>
          <a:p>
            <a:pPr>
              <a:spcBef>
                <a:spcPts val="0"/>
              </a:spcBef>
            </a:pPr>
            <a:endParaRPr lang="en-US" altLang="zh-HK" sz="2800" dirty="0"/>
          </a:p>
          <a:p>
            <a:pPr marL="594360" lvl="2" indent="0">
              <a:spcBef>
                <a:spcPts val="0"/>
              </a:spcBef>
              <a:buNone/>
            </a:pPr>
            <a:r>
              <a:rPr lang="en-US" altLang="zh-HK" sz="2800" dirty="0"/>
              <a:t>	</a:t>
            </a:r>
            <a:r>
              <a:rPr lang="en-US" altLang="zh-HK" sz="2800" dirty="0" err="1"/>
              <a:t>centre</a:t>
            </a:r>
            <a:r>
              <a:rPr lang="en-US" altLang="zh-HK" sz="2800" dirty="0"/>
              <a:t>; </a:t>
            </a:r>
            <a:r>
              <a:rPr lang="en-US" altLang="zh-HK" sz="2800" dirty="0" err="1"/>
              <a:t>metre</a:t>
            </a:r>
            <a:r>
              <a:rPr lang="en-US" altLang="zh-HK" sz="2800" dirty="0"/>
              <a:t>		center; meter</a:t>
            </a:r>
          </a:p>
          <a:p>
            <a:pPr marL="274320" lvl="1" indent="0">
              <a:spcBef>
                <a:spcPts val="0"/>
              </a:spcBef>
              <a:buNone/>
            </a:pPr>
            <a:r>
              <a:rPr lang="en-US" altLang="zh-HK" sz="2800" dirty="0">
                <a:solidFill>
                  <a:schemeClr val="tx1"/>
                </a:solidFill>
              </a:rPr>
              <a:t>	</a:t>
            </a:r>
            <a:r>
              <a:rPr lang="en-US" altLang="zh-HK" sz="2800" dirty="0" err="1">
                <a:solidFill>
                  <a:schemeClr val="tx1"/>
                </a:solidFill>
              </a:rPr>
              <a:t>licence</a:t>
            </a:r>
            <a:r>
              <a:rPr lang="en-US" altLang="zh-HK" sz="2800" dirty="0">
                <a:solidFill>
                  <a:schemeClr val="tx1"/>
                </a:solidFill>
              </a:rPr>
              <a:t>; </a:t>
            </a:r>
            <a:r>
              <a:rPr lang="en-US" altLang="zh-HK" sz="2800" dirty="0" err="1">
                <a:solidFill>
                  <a:schemeClr val="tx1"/>
                </a:solidFill>
              </a:rPr>
              <a:t>defence</a:t>
            </a:r>
            <a:r>
              <a:rPr lang="en-US" altLang="zh-HK" sz="2800" dirty="0">
                <a:solidFill>
                  <a:schemeClr val="tx1"/>
                </a:solidFill>
              </a:rPr>
              <a:t>		license; defense</a:t>
            </a:r>
          </a:p>
          <a:p>
            <a:pPr>
              <a:spcBef>
                <a:spcPts val="0"/>
              </a:spcBef>
            </a:pPr>
            <a:endParaRPr lang="en-US" altLang="zh-HK" sz="2800" dirty="0"/>
          </a:p>
        </p:txBody>
      </p:sp>
    </p:spTree>
    <p:extLst>
      <p:ext uri="{BB962C8B-B14F-4D97-AF65-F5344CB8AC3E}">
        <p14:creationId xmlns:p14="http://schemas.microsoft.com/office/powerpoint/2010/main" val="160081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Syntactic differences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25000" lnSpcReduction="20000"/>
          </a:bodyPr>
          <a:lstStyle/>
          <a:p>
            <a:r>
              <a:rPr lang="zh-TW" altLang="en-US" sz="11200" dirty="0"/>
              <a:t>一個例子</a:t>
            </a:r>
            <a:r>
              <a:rPr lang="en-US" altLang="zh-TW" sz="11200" dirty="0"/>
              <a:t>: expressing possession</a:t>
            </a:r>
          </a:p>
          <a:p>
            <a:pPr lvl="1"/>
            <a:r>
              <a:rPr lang="en-US" altLang="zh-TW" sz="11200" dirty="0">
                <a:solidFill>
                  <a:schemeClr val="tx1"/>
                </a:solidFill>
              </a:rPr>
              <a:t>two forms: </a:t>
            </a:r>
            <a:r>
              <a:rPr lang="en-US" altLang="zh-TW" sz="11200" u="sng" dirty="0">
                <a:solidFill>
                  <a:schemeClr val="tx1"/>
                </a:solidFill>
              </a:rPr>
              <a:t>Have</a:t>
            </a:r>
            <a:r>
              <a:rPr lang="en-US" altLang="zh-TW" sz="11200" dirty="0">
                <a:solidFill>
                  <a:schemeClr val="tx1"/>
                </a:solidFill>
              </a:rPr>
              <a:t> or </a:t>
            </a:r>
            <a:r>
              <a:rPr lang="en-US" altLang="zh-TW" sz="11200" u="sng" dirty="0">
                <a:solidFill>
                  <a:schemeClr val="tx1"/>
                </a:solidFill>
              </a:rPr>
              <a:t>Have got </a:t>
            </a:r>
          </a:p>
          <a:p>
            <a:endParaRPr lang="en-US" altLang="zh-TW" sz="11200" dirty="0"/>
          </a:p>
          <a:p>
            <a:r>
              <a:rPr lang="zh-TW" altLang="en-US" sz="11200" dirty="0"/>
              <a:t>以下每一對句子意思上有沒有分別？</a:t>
            </a:r>
            <a:endParaRPr lang="en-US" altLang="zh-HK" sz="11200" dirty="0"/>
          </a:p>
          <a:p>
            <a:endParaRPr lang="en-US" altLang="zh-TW" sz="11200" dirty="0"/>
          </a:p>
          <a:p>
            <a:r>
              <a:rPr lang="en-US" altLang="zh-TW" sz="11200" i="1" dirty="0">
                <a:solidFill>
                  <a:srgbClr val="0070C0"/>
                </a:solidFill>
              </a:rPr>
              <a:t>Do you have a car?</a:t>
            </a:r>
            <a:br>
              <a:rPr lang="en-US" altLang="zh-TW" sz="11200" i="1" dirty="0">
                <a:solidFill>
                  <a:srgbClr val="0070C0"/>
                </a:solidFill>
              </a:rPr>
            </a:br>
            <a:r>
              <a:rPr lang="en-US" altLang="zh-TW" sz="11200" i="1" dirty="0">
                <a:solidFill>
                  <a:srgbClr val="7030A0"/>
                </a:solidFill>
              </a:rPr>
              <a:t>Have you got a car?</a:t>
            </a:r>
            <a:br>
              <a:rPr lang="en-US" altLang="zh-TW" sz="11200" i="1" dirty="0">
                <a:solidFill>
                  <a:srgbClr val="7030A0"/>
                </a:solidFill>
              </a:rPr>
            </a:br>
            <a:endParaRPr lang="en-US" altLang="zh-TW" sz="11200" i="1" dirty="0">
              <a:solidFill>
                <a:srgbClr val="7030A0"/>
              </a:solidFill>
            </a:endParaRPr>
          </a:p>
          <a:p>
            <a:r>
              <a:rPr lang="en-US" altLang="zh-TW" sz="11200" i="1" dirty="0">
                <a:solidFill>
                  <a:srgbClr val="0070C0"/>
                </a:solidFill>
              </a:rPr>
              <a:t>He hasn't got any friends.</a:t>
            </a:r>
            <a:br>
              <a:rPr lang="en-US" altLang="zh-TW" sz="11200" i="1" dirty="0">
                <a:solidFill>
                  <a:srgbClr val="0070C0"/>
                </a:solidFill>
              </a:rPr>
            </a:br>
            <a:r>
              <a:rPr lang="en-US" altLang="zh-TW" sz="11200" i="1" dirty="0">
                <a:solidFill>
                  <a:srgbClr val="7030A0"/>
                </a:solidFill>
              </a:rPr>
              <a:t>He doesn't have any friends.</a:t>
            </a:r>
            <a:br>
              <a:rPr lang="en-US" altLang="zh-TW" sz="11200" i="1" dirty="0">
                <a:solidFill>
                  <a:srgbClr val="7030A0"/>
                </a:solidFill>
              </a:rPr>
            </a:br>
            <a:endParaRPr lang="en-US" altLang="zh-TW" sz="11200" i="1" dirty="0">
              <a:solidFill>
                <a:srgbClr val="7030A0"/>
              </a:solidFill>
            </a:endParaRPr>
          </a:p>
          <a:p>
            <a:r>
              <a:rPr lang="en-US" altLang="zh-TW" sz="11200" i="1" dirty="0">
                <a:solidFill>
                  <a:srgbClr val="0070C0"/>
                </a:solidFill>
              </a:rPr>
              <a:t>She has a beautiful new home.</a:t>
            </a:r>
            <a:br>
              <a:rPr lang="en-US" altLang="zh-TW" sz="11200" i="1" dirty="0">
                <a:solidFill>
                  <a:srgbClr val="0070C0"/>
                </a:solidFill>
              </a:rPr>
            </a:br>
            <a:r>
              <a:rPr lang="en-US" altLang="zh-TW" sz="11200" i="1" dirty="0">
                <a:solidFill>
                  <a:srgbClr val="7030A0"/>
                </a:solidFill>
              </a:rPr>
              <a:t>She's got a beautiful new home.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251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Syntactic differences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 sz="2800" dirty="0"/>
          </a:p>
          <a:p>
            <a:r>
              <a:rPr lang="en-US" altLang="zh-TW" sz="2800" dirty="0"/>
              <a:t>both forms are accepted in both British and American English</a:t>
            </a:r>
          </a:p>
          <a:p>
            <a:endParaRPr lang="en-US" altLang="zh-TW" sz="2800" dirty="0"/>
          </a:p>
          <a:p>
            <a:r>
              <a:rPr lang="en-US" altLang="zh-TW" sz="2800" i="1" dirty="0">
                <a:solidFill>
                  <a:srgbClr val="C00000"/>
                </a:solidFill>
              </a:rPr>
              <a:t>have got</a:t>
            </a:r>
            <a:r>
              <a:rPr lang="en-US" altLang="zh-TW" sz="2800" dirty="0"/>
              <a:t> (have you got, he hasn't got, etc.): generally the preferred form in </a:t>
            </a:r>
            <a:r>
              <a:rPr lang="en-US" altLang="zh-TW" sz="2800" dirty="0">
                <a:solidFill>
                  <a:srgbClr val="C00000"/>
                </a:solidFill>
              </a:rPr>
              <a:t>British</a:t>
            </a:r>
            <a:r>
              <a:rPr lang="en-US" altLang="zh-TW" sz="2800" dirty="0"/>
              <a:t> English</a:t>
            </a:r>
          </a:p>
          <a:p>
            <a:endParaRPr lang="en-US" altLang="zh-TW" sz="2800" dirty="0"/>
          </a:p>
          <a:p>
            <a:r>
              <a:rPr lang="en-US" altLang="zh-TW" sz="2800" i="1" dirty="0">
                <a:solidFill>
                  <a:srgbClr val="C00000"/>
                </a:solidFill>
              </a:rPr>
              <a:t>have</a:t>
            </a:r>
            <a:r>
              <a:rPr lang="en-US" altLang="zh-TW" sz="2800" dirty="0"/>
              <a:t> (do you have, he doesn't have etc.): generally the preferred form in </a:t>
            </a:r>
            <a:r>
              <a:rPr lang="en-US" altLang="zh-TW" sz="2800" dirty="0">
                <a:solidFill>
                  <a:srgbClr val="C00000"/>
                </a:solidFill>
              </a:rPr>
              <a:t>American</a:t>
            </a:r>
            <a:r>
              <a:rPr lang="en-US" altLang="zh-TW" sz="2800" dirty="0"/>
              <a:t> English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8918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Syntactic differences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endParaRPr lang="en-US" altLang="zh-TW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zh-TW" altLang="en-US" sz="2800" dirty="0"/>
              <a:t>另一些例子：</a:t>
            </a:r>
            <a:endParaRPr lang="en-US" altLang="zh-HK" sz="2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HK" sz="2800" dirty="0" err="1">
                <a:solidFill>
                  <a:schemeClr val="tx1"/>
                </a:solidFill>
              </a:rPr>
              <a:t>BrE</a:t>
            </a:r>
            <a:r>
              <a:rPr lang="en-US" altLang="zh-HK" sz="2800" dirty="0">
                <a:solidFill>
                  <a:schemeClr val="tx1"/>
                </a:solidFill>
              </a:rPr>
              <a:t>:	</a:t>
            </a:r>
            <a:r>
              <a:rPr lang="en-US" altLang="zh-HK" sz="2800" i="1" dirty="0">
                <a:solidFill>
                  <a:schemeClr val="tx1"/>
                </a:solidFill>
              </a:rPr>
              <a:t>I’ll go </a:t>
            </a:r>
            <a:r>
              <a:rPr lang="en-US" altLang="zh-HK" sz="2800" i="1" dirty="0">
                <a:solidFill>
                  <a:srgbClr val="0070C0"/>
                </a:solidFill>
              </a:rPr>
              <a:t>and</a:t>
            </a:r>
            <a:r>
              <a:rPr lang="en-US" altLang="zh-HK" sz="2800" i="1" dirty="0"/>
              <a:t> </a:t>
            </a:r>
            <a:r>
              <a:rPr lang="en-US" altLang="zh-HK" sz="2800" i="1" dirty="0">
                <a:solidFill>
                  <a:schemeClr val="tx1"/>
                </a:solidFill>
              </a:rPr>
              <a:t>take a look.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HK" sz="2800" dirty="0" err="1">
                <a:solidFill>
                  <a:schemeClr val="tx1"/>
                </a:solidFill>
              </a:rPr>
              <a:t>AmE</a:t>
            </a:r>
            <a:r>
              <a:rPr lang="en-US" altLang="zh-HK" sz="2800" dirty="0">
                <a:solidFill>
                  <a:schemeClr val="tx1"/>
                </a:solidFill>
              </a:rPr>
              <a:t>:	</a:t>
            </a:r>
            <a:r>
              <a:rPr lang="en-US" altLang="zh-HK" sz="2800" i="1" dirty="0">
                <a:solidFill>
                  <a:schemeClr val="tx1"/>
                </a:solidFill>
              </a:rPr>
              <a:t>I’ll go take a look.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altLang="zh-HK" sz="2800" dirty="0">
              <a:solidFill>
                <a:schemeClr val="tx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HK" sz="2800" dirty="0" err="1">
                <a:solidFill>
                  <a:schemeClr val="tx1"/>
                </a:solidFill>
              </a:rPr>
              <a:t>BrE</a:t>
            </a:r>
            <a:r>
              <a:rPr lang="en-US" altLang="zh-HK" sz="2800" dirty="0">
                <a:solidFill>
                  <a:schemeClr val="tx1"/>
                </a:solidFill>
              </a:rPr>
              <a:t>:	</a:t>
            </a:r>
            <a:r>
              <a:rPr lang="en-US" altLang="zh-HK" sz="2800" i="1" dirty="0">
                <a:solidFill>
                  <a:schemeClr val="tx1"/>
                </a:solidFill>
              </a:rPr>
              <a:t>What did you do</a:t>
            </a:r>
            <a:r>
              <a:rPr lang="en-US" altLang="zh-HK" sz="2800" i="1" dirty="0"/>
              <a:t> </a:t>
            </a:r>
            <a:r>
              <a:rPr lang="en-US" altLang="zh-HK" sz="2800" i="1" dirty="0">
                <a:solidFill>
                  <a:srgbClr val="0070C0"/>
                </a:solidFill>
              </a:rPr>
              <a:t>at</a:t>
            </a:r>
            <a:r>
              <a:rPr lang="en-US" altLang="zh-HK" sz="2800" i="1" dirty="0"/>
              <a:t> </a:t>
            </a:r>
            <a:r>
              <a:rPr lang="en-US" altLang="zh-HK" sz="2800" i="1" dirty="0">
                <a:solidFill>
                  <a:schemeClr val="tx1"/>
                </a:solidFill>
              </a:rPr>
              <a:t>the weekend?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HK" sz="2800" dirty="0" err="1">
                <a:solidFill>
                  <a:schemeClr val="tx1"/>
                </a:solidFill>
              </a:rPr>
              <a:t>AmE</a:t>
            </a:r>
            <a:r>
              <a:rPr lang="en-US" altLang="zh-HK" sz="2800" dirty="0">
                <a:solidFill>
                  <a:schemeClr val="tx1"/>
                </a:solidFill>
              </a:rPr>
              <a:t>:	</a:t>
            </a:r>
            <a:r>
              <a:rPr lang="en-US" altLang="zh-HK" sz="2800" i="1" dirty="0">
                <a:solidFill>
                  <a:schemeClr val="tx1"/>
                </a:solidFill>
              </a:rPr>
              <a:t>What did you do </a:t>
            </a:r>
            <a:r>
              <a:rPr lang="en-US" altLang="zh-HK" sz="2800" i="1" dirty="0">
                <a:solidFill>
                  <a:srgbClr val="00B050"/>
                </a:solidFill>
              </a:rPr>
              <a:t>on</a:t>
            </a:r>
            <a:r>
              <a:rPr lang="en-US" altLang="zh-HK" sz="2800" i="1" dirty="0"/>
              <a:t> </a:t>
            </a:r>
            <a:r>
              <a:rPr lang="en-US" altLang="zh-HK" sz="2800" i="1" dirty="0">
                <a:solidFill>
                  <a:schemeClr val="tx1"/>
                </a:solidFill>
              </a:rPr>
              <a:t>the weekend?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932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/>
              <a:t>Ethnologue</a:t>
            </a:r>
            <a:r>
              <a:rPr lang="en-US" altLang="zh-HK" dirty="0"/>
              <a:t> </a:t>
            </a:r>
            <a:r>
              <a:rPr lang="zh-TW" altLang="en-US" dirty="0"/>
              <a:t>民族語言網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HK" dirty="0"/>
          </a:p>
          <a:p>
            <a:r>
              <a:rPr lang="en-US" altLang="zh-HK" dirty="0" err="1"/>
              <a:t>Ethnologue</a:t>
            </a:r>
            <a:endParaRPr lang="en-US" altLang="zh-HK" dirty="0"/>
          </a:p>
          <a:p>
            <a:r>
              <a:rPr lang="en-US" altLang="zh-HK" dirty="0"/>
              <a:t>summary by language size</a:t>
            </a:r>
          </a:p>
          <a:p>
            <a:r>
              <a:rPr lang="en-US" altLang="zh-HK" dirty="0">
                <a:hlinkClick r:id="rId2"/>
              </a:rPr>
              <a:t>http://www.ethnologue.com/statistics/size</a:t>
            </a:r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2280808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語言的消失與保育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36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3000" dirty="0"/>
              <a:t>語言的消失</a:t>
            </a:r>
            <a:r>
              <a:rPr lang="en-US" altLang="zh-TW" sz="3000" dirty="0"/>
              <a:t>/</a:t>
            </a:r>
            <a:r>
              <a:rPr lang="zh-TW" altLang="en-US" sz="3000" dirty="0"/>
              <a:t>死亡 </a:t>
            </a:r>
            <a:r>
              <a:rPr lang="en-US" altLang="zh-TW" sz="3000" dirty="0"/>
              <a:t>the death of languages</a:t>
            </a:r>
          </a:p>
          <a:p>
            <a:endParaRPr lang="en-US" sz="3000" dirty="0"/>
          </a:p>
          <a:p>
            <a:r>
              <a:rPr lang="zh-TW" altLang="en-US" sz="3000" dirty="0"/>
              <a:t>懂得這語言的人越來越少</a:t>
            </a:r>
            <a:endParaRPr lang="en-US" altLang="zh-TW" sz="3000" dirty="0"/>
          </a:p>
          <a:p>
            <a:r>
              <a:rPr lang="zh-TW" altLang="en-US" sz="3000" dirty="0"/>
              <a:t>因不同原因不再繼續說這些語言</a:t>
            </a:r>
            <a:endParaRPr lang="en-US" altLang="zh-TW" sz="3000" dirty="0"/>
          </a:p>
          <a:p>
            <a:r>
              <a:rPr lang="zh-TW" altLang="en-US" sz="3000" dirty="0"/>
              <a:t>當再沒有人說這些語言</a:t>
            </a:r>
            <a:endParaRPr lang="en-US" altLang="zh-TW" sz="3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778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what languages are dying?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3000" dirty="0"/>
              <a:t>the United Nations Educational, Scientific, and Cultural Organization (UNESCO) </a:t>
            </a:r>
            <a:br>
              <a:rPr lang="en-US" altLang="zh-HK" sz="3000" dirty="0"/>
            </a:br>
            <a:r>
              <a:rPr lang="zh-TW" altLang="en-US" sz="3000" dirty="0"/>
              <a:t>聯合國教育、科學及文化組織</a:t>
            </a:r>
            <a:br>
              <a:rPr lang="en-US" altLang="zh-TW" sz="3000" dirty="0"/>
            </a:br>
            <a:r>
              <a:rPr lang="en-US" altLang="zh-TW" sz="3000" dirty="0"/>
              <a:t>(</a:t>
            </a:r>
            <a:r>
              <a:rPr lang="zh-TW" altLang="en-US" sz="3000" dirty="0"/>
              <a:t>聯合國教科文組織</a:t>
            </a:r>
            <a:r>
              <a:rPr lang="en-US" altLang="zh-TW" sz="3000" dirty="0"/>
              <a:t>)</a:t>
            </a:r>
          </a:p>
          <a:p>
            <a:endParaRPr lang="en-US" altLang="zh-HK" sz="3000" dirty="0"/>
          </a:p>
          <a:p>
            <a:r>
              <a:rPr lang="en-US" altLang="zh-HK" sz="3000" dirty="0">
                <a:solidFill>
                  <a:srgbClr val="0070C0"/>
                </a:solidFill>
              </a:rPr>
              <a:t>4 levels of endangerment of languages</a:t>
            </a:r>
          </a:p>
          <a:p>
            <a:r>
              <a:rPr lang="zh-TW" altLang="en-US" sz="3000" dirty="0"/>
              <a:t>四種瀕危程度</a:t>
            </a:r>
            <a:endParaRPr lang="en-US" altLang="zh-HK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5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endParaRPr lang="en-US" altLang="zh-HK" b="1" u="sng" dirty="0">
              <a:solidFill>
                <a:srgbClr val="FF0000"/>
              </a:solidFill>
            </a:endParaRPr>
          </a:p>
          <a:p>
            <a:r>
              <a:rPr lang="en-US" altLang="zh-HK" sz="2800" b="1" u="sng" dirty="0">
                <a:solidFill>
                  <a:srgbClr val="C00000"/>
                </a:solidFill>
              </a:rPr>
              <a:t>Vulnerable</a:t>
            </a:r>
            <a:r>
              <a:rPr lang="en-US" altLang="zh-HK" sz="2800" dirty="0"/>
              <a:t>: Most children speak the language, but it may be </a:t>
            </a:r>
            <a:r>
              <a:rPr lang="en-US" altLang="zh-HK" sz="2800" dirty="0">
                <a:solidFill>
                  <a:srgbClr val="0070C0"/>
                </a:solidFill>
              </a:rPr>
              <a:t>restricted</a:t>
            </a:r>
            <a:r>
              <a:rPr lang="en-US" altLang="zh-HK" sz="2800" dirty="0"/>
              <a:t> to certain domains (e.g., home).</a:t>
            </a:r>
            <a:br>
              <a:rPr lang="en-US" altLang="zh-HK" sz="2800" dirty="0"/>
            </a:br>
            <a:r>
              <a:rPr lang="zh-TW" altLang="en-US" sz="2800" b="1" dirty="0">
                <a:solidFill>
                  <a:srgbClr val="C00000"/>
                </a:solidFill>
              </a:rPr>
              <a:t>不安全型</a:t>
            </a:r>
            <a:r>
              <a:rPr lang="zh-TW" altLang="en-US" sz="2800" dirty="0"/>
              <a:t>：該語言被大多數孩子使用，但或</a:t>
            </a:r>
            <a:r>
              <a:rPr lang="zh-TW" altLang="en-US" sz="2800" dirty="0">
                <a:solidFill>
                  <a:srgbClr val="0070C0"/>
                </a:solidFill>
              </a:rPr>
              <a:t>局限</a:t>
            </a:r>
            <a:r>
              <a:rPr lang="zh-TW" altLang="en-US" sz="2800" dirty="0"/>
              <a:t>於某些場合 </a:t>
            </a:r>
            <a:r>
              <a:rPr lang="en-US" altLang="zh-TW" sz="2800" dirty="0"/>
              <a:t>(</a:t>
            </a:r>
            <a:r>
              <a:rPr lang="zh-TW" altLang="en-US" sz="2800" dirty="0"/>
              <a:t>例如：家中</a:t>
            </a:r>
            <a:r>
              <a:rPr lang="en-US" altLang="zh-TW" sz="2800" dirty="0"/>
              <a:t>)</a:t>
            </a:r>
          </a:p>
          <a:p>
            <a:endParaRPr lang="en-US" altLang="zh-HK" sz="2800" dirty="0"/>
          </a:p>
          <a:p>
            <a:r>
              <a:rPr lang="en-US" altLang="zh-HK" sz="2800" b="1" u="sng" dirty="0">
                <a:solidFill>
                  <a:srgbClr val="C00000"/>
                </a:solidFill>
              </a:rPr>
              <a:t>Definitely endangered</a:t>
            </a:r>
            <a:r>
              <a:rPr lang="en-US" altLang="zh-HK" sz="2800" dirty="0"/>
              <a:t>: </a:t>
            </a:r>
            <a:r>
              <a:rPr lang="en-US" altLang="zh-HK" sz="2800" dirty="0">
                <a:solidFill>
                  <a:srgbClr val="0070C0"/>
                </a:solidFill>
              </a:rPr>
              <a:t>Children no longer</a:t>
            </a:r>
            <a:r>
              <a:rPr lang="en-US" altLang="zh-HK" sz="2800" dirty="0"/>
              <a:t> learn the language as mother tongue in the home.</a:t>
            </a:r>
            <a:br>
              <a:rPr lang="en-US" altLang="zh-HK" sz="2800" dirty="0"/>
            </a:br>
            <a:r>
              <a:rPr lang="zh-TW" altLang="en-US" sz="2800" b="1" dirty="0">
                <a:solidFill>
                  <a:srgbClr val="C00000"/>
                </a:solidFill>
              </a:rPr>
              <a:t>肯定瀕危型</a:t>
            </a:r>
            <a:r>
              <a:rPr lang="zh-TW" altLang="en-US" sz="2800" dirty="0"/>
              <a:t>：該語言不再被孩子在家中作為母語學習</a:t>
            </a:r>
            <a:endParaRPr lang="en-US" altLang="zh-HK" sz="2800" dirty="0"/>
          </a:p>
          <a:p>
            <a:endParaRPr lang="zh-HK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11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HK" sz="2800" b="1" u="sng" dirty="0">
              <a:solidFill>
                <a:srgbClr val="C00000"/>
              </a:solidFill>
            </a:endParaRPr>
          </a:p>
          <a:p>
            <a:endParaRPr lang="en-US" altLang="zh-HK" sz="2800" b="1" u="sng" dirty="0">
              <a:solidFill>
                <a:srgbClr val="C00000"/>
              </a:solidFill>
            </a:endParaRPr>
          </a:p>
          <a:p>
            <a:r>
              <a:rPr lang="en-US" altLang="zh-HK" sz="2800" b="1" u="sng" dirty="0">
                <a:solidFill>
                  <a:srgbClr val="C00000"/>
                </a:solidFill>
              </a:rPr>
              <a:t>Severely endangered</a:t>
            </a:r>
            <a:r>
              <a:rPr lang="en-US" altLang="zh-HK" sz="2800" dirty="0"/>
              <a:t>: Language is spoken by </a:t>
            </a:r>
            <a:r>
              <a:rPr lang="en-US" altLang="zh-HK" sz="2800" dirty="0">
                <a:solidFill>
                  <a:srgbClr val="0070C0"/>
                </a:solidFill>
              </a:rPr>
              <a:t>grandparents and older generations</a:t>
            </a:r>
            <a:r>
              <a:rPr lang="en-US" altLang="zh-HK" sz="2800" dirty="0"/>
              <a:t>; while the parent generation may understand it, they do not speak it to children or among themselves.</a:t>
            </a:r>
            <a:br>
              <a:rPr lang="en-US" altLang="zh-HK" sz="2800" dirty="0"/>
            </a:br>
            <a:r>
              <a:rPr lang="zh-TW" altLang="en-US" sz="2800" b="1" dirty="0">
                <a:solidFill>
                  <a:srgbClr val="C00000"/>
                </a:solidFill>
              </a:rPr>
              <a:t>嚴重瀕危型</a:t>
            </a:r>
            <a:r>
              <a:rPr lang="zh-TW" altLang="en-US" sz="2800" dirty="0"/>
              <a:t>：該語言被</a:t>
            </a:r>
            <a:r>
              <a:rPr lang="zh-TW" altLang="en-US" sz="2800" dirty="0">
                <a:solidFill>
                  <a:srgbClr val="0070C0"/>
                </a:solidFill>
              </a:rPr>
              <a:t>祖父母輩及以上輩分</a:t>
            </a:r>
            <a:r>
              <a:rPr lang="zh-TW" altLang="en-US" sz="2800" dirty="0"/>
              <a:t>的人們使用，父母輩可能懂得該語言，但不會用它與孩子及同輩交談</a:t>
            </a:r>
            <a:endParaRPr lang="en-US" altLang="zh-HK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7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40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altLang="zh-HK" sz="2800" b="1" u="sng" dirty="0">
              <a:solidFill>
                <a:srgbClr val="C00000"/>
              </a:solidFill>
            </a:endParaRPr>
          </a:p>
          <a:p>
            <a:endParaRPr lang="en-US" altLang="zh-HK" sz="2800" b="1" u="sng" dirty="0">
              <a:solidFill>
                <a:srgbClr val="C00000"/>
              </a:solidFill>
            </a:endParaRPr>
          </a:p>
          <a:p>
            <a:r>
              <a:rPr lang="en-US" altLang="zh-HK" sz="2800" b="1" u="sng" dirty="0">
                <a:solidFill>
                  <a:srgbClr val="C00000"/>
                </a:solidFill>
              </a:rPr>
              <a:t>Critically endangered</a:t>
            </a:r>
            <a:r>
              <a:rPr lang="en-US" altLang="zh-HK" sz="2800" dirty="0"/>
              <a:t>: The youngest speakers are grandparents and older, and they speak the language </a:t>
            </a:r>
            <a:r>
              <a:rPr lang="en-US" altLang="zh-HK" sz="2800" dirty="0">
                <a:solidFill>
                  <a:srgbClr val="0070C0"/>
                </a:solidFill>
              </a:rPr>
              <a:t>partially and infrequently</a:t>
            </a:r>
            <a:r>
              <a:rPr lang="en-US" altLang="zh-HK" sz="2800" dirty="0"/>
              <a:t>.</a:t>
            </a:r>
            <a:br>
              <a:rPr lang="en-US" altLang="zh-HK" sz="2800" dirty="0"/>
            </a:br>
            <a:r>
              <a:rPr lang="zh-TW" altLang="en-US" sz="2800" b="1" dirty="0">
                <a:solidFill>
                  <a:srgbClr val="C00000"/>
                </a:solidFill>
              </a:rPr>
              <a:t>極度瀕危型</a:t>
            </a:r>
            <a:r>
              <a:rPr lang="zh-TW" altLang="en-US" sz="2800" dirty="0"/>
              <a:t>：該語言只被祖父母輩及以上輩分的人們使用，而他們也不能流利運用該語言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91130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685800"/>
          </a:xfrm>
        </p:spPr>
        <p:txBody>
          <a:bodyPr>
            <a:normAutofit/>
          </a:bodyPr>
          <a:lstStyle/>
          <a:p>
            <a:r>
              <a:rPr lang="zh-TW" altLang="en-US" dirty="0"/>
              <a:t>教科文組織世界瀕危語言地圖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10600" cy="5050536"/>
          </a:xfrm>
        </p:spPr>
        <p:txBody>
          <a:bodyPr/>
          <a:lstStyle/>
          <a:p>
            <a:r>
              <a:rPr lang="en-US" altLang="zh-HK" dirty="0"/>
              <a:t>UNESCO Atlas of the World's Languages in Danger</a:t>
            </a:r>
          </a:p>
          <a:p>
            <a:r>
              <a:rPr lang="en-US" altLang="zh-HK" sz="2400" dirty="0">
                <a:hlinkClick r:id="rId2"/>
              </a:rPr>
              <a:t>http://www.unesco.org/culture/languages-atlas/</a:t>
            </a:r>
            <a:endParaRPr lang="en-US" altLang="zh-HK" sz="2400" dirty="0"/>
          </a:p>
          <a:p>
            <a:endParaRPr lang="zh-HK" altLang="en-US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41</a:t>
            </a:r>
            <a:endParaRPr lang="en-US" dirty="0"/>
          </a:p>
        </p:txBody>
      </p:sp>
      <p:pic>
        <p:nvPicPr>
          <p:cNvPr id="5" name="Picture 2" descr="C:\Users\CBS\Desktop\endangered languages ma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514600"/>
            <a:ext cx="4648200" cy="417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719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sz="2800" dirty="0"/>
              <a:t>Dr. Mark Turin:</a:t>
            </a:r>
          </a:p>
          <a:p>
            <a:endParaRPr lang="en-US" altLang="zh-HK" sz="2800" dirty="0">
              <a:hlinkClick r:id="rId2"/>
            </a:endParaRPr>
          </a:p>
          <a:p>
            <a:r>
              <a:rPr lang="en-US" altLang="zh-HK" sz="2800" dirty="0"/>
              <a:t>“if we believe that this is part of our inherited condition as a species, this is </a:t>
            </a:r>
            <a:r>
              <a:rPr lang="en-US" altLang="zh-HK" sz="2800" dirty="0">
                <a:solidFill>
                  <a:srgbClr val="C00000"/>
                </a:solidFill>
              </a:rPr>
              <a:t>what makes us unique as a species</a:t>
            </a:r>
            <a:r>
              <a:rPr lang="en-US" altLang="zh-HK" sz="2800" dirty="0"/>
              <a:t>, it’s just a moral travesty not to do something about it”</a:t>
            </a:r>
          </a:p>
          <a:p>
            <a:endParaRPr lang="en-US" altLang="zh-HK" sz="2800" dirty="0">
              <a:hlinkClick r:id="rId2"/>
            </a:endParaRPr>
          </a:p>
          <a:p>
            <a:r>
              <a:rPr lang="en-US" altLang="zh-HK" sz="2000" dirty="0">
                <a:hlinkClick r:id="rId2"/>
              </a:rPr>
              <a:t>http://www.youtube.com/watch?v=vNbm53Lm3T4</a:t>
            </a:r>
            <a:endParaRPr lang="en-US" altLang="zh-HK" sz="2000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3607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800" dirty="0"/>
              <a:t>UNESCO, 1991:</a:t>
            </a:r>
          </a:p>
          <a:p>
            <a:endParaRPr lang="en-US" altLang="zh-HK" sz="2800" dirty="0"/>
          </a:p>
          <a:p>
            <a:r>
              <a:rPr lang="en-US" altLang="zh-HK" sz="2800" dirty="0"/>
              <a:t>“…the disappearance of any one language constitutes an </a:t>
            </a:r>
            <a:r>
              <a:rPr lang="en-US" altLang="zh-HK" sz="2800" dirty="0">
                <a:solidFill>
                  <a:srgbClr val="C00000"/>
                </a:solidFill>
              </a:rPr>
              <a:t>irretrievable loss to mankind</a:t>
            </a:r>
            <a:r>
              <a:rPr lang="en-US" altLang="zh-HK" sz="2800" dirty="0"/>
              <a:t>…”</a:t>
            </a:r>
            <a:endParaRPr lang="zh-HK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26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800" dirty="0" err="1"/>
              <a:t>Bouchenaki</a:t>
            </a:r>
            <a:r>
              <a:rPr lang="en-US" altLang="zh-HK" sz="2800" dirty="0"/>
              <a:t> </a:t>
            </a:r>
            <a:r>
              <a:rPr lang="en-US" altLang="zh-HK" sz="2800" dirty="0" err="1"/>
              <a:t>Mounir</a:t>
            </a:r>
            <a:r>
              <a:rPr lang="en-US" altLang="zh-HK" sz="2800" dirty="0"/>
              <a:t>, assistant director-general of the UNESCO:</a:t>
            </a:r>
          </a:p>
          <a:p>
            <a:endParaRPr lang="en-US" altLang="zh-HK" sz="2800" dirty="0"/>
          </a:p>
          <a:p>
            <a:r>
              <a:rPr lang="en-US" altLang="zh-HK" sz="2800" dirty="0"/>
              <a:t>“Language is the </a:t>
            </a:r>
            <a:r>
              <a:rPr lang="en-US" altLang="zh-HK" sz="2800" dirty="0">
                <a:solidFill>
                  <a:srgbClr val="C00000"/>
                </a:solidFill>
              </a:rPr>
              <a:t>carrier of the human intangible culture</a:t>
            </a:r>
            <a:r>
              <a:rPr lang="en-US" altLang="zh-HK" sz="2800" dirty="0"/>
              <a:t>, and we should attach much importance to the protection of them”</a:t>
            </a:r>
          </a:p>
          <a:p>
            <a:endParaRPr lang="en-US" altLang="zh-HK" sz="2800" dirty="0"/>
          </a:p>
          <a:p>
            <a:r>
              <a:rPr lang="en-US" altLang="zh-HK" sz="2000" dirty="0">
                <a:hlinkClick r:id="rId2"/>
              </a:rPr>
              <a:t>http://english.peopledaily.com.cn/200507/22/eng20050722_197633.html</a:t>
            </a:r>
            <a:endParaRPr lang="en-US" altLang="zh-HK" sz="2000" dirty="0"/>
          </a:p>
          <a:p>
            <a:endParaRPr lang="en-US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928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sz="2800" dirty="0"/>
              <a:t>Ma </a:t>
            </a:r>
            <a:r>
              <a:rPr lang="en-US" altLang="zh-HK" sz="2800" dirty="0" err="1"/>
              <a:t>Yongquan</a:t>
            </a:r>
            <a:r>
              <a:rPr lang="en-US" altLang="zh-HK" sz="2800" dirty="0"/>
              <a:t>, a folk artist of the </a:t>
            </a:r>
            <a:r>
              <a:rPr lang="en-US" altLang="zh-HK" sz="2800" dirty="0" err="1"/>
              <a:t>Zhuang</a:t>
            </a:r>
            <a:r>
              <a:rPr lang="en-US" altLang="zh-HK" sz="2800" dirty="0"/>
              <a:t> ethnic group:</a:t>
            </a:r>
          </a:p>
          <a:p>
            <a:endParaRPr lang="en-US" altLang="zh-HK" sz="2800" dirty="0"/>
          </a:p>
          <a:p>
            <a:r>
              <a:rPr lang="en-US" altLang="zh-HK" sz="2800" dirty="0"/>
              <a:t>“The peculiar lingering </a:t>
            </a:r>
            <a:r>
              <a:rPr lang="en-US" altLang="zh-HK" sz="2800" dirty="0">
                <a:solidFill>
                  <a:srgbClr val="C00000"/>
                </a:solidFill>
              </a:rPr>
              <a:t>charm</a:t>
            </a:r>
            <a:r>
              <a:rPr lang="en-US" altLang="zh-HK" sz="2800" dirty="0"/>
              <a:t> and rules and forms of the folk songs could not be expressed in any other written language.”</a:t>
            </a:r>
          </a:p>
          <a:p>
            <a:endParaRPr lang="en-US" altLang="zh-HK" sz="2800" dirty="0"/>
          </a:p>
          <a:p>
            <a:endParaRPr lang="zh-HK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89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46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181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TW" dirty="0"/>
              <a:t>“</a:t>
            </a:r>
            <a:r>
              <a:rPr lang="zh-TW" altLang="en-US" dirty="0"/>
              <a:t>香港圍頭話客家話 </a:t>
            </a:r>
            <a:r>
              <a:rPr lang="en-US" altLang="zh-TW" dirty="0"/>
              <a:t>50</a:t>
            </a:r>
            <a:r>
              <a:rPr lang="zh-TW" altLang="en-US" dirty="0"/>
              <a:t>年後消失</a:t>
            </a:r>
            <a:r>
              <a:rPr lang="en-US" altLang="zh-TW" dirty="0"/>
              <a:t>” (</a:t>
            </a:r>
            <a:r>
              <a:rPr lang="zh-TW" altLang="en-US" dirty="0"/>
              <a:t>東方日報</a:t>
            </a:r>
            <a:r>
              <a:rPr lang="en-US" altLang="zh-TW" dirty="0"/>
              <a:t>2011-12-11)</a:t>
            </a:r>
            <a:br>
              <a:rPr lang="en-US" altLang="zh-TW" dirty="0"/>
            </a:br>
            <a:r>
              <a:rPr lang="en-US" altLang="zh-HK" sz="2000" dirty="0">
                <a:hlinkClick r:id="rId2"/>
              </a:rPr>
              <a:t>http://orientaldaily.on.cc/cnt/news/20111211/00176_045.html</a:t>
            </a:r>
            <a:br>
              <a:rPr lang="en-US" altLang="zh-HK" sz="2000" dirty="0"/>
            </a:br>
            <a:br>
              <a:rPr lang="en-US" altLang="zh-HK" sz="2000" dirty="0"/>
            </a:br>
            <a:br>
              <a:rPr lang="en-US" altLang="zh-HK" sz="2000" dirty="0"/>
            </a:br>
            <a:r>
              <a:rPr lang="en-US" altLang="zh-TW" sz="2800" dirty="0"/>
              <a:t>“</a:t>
            </a:r>
            <a:r>
              <a:rPr lang="zh-TW" altLang="en-US" sz="2800" dirty="0">
                <a:solidFill>
                  <a:srgbClr val="C00000"/>
                </a:solidFill>
              </a:rPr>
              <a:t>別以為廣州話是本港最地道的語言。</a:t>
            </a:r>
            <a:br>
              <a:rPr lang="en-US" altLang="zh-TW" sz="2800" dirty="0">
                <a:solidFill>
                  <a:srgbClr val="C00000"/>
                </a:solidFill>
              </a:rPr>
            </a:br>
            <a:r>
              <a:rPr lang="zh-TW" altLang="en-US" sz="2800" dirty="0"/>
              <a:t>早在英國人租借新界之前，香港人主要是以</a:t>
            </a:r>
            <a:r>
              <a:rPr lang="zh-TW" altLang="en-US" sz="2800" b="1" u="sng" dirty="0">
                <a:solidFill>
                  <a:schemeClr val="accent3">
                    <a:lumMod val="50000"/>
                  </a:schemeClr>
                </a:solidFill>
              </a:rPr>
              <a:t>圍頭話</a:t>
            </a:r>
            <a:r>
              <a:rPr lang="zh-TW" altLang="en-US" sz="2800" dirty="0"/>
              <a:t>及</a:t>
            </a:r>
            <a:r>
              <a:rPr lang="zh-TW" altLang="en-US" sz="2800" b="1" u="sng" dirty="0">
                <a:solidFill>
                  <a:schemeClr val="accent3">
                    <a:lumMod val="50000"/>
                  </a:schemeClr>
                </a:solidFill>
              </a:rPr>
              <a:t>客家話</a:t>
            </a:r>
            <a:r>
              <a:rPr lang="zh-TW" altLang="en-US" sz="2800" dirty="0"/>
              <a:t>溝通，但現時識聽識講這兩種語言的卅歲以下市民，只餘不足百分之一，五十年後更可能再無香港人懂圍頭話及客家話。</a:t>
            </a:r>
            <a:br>
              <a:rPr lang="en-US" altLang="zh-TW" sz="2800" dirty="0"/>
            </a:br>
            <a:r>
              <a:rPr lang="zh-TW" altLang="en-US" sz="2800" dirty="0"/>
              <a:t>為保存這獨特的語言遺產，有機構設立首個網上圍頭話、客家話發音字典，方便市民查閱。</a:t>
            </a:r>
            <a:r>
              <a:rPr lang="en-US" altLang="zh-TW" sz="2800" dirty="0"/>
              <a:t>”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5862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  <a:endParaRPr lang="en-US" altLang="zh-TW" dirty="0"/>
          </a:p>
          <a:p>
            <a:endParaRPr lang="zh-HK" altLang="en-US" dirty="0"/>
          </a:p>
        </p:txBody>
      </p:sp>
      <p:pic>
        <p:nvPicPr>
          <p:cNvPr id="1026" name="Picture 2" descr="C:\Wingli\Files\Windows 7\Desktop\1211-00176-045v1-Cantonese-圍頭-Hakk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371600"/>
            <a:ext cx="3962400" cy="52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249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each language provides new evidence on the nature of human cognition through its grammar</a:t>
            </a:r>
          </a:p>
          <a:p>
            <a:endParaRPr lang="en-US" altLang="zh-HK" dirty="0"/>
          </a:p>
          <a:p>
            <a:r>
              <a:rPr lang="en-US" altLang="zh-HK" dirty="0"/>
              <a:t>in its literature, poetry, ritual speech, and word structure, each language stores the collective intellectual achievements of a culture, </a:t>
            </a:r>
            <a:r>
              <a:rPr lang="en-US" altLang="zh-HK" dirty="0">
                <a:solidFill>
                  <a:srgbClr val="C00000"/>
                </a:solidFill>
              </a:rPr>
              <a:t>offering unique perspectives on the human condition</a:t>
            </a:r>
            <a:endParaRPr lang="zh-HK" alt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700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 dirty="0"/>
          </a:p>
          <a:p>
            <a:r>
              <a:rPr lang="en-US" altLang="zh-HK" dirty="0"/>
              <a:t>the disappearance of a language is tragic; not only are these insights lost, but the major medium through which a culture maintains and renews itself is gone as well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306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對於保育語言之重要性的意見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 dirty="0"/>
          </a:p>
          <a:p>
            <a:r>
              <a:rPr lang="en-US" altLang="zh-HK" dirty="0"/>
              <a:t>a scientific reason for studying different types of languages:</a:t>
            </a:r>
          </a:p>
          <a:p>
            <a:pPr lvl="1"/>
            <a:endParaRPr lang="en-US" altLang="zh-HK" sz="2800" dirty="0"/>
          </a:p>
          <a:p>
            <a:pPr lvl="1"/>
            <a:r>
              <a:rPr lang="en-US" altLang="zh-HK" sz="2800" dirty="0"/>
              <a:t>linguists can develop a comprehensive theory of language that accounts for both its universal and language-specific properties</a:t>
            </a:r>
            <a:endParaRPr lang="zh-HK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370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how do we preserve languages?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HK" dirty="0"/>
          </a:p>
          <a:p>
            <a:r>
              <a:rPr lang="en-US" altLang="zh-HK" dirty="0"/>
              <a:t>linguists attempt to preserve the endangered languages by</a:t>
            </a:r>
          </a:p>
          <a:p>
            <a:pPr lvl="1"/>
            <a:endParaRPr lang="en-US" altLang="zh-HK" sz="2800" dirty="0"/>
          </a:p>
          <a:p>
            <a:pPr lvl="1"/>
            <a:r>
              <a:rPr lang="en-US" altLang="zh-HK" sz="2800" dirty="0"/>
              <a:t>studying and </a:t>
            </a:r>
            <a:r>
              <a:rPr lang="en-US" altLang="zh-HK" sz="2800" dirty="0">
                <a:solidFill>
                  <a:srgbClr val="C00000"/>
                </a:solidFill>
              </a:rPr>
              <a:t>documenting their grammars</a:t>
            </a:r>
          </a:p>
          <a:p>
            <a:pPr lvl="1"/>
            <a:endParaRPr lang="en-US" altLang="zh-HK" sz="2800" dirty="0">
              <a:solidFill>
                <a:srgbClr val="C00000"/>
              </a:solidFill>
            </a:endParaRPr>
          </a:p>
          <a:p>
            <a:pPr lvl="1"/>
            <a:r>
              <a:rPr lang="en-US" altLang="zh-HK" sz="2800" dirty="0">
                <a:solidFill>
                  <a:srgbClr val="C00000"/>
                </a:solidFill>
              </a:rPr>
              <a:t>recording </a:t>
            </a:r>
            <a:r>
              <a:rPr lang="en-US" altLang="zh-HK" sz="2800" dirty="0"/>
              <a:t>for posterity </a:t>
            </a:r>
            <a:r>
              <a:rPr lang="en-US" altLang="zh-HK" sz="2800" dirty="0">
                <a:solidFill>
                  <a:srgbClr val="C00000"/>
                </a:solidFill>
              </a:rPr>
              <a:t>the speech</a:t>
            </a:r>
            <a:r>
              <a:rPr lang="en-US" altLang="zh-HK" sz="2800" dirty="0"/>
              <a:t> of the last few speakers</a:t>
            </a:r>
          </a:p>
          <a:p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538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UNESCO, 1991 resolution:</a:t>
            </a:r>
          </a:p>
          <a:p>
            <a:endParaRPr lang="en-US" altLang="zh-HK" dirty="0"/>
          </a:p>
          <a:p>
            <a:r>
              <a:rPr lang="en-US" altLang="zh-HK" dirty="0"/>
              <a:t>“…the disappearance of any one language constitutes an irretrievable loss to mankind, it is for UNESCO a task of great urgency to respond to this situation by </a:t>
            </a:r>
            <a:r>
              <a:rPr lang="en-US" altLang="zh-HK" dirty="0">
                <a:solidFill>
                  <a:srgbClr val="C00000"/>
                </a:solidFill>
              </a:rPr>
              <a:t>promoting…the description – in the form of grammars, dictionaries, and texts</a:t>
            </a:r>
            <a:r>
              <a:rPr lang="en-US" altLang="zh-HK" dirty="0"/>
              <a:t> – of endangered and dying languages”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35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HK" dirty="0"/>
          </a:p>
          <a:p>
            <a:r>
              <a:rPr lang="en-US" altLang="zh-HK" dirty="0"/>
              <a:t>Ma </a:t>
            </a:r>
            <a:r>
              <a:rPr lang="en-US" altLang="zh-HK" dirty="0" err="1"/>
              <a:t>Yongquan</a:t>
            </a:r>
            <a:r>
              <a:rPr lang="en-US" altLang="zh-HK" dirty="0"/>
              <a:t>, a folk artist of the </a:t>
            </a:r>
            <a:r>
              <a:rPr lang="en-US" altLang="zh-HK" dirty="0" err="1"/>
              <a:t>Zhuang</a:t>
            </a:r>
            <a:r>
              <a:rPr lang="en-US" altLang="zh-HK" dirty="0"/>
              <a:t> ethnic group, the most populous ethnic group in the region, said he has been </a:t>
            </a:r>
            <a:r>
              <a:rPr lang="en-US" altLang="zh-HK" dirty="0">
                <a:solidFill>
                  <a:srgbClr val="C00000"/>
                </a:solidFill>
              </a:rPr>
              <a:t>recording</a:t>
            </a:r>
            <a:r>
              <a:rPr lang="en-US" altLang="zh-HK" dirty="0"/>
              <a:t> a lot of folk songs in the </a:t>
            </a:r>
            <a:r>
              <a:rPr lang="en-US" altLang="zh-HK" dirty="0" err="1"/>
              <a:t>Zhuang</a:t>
            </a:r>
            <a:r>
              <a:rPr lang="en-US" altLang="zh-HK" dirty="0"/>
              <a:t> language. </a:t>
            </a:r>
          </a:p>
          <a:p>
            <a:endParaRPr lang="en-US" altLang="zh-HK" dirty="0"/>
          </a:p>
          <a:p>
            <a:r>
              <a:rPr lang="en-US" altLang="zh-HK" dirty="0">
                <a:hlinkClick r:id="rId2"/>
              </a:rPr>
              <a:t>http://www.china.org.cn/english/2001/Jun/15169.htm</a:t>
            </a:r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002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 err="1"/>
              <a:t>Guo</a:t>
            </a:r>
            <a:r>
              <a:rPr lang="en-US" altLang="zh-HK" dirty="0"/>
              <a:t> </a:t>
            </a:r>
            <a:r>
              <a:rPr lang="en-US" altLang="zh-HK" dirty="0" err="1"/>
              <a:t>Xiuming</a:t>
            </a:r>
            <a:r>
              <a:rPr lang="en-US" altLang="zh-HK" dirty="0"/>
              <a:t>, a speaker of </a:t>
            </a:r>
            <a:r>
              <a:rPr lang="en-US" altLang="zh-HK" dirty="0" err="1"/>
              <a:t>Gelo</a:t>
            </a:r>
            <a:r>
              <a:rPr lang="en-US" altLang="zh-HK" dirty="0"/>
              <a:t>:</a:t>
            </a:r>
          </a:p>
          <a:p>
            <a:endParaRPr lang="en-US" altLang="zh-HK" dirty="0"/>
          </a:p>
          <a:p>
            <a:r>
              <a:rPr lang="en-US" altLang="zh-HK" dirty="0"/>
              <a:t>“I’ve been </a:t>
            </a:r>
            <a:r>
              <a:rPr lang="en-US" altLang="zh-HK" dirty="0">
                <a:solidFill>
                  <a:srgbClr val="C00000"/>
                </a:solidFill>
              </a:rPr>
              <a:t>collecting</a:t>
            </a:r>
            <a:r>
              <a:rPr lang="en-US" altLang="zh-HK" dirty="0"/>
              <a:t> </a:t>
            </a:r>
            <a:r>
              <a:rPr lang="en-US" altLang="zh-HK" dirty="0" err="1"/>
              <a:t>Gelo</a:t>
            </a:r>
            <a:r>
              <a:rPr lang="en-US" altLang="zh-HK" dirty="0"/>
              <a:t> folk cultural heritage from senior </a:t>
            </a:r>
            <a:r>
              <a:rPr lang="en-US" altLang="zh-HK" dirty="0" err="1"/>
              <a:t>Gelao</a:t>
            </a:r>
            <a:r>
              <a:rPr lang="en-US" altLang="zh-HK" dirty="0"/>
              <a:t> people in Guangxi since 1995, and so far I’ve compiled a collection of 70,000 words about that”</a:t>
            </a:r>
          </a:p>
          <a:p>
            <a:endParaRPr lang="en-US" altLang="zh-HK" dirty="0"/>
          </a:p>
          <a:p>
            <a:r>
              <a:rPr lang="en-US" altLang="zh-HK" dirty="0">
                <a:hlinkClick r:id="rId2"/>
              </a:rPr>
              <a:t>http://www.china.org.cn/english/2001/Jun/15169.htm</a:t>
            </a:r>
            <a:endParaRPr lang="en-US" altLang="zh-HK" dirty="0"/>
          </a:p>
          <a:p>
            <a:endParaRPr lang="en-US" altLang="zh-HK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276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Dr. Mark Turin</a:t>
            </a:r>
          </a:p>
          <a:p>
            <a:r>
              <a:rPr lang="en-US" dirty="0">
                <a:hlinkClick r:id="rId2"/>
              </a:rPr>
              <a:t>http://markturin.commons.yale.edu/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“My research focuses on language endangerment and global cultural diversity. I am interested in </a:t>
            </a:r>
            <a:r>
              <a:rPr lang="en-US" dirty="0">
                <a:solidFill>
                  <a:srgbClr val="C00000"/>
                </a:solidFill>
              </a:rPr>
              <a:t>language policy and activism </a:t>
            </a:r>
            <a:r>
              <a:rPr lang="en-US" dirty="0"/>
              <a:t>in the context of </a:t>
            </a:r>
            <a:r>
              <a:rPr lang="en-US" dirty="0">
                <a:solidFill>
                  <a:srgbClr val="C00000"/>
                </a:solidFill>
              </a:rPr>
              <a:t>mother tongue instruction</a:t>
            </a:r>
            <a:r>
              <a:rPr lang="en-US" dirty="0"/>
              <a:t>...”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238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some success stories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a stunning example of the revival of a dormant language occurred in Israel</a:t>
            </a:r>
          </a:p>
          <a:p>
            <a:pPr lvl="1"/>
            <a:r>
              <a:rPr lang="en-US" altLang="zh-HK" sz="2600" dirty="0">
                <a:solidFill>
                  <a:schemeClr val="tx1"/>
                </a:solidFill>
              </a:rPr>
              <a:t>for centuries, classical Hebrew</a:t>
            </a:r>
            <a:r>
              <a:rPr lang="zh-TW" altLang="en-US" sz="2600" dirty="0">
                <a:solidFill>
                  <a:schemeClr val="tx1"/>
                </a:solidFill>
              </a:rPr>
              <a:t> </a:t>
            </a:r>
            <a:r>
              <a:rPr lang="en-US" altLang="zh-TW" sz="2600" dirty="0">
                <a:solidFill>
                  <a:schemeClr val="tx1"/>
                </a:solidFill>
              </a:rPr>
              <a:t>(</a:t>
            </a:r>
            <a:r>
              <a:rPr lang="zh-TW" altLang="en-US" sz="2600" dirty="0">
                <a:solidFill>
                  <a:schemeClr val="tx1"/>
                </a:solidFill>
              </a:rPr>
              <a:t>希伯來語</a:t>
            </a:r>
            <a:r>
              <a:rPr lang="en-US" altLang="zh-TW" sz="2600" dirty="0">
                <a:solidFill>
                  <a:schemeClr val="tx1"/>
                </a:solidFill>
              </a:rPr>
              <a:t>)</a:t>
            </a:r>
            <a:r>
              <a:rPr lang="zh-TW" altLang="en-US" sz="2600" dirty="0">
                <a:solidFill>
                  <a:schemeClr val="tx1"/>
                </a:solidFill>
              </a:rPr>
              <a:t> </a:t>
            </a:r>
            <a:r>
              <a:rPr lang="en-US" altLang="zh-HK" sz="2600" dirty="0">
                <a:solidFill>
                  <a:schemeClr val="tx1"/>
                </a:solidFill>
              </a:rPr>
              <a:t>was used only in religious ceremonies</a:t>
            </a:r>
          </a:p>
          <a:p>
            <a:pPr lvl="1"/>
            <a:r>
              <a:rPr lang="en-US" altLang="zh-HK" sz="2600" dirty="0">
                <a:solidFill>
                  <a:schemeClr val="tx1"/>
                </a:solidFill>
              </a:rPr>
              <a:t>but today, with some modernization, it has become the national language of </a:t>
            </a:r>
            <a:r>
              <a:rPr lang="en-US" altLang="zh-HK" sz="2600" dirty="0" err="1">
                <a:solidFill>
                  <a:schemeClr val="tx1"/>
                </a:solidFill>
              </a:rPr>
              <a:t>IsraeI</a:t>
            </a:r>
            <a:endParaRPr lang="en-US" altLang="zh-HK" sz="2600" dirty="0">
              <a:solidFill>
                <a:schemeClr val="tx1"/>
              </a:solidFill>
            </a:endParaRPr>
          </a:p>
          <a:p>
            <a:endParaRPr lang="en-US" altLang="zh-HK" dirty="0"/>
          </a:p>
          <a:p>
            <a:r>
              <a:rPr lang="en-US" altLang="zh-HK" dirty="0"/>
              <a:t>the success story </a:t>
            </a:r>
            <a:r>
              <a:rPr lang="en-US" altLang="zh-HK"/>
              <a:t>of Siletz</a:t>
            </a:r>
            <a:endParaRPr lang="en-US" altLang="zh-HK" dirty="0"/>
          </a:p>
          <a:p>
            <a:pPr lvl="1"/>
            <a:r>
              <a:rPr lang="en-US" altLang="zh-HK" sz="2600" dirty="0">
                <a:solidFill>
                  <a:schemeClr val="tx1"/>
                </a:solidFill>
              </a:rPr>
              <a:t>“Native Americans fight to preserve language” </a:t>
            </a:r>
          </a:p>
          <a:p>
            <a:pPr lvl="1"/>
            <a:r>
              <a:rPr lang="en-US" altLang="zh-HK" sz="2000" dirty="0">
                <a:solidFill>
                  <a:schemeClr val="tx1"/>
                </a:solidFill>
                <a:hlinkClick r:id="rId2"/>
              </a:rPr>
              <a:t>http://www.youtube.com/watch?v=KQGlt_2cjII</a:t>
            </a:r>
            <a:endParaRPr lang="en-US" altLang="zh-HK" sz="2000" dirty="0">
              <a:solidFill>
                <a:schemeClr val="tx1"/>
              </a:solidFill>
            </a:endParaRPr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58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6840</TotalTime>
  <Words>3447</Words>
  <PresentationFormat>On-screen Show (4:3)</PresentationFormat>
  <Paragraphs>375</Paragraphs>
  <Slides>56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Doulos SIL</vt:lpstr>
      <vt:lpstr>KaiTi</vt:lpstr>
      <vt:lpstr>新細明體</vt:lpstr>
      <vt:lpstr>Bookman Old Style</vt:lpstr>
      <vt:lpstr>Calibri</vt:lpstr>
      <vt:lpstr>Courier New</vt:lpstr>
      <vt:lpstr>Gill Sans MT</vt:lpstr>
      <vt:lpstr>Times New Roman</vt:lpstr>
      <vt:lpstr>Wingdings</vt:lpstr>
      <vt:lpstr>Wingdings 3</vt:lpstr>
      <vt:lpstr>Origin</vt:lpstr>
      <vt:lpstr>CBS1A01P Fun with Language</vt:lpstr>
      <vt:lpstr>今天的主題</vt:lpstr>
      <vt:lpstr>語言和方言</vt:lpstr>
      <vt:lpstr>語言和方言</vt:lpstr>
      <vt:lpstr>語言和方言</vt:lpstr>
      <vt:lpstr>some statistics of the world’s languages</vt:lpstr>
      <vt:lpstr>Ethnologue 民族語言網</vt:lpstr>
      <vt:lpstr>Ethnologue 民族語言網</vt:lpstr>
      <vt:lpstr>Ethnologue 民族語言網</vt:lpstr>
      <vt:lpstr>Ethnologue 民族語言網</vt:lpstr>
      <vt:lpstr>漢語方言</vt:lpstr>
      <vt:lpstr>漢語方言</vt:lpstr>
      <vt:lpstr>漢語方言</vt:lpstr>
      <vt:lpstr>漢語方言</vt:lpstr>
      <vt:lpstr>粵方言</vt:lpstr>
      <vt:lpstr>粵方言</vt:lpstr>
      <vt:lpstr>粵方言</vt:lpstr>
      <vt:lpstr>粵方言</vt:lpstr>
      <vt:lpstr>PowerPoint Presentation</vt:lpstr>
      <vt:lpstr>語言和方言</vt:lpstr>
      <vt:lpstr>方言之間的分別</vt:lpstr>
      <vt:lpstr>Phonological differences 語音的分別</vt:lpstr>
      <vt:lpstr>accents 口音</vt:lpstr>
      <vt:lpstr>英語口音例子：Cockney</vt:lpstr>
      <vt:lpstr>英語口音例子：General American</vt:lpstr>
      <vt:lpstr>R-dropping in English</vt:lpstr>
      <vt:lpstr>R-dropping in English</vt:lpstr>
      <vt:lpstr>accents 口音</vt:lpstr>
      <vt:lpstr>Lexical differences 詞匯的分別</vt:lpstr>
      <vt:lpstr>Lexical differences 詞匯的分別</vt:lpstr>
      <vt:lpstr>Lexical differences 詞匯的分別</vt:lpstr>
      <vt:lpstr>Syntactic differences</vt:lpstr>
      <vt:lpstr>Syntactic differences</vt:lpstr>
      <vt:lpstr>Syntactic differences</vt:lpstr>
      <vt:lpstr>Ethnologue 民族語言網</vt:lpstr>
      <vt:lpstr>語言的消失與保育</vt:lpstr>
      <vt:lpstr>what languages are dying?</vt:lpstr>
      <vt:lpstr>PowerPoint Presentation</vt:lpstr>
      <vt:lpstr>PowerPoint Presentation</vt:lpstr>
      <vt:lpstr>PowerPoint Presentation</vt:lpstr>
      <vt:lpstr>教科文組織世界瀕危語言地圖</vt:lpstr>
      <vt:lpstr>對於保育語言之重要性的意見</vt:lpstr>
      <vt:lpstr>對於保育語言之重要性的意見</vt:lpstr>
      <vt:lpstr>對於保育語言之重要性的意見</vt:lpstr>
      <vt:lpstr>對於保育語言之重要性的意見</vt:lpstr>
      <vt:lpstr>PowerPoint Presentation</vt:lpstr>
      <vt:lpstr>PowerPoint Presentation</vt:lpstr>
      <vt:lpstr>對於保育語言之重要性的意見</vt:lpstr>
      <vt:lpstr>對於保育語言之重要性的意見</vt:lpstr>
      <vt:lpstr>對於保育語言之重要性的意見</vt:lpstr>
      <vt:lpstr>how do we preserve languages?</vt:lpstr>
      <vt:lpstr>PowerPoint Presentation</vt:lpstr>
      <vt:lpstr>PowerPoint Presentation</vt:lpstr>
      <vt:lpstr>PowerPoint Presentation</vt:lpstr>
      <vt:lpstr>PowerPoint Presentation</vt:lpstr>
      <vt:lpstr>some success stories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terms:modified xsi:type="dcterms:W3CDTF">2023-09-28T15:12:50Z</dcterms:modified>
</cp:coreProperties>
</file>